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3" r:id="rId9"/>
    <p:sldId id="262" r:id="rId8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02B63">
              <a:alpha val="50000"/>
            </a:srgbClr>
          </a:solidFill>
          <a:ln w="12700">
            <a:solidFill>
              <a:srgbClr val="302B63"/>
            </a:solidFill>
            <a:prstDash val="solid"/>
          </a:ln>
        </p:spPr>
      </p:sp>
      <p:pic>
        <p:nvPicPr>
          <p:cNvPr id="99" name="Classroom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sp>
        <p:nvSpPr>
          <p:cNvPr id="98" name="ImageOverlay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3E">
              <a:alpha val="45000"/>
            </a:srgbClr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6583680" y="-274320"/>
            <a:ext cx="2011680" cy="2011680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280160" cy="1280160"/>
          </a:xfrm>
          <a:prstGeom prst="ellipse">
            <a:avLst/>
          </a:prstGeom>
          <a:solidFill>
            <a:srgbClr val="6C63FF">
              <a:alpha val="40000"/>
            </a:srgbClr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LearnPath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&amp; Course Enrollment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09728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web platform for instructors,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&amp; students to manage learning journeys.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70432" cy="384048"/>
          </a:xfrm>
          <a:prstGeom prst="roundRect">
            <a:avLst>
              <a:gd name="adj" fmla="val 19048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718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971800"/>
            <a:ext cx="1170432" cy="384048"/>
          </a:xfrm>
          <a:prstGeom prst="roundRect">
            <a:avLst>
              <a:gd name="adj" fmla="val 19048"/>
            </a:avLst>
          </a:prstGeom>
          <a:solidFill>
            <a:srgbClr val="6DB33F">
              <a:alpha val="85000"/>
            </a:srgbClr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9718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2971800"/>
            <a:ext cx="1170432" cy="384048"/>
          </a:xfrm>
          <a:prstGeom prst="roundRect">
            <a:avLst>
              <a:gd name="adj" fmla="val 19048"/>
            </a:avLst>
          </a:prstGeom>
          <a:solidFill>
            <a:srgbClr val="00758F">
              <a:alpha val="85000"/>
            </a:srgbClr>
          </a:solidFill>
          <a:ln w="12700">
            <a:solidFill>
              <a:srgbClr val="0075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9718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971800"/>
            <a:ext cx="1170432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97180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478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18872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8076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|  Spring Boot  |  MySQL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7 Members  •  Microservices Project  •  Case Study 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Team Members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7132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22529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" y="11521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Leela Vyshnavi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38528"/>
            <a:ext cx="73152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066544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19933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Shirisha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79776"/>
            <a:ext cx="7315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9077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" y="28346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Kousalya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31455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Management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62102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21024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7490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" y="367588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Chaitanya Sri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3986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Service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09728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097280"/>
            <a:ext cx="73152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0912" y="1225296"/>
            <a:ext cx="457200" cy="457200"/>
          </a:xfrm>
          <a:prstGeom prst="ellipse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1225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96128" y="11521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Firdose Banu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1463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193852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938528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0912" y="206654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96128" y="199339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Yellamma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96128" y="23042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77977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2779776"/>
            <a:ext cx="73152" cy="71323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10912" y="2907792"/>
            <a:ext cx="457200" cy="4572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96128" y="28346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Veera Kalpana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96128" y="31455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4407408"/>
            <a:ext cx="4206240" cy="475488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46320" y="440740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React.js  •  Spring Boot  •  MySQL  •  JWT Auth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LearnPath?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23774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in online learning that this platform was built to solve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9264"/>
            <a:ext cx="45720" cy="1207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060704"/>
            <a:ext cx="438912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60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0972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591056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had no single unified portal to discover, browse, enroll, and track courses. Learning was fragmented across multiple disconnected tools with no integrated dashboard.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69264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9264"/>
            <a:ext cx="45720" cy="1207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1060704"/>
            <a:ext cx="438912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0607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10972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Based Access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1591056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enforced separate permissions for Students, Instructors, and Admins. Everyone could access everything — leading to security gaps and chaotic management.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67712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67712"/>
            <a:ext cx="45720" cy="1207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2359152"/>
            <a:ext cx="438912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2395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Approval Workflow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2889504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could publish content without any quality review. There was no admin gate — poor-quality courses would go live to students without oversight or approval.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267712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67712"/>
            <a:ext cx="45720" cy="1207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2359152"/>
            <a:ext cx="438912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3591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4960" y="239572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2889504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had no way to track their learning journey. No system to record: Enrolled → In Progress → Completed. No sense of achievement or measurable momentum.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566160"/>
            <a:ext cx="45720" cy="1207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" y="3657600"/>
            <a:ext cx="438912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657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0120" y="36941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Management Tools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" y="4187952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had no dashboard to manage courses, add structured lessons, or monitor which students enrolled and what their current progress was.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56616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566160"/>
            <a:ext cx="45720" cy="1207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64608" y="3657600"/>
            <a:ext cx="438912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657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94960" y="36941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64608" y="4187952"/>
            <a:ext cx="3950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monolithic system cannot scale independently per feature. A microservice design lets each concern be developed, tested, and deployed by a separate team member.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LearnPath — Student Learning &amp; Course Enrollment 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xdr="http://schemas.openxmlformats.org/drawingml/2006/spreadsheetDrawing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lowchart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User Authentication &amp; Security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K. Leela Vyshnavi  •  FR-06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33832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Service Does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registration, login, and JWT-based authentication for all three roles (STUDENT, INSTRUCTOR, ADMIN). Secures all backend endpoints using Spring Security role guards.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Key Technology: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Filter Chain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Entity: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User.java — id, username, password, email,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Files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627632"/>
            <a:ext cx="3749040" cy="64008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700784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00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32704" y="1700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/api/user/register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32704" y="19385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any user role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404872"/>
            <a:ext cx="3749040" cy="64008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478024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780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32704" y="2478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/api/user/login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32704" y="27157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issue JWT token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2004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49300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AuthController.java  •  AuthService.java  •  User.java  •  UserRepository.java  •  JwtUtil.java  •  JwtFilter.java  •  SecurityConfig.java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K. Leela Vyshnavi  |  Auth &amp; Security Service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Authentication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Workflow — K. Leela Vyshnavi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71323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91056" y="1901952"/>
            <a:ext cx="54864" cy="2560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25603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488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/api/user/login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(email, password, role)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91056" y="2862072"/>
            <a:ext cx="54864" cy="2560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2560320" cy="7132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1089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validates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+ role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91056" y="3822192"/>
            <a:ext cx="54864" cy="2560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77640"/>
            <a:ext cx="256032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9776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&amp; Returned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5603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1887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17136" y="1901952"/>
            <a:ext cx="54864" cy="2560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48840"/>
            <a:ext cx="2560320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1488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/api/user/register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(username, email, pass, role)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17136" y="2862072"/>
            <a:ext cx="54864" cy="2560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108960"/>
            <a:ext cx="2560320" cy="7132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31089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saved to DB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17136" y="3822192"/>
            <a:ext cx="54864" cy="256032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977640"/>
            <a:ext cx="256032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39776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Redirect to login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188720"/>
            <a:ext cx="2651760" cy="350215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12618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71907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1719072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773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0299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/my-courses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254203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2542032"/>
            <a:ext cx="73152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596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2852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/instructor/dashboard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364992"/>
            <a:ext cx="2377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3364992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419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36758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/admin/courses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4224528"/>
            <a:ext cx="2377440" cy="329184"/>
          </a:xfrm>
          <a:prstGeom prst="rect">
            <a:avLst/>
          </a:prstGeom>
          <a:solidFill>
            <a:srgbClr val="6C63FF">
              <a:alpha val="8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22452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in localStorage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K. Leela Vyshnavi  |  Auth Flow  |  Spring Security + JWT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Creation &amp; Management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M. Shirisha  •  FR-01, FR-04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3383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Course.java 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3639312" cy="27432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9105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 (Long)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1892808"/>
            <a:ext cx="36393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1109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  (String)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212848"/>
            <a:ext cx="3639312" cy="27432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311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description  (TEXT)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532888"/>
            <a:ext cx="36393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5117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 (String)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852928"/>
            <a:ext cx="3639312" cy="27432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7121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 (String)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172968"/>
            <a:ext cx="36393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9125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 (PENDING | APPROVED | REJECTED)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493008"/>
            <a:ext cx="3639312" cy="27432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1129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instructor  (User)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3813048"/>
            <a:ext cx="363931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313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lessons  (List&lt;Lesson&gt;)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1600200"/>
            <a:ext cx="3749040" cy="71323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68249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6824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32704" y="16824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/api/instructor/course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32704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creates course (status → PENDING)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2514600"/>
            <a:ext cx="3749040" cy="71323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259689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5968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32704" y="25968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/api/instructor/courses?instructorId=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32704" y="2852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views their own courses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429000"/>
            <a:ext cx="3749040" cy="71323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51129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5112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32704" y="35112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/api/student/courses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32704" y="3767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browse only APPROVED courses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M. Shirisha  |  Course Service  |  CourseService.java + CourseController.java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Lifecycle &amp; Status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Creation to Student Visibility — M. Shirisha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1371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Course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/api/instructor/course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95728" y="160020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201168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admin 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98848" y="160020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371600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/api/admin/courses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01968" y="160020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75120" y="1188720"/>
            <a:ext cx="201168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REJECTED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/api/admin/course/{id}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8412480" cy="162763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9077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Visibility after APPROVAL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328416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328416"/>
            <a:ext cx="2560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564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getApprovedCourses()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4904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APPROVED courses to student dashboard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3328416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328416"/>
            <a:ext cx="25603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4564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getCoursesByInstructor()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374904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sees own courses with PENDING/APPROVED/REJECTED status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3328416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3328416"/>
            <a:ext cx="25603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34564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updateCourseStatus()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17336" y="374904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status — triggers visibility change for students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M. Shirisha  |  PENDING → APPROVED → Visible to Students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Lesson Management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Y. Kousalya  •  FR-02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3383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Lesson.java 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3639312" cy="329184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 (Long)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56816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1168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  (String)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340864"/>
            <a:ext cx="3639312" cy="329184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9572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 (TEXT)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724912"/>
            <a:ext cx="3639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orderNumber  (Integer)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108960"/>
            <a:ext cx="3639312" cy="329184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6382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 (Course — Many-to-One)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529584"/>
            <a:ext cx="3639312" cy="749808"/>
          </a:xfrm>
          <a:prstGeom prst="rect">
            <a:avLst/>
          </a:prstGeom>
          <a:solidFill>
            <a:srgbClr val="EFF9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66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Lesson belongs to ONE Course (Many-to-One). Lessons are ordered by orderNumber.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Service Methods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600200"/>
            <a:ext cx="3749040" cy="80467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68249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824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32704" y="16824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/api/instructor/lesson?courseId=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32704" y="19385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adds lesson; validates ownership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606040"/>
            <a:ext cx="3749040" cy="80467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68833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68833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32704" y="2688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getLessonsByCourse(courseId)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32704" y="294436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lessons sorted by orderNumber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instructor must OWN the course before adding a lesson — prevents unauthorized lesson injection.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Y. Kousalya  |  Lesson Management  |  LessonController + LessonRepository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Lesson Ordering &amp; Sequencing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Students See Course Content in Order — Y. Kousalya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Adds Lessons with orderNumber: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53312" y="1417320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14173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Course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goals, prerequisites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35808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33672" y="1417320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14173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Theory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concepts explained with examples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16168" y="19202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14032" y="1417320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1417320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2148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52374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tasks and real code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8412480" cy="144475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127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getLessonsByCourse() in CourseService.java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529584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858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lessons where course_id matches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81528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82696" y="3529584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74136" y="3858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orderNumber ASC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61304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062472" y="3529584"/>
            <a:ext cx="25603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53912" y="38587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List&lt;Lesson&gt; to frontend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Y. Kousalya  |  Lessons ordered by orderNumber — students always see correct sequence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Student Enrollment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K. Chaitanya Sri  •  FR-03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Enrollment.java 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3639312" cy="34747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 (Long)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1975104"/>
            <a:ext cx="36393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299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 (User — Many-to-One)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3639312" cy="34747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323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 (Course — Many-to-One)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779776"/>
            <a:ext cx="363931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34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enrollDate  (LocalDate)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182112"/>
            <a:ext cx="3639312" cy="34747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369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progressStatus  (ENROLLED | IN_PROGRESS | COMPLETED)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602736"/>
            <a:ext cx="3639312" cy="694944"/>
          </a:xfrm>
          <a:prstGeom prst="rect">
            <a:avLst/>
          </a:prstGeom>
          <a:solidFill>
            <a:srgbClr val="FFF8E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6393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8587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findByStudentAndCourse() checks existing enrollment before saving to prevent duplicate records.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600200"/>
            <a:ext cx="3749040" cy="80467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168249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6824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32704" y="16824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/api/student/enroll?courseId=&amp;studentId=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32704" y="19385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enrolls; status → ENROLLED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606040"/>
            <a:ext cx="3749040" cy="80467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2688336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68833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32704" y="2688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/api/student/enrollments?studentId=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32704" y="294436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views all enrolled courses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Methods: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3858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findByStudent(student)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059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findByCourse(course)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42611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findByStudentAndCourse(s,c)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K. Chaitanya Sri  |  EnrollmentService.java + EnrollmentRepository.java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Enrollment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Enrollment Process — K. Chaitanya Sri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browses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courses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04288" y="1828800"/>
            <a:ext cx="603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371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ENROLL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5968" y="1828800"/>
            <a:ext cx="603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1536192"/>
            <a:ext cx="1828800" cy="1042416"/>
          </a:xfrm>
          <a:prstGeom prst="rect">
            <a:avLst/>
          </a:prstGeom>
          <a:solidFill>
            <a:srgbClr val="0F0C29"/>
          </a:solidFill>
          <a:ln w="12700">
            <a:solidFill>
              <a:srgbClr val="0F0C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536192"/>
            <a:ext cx="18288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enrolled?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1828800"/>
            <a:ext cx="603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Enrollment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ENROLLED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Return error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"Already Enrolled"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6334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47872"/>
            <a:ext cx="8412480" cy="10789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EnrollmentService.java Methods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77640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enrollStudent()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261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+ saves enrollment with status ENROLLED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90872" y="397764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0872" y="3977640"/>
            <a:ext cx="73152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getEnrollmentsByStudent()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42611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enrollments for a student with course details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K. Chaitanya Sri  |  One-click enrollment with duplicate prevention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Progress Tracking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— S. Firdose Banu  •  FR-04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471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Status Flow: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143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4447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enrollment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498848" y="118872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18304" y="1143000"/>
            <a:ext cx="19202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143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8304" y="14447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starts the course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56832" y="118872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76288" y="1143000"/>
            <a:ext cx="192024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1143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76288" y="14447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fully finished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920240"/>
            <a:ext cx="91440" cy="25603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2450592"/>
            <a:ext cx="3749040" cy="749808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2523744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2374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43584" y="25237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/api/student/enrollments?studentId=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43584" y="27797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enrolled courses + progress status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364992"/>
            <a:ext cx="3749040" cy="749808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3438144"/>
            <a:ext cx="548640" cy="256032"/>
          </a:xfrm>
          <a:prstGeom prst="roundRect">
            <a:avLst>
              <a:gd name="adj" fmla="val 17857"/>
            </a:avLst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3814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43584" y="3438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/api/student/progress?enrollmentId=&amp;status=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43584" y="3694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updates progress via query param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9202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920240"/>
            <a:ext cx="91440" cy="256032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Shape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92040" y="2468880"/>
            <a:ext cx="3749040" cy="36576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courseTitle  (String)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2907792"/>
            <a:ext cx="3749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9535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instructorName  (String)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3346704"/>
            <a:ext cx="3749040" cy="36576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3924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enrollDate  (LocalDate)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3785616"/>
            <a:ext cx="3749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8313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progressStatus  (ENROLLED | IN_PROGRESS | COMPLETED)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— S. Firdose Banu  |  updateProgressStatus() in EnrollmentService.java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Student Progress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Courses View — S. Firdose Banu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52044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My Enrolled Courses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572768"/>
            <a:ext cx="73152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Fundamentals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975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Instructor 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755648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7556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1828800"/>
            <a:ext cx="14630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95160" y="1828800"/>
            <a:ext cx="146304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8288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468880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468880"/>
            <a:ext cx="7315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560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for Beginners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2871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Instructor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651760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65176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2724912"/>
            <a:ext cx="14630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2724912"/>
            <a:ext cx="87782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27249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364992"/>
            <a:ext cx="81381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364992"/>
            <a:ext cx="73152" cy="7680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456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Design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" y="3767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Instructor 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3547872"/>
            <a:ext cx="1371600" cy="402336"/>
          </a:xfrm>
          <a:prstGeom prst="roundRect">
            <a:avLst>
              <a:gd name="adj" fmla="val 2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54787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95160" y="3621024"/>
            <a:ext cx="14630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3621024"/>
            <a:ext cx="14630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362102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/api/student/progress?enrollmentId=&amp;status=  →  Updates progress in real-time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— S. Firdose Banu  |  ENROLLED → IN_PROGRESS → COMPLETED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Instructor Dashboard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 — P. Yellamma  •  FR-01, FR-02, FR-06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3383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Responsibilities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controller layer for all Instructor operations. Orchestrates CourseService and EnrollmentService together and gives instructors visibility into their enrolled student lists.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3639312" cy="402336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151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InstructorController.java — consolidates all instructor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035808"/>
            <a:ext cx="36393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CourseService + EnrollmentService for instructor workflows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493008"/>
            <a:ext cx="3639312" cy="402336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295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shaping: course list with lesson count &amp; enrolled student count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950208"/>
            <a:ext cx="363931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867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error handling for all instructor API requests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645920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4592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14416" y="1645920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/api/instructor/course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14416" y="1883664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course (→ PENDING)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286000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359152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5915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14416" y="2359152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/api/instructor/courses?instructorId=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14416" y="2596896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courses list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072384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7238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14416" y="3072384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/api/instructor/lesson?courseId=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14416" y="3310128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lesson to a course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712464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785616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856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14416" y="378561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/api/instructor/students?courseId=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14416" y="402336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enrolled students for a course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 — P. Yellamma  |  InstructorController.java — orchestrates all instructor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Instructor Dashboard 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InstructorDashboard.jsx — P. Yellamma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52044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97280"/>
            <a:ext cx="2560320" cy="914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2984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Courses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82696" y="109728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82696" y="1097280"/>
            <a:ext cx="25603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118872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71416" y="12984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Created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2472" y="1097280"/>
            <a:ext cx="25603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2472" y="1097280"/>
            <a:ext cx="2560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2472" y="118872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251192" y="12984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Students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029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Courses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395728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395728"/>
            <a:ext cx="64008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450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Advanced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23360" y="2450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Lessons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450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Students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246888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4688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2980944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80944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3035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Basics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23360" y="3035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Lessons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94960" y="3035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Students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3054096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0540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566160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3566160"/>
            <a:ext cx="64008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101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023360" y="3621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Lessons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36210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Students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9440" y="363931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36393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572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/api/instructor/courses  •  GET /api/instructor/students?courseId=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 — P. Yellamma  |  Instructor sees course list + lesson count + enrolled students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Admin Course Approval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 — K. Veera Kalpana  •  FR-05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91440" cy="33832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admin approval portal. Admins review all pending courses and approve or reject them — the gate that controls whether a course becomes visible to students.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70048"/>
            <a:ext cx="3639312" cy="420624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157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AdminController.java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3145536"/>
            <a:ext cx="36393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9125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approveCourse() in CourseService.java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621024"/>
            <a:ext cx="3639312" cy="420624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667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rejectCourse() in CourseService.java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096512"/>
            <a:ext cx="363931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422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✦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/api/admin/users — view all registered users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645920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64592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14416" y="1645920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/api/admin/courses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14416" y="1883664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ALL courses regardless of status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286000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359152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5915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14416" y="2359152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/api/admin/course/{courseId}?status=APPROVED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14416" y="2596896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 pending course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072384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7238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14416" y="3072384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/api/admin/course/{courseId}?status=REJECTED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14416" y="3310128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 pending course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712464"/>
            <a:ext cx="3749040" cy="621792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785616"/>
            <a:ext cx="621792" cy="237744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856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14416" y="378561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/api/admin/users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14416" y="4023360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all registered users with roles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 — K. Veera Kalpana  |  AdminController.java — course approval gateway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Admin Course Approval Panel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AdminCoursesPage.jsx — K. Veera Kalpana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520440"/>
          </a:xfrm>
          <a:prstGeom prst="rect">
            <a:avLst/>
          </a:prstGeom>
          <a:solidFill>
            <a:srgbClr val="F4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Admin — Course Approval Portal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34440" y="1700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Courses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155448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87752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19272" y="1700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155448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04104" y="1700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57416" y="1554480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57416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88936" y="17007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322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Pending Review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706624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706624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" y="29992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X | 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2798064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79806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70064" y="2798064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0064" y="279806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291840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291840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3467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React Patterns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" y="35844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Y | Frontend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38328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3832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70064" y="338328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0064" y="338328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877056"/>
            <a:ext cx="81381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3877056"/>
            <a:ext cx="6400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3931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" y="41696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Z | DevOps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96849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9684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70064" y="396849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70064" y="39684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 — K. Veera Kalpana  |  PUT /api/admin/course/{id}?status=APPROVED or REJECTED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LearnPath is a platform where students can learn the courses that are created by the instructor and approved by the admin.</a:t>
            </a:r>
            <a:endParaRPr lang="en-US" sz="1400" dirty="0"/>
          </a:p>
          <a:p>
            <a:pPr algn="ctr" indent="0" marL="0">
              <a:buNone/>
            </a:pPr>
            <a:endParaRPr lang="en-US" sz="8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LearnPath — Student Learning &amp; Course Enrollment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395728"/>
            <a:ext cx="27432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3347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3347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63347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63347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Microservices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63347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3347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263347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263347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09B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Leela Vyshnavi  •  M. Shirisha  •  Y. Kousalya  •  K. Chaitanya Sri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Firdose Banu  •  P. Yellamma  •  K. Veera Kalpana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81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Project  •  Case Study 09  •  React | Spring Boot | MySQL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LearnPath - Student Learning &amp; Course Enrollment Platform</dc:title>
  <dc:subject>PptxGenJS Presentation</dc:subject>
  <dc:creator>PptxGenJS</dc:creator>
  <cp:lastModifiedBy>PptxGenJS</cp:lastModifiedBy>
  <cp:revision>1</cp:revision>
  <dcterms:created xsi:type="dcterms:W3CDTF">2026-03-16T13:32:21Z</dcterms:created>
  <dcterms:modified xsi:type="dcterms:W3CDTF">2026-03-16T13:32:21Z</dcterms:modified>
</cp:coreProperties>
</file>