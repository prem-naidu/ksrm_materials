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0" d="100"/>
          <a:sy n="80" d="100"/>
        </p:scale>
        <p:origin x="72"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606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E8521A"/>
          </a:solidFill>
          <a:ln w="12700">
            <a:solidFill>
              <a:srgbClr val="E8521A"/>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137160" y="164592"/>
            <a:ext cx="3566160" cy="4389120"/>
          </a:xfrm>
          <a:prstGeom prst="rect">
            <a:avLst/>
          </a:prstGeom>
        </p:spPr>
      </p:pic>
      <p:sp>
        <p:nvSpPr>
          <p:cNvPr id="6" name="Text 3"/>
          <p:cNvSpPr/>
          <p:nvPr/>
        </p:nvSpPr>
        <p:spPr>
          <a:xfrm>
            <a:off x="4023360" y="411480"/>
            <a:ext cx="4846320" cy="1005840"/>
          </a:xfrm>
          <a:prstGeom prst="rect">
            <a:avLst/>
          </a:prstGeom>
          <a:noFill/>
          <a:ln/>
        </p:spPr>
        <p:txBody>
          <a:bodyPr wrap="square" lIns="0" tIns="0" rIns="0" bIns="0" rtlCol="0" anchor="ctr"/>
          <a:lstStyle/>
          <a:p>
            <a:pPr marL="0" indent="0">
              <a:buNone/>
            </a:pPr>
            <a:r>
              <a:rPr lang="en-US" sz="6000" b="1" dirty="0">
                <a:solidFill>
                  <a:srgbClr val="1A2B4A"/>
                </a:solidFill>
                <a:latin typeface="Calibri" pitchFamily="34" charset="0"/>
                <a:ea typeface="Calibri" pitchFamily="34" charset="-122"/>
                <a:cs typeface="Calibri" pitchFamily="34" charset="-120"/>
              </a:rPr>
              <a:t>PlanIt</a:t>
            </a:r>
            <a:endParaRPr lang="en-US" sz="6000" dirty="0"/>
          </a:p>
        </p:txBody>
      </p:sp>
      <p:sp>
        <p:nvSpPr>
          <p:cNvPr id="7" name="Text 4"/>
          <p:cNvSpPr/>
          <p:nvPr/>
        </p:nvSpPr>
        <p:spPr>
          <a:xfrm>
            <a:off x="5733288" y="411480"/>
            <a:ext cx="3108960" cy="1005840"/>
          </a:xfrm>
          <a:prstGeom prst="rect">
            <a:avLst/>
          </a:prstGeom>
          <a:noFill/>
          <a:ln/>
        </p:spPr>
        <p:txBody>
          <a:bodyPr wrap="square" lIns="0" tIns="0" rIns="0" bIns="0" rtlCol="0" anchor="ctr"/>
          <a:lstStyle/>
          <a:p>
            <a:pPr marL="0" indent="0">
              <a:buNone/>
            </a:pPr>
            <a:endParaRPr lang="en-US" sz="6000" dirty="0"/>
          </a:p>
        </p:txBody>
      </p:sp>
      <p:sp>
        <p:nvSpPr>
          <p:cNvPr id="8" name="Shape 5"/>
          <p:cNvSpPr/>
          <p:nvPr/>
        </p:nvSpPr>
        <p:spPr>
          <a:xfrm>
            <a:off x="4023360" y="1417320"/>
            <a:ext cx="4892040" cy="0"/>
          </a:xfrm>
          <a:prstGeom prst="line">
            <a:avLst/>
          </a:prstGeom>
          <a:noFill/>
          <a:ln w="10160">
            <a:solidFill>
              <a:srgbClr val="E2E8F0"/>
            </a:solidFill>
            <a:prstDash val="solid"/>
          </a:ln>
        </p:spPr>
        <p:txBody>
          <a:bodyPr/>
          <a:lstStyle/>
          <a:p>
            <a:endParaRPr lang="en-IN"/>
          </a:p>
        </p:txBody>
      </p:sp>
      <p:sp>
        <p:nvSpPr>
          <p:cNvPr id="9" name="Text 6"/>
          <p:cNvSpPr/>
          <p:nvPr/>
        </p:nvSpPr>
        <p:spPr>
          <a:xfrm>
            <a:off x="4023360" y="1508760"/>
            <a:ext cx="4892040" cy="365760"/>
          </a:xfrm>
          <a:prstGeom prst="rect">
            <a:avLst/>
          </a:prstGeom>
          <a:noFill/>
          <a:ln/>
        </p:spPr>
        <p:txBody>
          <a:bodyPr wrap="square" lIns="0" tIns="0" rIns="0" bIns="0" rtlCol="0" anchor="ctr"/>
          <a:lstStyle/>
          <a:p>
            <a:pPr marL="0" indent="0">
              <a:buNone/>
            </a:pPr>
            <a:r>
              <a:rPr lang="en-US" sz="1800" dirty="0">
                <a:solidFill>
                  <a:srgbClr val="4A5568"/>
                </a:solidFill>
              </a:rPr>
              <a:t>Event Management System</a:t>
            </a:r>
            <a:endParaRPr lang="en-US" sz="1800" dirty="0"/>
          </a:p>
        </p:txBody>
      </p:sp>
      <p:sp>
        <p:nvSpPr>
          <p:cNvPr id="10" name="Text 7"/>
          <p:cNvSpPr/>
          <p:nvPr/>
        </p:nvSpPr>
        <p:spPr>
          <a:xfrm>
            <a:off x="4023360" y="1847088"/>
            <a:ext cx="4892040" cy="310896"/>
          </a:xfrm>
          <a:prstGeom prst="rect">
            <a:avLst/>
          </a:prstGeom>
          <a:noFill/>
          <a:ln/>
        </p:spPr>
        <p:txBody>
          <a:bodyPr wrap="square" lIns="0" tIns="0" rIns="0" bIns="0" rtlCol="0" anchor="ctr"/>
          <a:lstStyle/>
          <a:p>
            <a:pPr marL="0" indent="0">
              <a:buNone/>
            </a:pPr>
            <a:r>
              <a:rPr lang="en-US" sz="1500" dirty="0">
                <a:solidFill>
                  <a:srgbClr val="8899BB"/>
                </a:solidFill>
              </a:rPr>
              <a:t>with Task Assignment</a:t>
            </a:r>
            <a:endParaRPr lang="en-US" sz="1500" dirty="0"/>
          </a:p>
        </p:txBody>
      </p:sp>
      <p:sp>
        <p:nvSpPr>
          <p:cNvPr id="11" name="Shape 8"/>
          <p:cNvSpPr/>
          <p:nvPr/>
        </p:nvSpPr>
        <p:spPr>
          <a:xfrm>
            <a:off x="4023360" y="2304288"/>
            <a:ext cx="937260" cy="301752"/>
          </a:xfrm>
          <a:prstGeom prst="roundRect">
            <a:avLst>
              <a:gd name="adj" fmla="val 24242"/>
            </a:avLst>
          </a:prstGeom>
          <a:solidFill>
            <a:srgbClr val="FFFFFF"/>
          </a:solidFill>
          <a:ln w="19050">
            <a:solidFill>
              <a:srgbClr val="61DAFB"/>
            </a:solidFill>
            <a:prstDash val="solid"/>
          </a:ln>
        </p:spPr>
        <p:txBody>
          <a:bodyPr/>
          <a:lstStyle/>
          <a:p>
            <a:endParaRPr lang="en-IN"/>
          </a:p>
        </p:txBody>
      </p:sp>
      <p:sp>
        <p:nvSpPr>
          <p:cNvPr id="12" name="Text 9"/>
          <p:cNvSpPr/>
          <p:nvPr/>
        </p:nvSpPr>
        <p:spPr>
          <a:xfrm>
            <a:off x="4023360" y="2304288"/>
            <a:ext cx="937260" cy="301752"/>
          </a:xfrm>
          <a:prstGeom prst="rect">
            <a:avLst/>
          </a:prstGeom>
          <a:noFill/>
          <a:ln/>
        </p:spPr>
        <p:txBody>
          <a:bodyPr wrap="square" lIns="0" tIns="0" rIns="0" bIns="0" rtlCol="0" anchor="ctr"/>
          <a:lstStyle/>
          <a:p>
            <a:pPr marL="0" indent="0" algn="ctr">
              <a:buNone/>
            </a:pPr>
            <a:r>
              <a:rPr lang="en-US" sz="1000" b="1" dirty="0">
                <a:solidFill>
                  <a:srgbClr val="61DAFB"/>
                </a:solidFill>
              </a:rPr>
              <a:t>React</a:t>
            </a:r>
            <a:endParaRPr lang="en-US" sz="1000" dirty="0"/>
          </a:p>
        </p:txBody>
      </p:sp>
      <p:sp>
        <p:nvSpPr>
          <p:cNvPr id="13" name="Shape 10"/>
          <p:cNvSpPr/>
          <p:nvPr/>
        </p:nvSpPr>
        <p:spPr>
          <a:xfrm>
            <a:off x="5097780" y="2304288"/>
            <a:ext cx="1568196" cy="301752"/>
          </a:xfrm>
          <a:prstGeom prst="roundRect">
            <a:avLst>
              <a:gd name="adj" fmla="val 24242"/>
            </a:avLst>
          </a:prstGeom>
          <a:solidFill>
            <a:srgbClr val="FFFFFF"/>
          </a:solidFill>
          <a:ln w="19050">
            <a:solidFill>
              <a:srgbClr val="6DB33F"/>
            </a:solidFill>
            <a:prstDash val="solid"/>
          </a:ln>
        </p:spPr>
        <p:txBody>
          <a:bodyPr/>
          <a:lstStyle/>
          <a:p>
            <a:endParaRPr lang="en-IN"/>
          </a:p>
        </p:txBody>
      </p:sp>
      <p:sp>
        <p:nvSpPr>
          <p:cNvPr id="14" name="Text 11"/>
          <p:cNvSpPr/>
          <p:nvPr/>
        </p:nvSpPr>
        <p:spPr>
          <a:xfrm>
            <a:off x="5097780" y="2304288"/>
            <a:ext cx="1568196" cy="301752"/>
          </a:xfrm>
          <a:prstGeom prst="rect">
            <a:avLst/>
          </a:prstGeom>
          <a:noFill/>
          <a:ln/>
        </p:spPr>
        <p:txBody>
          <a:bodyPr wrap="square" lIns="0" tIns="0" rIns="0" bIns="0" rtlCol="0" anchor="ctr"/>
          <a:lstStyle/>
          <a:p>
            <a:pPr marL="0" indent="0" algn="ctr">
              <a:buNone/>
            </a:pPr>
            <a:r>
              <a:rPr lang="en-US" sz="1000" b="1" dirty="0">
                <a:solidFill>
                  <a:srgbClr val="6DB33F"/>
                </a:solidFill>
              </a:rPr>
              <a:t>Spring Boot</a:t>
            </a:r>
            <a:endParaRPr lang="en-US" sz="1000" dirty="0"/>
          </a:p>
        </p:txBody>
      </p:sp>
      <p:sp>
        <p:nvSpPr>
          <p:cNvPr id="15" name="Shape 12"/>
          <p:cNvSpPr/>
          <p:nvPr/>
        </p:nvSpPr>
        <p:spPr>
          <a:xfrm>
            <a:off x="6803136" y="2304288"/>
            <a:ext cx="937260" cy="301752"/>
          </a:xfrm>
          <a:prstGeom prst="roundRect">
            <a:avLst>
              <a:gd name="adj" fmla="val 24242"/>
            </a:avLst>
          </a:prstGeom>
          <a:solidFill>
            <a:srgbClr val="FFFFFF"/>
          </a:solidFill>
          <a:ln w="19050">
            <a:solidFill>
              <a:srgbClr val="4479A1"/>
            </a:solidFill>
            <a:prstDash val="solid"/>
          </a:ln>
        </p:spPr>
        <p:txBody>
          <a:bodyPr/>
          <a:lstStyle/>
          <a:p>
            <a:endParaRPr lang="en-IN"/>
          </a:p>
        </p:txBody>
      </p:sp>
      <p:sp>
        <p:nvSpPr>
          <p:cNvPr id="16" name="Text 13"/>
          <p:cNvSpPr/>
          <p:nvPr/>
        </p:nvSpPr>
        <p:spPr>
          <a:xfrm>
            <a:off x="6803136" y="2304288"/>
            <a:ext cx="937260" cy="301752"/>
          </a:xfrm>
          <a:prstGeom prst="rect">
            <a:avLst/>
          </a:prstGeom>
          <a:noFill/>
          <a:ln/>
        </p:spPr>
        <p:txBody>
          <a:bodyPr wrap="square" lIns="0" tIns="0" rIns="0" bIns="0" rtlCol="0" anchor="ctr"/>
          <a:lstStyle/>
          <a:p>
            <a:pPr marL="0" indent="0" algn="ctr">
              <a:buNone/>
            </a:pPr>
            <a:r>
              <a:rPr lang="en-US" sz="1000" b="1" dirty="0">
                <a:solidFill>
                  <a:srgbClr val="4479A1"/>
                </a:solidFill>
              </a:rPr>
              <a:t>MySQL</a:t>
            </a:r>
            <a:endParaRPr lang="en-US" sz="1000" dirty="0"/>
          </a:p>
        </p:txBody>
      </p:sp>
      <p:sp>
        <p:nvSpPr>
          <p:cNvPr id="17" name="Shape 14"/>
          <p:cNvSpPr/>
          <p:nvPr/>
        </p:nvSpPr>
        <p:spPr>
          <a:xfrm>
            <a:off x="7877556" y="2304288"/>
            <a:ext cx="726948" cy="301752"/>
          </a:xfrm>
          <a:prstGeom prst="roundRect">
            <a:avLst>
              <a:gd name="adj" fmla="val 24242"/>
            </a:avLst>
          </a:prstGeom>
          <a:solidFill>
            <a:srgbClr val="FFFFFF"/>
          </a:solidFill>
          <a:ln w="19050">
            <a:solidFill>
              <a:srgbClr val="F4A827"/>
            </a:solidFill>
            <a:prstDash val="solid"/>
          </a:ln>
        </p:spPr>
        <p:txBody>
          <a:bodyPr/>
          <a:lstStyle/>
          <a:p>
            <a:endParaRPr lang="en-IN"/>
          </a:p>
        </p:txBody>
      </p:sp>
      <p:sp>
        <p:nvSpPr>
          <p:cNvPr id="18" name="Text 15"/>
          <p:cNvSpPr/>
          <p:nvPr/>
        </p:nvSpPr>
        <p:spPr>
          <a:xfrm>
            <a:off x="7877556" y="2304288"/>
            <a:ext cx="726948" cy="301752"/>
          </a:xfrm>
          <a:prstGeom prst="rect">
            <a:avLst/>
          </a:prstGeom>
          <a:noFill/>
          <a:ln/>
        </p:spPr>
        <p:txBody>
          <a:bodyPr wrap="square" lIns="0" tIns="0" rIns="0" bIns="0" rtlCol="0" anchor="ctr"/>
          <a:lstStyle/>
          <a:p>
            <a:pPr marL="0" indent="0" algn="ctr">
              <a:buNone/>
            </a:pPr>
            <a:r>
              <a:rPr lang="en-US" sz="1000" b="1" dirty="0">
                <a:solidFill>
                  <a:srgbClr val="F4A827"/>
                </a:solidFill>
              </a:rPr>
              <a:t>JWT</a:t>
            </a:r>
            <a:endParaRPr lang="en-US" sz="1000" dirty="0"/>
          </a:p>
        </p:txBody>
      </p:sp>
      <p:sp>
        <p:nvSpPr>
          <p:cNvPr id="19" name="Shape 16"/>
          <p:cNvSpPr/>
          <p:nvPr/>
        </p:nvSpPr>
        <p:spPr>
          <a:xfrm>
            <a:off x="4023360" y="2761488"/>
            <a:ext cx="4892040" cy="0"/>
          </a:xfrm>
          <a:prstGeom prst="line">
            <a:avLst/>
          </a:prstGeom>
          <a:noFill/>
          <a:ln w="10160">
            <a:solidFill>
              <a:srgbClr val="E2E8F0"/>
            </a:solidFill>
            <a:prstDash val="solid"/>
          </a:ln>
        </p:spPr>
        <p:txBody>
          <a:bodyPr/>
          <a:lstStyle/>
          <a:p>
            <a:endParaRPr lang="en-IN"/>
          </a:p>
        </p:txBody>
      </p:sp>
      <p:sp>
        <p:nvSpPr>
          <p:cNvPr id="20" name="Text 17"/>
          <p:cNvSpPr/>
          <p:nvPr/>
        </p:nvSpPr>
        <p:spPr>
          <a:xfrm>
            <a:off x="4023360" y="2852928"/>
            <a:ext cx="4892040" cy="274320"/>
          </a:xfrm>
          <a:prstGeom prst="rect">
            <a:avLst/>
          </a:prstGeom>
          <a:noFill/>
          <a:ln/>
        </p:spPr>
        <p:txBody>
          <a:bodyPr wrap="square" lIns="0" tIns="0" rIns="0" bIns="0" rtlCol="0" anchor="ctr"/>
          <a:lstStyle/>
          <a:p>
            <a:pPr marL="0" indent="0">
              <a:buNone/>
            </a:pPr>
            <a:r>
              <a:rPr lang="en-US" sz="1050" dirty="0">
                <a:solidFill>
                  <a:srgbClr val="8899BB"/>
                </a:solidFill>
              </a:rPr>
              <a:t>Team of 8  ·  Full Stack Microservice Project</a:t>
            </a:r>
            <a:endParaRPr lang="en-US" sz="1050" dirty="0"/>
          </a:p>
        </p:txBody>
      </p:sp>
      <p:sp>
        <p:nvSpPr>
          <p:cNvPr id="21" name="Text 18"/>
          <p:cNvSpPr/>
          <p:nvPr/>
        </p:nvSpPr>
        <p:spPr>
          <a:xfrm>
            <a:off x="4023360" y="3200400"/>
            <a:ext cx="4892040" cy="594360"/>
          </a:xfrm>
          <a:prstGeom prst="rect">
            <a:avLst/>
          </a:prstGeom>
          <a:noFill/>
          <a:ln/>
        </p:spPr>
        <p:txBody>
          <a:bodyPr wrap="square" lIns="0" tIns="0" rIns="0" bIns="0" rtlCol="0" anchor="ctr"/>
          <a:lstStyle/>
          <a:p>
            <a:pPr marL="0" indent="0">
              <a:buNone/>
            </a:pPr>
            <a:r>
              <a:rPr lang="en-US" sz="900" dirty="0">
                <a:solidFill>
                  <a:srgbClr val="4A5568"/>
                </a:solidFill>
              </a:rPr>
              <a:t>B. Tharun · N. Shahanadh · B. Munendra · L. Rama Kasturi</a:t>
            </a:r>
            <a:endParaRPr lang="en-US" sz="900" dirty="0"/>
          </a:p>
          <a:p>
            <a:pPr marL="0" indent="0">
              <a:buNone/>
            </a:pPr>
            <a:r>
              <a:rPr lang="en-US" sz="900" dirty="0">
                <a:solidFill>
                  <a:srgbClr val="4A5568"/>
                </a:solidFill>
              </a:rPr>
              <a:t>K. Mythili · Peetla Lalitha · M. Veera Prathap · H.B Purushottam</a:t>
            </a:r>
            <a:endParaRPr lang="en-US" sz="900" dirty="0"/>
          </a:p>
        </p:txBody>
      </p:sp>
      <p:sp>
        <p:nvSpPr>
          <p:cNvPr id="22" name="Shape 19"/>
          <p:cNvSpPr/>
          <p:nvPr/>
        </p:nvSpPr>
        <p:spPr>
          <a:xfrm>
            <a:off x="0" y="4892040"/>
            <a:ext cx="9144000" cy="251460"/>
          </a:xfrm>
          <a:prstGeom prst="rect">
            <a:avLst/>
          </a:prstGeom>
          <a:solidFill>
            <a:srgbClr val="1A2B4A"/>
          </a:solidFill>
          <a:ln w="12700">
            <a:solidFill>
              <a:srgbClr val="1A2B4A"/>
            </a:solidFill>
            <a:prstDash val="solid"/>
          </a:ln>
        </p:spPr>
        <p:txBody>
          <a:bodyPr/>
          <a:lstStyle/>
          <a:p>
            <a:endParaRPr lang="en-IN"/>
          </a:p>
        </p:txBody>
      </p:sp>
      <p:sp>
        <p:nvSpPr>
          <p:cNvPr id="23" name="Text 20"/>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24" name="Text 21"/>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1A2B4A"/>
          </a:solidFill>
          <a:ln w="12700">
            <a:solidFill>
              <a:srgbClr val="1A2B4A"/>
            </a:solidFill>
            <a:prstDash val="solid"/>
          </a:ln>
        </p:spPr>
        <p:txBody>
          <a:bodyPr/>
          <a:lstStyle/>
          <a:p>
            <a:endParaRPr lang="en-IN"/>
          </a:p>
        </p:txBody>
      </p:sp>
      <p:sp>
        <p:nvSpPr>
          <p:cNvPr id="3" name="Text 1"/>
          <p:cNvSpPr/>
          <p:nvPr/>
        </p:nvSpPr>
        <p:spPr>
          <a:xfrm>
            <a:off x="411480" y="164592"/>
            <a:ext cx="8321040" cy="457200"/>
          </a:xfrm>
          <a:prstGeom prst="rect">
            <a:avLst/>
          </a:prstGeom>
          <a:noFill/>
          <a:ln/>
        </p:spPr>
        <p:txBody>
          <a:bodyPr wrap="square" lIns="0" tIns="0" rIns="0" bIns="0" rtlCol="0" anchor="ctr"/>
          <a:lstStyle/>
          <a:p>
            <a:pPr marL="0" indent="0">
              <a:buNone/>
            </a:pPr>
            <a:r>
              <a:rPr lang="en-US" sz="2400" b="1" dirty="0">
                <a:solidFill>
                  <a:srgbClr val="1A2B4A"/>
                </a:solidFill>
                <a:latin typeface="Calibri" pitchFamily="34" charset="0"/>
                <a:ea typeface="Calibri" pitchFamily="34" charset="-122"/>
                <a:cs typeface="Calibri" pitchFamily="34" charset="-120"/>
              </a:rPr>
              <a:t>Team Assignments at a Glance</a:t>
            </a:r>
            <a:endParaRPr lang="en-US" sz="2400" dirty="0"/>
          </a:p>
        </p:txBody>
      </p:sp>
      <p:sp>
        <p:nvSpPr>
          <p:cNvPr id="4" name="Shape 2"/>
          <p:cNvSpPr/>
          <p:nvPr/>
        </p:nvSpPr>
        <p:spPr>
          <a:xfrm>
            <a:off x="411480" y="658368"/>
            <a:ext cx="8321040" cy="0"/>
          </a:xfrm>
          <a:prstGeom prst="line">
            <a:avLst/>
          </a:prstGeom>
          <a:noFill/>
          <a:ln w="10160">
            <a:solidFill>
              <a:srgbClr val="E2E8F0"/>
            </a:solidFill>
            <a:prstDash val="solid"/>
          </a:ln>
        </p:spPr>
        <p:txBody>
          <a:bodyPr/>
          <a:lstStyle/>
          <a:p>
            <a:endParaRPr lang="en-IN"/>
          </a:p>
        </p:txBody>
      </p:sp>
      <p:sp>
        <p:nvSpPr>
          <p:cNvPr id="5" name="Shape 3"/>
          <p:cNvSpPr/>
          <p:nvPr/>
        </p:nvSpPr>
        <p:spPr>
          <a:xfrm>
            <a:off x="320040" y="749808"/>
            <a:ext cx="1682496" cy="406908"/>
          </a:xfrm>
          <a:prstGeom prst="rect">
            <a:avLst/>
          </a:prstGeom>
          <a:solidFill>
            <a:srgbClr val="1A2B4A"/>
          </a:solidFill>
          <a:ln w="12700">
            <a:solidFill>
              <a:srgbClr val="1A2B4A"/>
            </a:solidFill>
            <a:prstDash val="solid"/>
          </a:ln>
        </p:spPr>
        <p:txBody>
          <a:bodyPr/>
          <a:lstStyle/>
          <a:p>
            <a:endParaRPr lang="en-IN"/>
          </a:p>
        </p:txBody>
      </p:sp>
      <p:sp>
        <p:nvSpPr>
          <p:cNvPr id="6" name="Text 4"/>
          <p:cNvSpPr/>
          <p:nvPr/>
        </p:nvSpPr>
        <p:spPr>
          <a:xfrm>
            <a:off x="411480" y="749808"/>
            <a:ext cx="1591056" cy="406908"/>
          </a:xfrm>
          <a:prstGeom prst="rect">
            <a:avLst/>
          </a:prstGeom>
          <a:noFill/>
          <a:ln/>
        </p:spPr>
        <p:txBody>
          <a:bodyPr wrap="square" lIns="0" tIns="0" rIns="0" bIns="0" rtlCol="0" anchor="ctr"/>
          <a:lstStyle/>
          <a:p>
            <a:pPr marL="0" indent="0">
              <a:buNone/>
            </a:pPr>
            <a:r>
              <a:rPr lang="en-US" sz="1100" b="1" dirty="0">
                <a:solidFill>
                  <a:srgbClr val="FFFFFF"/>
                </a:solidFill>
              </a:rPr>
              <a:t>Member</a:t>
            </a:r>
            <a:endParaRPr lang="en-US" sz="1100" dirty="0"/>
          </a:p>
        </p:txBody>
      </p:sp>
      <p:sp>
        <p:nvSpPr>
          <p:cNvPr id="7" name="Shape 5"/>
          <p:cNvSpPr/>
          <p:nvPr/>
        </p:nvSpPr>
        <p:spPr>
          <a:xfrm>
            <a:off x="2039112" y="749808"/>
            <a:ext cx="3529584" cy="406908"/>
          </a:xfrm>
          <a:prstGeom prst="rect">
            <a:avLst/>
          </a:prstGeom>
          <a:solidFill>
            <a:srgbClr val="1A2B4A"/>
          </a:solidFill>
          <a:ln w="12700">
            <a:solidFill>
              <a:srgbClr val="1A2B4A"/>
            </a:solidFill>
            <a:prstDash val="solid"/>
          </a:ln>
        </p:spPr>
        <p:txBody>
          <a:bodyPr/>
          <a:lstStyle/>
          <a:p>
            <a:endParaRPr lang="en-IN"/>
          </a:p>
        </p:txBody>
      </p:sp>
      <p:sp>
        <p:nvSpPr>
          <p:cNvPr id="8" name="Text 6"/>
          <p:cNvSpPr/>
          <p:nvPr/>
        </p:nvSpPr>
        <p:spPr>
          <a:xfrm>
            <a:off x="2130552" y="749808"/>
            <a:ext cx="3438144" cy="406908"/>
          </a:xfrm>
          <a:prstGeom prst="rect">
            <a:avLst/>
          </a:prstGeom>
          <a:noFill/>
          <a:ln/>
        </p:spPr>
        <p:txBody>
          <a:bodyPr wrap="square" lIns="0" tIns="0" rIns="0" bIns="0" rtlCol="0" anchor="ctr"/>
          <a:lstStyle/>
          <a:p>
            <a:pPr marL="0" indent="0">
              <a:buNone/>
            </a:pPr>
            <a:r>
              <a:rPr lang="en-US" sz="1100" b="1" dirty="0">
                <a:solidFill>
                  <a:srgbClr val="FFFFFF"/>
                </a:solidFill>
              </a:rPr>
              <a:t>Microservice / Service</a:t>
            </a:r>
            <a:endParaRPr lang="en-US" sz="1100" dirty="0"/>
          </a:p>
        </p:txBody>
      </p:sp>
      <p:sp>
        <p:nvSpPr>
          <p:cNvPr id="9" name="Shape 7"/>
          <p:cNvSpPr/>
          <p:nvPr/>
        </p:nvSpPr>
        <p:spPr>
          <a:xfrm>
            <a:off x="5605272" y="749808"/>
            <a:ext cx="1472184" cy="406908"/>
          </a:xfrm>
          <a:prstGeom prst="rect">
            <a:avLst/>
          </a:prstGeom>
          <a:solidFill>
            <a:srgbClr val="1A2B4A"/>
          </a:solidFill>
          <a:ln w="12700">
            <a:solidFill>
              <a:srgbClr val="1A2B4A"/>
            </a:solidFill>
            <a:prstDash val="solid"/>
          </a:ln>
        </p:spPr>
        <p:txBody>
          <a:bodyPr/>
          <a:lstStyle/>
          <a:p>
            <a:endParaRPr lang="en-IN"/>
          </a:p>
        </p:txBody>
      </p:sp>
      <p:sp>
        <p:nvSpPr>
          <p:cNvPr id="10" name="Text 8"/>
          <p:cNvSpPr/>
          <p:nvPr/>
        </p:nvSpPr>
        <p:spPr>
          <a:xfrm>
            <a:off x="5696712" y="749808"/>
            <a:ext cx="1380744" cy="406908"/>
          </a:xfrm>
          <a:prstGeom prst="rect">
            <a:avLst/>
          </a:prstGeom>
          <a:noFill/>
          <a:ln/>
        </p:spPr>
        <p:txBody>
          <a:bodyPr wrap="square" lIns="0" tIns="0" rIns="0" bIns="0" rtlCol="0" anchor="ctr"/>
          <a:lstStyle/>
          <a:p>
            <a:pPr marL="0" indent="0">
              <a:buNone/>
            </a:pPr>
            <a:r>
              <a:rPr lang="en-US" sz="1100" b="1" dirty="0">
                <a:solidFill>
                  <a:srgbClr val="FFFFFF"/>
                </a:solidFill>
              </a:rPr>
              <a:t>Scope</a:t>
            </a:r>
            <a:endParaRPr lang="en-US" sz="1100" dirty="0"/>
          </a:p>
        </p:txBody>
      </p:sp>
      <p:sp>
        <p:nvSpPr>
          <p:cNvPr id="11" name="Shape 9"/>
          <p:cNvSpPr/>
          <p:nvPr/>
        </p:nvSpPr>
        <p:spPr>
          <a:xfrm>
            <a:off x="7114032" y="749808"/>
            <a:ext cx="1106424" cy="406908"/>
          </a:xfrm>
          <a:prstGeom prst="rect">
            <a:avLst/>
          </a:prstGeom>
          <a:solidFill>
            <a:srgbClr val="1A2B4A"/>
          </a:solidFill>
          <a:ln w="12700">
            <a:solidFill>
              <a:srgbClr val="1A2B4A"/>
            </a:solidFill>
            <a:prstDash val="solid"/>
          </a:ln>
        </p:spPr>
        <p:txBody>
          <a:bodyPr/>
          <a:lstStyle/>
          <a:p>
            <a:endParaRPr lang="en-IN"/>
          </a:p>
        </p:txBody>
      </p:sp>
      <p:sp>
        <p:nvSpPr>
          <p:cNvPr id="12" name="Text 10"/>
          <p:cNvSpPr/>
          <p:nvPr/>
        </p:nvSpPr>
        <p:spPr>
          <a:xfrm>
            <a:off x="7205472" y="749808"/>
            <a:ext cx="1014984" cy="406908"/>
          </a:xfrm>
          <a:prstGeom prst="rect">
            <a:avLst/>
          </a:prstGeom>
          <a:noFill/>
          <a:ln/>
        </p:spPr>
        <p:txBody>
          <a:bodyPr wrap="square" lIns="0" tIns="0" rIns="0" bIns="0" rtlCol="0" anchor="ctr"/>
          <a:lstStyle/>
          <a:p>
            <a:pPr marL="0" indent="0">
              <a:buNone/>
            </a:pPr>
            <a:r>
              <a:rPr lang="en-US" sz="1100" b="1" dirty="0">
                <a:solidFill>
                  <a:srgbClr val="FFFFFF"/>
                </a:solidFill>
              </a:rPr>
              <a:t>FR</a:t>
            </a:r>
            <a:endParaRPr lang="en-US" sz="1100" dirty="0"/>
          </a:p>
        </p:txBody>
      </p:sp>
      <p:sp>
        <p:nvSpPr>
          <p:cNvPr id="13" name="Shape 11"/>
          <p:cNvSpPr/>
          <p:nvPr/>
        </p:nvSpPr>
        <p:spPr>
          <a:xfrm>
            <a:off x="320040" y="1193292"/>
            <a:ext cx="7900416" cy="406908"/>
          </a:xfrm>
          <a:prstGeom prst="rect">
            <a:avLst/>
          </a:prstGeom>
          <a:solidFill>
            <a:srgbClr val="FFFFFF"/>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14" name="Shape 12"/>
          <p:cNvSpPr/>
          <p:nvPr/>
        </p:nvSpPr>
        <p:spPr>
          <a:xfrm>
            <a:off x="320040" y="1193292"/>
            <a:ext cx="54864" cy="406908"/>
          </a:xfrm>
          <a:prstGeom prst="rect">
            <a:avLst/>
          </a:prstGeom>
          <a:solidFill>
            <a:srgbClr val="E8521A"/>
          </a:solidFill>
          <a:ln w="12700">
            <a:solidFill>
              <a:srgbClr val="E8521A"/>
            </a:solidFill>
            <a:prstDash val="solid"/>
          </a:ln>
        </p:spPr>
        <p:txBody>
          <a:bodyPr/>
          <a:lstStyle/>
          <a:p>
            <a:endParaRPr lang="en-IN"/>
          </a:p>
        </p:txBody>
      </p:sp>
      <p:sp>
        <p:nvSpPr>
          <p:cNvPr id="15" name="Shape 13"/>
          <p:cNvSpPr/>
          <p:nvPr/>
        </p:nvSpPr>
        <p:spPr>
          <a:xfrm>
            <a:off x="457200" y="1312164"/>
            <a:ext cx="182880" cy="182880"/>
          </a:xfrm>
          <a:prstGeom prst="ellipse">
            <a:avLst/>
          </a:prstGeom>
          <a:solidFill>
            <a:srgbClr val="E8521A"/>
          </a:solidFill>
          <a:ln w="12700">
            <a:solidFill>
              <a:srgbClr val="E8521A"/>
            </a:solidFill>
            <a:prstDash val="solid"/>
          </a:ln>
        </p:spPr>
        <p:txBody>
          <a:bodyPr/>
          <a:lstStyle/>
          <a:p>
            <a:endParaRPr lang="en-IN"/>
          </a:p>
        </p:txBody>
      </p:sp>
      <p:sp>
        <p:nvSpPr>
          <p:cNvPr id="16" name="Text 14"/>
          <p:cNvSpPr/>
          <p:nvPr/>
        </p:nvSpPr>
        <p:spPr>
          <a:xfrm>
            <a:off x="713232" y="1193292"/>
            <a:ext cx="1261872" cy="406908"/>
          </a:xfrm>
          <a:prstGeom prst="rect">
            <a:avLst/>
          </a:prstGeom>
          <a:noFill/>
          <a:ln/>
        </p:spPr>
        <p:txBody>
          <a:bodyPr wrap="square" lIns="0" tIns="0" rIns="0" bIns="0" rtlCol="0" anchor="ctr"/>
          <a:lstStyle/>
          <a:p>
            <a:pPr marL="0" indent="0">
              <a:buNone/>
            </a:pPr>
            <a:r>
              <a:rPr lang="en-US" sz="1050" b="1" dirty="0">
                <a:solidFill>
                  <a:srgbClr val="E8521A"/>
                </a:solidFill>
              </a:rPr>
              <a:t>K. Mythili</a:t>
            </a:r>
            <a:endParaRPr lang="en-US" sz="1050" dirty="0"/>
          </a:p>
        </p:txBody>
      </p:sp>
      <p:sp>
        <p:nvSpPr>
          <p:cNvPr id="17" name="Text 15"/>
          <p:cNvSpPr/>
          <p:nvPr/>
        </p:nvSpPr>
        <p:spPr>
          <a:xfrm>
            <a:off x="2112264" y="1193292"/>
            <a:ext cx="3456432" cy="406908"/>
          </a:xfrm>
          <a:prstGeom prst="rect">
            <a:avLst/>
          </a:prstGeom>
          <a:noFill/>
          <a:ln/>
        </p:spPr>
        <p:txBody>
          <a:bodyPr wrap="square" lIns="0" tIns="0" rIns="0" bIns="0" rtlCol="0" anchor="ctr"/>
          <a:lstStyle/>
          <a:p>
            <a:pPr marL="0" indent="0">
              <a:buNone/>
            </a:pPr>
            <a:r>
              <a:rPr lang="en-US" sz="1000" dirty="0">
                <a:solidFill>
                  <a:srgbClr val="1A2B4A"/>
                </a:solidFill>
              </a:rPr>
              <a:t>User &amp; Authentication Service</a:t>
            </a:r>
            <a:endParaRPr lang="en-US" sz="1000" dirty="0"/>
          </a:p>
        </p:txBody>
      </p:sp>
      <p:sp>
        <p:nvSpPr>
          <p:cNvPr id="18" name="Text 16"/>
          <p:cNvSpPr/>
          <p:nvPr/>
        </p:nvSpPr>
        <p:spPr>
          <a:xfrm>
            <a:off x="5678424" y="1193292"/>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 + FE</a:t>
            </a:r>
            <a:endParaRPr lang="en-US" sz="950" dirty="0"/>
          </a:p>
        </p:txBody>
      </p:sp>
      <p:sp>
        <p:nvSpPr>
          <p:cNvPr id="19" name="Shape 17"/>
          <p:cNvSpPr/>
          <p:nvPr/>
        </p:nvSpPr>
        <p:spPr>
          <a:xfrm>
            <a:off x="7205472" y="1284732"/>
            <a:ext cx="914400" cy="224028"/>
          </a:xfrm>
          <a:prstGeom prst="roundRect">
            <a:avLst>
              <a:gd name="adj" fmla="val 24490"/>
            </a:avLst>
          </a:prstGeom>
          <a:solidFill>
            <a:srgbClr val="E8521A">
              <a:alpha val="15000"/>
            </a:srgbClr>
          </a:solidFill>
          <a:ln w="12700">
            <a:solidFill>
              <a:srgbClr val="E8521A"/>
            </a:solidFill>
            <a:prstDash val="solid"/>
          </a:ln>
        </p:spPr>
        <p:txBody>
          <a:bodyPr/>
          <a:lstStyle/>
          <a:p>
            <a:endParaRPr lang="en-IN"/>
          </a:p>
        </p:txBody>
      </p:sp>
      <p:sp>
        <p:nvSpPr>
          <p:cNvPr id="20" name="Text 18"/>
          <p:cNvSpPr/>
          <p:nvPr/>
        </p:nvSpPr>
        <p:spPr>
          <a:xfrm>
            <a:off x="7205472" y="1284732"/>
            <a:ext cx="914400" cy="224028"/>
          </a:xfrm>
          <a:prstGeom prst="rect">
            <a:avLst/>
          </a:prstGeom>
          <a:noFill/>
          <a:ln/>
        </p:spPr>
        <p:txBody>
          <a:bodyPr wrap="square" lIns="0" tIns="0" rIns="0" bIns="0" rtlCol="0" anchor="ctr"/>
          <a:lstStyle/>
          <a:p>
            <a:pPr marL="0" indent="0" algn="ctr">
              <a:buNone/>
            </a:pPr>
            <a:r>
              <a:rPr lang="en-US" sz="900" b="1" dirty="0">
                <a:solidFill>
                  <a:srgbClr val="E8521A"/>
                </a:solidFill>
              </a:rPr>
              <a:t>FR-05</a:t>
            </a:r>
            <a:endParaRPr lang="en-US" sz="900" dirty="0"/>
          </a:p>
        </p:txBody>
      </p:sp>
      <p:sp>
        <p:nvSpPr>
          <p:cNvPr id="21" name="Shape 19"/>
          <p:cNvSpPr/>
          <p:nvPr/>
        </p:nvSpPr>
        <p:spPr>
          <a:xfrm>
            <a:off x="320040" y="1636776"/>
            <a:ext cx="7900416" cy="406908"/>
          </a:xfrm>
          <a:prstGeom prst="rect">
            <a:avLst/>
          </a:prstGeom>
          <a:solidFill>
            <a:srgbClr val="F0F4FA"/>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22" name="Shape 20"/>
          <p:cNvSpPr/>
          <p:nvPr/>
        </p:nvSpPr>
        <p:spPr>
          <a:xfrm>
            <a:off x="320040" y="1636776"/>
            <a:ext cx="54864" cy="406908"/>
          </a:xfrm>
          <a:prstGeom prst="rect">
            <a:avLst/>
          </a:prstGeom>
          <a:solidFill>
            <a:srgbClr val="2D7DD2"/>
          </a:solidFill>
          <a:ln w="12700">
            <a:solidFill>
              <a:srgbClr val="2D7DD2"/>
            </a:solidFill>
            <a:prstDash val="solid"/>
          </a:ln>
        </p:spPr>
        <p:txBody>
          <a:bodyPr/>
          <a:lstStyle/>
          <a:p>
            <a:endParaRPr lang="en-IN"/>
          </a:p>
        </p:txBody>
      </p:sp>
      <p:sp>
        <p:nvSpPr>
          <p:cNvPr id="23" name="Shape 21"/>
          <p:cNvSpPr/>
          <p:nvPr/>
        </p:nvSpPr>
        <p:spPr>
          <a:xfrm>
            <a:off x="457200" y="1755648"/>
            <a:ext cx="182880" cy="182880"/>
          </a:xfrm>
          <a:prstGeom prst="ellipse">
            <a:avLst/>
          </a:prstGeom>
          <a:solidFill>
            <a:srgbClr val="2D7DD2"/>
          </a:solidFill>
          <a:ln w="12700">
            <a:solidFill>
              <a:srgbClr val="2D7DD2"/>
            </a:solidFill>
            <a:prstDash val="solid"/>
          </a:ln>
        </p:spPr>
        <p:txBody>
          <a:bodyPr/>
          <a:lstStyle/>
          <a:p>
            <a:endParaRPr lang="en-IN"/>
          </a:p>
        </p:txBody>
      </p:sp>
      <p:sp>
        <p:nvSpPr>
          <p:cNvPr id="24" name="Text 22"/>
          <p:cNvSpPr/>
          <p:nvPr/>
        </p:nvSpPr>
        <p:spPr>
          <a:xfrm>
            <a:off x="713232" y="1636776"/>
            <a:ext cx="1261872" cy="406908"/>
          </a:xfrm>
          <a:prstGeom prst="rect">
            <a:avLst/>
          </a:prstGeom>
          <a:noFill/>
          <a:ln/>
        </p:spPr>
        <p:txBody>
          <a:bodyPr wrap="square" lIns="0" tIns="0" rIns="0" bIns="0" rtlCol="0" anchor="ctr"/>
          <a:lstStyle/>
          <a:p>
            <a:pPr marL="0" indent="0">
              <a:buNone/>
            </a:pPr>
            <a:r>
              <a:rPr lang="en-US" sz="1050" b="1" dirty="0">
                <a:solidFill>
                  <a:srgbClr val="2D7DD2"/>
                </a:solidFill>
              </a:rPr>
              <a:t>H.B Purushottam</a:t>
            </a:r>
            <a:endParaRPr lang="en-US" sz="1050" dirty="0"/>
          </a:p>
        </p:txBody>
      </p:sp>
      <p:sp>
        <p:nvSpPr>
          <p:cNvPr id="25" name="Text 23"/>
          <p:cNvSpPr/>
          <p:nvPr/>
        </p:nvSpPr>
        <p:spPr>
          <a:xfrm>
            <a:off x="2112264" y="1636776"/>
            <a:ext cx="3456432" cy="406908"/>
          </a:xfrm>
          <a:prstGeom prst="rect">
            <a:avLst/>
          </a:prstGeom>
          <a:noFill/>
          <a:ln/>
        </p:spPr>
        <p:txBody>
          <a:bodyPr wrap="square" lIns="0" tIns="0" rIns="0" bIns="0" rtlCol="0" anchor="ctr"/>
          <a:lstStyle/>
          <a:p>
            <a:pPr marL="0" indent="0">
              <a:buNone/>
            </a:pPr>
            <a:r>
              <a:rPr lang="en-US" sz="1000" dirty="0">
                <a:solidFill>
                  <a:srgbClr val="1A2B4A"/>
                </a:solidFill>
              </a:rPr>
              <a:t>Staff Entity &amp; Inheritance Service</a:t>
            </a:r>
            <a:endParaRPr lang="en-US" sz="1000" dirty="0"/>
          </a:p>
        </p:txBody>
      </p:sp>
      <p:sp>
        <p:nvSpPr>
          <p:cNvPr id="26" name="Text 24"/>
          <p:cNvSpPr/>
          <p:nvPr/>
        </p:nvSpPr>
        <p:spPr>
          <a:xfrm>
            <a:off x="5678424" y="1636776"/>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a:t>
            </a:r>
            <a:endParaRPr lang="en-US" sz="950" dirty="0"/>
          </a:p>
        </p:txBody>
      </p:sp>
      <p:sp>
        <p:nvSpPr>
          <p:cNvPr id="27" name="Shape 25"/>
          <p:cNvSpPr/>
          <p:nvPr/>
        </p:nvSpPr>
        <p:spPr>
          <a:xfrm>
            <a:off x="7205472" y="1728216"/>
            <a:ext cx="914400" cy="224028"/>
          </a:xfrm>
          <a:prstGeom prst="roundRect">
            <a:avLst>
              <a:gd name="adj" fmla="val 24490"/>
            </a:avLst>
          </a:prstGeom>
          <a:solidFill>
            <a:srgbClr val="2D7DD2">
              <a:alpha val="15000"/>
            </a:srgbClr>
          </a:solidFill>
          <a:ln w="12700">
            <a:solidFill>
              <a:srgbClr val="2D7DD2"/>
            </a:solidFill>
            <a:prstDash val="solid"/>
          </a:ln>
        </p:spPr>
        <p:txBody>
          <a:bodyPr/>
          <a:lstStyle/>
          <a:p>
            <a:endParaRPr lang="en-IN"/>
          </a:p>
        </p:txBody>
      </p:sp>
      <p:sp>
        <p:nvSpPr>
          <p:cNvPr id="28" name="Text 26"/>
          <p:cNvSpPr/>
          <p:nvPr/>
        </p:nvSpPr>
        <p:spPr>
          <a:xfrm>
            <a:off x="7205472" y="1728216"/>
            <a:ext cx="914400" cy="224028"/>
          </a:xfrm>
          <a:prstGeom prst="rect">
            <a:avLst/>
          </a:prstGeom>
          <a:noFill/>
          <a:ln/>
        </p:spPr>
        <p:txBody>
          <a:bodyPr wrap="square" lIns="0" tIns="0" rIns="0" bIns="0" rtlCol="0" anchor="ctr"/>
          <a:lstStyle/>
          <a:p>
            <a:pPr marL="0" indent="0" algn="ctr">
              <a:buNone/>
            </a:pPr>
            <a:r>
              <a:rPr lang="en-US" sz="900" b="1" dirty="0">
                <a:solidFill>
                  <a:srgbClr val="2D7DD2"/>
                </a:solidFill>
              </a:rPr>
              <a:t>FR-02,05</a:t>
            </a:r>
            <a:endParaRPr lang="en-US" sz="900" dirty="0"/>
          </a:p>
        </p:txBody>
      </p:sp>
      <p:sp>
        <p:nvSpPr>
          <p:cNvPr id="29" name="Shape 27"/>
          <p:cNvSpPr/>
          <p:nvPr/>
        </p:nvSpPr>
        <p:spPr>
          <a:xfrm>
            <a:off x="320040" y="2080260"/>
            <a:ext cx="7900416" cy="406908"/>
          </a:xfrm>
          <a:prstGeom prst="rect">
            <a:avLst/>
          </a:prstGeom>
          <a:solidFill>
            <a:srgbClr val="FFFFFF"/>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30" name="Shape 28"/>
          <p:cNvSpPr/>
          <p:nvPr/>
        </p:nvSpPr>
        <p:spPr>
          <a:xfrm>
            <a:off x="320040" y="2080260"/>
            <a:ext cx="54864" cy="406908"/>
          </a:xfrm>
          <a:prstGeom prst="rect">
            <a:avLst/>
          </a:prstGeom>
          <a:solidFill>
            <a:srgbClr val="1AAB8A"/>
          </a:solidFill>
          <a:ln w="12700">
            <a:solidFill>
              <a:srgbClr val="1AAB8A"/>
            </a:solidFill>
            <a:prstDash val="solid"/>
          </a:ln>
        </p:spPr>
        <p:txBody>
          <a:bodyPr/>
          <a:lstStyle/>
          <a:p>
            <a:endParaRPr lang="en-IN"/>
          </a:p>
        </p:txBody>
      </p:sp>
      <p:sp>
        <p:nvSpPr>
          <p:cNvPr id="31" name="Shape 29"/>
          <p:cNvSpPr/>
          <p:nvPr/>
        </p:nvSpPr>
        <p:spPr>
          <a:xfrm>
            <a:off x="457200" y="2199132"/>
            <a:ext cx="182880" cy="182880"/>
          </a:xfrm>
          <a:prstGeom prst="ellipse">
            <a:avLst/>
          </a:prstGeom>
          <a:solidFill>
            <a:srgbClr val="1AAB8A"/>
          </a:solidFill>
          <a:ln w="12700">
            <a:solidFill>
              <a:srgbClr val="1AAB8A"/>
            </a:solidFill>
            <a:prstDash val="solid"/>
          </a:ln>
        </p:spPr>
        <p:txBody>
          <a:bodyPr/>
          <a:lstStyle/>
          <a:p>
            <a:endParaRPr lang="en-IN"/>
          </a:p>
        </p:txBody>
      </p:sp>
      <p:sp>
        <p:nvSpPr>
          <p:cNvPr id="32" name="Text 30"/>
          <p:cNvSpPr/>
          <p:nvPr/>
        </p:nvSpPr>
        <p:spPr>
          <a:xfrm>
            <a:off x="713232" y="2080260"/>
            <a:ext cx="1261872" cy="406908"/>
          </a:xfrm>
          <a:prstGeom prst="rect">
            <a:avLst/>
          </a:prstGeom>
          <a:noFill/>
          <a:ln/>
        </p:spPr>
        <p:txBody>
          <a:bodyPr wrap="square" lIns="0" tIns="0" rIns="0" bIns="0" rtlCol="0" anchor="ctr"/>
          <a:lstStyle/>
          <a:p>
            <a:pPr marL="0" indent="0">
              <a:buNone/>
            </a:pPr>
            <a:r>
              <a:rPr lang="en-US" sz="1050" b="1" dirty="0">
                <a:solidFill>
                  <a:srgbClr val="1AAB8A"/>
                </a:solidFill>
              </a:rPr>
              <a:t>N. Shahanadh</a:t>
            </a:r>
            <a:endParaRPr lang="en-US" sz="1050" dirty="0"/>
          </a:p>
        </p:txBody>
      </p:sp>
      <p:sp>
        <p:nvSpPr>
          <p:cNvPr id="33" name="Text 31"/>
          <p:cNvSpPr/>
          <p:nvPr/>
        </p:nvSpPr>
        <p:spPr>
          <a:xfrm>
            <a:off x="2112264" y="2080260"/>
            <a:ext cx="3456432" cy="406908"/>
          </a:xfrm>
          <a:prstGeom prst="rect">
            <a:avLst/>
          </a:prstGeom>
          <a:noFill/>
          <a:ln/>
        </p:spPr>
        <p:txBody>
          <a:bodyPr wrap="square" lIns="0" tIns="0" rIns="0" bIns="0" rtlCol="0" anchor="ctr"/>
          <a:lstStyle/>
          <a:p>
            <a:pPr marL="0" indent="0">
              <a:buNone/>
            </a:pPr>
            <a:r>
              <a:rPr lang="en-US" sz="1000" dirty="0">
                <a:solidFill>
                  <a:srgbClr val="1A2B4A"/>
                </a:solidFill>
              </a:rPr>
              <a:t>Event Management Service</a:t>
            </a:r>
            <a:endParaRPr lang="en-US" sz="1000" dirty="0"/>
          </a:p>
        </p:txBody>
      </p:sp>
      <p:sp>
        <p:nvSpPr>
          <p:cNvPr id="34" name="Text 32"/>
          <p:cNvSpPr/>
          <p:nvPr/>
        </p:nvSpPr>
        <p:spPr>
          <a:xfrm>
            <a:off x="5678424" y="2080260"/>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a:t>
            </a:r>
            <a:endParaRPr lang="en-US" sz="950" dirty="0"/>
          </a:p>
        </p:txBody>
      </p:sp>
      <p:sp>
        <p:nvSpPr>
          <p:cNvPr id="35" name="Shape 33"/>
          <p:cNvSpPr/>
          <p:nvPr/>
        </p:nvSpPr>
        <p:spPr>
          <a:xfrm>
            <a:off x="7205472" y="2171700"/>
            <a:ext cx="914400" cy="224028"/>
          </a:xfrm>
          <a:prstGeom prst="roundRect">
            <a:avLst>
              <a:gd name="adj" fmla="val 24490"/>
            </a:avLst>
          </a:prstGeom>
          <a:solidFill>
            <a:srgbClr val="1AAB8A">
              <a:alpha val="15000"/>
            </a:srgbClr>
          </a:solidFill>
          <a:ln w="12700">
            <a:solidFill>
              <a:srgbClr val="1AAB8A"/>
            </a:solidFill>
            <a:prstDash val="solid"/>
          </a:ln>
        </p:spPr>
        <p:txBody>
          <a:bodyPr/>
          <a:lstStyle/>
          <a:p>
            <a:endParaRPr lang="en-IN"/>
          </a:p>
        </p:txBody>
      </p:sp>
      <p:sp>
        <p:nvSpPr>
          <p:cNvPr id="36" name="Text 34"/>
          <p:cNvSpPr/>
          <p:nvPr/>
        </p:nvSpPr>
        <p:spPr>
          <a:xfrm>
            <a:off x="7205472" y="2171700"/>
            <a:ext cx="914400" cy="224028"/>
          </a:xfrm>
          <a:prstGeom prst="rect">
            <a:avLst/>
          </a:prstGeom>
          <a:noFill/>
          <a:ln/>
        </p:spPr>
        <p:txBody>
          <a:bodyPr wrap="square" lIns="0" tIns="0" rIns="0" bIns="0" rtlCol="0" anchor="ctr"/>
          <a:lstStyle/>
          <a:p>
            <a:pPr marL="0" indent="0" algn="ctr">
              <a:buNone/>
            </a:pPr>
            <a:r>
              <a:rPr lang="en-US" sz="900" b="1" dirty="0">
                <a:solidFill>
                  <a:srgbClr val="1AAB8A"/>
                </a:solidFill>
              </a:rPr>
              <a:t>FR-01</a:t>
            </a:r>
            <a:endParaRPr lang="en-US" sz="900" dirty="0"/>
          </a:p>
        </p:txBody>
      </p:sp>
      <p:sp>
        <p:nvSpPr>
          <p:cNvPr id="37" name="Shape 35"/>
          <p:cNvSpPr/>
          <p:nvPr/>
        </p:nvSpPr>
        <p:spPr>
          <a:xfrm>
            <a:off x="320040" y="2523744"/>
            <a:ext cx="7900416" cy="406908"/>
          </a:xfrm>
          <a:prstGeom prst="rect">
            <a:avLst/>
          </a:prstGeom>
          <a:solidFill>
            <a:srgbClr val="F0F4FA"/>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38" name="Shape 36"/>
          <p:cNvSpPr/>
          <p:nvPr/>
        </p:nvSpPr>
        <p:spPr>
          <a:xfrm>
            <a:off x="320040" y="2523744"/>
            <a:ext cx="54864" cy="406908"/>
          </a:xfrm>
          <a:prstGeom prst="rect">
            <a:avLst/>
          </a:prstGeom>
          <a:solidFill>
            <a:srgbClr val="9B59B6"/>
          </a:solidFill>
          <a:ln w="12700">
            <a:solidFill>
              <a:srgbClr val="9B59B6"/>
            </a:solidFill>
            <a:prstDash val="solid"/>
          </a:ln>
        </p:spPr>
        <p:txBody>
          <a:bodyPr/>
          <a:lstStyle/>
          <a:p>
            <a:endParaRPr lang="en-IN"/>
          </a:p>
        </p:txBody>
      </p:sp>
      <p:sp>
        <p:nvSpPr>
          <p:cNvPr id="39" name="Shape 37"/>
          <p:cNvSpPr/>
          <p:nvPr/>
        </p:nvSpPr>
        <p:spPr>
          <a:xfrm>
            <a:off x="457200" y="2642616"/>
            <a:ext cx="182880" cy="182880"/>
          </a:xfrm>
          <a:prstGeom prst="ellipse">
            <a:avLst/>
          </a:prstGeom>
          <a:solidFill>
            <a:srgbClr val="9B59B6"/>
          </a:solidFill>
          <a:ln w="12700">
            <a:solidFill>
              <a:srgbClr val="9B59B6"/>
            </a:solidFill>
            <a:prstDash val="solid"/>
          </a:ln>
        </p:spPr>
        <p:txBody>
          <a:bodyPr/>
          <a:lstStyle/>
          <a:p>
            <a:endParaRPr lang="en-IN"/>
          </a:p>
        </p:txBody>
      </p:sp>
      <p:sp>
        <p:nvSpPr>
          <p:cNvPr id="40" name="Text 38"/>
          <p:cNvSpPr/>
          <p:nvPr/>
        </p:nvSpPr>
        <p:spPr>
          <a:xfrm>
            <a:off x="713232" y="2523744"/>
            <a:ext cx="1261872" cy="406908"/>
          </a:xfrm>
          <a:prstGeom prst="rect">
            <a:avLst/>
          </a:prstGeom>
          <a:noFill/>
          <a:ln/>
        </p:spPr>
        <p:txBody>
          <a:bodyPr wrap="square" lIns="0" tIns="0" rIns="0" bIns="0" rtlCol="0" anchor="ctr"/>
          <a:lstStyle/>
          <a:p>
            <a:pPr marL="0" indent="0">
              <a:buNone/>
            </a:pPr>
            <a:r>
              <a:rPr lang="en-US" sz="1050" b="1" dirty="0">
                <a:solidFill>
                  <a:srgbClr val="9B59B6"/>
                </a:solidFill>
              </a:rPr>
              <a:t>L. Rama Kasturi</a:t>
            </a:r>
            <a:endParaRPr lang="en-US" sz="1050" dirty="0"/>
          </a:p>
        </p:txBody>
      </p:sp>
      <p:sp>
        <p:nvSpPr>
          <p:cNvPr id="41" name="Text 39"/>
          <p:cNvSpPr/>
          <p:nvPr/>
        </p:nvSpPr>
        <p:spPr>
          <a:xfrm>
            <a:off x="2112264" y="2523744"/>
            <a:ext cx="3456432" cy="406908"/>
          </a:xfrm>
          <a:prstGeom prst="rect">
            <a:avLst/>
          </a:prstGeom>
          <a:noFill/>
          <a:ln/>
        </p:spPr>
        <p:txBody>
          <a:bodyPr wrap="square" lIns="0" tIns="0" rIns="0" bIns="0" rtlCol="0" anchor="ctr"/>
          <a:lstStyle/>
          <a:p>
            <a:pPr marL="0" indent="0">
              <a:buNone/>
            </a:pPr>
            <a:r>
              <a:rPr lang="en-US" sz="1000" dirty="0">
                <a:solidFill>
                  <a:srgbClr val="1A2B4A"/>
                </a:solidFill>
              </a:rPr>
              <a:t>Task Management Service</a:t>
            </a:r>
            <a:endParaRPr lang="en-US" sz="1000" dirty="0"/>
          </a:p>
        </p:txBody>
      </p:sp>
      <p:sp>
        <p:nvSpPr>
          <p:cNvPr id="42" name="Text 40"/>
          <p:cNvSpPr/>
          <p:nvPr/>
        </p:nvSpPr>
        <p:spPr>
          <a:xfrm>
            <a:off x="5678424" y="2523744"/>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a:t>
            </a:r>
            <a:endParaRPr lang="en-US" sz="950" dirty="0"/>
          </a:p>
        </p:txBody>
      </p:sp>
      <p:sp>
        <p:nvSpPr>
          <p:cNvPr id="43" name="Shape 41"/>
          <p:cNvSpPr/>
          <p:nvPr/>
        </p:nvSpPr>
        <p:spPr>
          <a:xfrm>
            <a:off x="7205472" y="2615184"/>
            <a:ext cx="914400" cy="224028"/>
          </a:xfrm>
          <a:prstGeom prst="roundRect">
            <a:avLst>
              <a:gd name="adj" fmla="val 24490"/>
            </a:avLst>
          </a:prstGeom>
          <a:solidFill>
            <a:srgbClr val="9B59B6">
              <a:alpha val="15000"/>
            </a:srgbClr>
          </a:solidFill>
          <a:ln w="12700">
            <a:solidFill>
              <a:srgbClr val="9B59B6"/>
            </a:solidFill>
            <a:prstDash val="solid"/>
          </a:ln>
        </p:spPr>
        <p:txBody>
          <a:bodyPr/>
          <a:lstStyle/>
          <a:p>
            <a:endParaRPr lang="en-IN"/>
          </a:p>
        </p:txBody>
      </p:sp>
      <p:sp>
        <p:nvSpPr>
          <p:cNvPr id="44" name="Text 42"/>
          <p:cNvSpPr/>
          <p:nvPr/>
        </p:nvSpPr>
        <p:spPr>
          <a:xfrm>
            <a:off x="7205472" y="2615184"/>
            <a:ext cx="914400" cy="224028"/>
          </a:xfrm>
          <a:prstGeom prst="rect">
            <a:avLst/>
          </a:prstGeom>
          <a:noFill/>
          <a:ln/>
        </p:spPr>
        <p:txBody>
          <a:bodyPr wrap="square" lIns="0" tIns="0" rIns="0" bIns="0" rtlCol="0" anchor="ctr"/>
          <a:lstStyle/>
          <a:p>
            <a:pPr marL="0" indent="0" algn="ctr">
              <a:buNone/>
            </a:pPr>
            <a:r>
              <a:rPr lang="en-US" sz="900" b="1" dirty="0">
                <a:solidFill>
                  <a:srgbClr val="9B59B6"/>
                </a:solidFill>
              </a:rPr>
              <a:t>FR-02</a:t>
            </a:r>
            <a:endParaRPr lang="en-US" sz="900" dirty="0"/>
          </a:p>
        </p:txBody>
      </p:sp>
      <p:sp>
        <p:nvSpPr>
          <p:cNvPr id="45" name="Shape 43"/>
          <p:cNvSpPr/>
          <p:nvPr/>
        </p:nvSpPr>
        <p:spPr>
          <a:xfrm>
            <a:off x="320040" y="2967228"/>
            <a:ext cx="7900416" cy="406908"/>
          </a:xfrm>
          <a:prstGeom prst="rect">
            <a:avLst/>
          </a:prstGeom>
          <a:solidFill>
            <a:srgbClr val="FFFFFF"/>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46" name="Shape 44"/>
          <p:cNvSpPr/>
          <p:nvPr/>
        </p:nvSpPr>
        <p:spPr>
          <a:xfrm>
            <a:off x="320040" y="2967228"/>
            <a:ext cx="54864" cy="406908"/>
          </a:xfrm>
          <a:prstGeom prst="rect">
            <a:avLst/>
          </a:prstGeom>
          <a:solidFill>
            <a:srgbClr val="E74C3C"/>
          </a:solidFill>
          <a:ln w="12700">
            <a:solidFill>
              <a:srgbClr val="E74C3C"/>
            </a:solidFill>
            <a:prstDash val="solid"/>
          </a:ln>
        </p:spPr>
        <p:txBody>
          <a:bodyPr/>
          <a:lstStyle/>
          <a:p>
            <a:endParaRPr lang="en-IN"/>
          </a:p>
        </p:txBody>
      </p:sp>
      <p:sp>
        <p:nvSpPr>
          <p:cNvPr id="47" name="Shape 45"/>
          <p:cNvSpPr/>
          <p:nvPr/>
        </p:nvSpPr>
        <p:spPr>
          <a:xfrm>
            <a:off x="457200" y="3086100"/>
            <a:ext cx="182880" cy="182880"/>
          </a:xfrm>
          <a:prstGeom prst="ellipse">
            <a:avLst/>
          </a:prstGeom>
          <a:solidFill>
            <a:srgbClr val="E74C3C"/>
          </a:solidFill>
          <a:ln w="12700">
            <a:solidFill>
              <a:srgbClr val="E74C3C"/>
            </a:solidFill>
            <a:prstDash val="solid"/>
          </a:ln>
        </p:spPr>
        <p:txBody>
          <a:bodyPr/>
          <a:lstStyle/>
          <a:p>
            <a:endParaRPr lang="en-IN"/>
          </a:p>
        </p:txBody>
      </p:sp>
      <p:sp>
        <p:nvSpPr>
          <p:cNvPr id="48" name="Text 46"/>
          <p:cNvSpPr/>
          <p:nvPr/>
        </p:nvSpPr>
        <p:spPr>
          <a:xfrm>
            <a:off x="713232" y="2967228"/>
            <a:ext cx="1261872" cy="406908"/>
          </a:xfrm>
          <a:prstGeom prst="rect">
            <a:avLst/>
          </a:prstGeom>
          <a:noFill/>
          <a:ln/>
        </p:spPr>
        <p:txBody>
          <a:bodyPr wrap="square" lIns="0" tIns="0" rIns="0" bIns="0" rtlCol="0" anchor="ctr"/>
          <a:lstStyle/>
          <a:p>
            <a:pPr marL="0" indent="0">
              <a:buNone/>
            </a:pPr>
            <a:r>
              <a:rPr lang="en-US" sz="1050" b="1" dirty="0">
                <a:solidFill>
                  <a:srgbClr val="E74C3C"/>
                </a:solidFill>
              </a:rPr>
              <a:t>B. Tharun</a:t>
            </a:r>
            <a:endParaRPr lang="en-US" sz="1050" dirty="0"/>
          </a:p>
        </p:txBody>
      </p:sp>
      <p:sp>
        <p:nvSpPr>
          <p:cNvPr id="49" name="Text 47"/>
          <p:cNvSpPr/>
          <p:nvPr/>
        </p:nvSpPr>
        <p:spPr>
          <a:xfrm>
            <a:off x="2112264" y="2967228"/>
            <a:ext cx="3456432" cy="406908"/>
          </a:xfrm>
          <a:prstGeom prst="rect">
            <a:avLst/>
          </a:prstGeom>
          <a:noFill/>
          <a:ln/>
        </p:spPr>
        <p:txBody>
          <a:bodyPr wrap="square" lIns="0" tIns="0" rIns="0" bIns="0" rtlCol="0" anchor="ctr"/>
          <a:lstStyle/>
          <a:p>
            <a:pPr marL="0" indent="0">
              <a:buNone/>
            </a:pPr>
            <a:r>
              <a:rPr lang="en-US" sz="1000" dirty="0">
                <a:solidFill>
                  <a:srgbClr val="1A2B4A"/>
                </a:solidFill>
              </a:rPr>
              <a:t>Task Assignment + Planner Dashboard</a:t>
            </a:r>
            <a:endParaRPr lang="en-US" sz="1000" dirty="0"/>
          </a:p>
        </p:txBody>
      </p:sp>
      <p:sp>
        <p:nvSpPr>
          <p:cNvPr id="50" name="Text 48"/>
          <p:cNvSpPr/>
          <p:nvPr/>
        </p:nvSpPr>
        <p:spPr>
          <a:xfrm>
            <a:off x="5678424" y="2967228"/>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 + FE</a:t>
            </a:r>
            <a:endParaRPr lang="en-US" sz="950" dirty="0"/>
          </a:p>
        </p:txBody>
      </p:sp>
      <p:sp>
        <p:nvSpPr>
          <p:cNvPr id="51" name="Shape 49"/>
          <p:cNvSpPr/>
          <p:nvPr/>
        </p:nvSpPr>
        <p:spPr>
          <a:xfrm>
            <a:off x="7205472" y="3058668"/>
            <a:ext cx="914400" cy="224028"/>
          </a:xfrm>
          <a:prstGeom prst="roundRect">
            <a:avLst>
              <a:gd name="adj" fmla="val 24490"/>
            </a:avLst>
          </a:prstGeom>
          <a:solidFill>
            <a:srgbClr val="E74C3C">
              <a:alpha val="15000"/>
            </a:srgbClr>
          </a:solidFill>
          <a:ln w="12700">
            <a:solidFill>
              <a:srgbClr val="E74C3C"/>
            </a:solidFill>
            <a:prstDash val="solid"/>
          </a:ln>
        </p:spPr>
        <p:txBody>
          <a:bodyPr/>
          <a:lstStyle/>
          <a:p>
            <a:endParaRPr lang="en-IN"/>
          </a:p>
        </p:txBody>
      </p:sp>
      <p:sp>
        <p:nvSpPr>
          <p:cNvPr id="52" name="Text 50"/>
          <p:cNvSpPr/>
          <p:nvPr/>
        </p:nvSpPr>
        <p:spPr>
          <a:xfrm>
            <a:off x="7205472" y="3058668"/>
            <a:ext cx="914400" cy="224028"/>
          </a:xfrm>
          <a:prstGeom prst="rect">
            <a:avLst/>
          </a:prstGeom>
          <a:noFill/>
          <a:ln/>
        </p:spPr>
        <p:txBody>
          <a:bodyPr wrap="square" lIns="0" tIns="0" rIns="0" bIns="0" rtlCol="0" anchor="ctr"/>
          <a:lstStyle/>
          <a:p>
            <a:pPr marL="0" indent="0" algn="ctr">
              <a:buNone/>
            </a:pPr>
            <a:r>
              <a:rPr lang="en-US" sz="900" b="1" dirty="0">
                <a:solidFill>
                  <a:srgbClr val="E74C3C"/>
                </a:solidFill>
              </a:rPr>
              <a:t>FR-02</a:t>
            </a:r>
            <a:endParaRPr lang="en-US" sz="900" dirty="0"/>
          </a:p>
        </p:txBody>
      </p:sp>
      <p:sp>
        <p:nvSpPr>
          <p:cNvPr id="53" name="Shape 51"/>
          <p:cNvSpPr/>
          <p:nvPr/>
        </p:nvSpPr>
        <p:spPr>
          <a:xfrm>
            <a:off x="320040" y="3410712"/>
            <a:ext cx="7900416" cy="406908"/>
          </a:xfrm>
          <a:prstGeom prst="rect">
            <a:avLst/>
          </a:prstGeom>
          <a:solidFill>
            <a:srgbClr val="F0F4FA"/>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54" name="Shape 52"/>
          <p:cNvSpPr/>
          <p:nvPr/>
        </p:nvSpPr>
        <p:spPr>
          <a:xfrm>
            <a:off x="320040" y="3410712"/>
            <a:ext cx="54864" cy="406908"/>
          </a:xfrm>
          <a:prstGeom prst="rect">
            <a:avLst/>
          </a:prstGeom>
          <a:solidFill>
            <a:srgbClr val="F39C12"/>
          </a:solidFill>
          <a:ln w="12700">
            <a:solidFill>
              <a:srgbClr val="F39C12"/>
            </a:solidFill>
            <a:prstDash val="solid"/>
          </a:ln>
        </p:spPr>
        <p:txBody>
          <a:bodyPr/>
          <a:lstStyle/>
          <a:p>
            <a:endParaRPr lang="en-IN"/>
          </a:p>
        </p:txBody>
      </p:sp>
      <p:sp>
        <p:nvSpPr>
          <p:cNvPr id="55" name="Shape 53"/>
          <p:cNvSpPr/>
          <p:nvPr/>
        </p:nvSpPr>
        <p:spPr>
          <a:xfrm>
            <a:off x="457200" y="3529584"/>
            <a:ext cx="182880" cy="182880"/>
          </a:xfrm>
          <a:prstGeom prst="ellipse">
            <a:avLst/>
          </a:prstGeom>
          <a:solidFill>
            <a:srgbClr val="F39C12"/>
          </a:solidFill>
          <a:ln w="12700">
            <a:solidFill>
              <a:srgbClr val="F39C12"/>
            </a:solidFill>
            <a:prstDash val="solid"/>
          </a:ln>
        </p:spPr>
        <p:txBody>
          <a:bodyPr/>
          <a:lstStyle/>
          <a:p>
            <a:endParaRPr lang="en-IN"/>
          </a:p>
        </p:txBody>
      </p:sp>
      <p:sp>
        <p:nvSpPr>
          <p:cNvPr id="56" name="Text 54"/>
          <p:cNvSpPr/>
          <p:nvPr/>
        </p:nvSpPr>
        <p:spPr>
          <a:xfrm>
            <a:off x="713232" y="3410712"/>
            <a:ext cx="1261872" cy="406908"/>
          </a:xfrm>
          <a:prstGeom prst="rect">
            <a:avLst/>
          </a:prstGeom>
          <a:noFill/>
          <a:ln/>
        </p:spPr>
        <p:txBody>
          <a:bodyPr wrap="square" lIns="0" tIns="0" rIns="0" bIns="0" rtlCol="0" anchor="ctr"/>
          <a:lstStyle/>
          <a:p>
            <a:pPr marL="0" indent="0">
              <a:buNone/>
            </a:pPr>
            <a:r>
              <a:rPr lang="en-US" sz="1050" b="1" dirty="0">
                <a:solidFill>
                  <a:srgbClr val="F39C12"/>
                </a:solidFill>
              </a:rPr>
              <a:t>B. Munendra</a:t>
            </a:r>
            <a:endParaRPr lang="en-US" sz="1050" dirty="0"/>
          </a:p>
        </p:txBody>
      </p:sp>
      <p:sp>
        <p:nvSpPr>
          <p:cNvPr id="57" name="Text 55"/>
          <p:cNvSpPr/>
          <p:nvPr/>
        </p:nvSpPr>
        <p:spPr>
          <a:xfrm>
            <a:off x="2112264" y="3410712"/>
            <a:ext cx="3456432" cy="406908"/>
          </a:xfrm>
          <a:prstGeom prst="rect">
            <a:avLst/>
          </a:prstGeom>
          <a:noFill/>
          <a:ln/>
        </p:spPr>
        <p:txBody>
          <a:bodyPr wrap="square" lIns="0" tIns="0" rIns="0" bIns="0" rtlCol="0" anchor="ctr"/>
          <a:lstStyle/>
          <a:p>
            <a:pPr marL="0" indent="0">
              <a:buNone/>
            </a:pPr>
            <a:r>
              <a:rPr lang="en-US" sz="1000" dirty="0">
                <a:solidFill>
                  <a:srgbClr val="1A2B4A"/>
                </a:solidFill>
              </a:rPr>
              <a:t>Staff Operations Service</a:t>
            </a:r>
            <a:endParaRPr lang="en-US" sz="1000" dirty="0"/>
          </a:p>
        </p:txBody>
      </p:sp>
      <p:sp>
        <p:nvSpPr>
          <p:cNvPr id="58" name="Text 56"/>
          <p:cNvSpPr/>
          <p:nvPr/>
        </p:nvSpPr>
        <p:spPr>
          <a:xfrm>
            <a:off x="5678424" y="3410712"/>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a:t>
            </a:r>
            <a:endParaRPr lang="en-US" sz="950" dirty="0"/>
          </a:p>
        </p:txBody>
      </p:sp>
      <p:sp>
        <p:nvSpPr>
          <p:cNvPr id="59" name="Shape 57"/>
          <p:cNvSpPr/>
          <p:nvPr/>
        </p:nvSpPr>
        <p:spPr>
          <a:xfrm>
            <a:off x="7205472" y="3502152"/>
            <a:ext cx="914400" cy="224028"/>
          </a:xfrm>
          <a:prstGeom prst="roundRect">
            <a:avLst>
              <a:gd name="adj" fmla="val 24490"/>
            </a:avLst>
          </a:prstGeom>
          <a:solidFill>
            <a:srgbClr val="F39C12">
              <a:alpha val="15000"/>
            </a:srgbClr>
          </a:solidFill>
          <a:ln w="12700">
            <a:solidFill>
              <a:srgbClr val="F39C12"/>
            </a:solidFill>
            <a:prstDash val="solid"/>
          </a:ln>
        </p:spPr>
        <p:txBody>
          <a:bodyPr/>
          <a:lstStyle/>
          <a:p>
            <a:endParaRPr lang="en-IN"/>
          </a:p>
        </p:txBody>
      </p:sp>
      <p:sp>
        <p:nvSpPr>
          <p:cNvPr id="60" name="Text 58"/>
          <p:cNvSpPr/>
          <p:nvPr/>
        </p:nvSpPr>
        <p:spPr>
          <a:xfrm>
            <a:off x="7205472" y="3502152"/>
            <a:ext cx="914400" cy="224028"/>
          </a:xfrm>
          <a:prstGeom prst="rect">
            <a:avLst/>
          </a:prstGeom>
          <a:noFill/>
          <a:ln/>
        </p:spPr>
        <p:txBody>
          <a:bodyPr wrap="square" lIns="0" tIns="0" rIns="0" bIns="0" rtlCol="0" anchor="ctr"/>
          <a:lstStyle/>
          <a:p>
            <a:pPr marL="0" indent="0" algn="ctr">
              <a:buNone/>
            </a:pPr>
            <a:r>
              <a:rPr lang="en-US" sz="900" b="1" dirty="0">
                <a:solidFill>
                  <a:srgbClr val="F39C12"/>
                </a:solidFill>
              </a:rPr>
              <a:t>FR-03</a:t>
            </a:r>
            <a:endParaRPr lang="en-US" sz="900" dirty="0"/>
          </a:p>
        </p:txBody>
      </p:sp>
      <p:sp>
        <p:nvSpPr>
          <p:cNvPr id="61" name="Shape 59"/>
          <p:cNvSpPr/>
          <p:nvPr/>
        </p:nvSpPr>
        <p:spPr>
          <a:xfrm>
            <a:off x="320040" y="3854196"/>
            <a:ext cx="7900416" cy="406908"/>
          </a:xfrm>
          <a:prstGeom prst="rect">
            <a:avLst/>
          </a:prstGeom>
          <a:solidFill>
            <a:srgbClr val="FFFFFF"/>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62" name="Shape 60"/>
          <p:cNvSpPr/>
          <p:nvPr/>
        </p:nvSpPr>
        <p:spPr>
          <a:xfrm>
            <a:off x="320040" y="3854196"/>
            <a:ext cx="54864" cy="406908"/>
          </a:xfrm>
          <a:prstGeom prst="rect">
            <a:avLst/>
          </a:prstGeom>
          <a:solidFill>
            <a:srgbClr val="1565C0"/>
          </a:solidFill>
          <a:ln w="12700">
            <a:solidFill>
              <a:srgbClr val="1565C0"/>
            </a:solidFill>
            <a:prstDash val="solid"/>
          </a:ln>
        </p:spPr>
        <p:txBody>
          <a:bodyPr/>
          <a:lstStyle/>
          <a:p>
            <a:endParaRPr lang="en-IN"/>
          </a:p>
        </p:txBody>
      </p:sp>
      <p:sp>
        <p:nvSpPr>
          <p:cNvPr id="63" name="Shape 61"/>
          <p:cNvSpPr/>
          <p:nvPr/>
        </p:nvSpPr>
        <p:spPr>
          <a:xfrm>
            <a:off x="457200" y="3973068"/>
            <a:ext cx="182880" cy="182880"/>
          </a:xfrm>
          <a:prstGeom prst="ellipse">
            <a:avLst/>
          </a:prstGeom>
          <a:solidFill>
            <a:srgbClr val="1565C0"/>
          </a:solidFill>
          <a:ln w="12700">
            <a:solidFill>
              <a:srgbClr val="1565C0"/>
            </a:solidFill>
            <a:prstDash val="solid"/>
          </a:ln>
        </p:spPr>
        <p:txBody>
          <a:bodyPr/>
          <a:lstStyle/>
          <a:p>
            <a:endParaRPr lang="en-IN"/>
          </a:p>
        </p:txBody>
      </p:sp>
      <p:sp>
        <p:nvSpPr>
          <p:cNvPr id="64" name="Text 62"/>
          <p:cNvSpPr/>
          <p:nvPr/>
        </p:nvSpPr>
        <p:spPr>
          <a:xfrm>
            <a:off x="713232" y="3854196"/>
            <a:ext cx="1261872" cy="406908"/>
          </a:xfrm>
          <a:prstGeom prst="rect">
            <a:avLst/>
          </a:prstGeom>
          <a:noFill/>
          <a:ln/>
        </p:spPr>
        <p:txBody>
          <a:bodyPr wrap="square" lIns="0" tIns="0" rIns="0" bIns="0" rtlCol="0" anchor="ctr"/>
          <a:lstStyle/>
          <a:p>
            <a:pPr marL="0" indent="0">
              <a:buNone/>
            </a:pPr>
            <a:r>
              <a:rPr lang="en-US" sz="1050" b="1" dirty="0">
                <a:solidFill>
                  <a:srgbClr val="1565C0"/>
                </a:solidFill>
              </a:rPr>
              <a:t>Peetla Lalitha</a:t>
            </a:r>
            <a:endParaRPr lang="en-US" sz="1050" dirty="0"/>
          </a:p>
        </p:txBody>
      </p:sp>
      <p:sp>
        <p:nvSpPr>
          <p:cNvPr id="65" name="Text 63"/>
          <p:cNvSpPr/>
          <p:nvPr/>
        </p:nvSpPr>
        <p:spPr>
          <a:xfrm>
            <a:off x="2112264" y="3854196"/>
            <a:ext cx="3456432" cy="406908"/>
          </a:xfrm>
          <a:prstGeom prst="rect">
            <a:avLst/>
          </a:prstGeom>
          <a:noFill/>
          <a:ln/>
        </p:spPr>
        <p:txBody>
          <a:bodyPr wrap="square" lIns="0" tIns="0" rIns="0" bIns="0" rtlCol="0" anchor="ctr"/>
          <a:lstStyle/>
          <a:p>
            <a:pPr marL="0" indent="0">
              <a:buNone/>
            </a:pPr>
            <a:r>
              <a:rPr lang="en-US" sz="1000" dirty="0">
                <a:solidFill>
                  <a:srgbClr val="1A2B4A"/>
                </a:solidFill>
              </a:rPr>
              <a:t>Client Portal + Staff Dashboard FE</a:t>
            </a:r>
            <a:endParaRPr lang="en-US" sz="1000" dirty="0"/>
          </a:p>
        </p:txBody>
      </p:sp>
      <p:sp>
        <p:nvSpPr>
          <p:cNvPr id="66" name="Text 64"/>
          <p:cNvSpPr/>
          <p:nvPr/>
        </p:nvSpPr>
        <p:spPr>
          <a:xfrm>
            <a:off x="5678424" y="3854196"/>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 + FE</a:t>
            </a:r>
            <a:endParaRPr lang="en-US" sz="950" dirty="0"/>
          </a:p>
        </p:txBody>
      </p:sp>
      <p:sp>
        <p:nvSpPr>
          <p:cNvPr id="67" name="Shape 65"/>
          <p:cNvSpPr/>
          <p:nvPr/>
        </p:nvSpPr>
        <p:spPr>
          <a:xfrm>
            <a:off x="7205472" y="3945636"/>
            <a:ext cx="914400" cy="224028"/>
          </a:xfrm>
          <a:prstGeom prst="roundRect">
            <a:avLst>
              <a:gd name="adj" fmla="val 24490"/>
            </a:avLst>
          </a:prstGeom>
          <a:solidFill>
            <a:srgbClr val="1565C0">
              <a:alpha val="15000"/>
            </a:srgbClr>
          </a:solidFill>
          <a:ln w="12700">
            <a:solidFill>
              <a:srgbClr val="1565C0"/>
            </a:solidFill>
            <a:prstDash val="solid"/>
          </a:ln>
        </p:spPr>
        <p:txBody>
          <a:bodyPr/>
          <a:lstStyle/>
          <a:p>
            <a:endParaRPr lang="en-IN"/>
          </a:p>
        </p:txBody>
      </p:sp>
      <p:sp>
        <p:nvSpPr>
          <p:cNvPr id="68" name="Text 66"/>
          <p:cNvSpPr/>
          <p:nvPr/>
        </p:nvSpPr>
        <p:spPr>
          <a:xfrm>
            <a:off x="7205472" y="3945636"/>
            <a:ext cx="914400" cy="224028"/>
          </a:xfrm>
          <a:prstGeom prst="rect">
            <a:avLst/>
          </a:prstGeom>
          <a:noFill/>
          <a:ln/>
        </p:spPr>
        <p:txBody>
          <a:bodyPr wrap="square" lIns="0" tIns="0" rIns="0" bIns="0" rtlCol="0" anchor="ctr"/>
          <a:lstStyle/>
          <a:p>
            <a:pPr marL="0" indent="0" algn="ctr">
              <a:buNone/>
            </a:pPr>
            <a:r>
              <a:rPr lang="en-US" sz="900" b="1" dirty="0">
                <a:solidFill>
                  <a:srgbClr val="1565C0"/>
                </a:solidFill>
              </a:rPr>
              <a:t>FR-03,04</a:t>
            </a:r>
            <a:endParaRPr lang="en-US" sz="900" dirty="0"/>
          </a:p>
        </p:txBody>
      </p:sp>
      <p:sp>
        <p:nvSpPr>
          <p:cNvPr id="69" name="Shape 67"/>
          <p:cNvSpPr/>
          <p:nvPr/>
        </p:nvSpPr>
        <p:spPr>
          <a:xfrm>
            <a:off x="320040" y="4297680"/>
            <a:ext cx="7900416" cy="406908"/>
          </a:xfrm>
          <a:prstGeom prst="rect">
            <a:avLst/>
          </a:prstGeom>
          <a:solidFill>
            <a:srgbClr val="F0F4FA"/>
          </a:solidFill>
          <a:ln w="10160">
            <a:solidFill>
              <a:srgbClr val="E8EEF5"/>
            </a:solidFill>
            <a:prstDash val="solid"/>
          </a:ln>
          <a:effectLst>
            <a:outerShdw blurRad="152400" dist="50800" dir="8100000" algn="bl" rotWithShape="0">
              <a:srgbClr val="000000">
                <a:alpha val="8000"/>
              </a:srgbClr>
            </a:outerShdw>
          </a:effectLst>
        </p:spPr>
        <p:txBody>
          <a:bodyPr/>
          <a:lstStyle/>
          <a:p>
            <a:endParaRPr lang="en-IN"/>
          </a:p>
        </p:txBody>
      </p:sp>
      <p:sp>
        <p:nvSpPr>
          <p:cNvPr id="70" name="Shape 68"/>
          <p:cNvSpPr/>
          <p:nvPr/>
        </p:nvSpPr>
        <p:spPr>
          <a:xfrm>
            <a:off x="320040" y="4297680"/>
            <a:ext cx="54864" cy="406908"/>
          </a:xfrm>
          <a:prstGeom prst="rect">
            <a:avLst/>
          </a:prstGeom>
          <a:solidFill>
            <a:srgbClr val="00897B"/>
          </a:solidFill>
          <a:ln w="12700">
            <a:solidFill>
              <a:srgbClr val="00897B"/>
            </a:solidFill>
            <a:prstDash val="solid"/>
          </a:ln>
        </p:spPr>
        <p:txBody>
          <a:bodyPr/>
          <a:lstStyle/>
          <a:p>
            <a:endParaRPr lang="en-IN"/>
          </a:p>
        </p:txBody>
      </p:sp>
      <p:sp>
        <p:nvSpPr>
          <p:cNvPr id="71" name="Shape 69"/>
          <p:cNvSpPr/>
          <p:nvPr/>
        </p:nvSpPr>
        <p:spPr>
          <a:xfrm>
            <a:off x="457200" y="4416552"/>
            <a:ext cx="182880" cy="182880"/>
          </a:xfrm>
          <a:prstGeom prst="ellipse">
            <a:avLst/>
          </a:prstGeom>
          <a:solidFill>
            <a:srgbClr val="00897B"/>
          </a:solidFill>
          <a:ln w="12700">
            <a:solidFill>
              <a:srgbClr val="00897B"/>
            </a:solidFill>
            <a:prstDash val="solid"/>
          </a:ln>
        </p:spPr>
        <p:txBody>
          <a:bodyPr/>
          <a:lstStyle/>
          <a:p>
            <a:endParaRPr lang="en-IN"/>
          </a:p>
        </p:txBody>
      </p:sp>
      <p:sp>
        <p:nvSpPr>
          <p:cNvPr id="72" name="Text 70"/>
          <p:cNvSpPr/>
          <p:nvPr/>
        </p:nvSpPr>
        <p:spPr>
          <a:xfrm>
            <a:off x="713232" y="4297680"/>
            <a:ext cx="1261872" cy="406908"/>
          </a:xfrm>
          <a:prstGeom prst="rect">
            <a:avLst/>
          </a:prstGeom>
          <a:noFill/>
          <a:ln/>
        </p:spPr>
        <p:txBody>
          <a:bodyPr wrap="square" lIns="0" tIns="0" rIns="0" bIns="0" rtlCol="0" anchor="ctr"/>
          <a:lstStyle/>
          <a:p>
            <a:pPr marL="0" indent="0">
              <a:buNone/>
            </a:pPr>
            <a:r>
              <a:rPr lang="en-US" sz="1050" b="1" dirty="0">
                <a:solidFill>
                  <a:srgbClr val="00897B"/>
                </a:solidFill>
              </a:rPr>
              <a:t>M. Veera Prathap</a:t>
            </a:r>
            <a:endParaRPr lang="en-US" sz="1050" dirty="0"/>
          </a:p>
        </p:txBody>
      </p:sp>
      <p:sp>
        <p:nvSpPr>
          <p:cNvPr id="73" name="Text 71"/>
          <p:cNvSpPr/>
          <p:nvPr/>
        </p:nvSpPr>
        <p:spPr>
          <a:xfrm>
            <a:off x="2112264" y="4297680"/>
            <a:ext cx="3456432" cy="406908"/>
          </a:xfrm>
          <a:prstGeom prst="rect">
            <a:avLst/>
          </a:prstGeom>
          <a:noFill/>
          <a:ln/>
        </p:spPr>
        <p:txBody>
          <a:bodyPr wrap="square" lIns="0" tIns="0" rIns="0" bIns="0" rtlCol="0" anchor="ctr"/>
          <a:lstStyle/>
          <a:p>
            <a:pPr marL="0" indent="0">
              <a:buNone/>
            </a:pPr>
            <a:r>
              <a:rPr lang="en-US" sz="1000" dirty="0">
                <a:solidFill>
                  <a:srgbClr val="1A2B4A"/>
                </a:solidFill>
              </a:rPr>
              <a:t>Client Portal Frontend</a:t>
            </a:r>
            <a:endParaRPr lang="en-US" sz="1000" dirty="0"/>
          </a:p>
        </p:txBody>
      </p:sp>
      <p:sp>
        <p:nvSpPr>
          <p:cNvPr id="74" name="Text 72"/>
          <p:cNvSpPr/>
          <p:nvPr/>
        </p:nvSpPr>
        <p:spPr>
          <a:xfrm>
            <a:off x="5678424" y="4297680"/>
            <a:ext cx="1399032" cy="406908"/>
          </a:xfrm>
          <a:prstGeom prst="rect">
            <a:avLst/>
          </a:prstGeom>
          <a:noFill/>
          <a:ln/>
        </p:spPr>
        <p:txBody>
          <a:bodyPr wrap="square" lIns="0" tIns="0" rIns="0" bIns="0" rtlCol="0" anchor="ctr"/>
          <a:lstStyle/>
          <a:p>
            <a:pPr marL="0" indent="0">
              <a:buNone/>
            </a:pPr>
            <a:r>
              <a:rPr lang="en-US" sz="950" dirty="0">
                <a:solidFill>
                  <a:srgbClr val="4A5568"/>
                </a:solidFill>
              </a:rPr>
              <a:t>Backend + FE</a:t>
            </a:r>
            <a:endParaRPr lang="en-US" sz="950" dirty="0"/>
          </a:p>
        </p:txBody>
      </p:sp>
      <p:sp>
        <p:nvSpPr>
          <p:cNvPr id="75" name="Shape 73"/>
          <p:cNvSpPr/>
          <p:nvPr/>
        </p:nvSpPr>
        <p:spPr>
          <a:xfrm>
            <a:off x="7205472" y="4389120"/>
            <a:ext cx="914400" cy="224028"/>
          </a:xfrm>
          <a:prstGeom prst="roundRect">
            <a:avLst>
              <a:gd name="adj" fmla="val 24490"/>
            </a:avLst>
          </a:prstGeom>
          <a:solidFill>
            <a:srgbClr val="00897B">
              <a:alpha val="15000"/>
            </a:srgbClr>
          </a:solidFill>
          <a:ln w="12700">
            <a:solidFill>
              <a:srgbClr val="00897B"/>
            </a:solidFill>
            <a:prstDash val="solid"/>
          </a:ln>
        </p:spPr>
        <p:txBody>
          <a:bodyPr/>
          <a:lstStyle/>
          <a:p>
            <a:endParaRPr lang="en-IN"/>
          </a:p>
        </p:txBody>
      </p:sp>
      <p:sp>
        <p:nvSpPr>
          <p:cNvPr id="76" name="Text 74"/>
          <p:cNvSpPr/>
          <p:nvPr/>
        </p:nvSpPr>
        <p:spPr>
          <a:xfrm>
            <a:off x="7205472" y="4389120"/>
            <a:ext cx="914400" cy="224028"/>
          </a:xfrm>
          <a:prstGeom prst="rect">
            <a:avLst/>
          </a:prstGeom>
          <a:noFill/>
          <a:ln/>
        </p:spPr>
        <p:txBody>
          <a:bodyPr wrap="square" lIns="0" tIns="0" rIns="0" bIns="0" rtlCol="0" anchor="ctr"/>
          <a:lstStyle/>
          <a:p>
            <a:pPr marL="0" indent="0" algn="ctr">
              <a:buNone/>
            </a:pPr>
            <a:r>
              <a:rPr lang="en-US" sz="900" b="1" dirty="0">
                <a:solidFill>
                  <a:srgbClr val="00897B"/>
                </a:solidFill>
              </a:rPr>
              <a:t>FR-03,04</a:t>
            </a:r>
            <a:endParaRPr lang="en-US" sz="900" dirty="0"/>
          </a:p>
        </p:txBody>
      </p:sp>
      <p:sp>
        <p:nvSpPr>
          <p:cNvPr id="77" name="Shape 75"/>
          <p:cNvSpPr/>
          <p:nvPr/>
        </p:nvSpPr>
        <p:spPr>
          <a:xfrm>
            <a:off x="0" y="4892040"/>
            <a:ext cx="9144000" cy="251460"/>
          </a:xfrm>
          <a:prstGeom prst="rect">
            <a:avLst/>
          </a:prstGeom>
          <a:solidFill>
            <a:srgbClr val="1A2B4A"/>
          </a:solidFill>
          <a:ln w="12700">
            <a:solidFill>
              <a:srgbClr val="1A2B4A"/>
            </a:solidFill>
            <a:prstDash val="solid"/>
          </a:ln>
        </p:spPr>
        <p:txBody>
          <a:bodyPr/>
          <a:lstStyle/>
          <a:p>
            <a:endParaRPr lang="en-IN"/>
          </a:p>
        </p:txBody>
      </p:sp>
      <p:sp>
        <p:nvSpPr>
          <p:cNvPr id="78" name="Text 76"/>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79" name="Text 77"/>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E74C3C"/>
          </a:solidFill>
          <a:ln w="12700">
            <a:solidFill>
              <a:srgbClr val="E74C3C"/>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201168"/>
            <a:ext cx="3657600" cy="4389120"/>
          </a:xfrm>
          <a:prstGeom prst="rect">
            <a:avLst/>
          </a:prstGeom>
        </p:spPr>
      </p:pic>
      <p:sp>
        <p:nvSpPr>
          <p:cNvPr id="6" name="Text 3"/>
          <p:cNvSpPr/>
          <p:nvPr/>
        </p:nvSpPr>
        <p:spPr>
          <a:xfrm>
            <a:off x="4114800" y="256032"/>
            <a:ext cx="4754880" cy="475488"/>
          </a:xfrm>
          <a:prstGeom prst="rect">
            <a:avLst/>
          </a:prstGeom>
          <a:noFill/>
          <a:ln/>
        </p:spPr>
        <p:txBody>
          <a:bodyPr wrap="square" lIns="0" tIns="0" rIns="0" bIns="0" rtlCol="0" anchor="ctr"/>
          <a:lstStyle/>
          <a:p>
            <a:pPr marL="0" indent="0">
              <a:buNone/>
            </a:pPr>
            <a:r>
              <a:rPr lang="en-US" sz="2400" b="1" dirty="0">
                <a:solidFill>
                  <a:srgbClr val="1A2B4A"/>
                </a:solidFill>
                <a:latin typeface="Calibri" pitchFamily="34" charset="0"/>
                <a:ea typeface="Calibri" pitchFamily="34" charset="-122"/>
                <a:cs typeface="Calibri" pitchFamily="34" charset="-120"/>
              </a:rPr>
              <a:t>Why This Project?</a:t>
            </a:r>
            <a:endParaRPr lang="en-US" sz="2400" dirty="0"/>
          </a:p>
        </p:txBody>
      </p:sp>
      <p:sp>
        <p:nvSpPr>
          <p:cNvPr id="7" name="Text 4"/>
          <p:cNvSpPr/>
          <p:nvPr/>
        </p:nvSpPr>
        <p:spPr>
          <a:xfrm>
            <a:off x="4114800" y="713232"/>
            <a:ext cx="4754880" cy="256032"/>
          </a:xfrm>
          <a:prstGeom prst="rect">
            <a:avLst/>
          </a:prstGeom>
          <a:noFill/>
          <a:ln/>
        </p:spPr>
        <p:txBody>
          <a:bodyPr wrap="square" lIns="0" tIns="0" rIns="0" bIns="0" rtlCol="0" anchor="ctr"/>
          <a:lstStyle/>
          <a:p>
            <a:pPr marL="0" indent="0">
              <a:buNone/>
            </a:pPr>
            <a:r>
              <a:rPr lang="en-US" sz="1150" dirty="0">
                <a:solidFill>
                  <a:srgbClr val="8899BB"/>
                </a:solidFill>
              </a:rPr>
              <a:t>The problems PlanIt was built to solve</a:t>
            </a:r>
            <a:endParaRPr lang="en-US" sz="1150" dirty="0"/>
          </a:p>
        </p:txBody>
      </p:sp>
      <p:sp>
        <p:nvSpPr>
          <p:cNvPr id="8" name="Shape 5"/>
          <p:cNvSpPr/>
          <p:nvPr/>
        </p:nvSpPr>
        <p:spPr>
          <a:xfrm>
            <a:off x="4114800" y="1005840"/>
            <a:ext cx="4754880" cy="0"/>
          </a:xfrm>
          <a:prstGeom prst="line">
            <a:avLst/>
          </a:prstGeom>
          <a:noFill/>
          <a:ln w="10160">
            <a:solidFill>
              <a:srgbClr val="E2E8F0"/>
            </a:solidFill>
            <a:prstDash val="solid"/>
          </a:ln>
        </p:spPr>
        <p:txBody>
          <a:bodyPr/>
          <a:lstStyle/>
          <a:p>
            <a:endParaRPr lang="en-IN"/>
          </a:p>
        </p:txBody>
      </p:sp>
      <p:sp>
        <p:nvSpPr>
          <p:cNvPr id="9" name="Shape 6"/>
          <p:cNvSpPr/>
          <p:nvPr/>
        </p:nvSpPr>
        <p:spPr>
          <a:xfrm>
            <a:off x="4114800" y="1133856"/>
            <a:ext cx="530352" cy="530352"/>
          </a:xfrm>
          <a:prstGeom prst="ellipse">
            <a:avLst/>
          </a:prstGeom>
          <a:solidFill>
            <a:srgbClr val="E74C3C"/>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0" name="Text 7"/>
          <p:cNvSpPr/>
          <p:nvPr/>
        </p:nvSpPr>
        <p:spPr>
          <a:xfrm>
            <a:off x="4114800" y="1133856"/>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11" name="Text 8"/>
          <p:cNvSpPr/>
          <p:nvPr/>
        </p:nvSpPr>
        <p:spPr>
          <a:xfrm>
            <a:off x="4809744" y="1115568"/>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Manual Event Chaos</a:t>
            </a:r>
            <a:endParaRPr lang="en-US" sz="1250" dirty="0"/>
          </a:p>
        </p:txBody>
      </p:sp>
      <p:sp>
        <p:nvSpPr>
          <p:cNvPr id="12" name="Text 9"/>
          <p:cNvSpPr/>
          <p:nvPr/>
        </p:nvSpPr>
        <p:spPr>
          <a:xfrm>
            <a:off x="4809744" y="1389888"/>
            <a:ext cx="4023360" cy="310896"/>
          </a:xfrm>
          <a:prstGeom prst="rect">
            <a:avLst/>
          </a:prstGeom>
          <a:noFill/>
          <a:ln/>
        </p:spPr>
        <p:txBody>
          <a:bodyPr wrap="square" lIns="0" tIns="0" rIns="0" bIns="0" rtlCol="0" anchor="ctr"/>
          <a:lstStyle/>
          <a:p>
            <a:pPr marL="0" indent="0">
              <a:buNone/>
            </a:pPr>
            <a:r>
              <a:rPr lang="en-US" sz="950" dirty="0">
                <a:solidFill>
                  <a:srgbClr val="4A5568"/>
                </a:solidFill>
              </a:rPr>
              <a:t>Spreadsheets, sticky notes — no single system to track events.</a:t>
            </a:r>
            <a:endParaRPr lang="en-US" sz="950" dirty="0"/>
          </a:p>
        </p:txBody>
      </p:sp>
      <p:sp>
        <p:nvSpPr>
          <p:cNvPr id="13" name="Shape 10"/>
          <p:cNvSpPr/>
          <p:nvPr/>
        </p:nvSpPr>
        <p:spPr>
          <a:xfrm>
            <a:off x="4114800" y="1792224"/>
            <a:ext cx="4754880" cy="0"/>
          </a:xfrm>
          <a:prstGeom prst="line">
            <a:avLst/>
          </a:prstGeom>
          <a:noFill/>
          <a:ln w="10160">
            <a:solidFill>
              <a:srgbClr val="E2E8F0"/>
            </a:solidFill>
            <a:prstDash val="solid"/>
          </a:ln>
        </p:spPr>
        <p:txBody>
          <a:bodyPr/>
          <a:lstStyle/>
          <a:p>
            <a:endParaRPr lang="en-IN"/>
          </a:p>
        </p:txBody>
      </p:sp>
      <p:sp>
        <p:nvSpPr>
          <p:cNvPr id="14" name="Shape 11"/>
          <p:cNvSpPr/>
          <p:nvPr/>
        </p:nvSpPr>
        <p:spPr>
          <a:xfrm>
            <a:off x="4114800" y="1883664"/>
            <a:ext cx="530352" cy="530352"/>
          </a:xfrm>
          <a:prstGeom prst="ellipse">
            <a:avLst/>
          </a:prstGeom>
          <a:solidFill>
            <a:srgbClr val="F39C12"/>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2"/>
          <p:cNvSpPr/>
          <p:nvPr/>
        </p:nvSpPr>
        <p:spPr>
          <a:xfrm>
            <a:off x="4114800" y="188366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6" name="Text 13"/>
          <p:cNvSpPr/>
          <p:nvPr/>
        </p:nvSpPr>
        <p:spPr>
          <a:xfrm>
            <a:off x="4809744" y="1865376"/>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Tasks Get Lost</a:t>
            </a:r>
            <a:endParaRPr lang="en-US" sz="1250" dirty="0"/>
          </a:p>
        </p:txBody>
      </p:sp>
      <p:sp>
        <p:nvSpPr>
          <p:cNvPr id="17" name="Text 14"/>
          <p:cNvSpPr/>
          <p:nvPr/>
        </p:nvSpPr>
        <p:spPr>
          <a:xfrm>
            <a:off x="4809744" y="2139696"/>
            <a:ext cx="4023360" cy="310896"/>
          </a:xfrm>
          <a:prstGeom prst="rect">
            <a:avLst/>
          </a:prstGeom>
          <a:noFill/>
          <a:ln/>
        </p:spPr>
        <p:txBody>
          <a:bodyPr wrap="square" lIns="0" tIns="0" rIns="0" bIns="0" rtlCol="0" anchor="ctr"/>
          <a:lstStyle/>
          <a:p>
            <a:pPr marL="0" indent="0">
              <a:buNone/>
            </a:pPr>
            <a:r>
              <a:rPr lang="en-US" sz="950" dirty="0">
                <a:solidFill>
                  <a:srgbClr val="4A5568"/>
                </a:solidFill>
              </a:rPr>
              <a:t>Staff don't know assignments or deadlines. Duplication everywhere.</a:t>
            </a:r>
            <a:endParaRPr lang="en-US" sz="950" dirty="0"/>
          </a:p>
        </p:txBody>
      </p:sp>
      <p:sp>
        <p:nvSpPr>
          <p:cNvPr id="18" name="Shape 15"/>
          <p:cNvSpPr/>
          <p:nvPr/>
        </p:nvSpPr>
        <p:spPr>
          <a:xfrm>
            <a:off x="4114800" y="2542032"/>
            <a:ext cx="4754880" cy="0"/>
          </a:xfrm>
          <a:prstGeom prst="line">
            <a:avLst/>
          </a:prstGeom>
          <a:noFill/>
          <a:ln w="10160">
            <a:solidFill>
              <a:srgbClr val="E2E8F0"/>
            </a:solidFill>
            <a:prstDash val="solid"/>
          </a:ln>
        </p:spPr>
        <p:txBody>
          <a:bodyPr/>
          <a:lstStyle/>
          <a:p>
            <a:endParaRPr lang="en-IN"/>
          </a:p>
        </p:txBody>
      </p:sp>
      <p:sp>
        <p:nvSpPr>
          <p:cNvPr id="19" name="Shape 16"/>
          <p:cNvSpPr/>
          <p:nvPr/>
        </p:nvSpPr>
        <p:spPr>
          <a:xfrm>
            <a:off x="4114800" y="2633472"/>
            <a:ext cx="530352" cy="530352"/>
          </a:xfrm>
          <a:prstGeom prst="ellipse">
            <a:avLst/>
          </a:prstGeom>
          <a:solidFill>
            <a:srgbClr val="2D7DD2"/>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0" name="Text 17"/>
          <p:cNvSpPr/>
          <p:nvPr/>
        </p:nvSpPr>
        <p:spPr>
          <a:xfrm>
            <a:off x="4114800" y="2633472"/>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1" name="Text 18"/>
          <p:cNvSpPr/>
          <p:nvPr/>
        </p:nvSpPr>
        <p:spPr>
          <a:xfrm>
            <a:off x="4809744" y="2615184"/>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No Client Visibility</a:t>
            </a:r>
            <a:endParaRPr lang="en-US" sz="1250" dirty="0"/>
          </a:p>
        </p:txBody>
      </p:sp>
      <p:sp>
        <p:nvSpPr>
          <p:cNvPr id="22" name="Text 19"/>
          <p:cNvSpPr/>
          <p:nvPr/>
        </p:nvSpPr>
        <p:spPr>
          <a:xfrm>
            <a:off x="4809744" y="2889504"/>
            <a:ext cx="4023360" cy="310896"/>
          </a:xfrm>
          <a:prstGeom prst="rect">
            <a:avLst/>
          </a:prstGeom>
          <a:noFill/>
          <a:ln/>
        </p:spPr>
        <p:txBody>
          <a:bodyPr wrap="square" lIns="0" tIns="0" rIns="0" bIns="0" rtlCol="0" anchor="ctr"/>
          <a:lstStyle/>
          <a:p>
            <a:pPr marL="0" indent="0">
              <a:buNone/>
            </a:pPr>
            <a:r>
              <a:rPr lang="en-US" sz="950" dirty="0">
                <a:solidFill>
                  <a:srgbClr val="4A5568"/>
                </a:solidFill>
              </a:rPr>
              <a:t>Clients can't track progress. Feedback collected informally.</a:t>
            </a:r>
            <a:endParaRPr lang="en-US" sz="950" dirty="0"/>
          </a:p>
        </p:txBody>
      </p:sp>
      <p:sp>
        <p:nvSpPr>
          <p:cNvPr id="23" name="Shape 20"/>
          <p:cNvSpPr/>
          <p:nvPr/>
        </p:nvSpPr>
        <p:spPr>
          <a:xfrm>
            <a:off x="4114800" y="3291840"/>
            <a:ext cx="4754880" cy="0"/>
          </a:xfrm>
          <a:prstGeom prst="line">
            <a:avLst/>
          </a:prstGeom>
          <a:noFill/>
          <a:ln w="10160">
            <a:solidFill>
              <a:srgbClr val="E2E8F0"/>
            </a:solidFill>
            <a:prstDash val="solid"/>
          </a:ln>
        </p:spPr>
        <p:txBody>
          <a:bodyPr/>
          <a:lstStyle/>
          <a:p>
            <a:endParaRPr lang="en-IN"/>
          </a:p>
        </p:txBody>
      </p:sp>
      <p:sp>
        <p:nvSpPr>
          <p:cNvPr id="24" name="Shape 21"/>
          <p:cNvSpPr/>
          <p:nvPr/>
        </p:nvSpPr>
        <p:spPr>
          <a:xfrm>
            <a:off x="4114800" y="3383280"/>
            <a:ext cx="530352" cy="530352"/>
          </a:xfrm>
          <a:prstGeom prst="ellipse">
            <a:avLst/>
          </a:prstGeom>
          <a:solidFill>
            <a:srgbClr val="1AAB8A"/>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5" name="Text 22"/>
          <p:cNvSpPr/>
          <p:nvPr/>
        </p:nvSpPr>
        <p:spPr>
          <a:xfrm>
            <a:off x="4114800" y="338328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6" name="Text 23"/>
          <p:cNvSpPr/>
          <p:nvPr/>
        </p:nvSpPr>
        <p:spPr>
          <a:xfrm>
            <a:off x="4809744" y="3364992"/>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Zero Access Control</a:t>
            </a:r>
            <a:endParaRPr lang="en-US" sz="1250" dirty="0"/>
          </a:p>
        </p:txBody>
      </p:sp>
      <p:sp>
        <p:nvSpPr>
          <p:cNvPr id="27" name="Text 24"/>
          <p:cNvSpPr/>
          <p:nvPr/>
        </p:nvSpPr>
        <p:spPr>
          <a:xfrm>
            <a:off x="4809744" y="3639312"/>
            <a:ext cx="4023360" cy="310896"/>
          </a:xfrm>
          <a:prstGeom prst="rect">
            <a:avLst/>
          </a:prstGeom>
          <a:noFill/>
          <a:ln/>
        </p:spPr>
        <p:txBody>
          <a:bodyPr wrap="square" lIns="0" tIns="0" rIns="0" bIns="0" rtlCol="0" anchor="ctr"/>
          <a:lstStyle/>
          <a:p>
            <a:pPr marL="0" indent="0">
              <a:buNone/>
            </a:pPr>
            <a:r>
              <a:rPr lang="en-US" sz="950" dirty="0">
                <a:solidFill>
                  <a:srgbClr val="4A5568"/>
                </a:solidFill>
              </a:rPr>
              <a:t>Anyone can see or edit anything — no roles, no permissions.</a:t>
            </a:r>
            <a:endParaRPr lang="en-US" sz="950" dirty="0"/>
          </a:p>
        </p:txBody>
      </p:sp>
      <p:sp>
        <p:nvSpPr>
          <p:cNvPr id="28" name="Shape 25"/>
          <p:cNvSpPr/>
          <p:nvPr/>
        </p:nvSpPr>
        <p:spPr>
          <a:xfrm>
            <a:off x="0" y="4892040"/>
            <a:ext cx="9144000" cy="251460"/>
          </a:xfrm>
          <a:prstGeom prst="rect">
            <a:avLst/>
          </a:prstGeom>
          <a:solidFill>
            <a:srgbClr val="E74C3C"/>
          </a:solidFill>
          <a:ln w="12700">
            <a:solidFill>
              <a:srgbClr val="E74C3C"/>
            </a:solidFill>
            <a:prstDash val="solid"/>
          </a:ln>
        </p:spPr>
        <p:txBody>
          <a:bodyPr/>
          <a:lstStyle/>
          <a:p>
            <a:endParaRPr lang="en-IN"/>
          </a:p>
        </p:txBody>
      </p:sp>
      <p:sp>
        <p:nvSpPr>
          <p:cNvPr id="29" name="Text 26"/>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30" name="Text 27"/>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0" y="0"/>
            <a:ext cx="9144000" cy="4892040"/>
          </a:xfrm>
          <a:prstGeom prst="rect">
            <a:avLst/>
          </a:prstGeom>
          <a:solidFill>
            <a:srgbClr val="FFFFFF"/>
          </a:solidFill>
          <a:ln w="12700">
            <a:solidFill>
              <a:srgbClr val="FFFFFF"/>
            </a:solidFill>
            <a:prstDash val="solid"/>
          </a:ln>
        </p:spPr>
        <p:txBody>
          <a:bodyPr/>
          <a:lstStyle/>
          <a:p>
            <a:endParaRPr lang="en-IN"/>
          </a:p>
        </p:txBody>
      </p:sp>
      <p:sp>
        <p:nvSpPr>
          <p:cNvPr id="6" name="Text 3"/>
          <p:cNvSpPr/>
          <p:nvPr/>
        </p:nvSpPr>
        <p:spPr>
          <a:xfrm>
            <a:off x="2212848" y="256032"/>
            <a:ext cx="4754880" cy="475488"/>
          </a:xfrm>
          <a:prstGeom prst="rect">
            <a:avLst/>
          </a:prstGeom>
          <a:noFill/>
          <a:ln/>
        </p:spPr>
        <p:txBody>
          <a:bodyPr wrap="square" lIns="0" tIns="0" rIns="0" bIns="0" rtlCol="0" anchor="ctr"/>
          <a:lstStyle/>
          <a:p>
            <a:pPr marL="0" indent="0">
              <a:buNone/>
            </a:pPr>
            <a:r>
              <a:rPr lang="en-US" sz="2400" b="1" dirty="0">
                <a:solidFill>
                  <a:srgbClr val="1A2B4A"/>
                </a:solidFill>
                <a:latin typeface="Calibri" pitchFamily="34" charset="0"/>
                <a:ea typeface="Calibri" pitchFamily="34" charset="-122"/>
                <a:cs typeface="Calibri" pitchFamily="34" charset="-120"/>
              </a:rPr>
              <a:t>Technologies Used</a:t>
            </a:r>
            <a:endParaRPr lang="en-US" sz="2400" dirty="0"/>
          </a:p>
        </p:txBody>
      </p:sp>
      <p:sp>
        <p:nvSpPr>
          <p:cNvPr id="7" name="Text 4"/>
          <p:cNvSpPr/>
          <p:nvPr/>
        </p:nvSpPr>
        <p:spPr>
          <a:xfrm>
            <a:off x="2212848" y="713232"/>
            <a:ext cx="4754880" cy="256032"/>
          </a:xfrm>
          <a:prstGeom prst="rect">
            <a:avLst/>
          </a:prstGeom>
          <a:noFill/>
          <a:ln/>
        </p:spPr>
        <p:txBody>
          <a:bodyPr wrap="square" lIns="0" tIns="0" rIns="0" bIns="0" rtlCol="0" anchor="ctr"/>
          <a:lstStyle/>
          <a:p>
            <a:pPr marL="0" indent="0">
              <a:buNone/>
            </a:pPr>
            <a:r>
              <a:rPr lang="en-US" sz="1150" dirty="0">
                <a:solidFill>
                  <a:srgbClr val="8899BB"/>
                </a:solidFill>
              </a:rPr>
              <a:t>The full stack powering PlanIt</a:t>
            </a:r>
            <a:endParaRPr lang="en-US" sz="1150" dirty="0"/>
          </a:p>
        </p:txBody>
      </p:sp>
      <p:sp>
        <p:nvSpPr>
          <p:cNvPr id="8" name="Shape 5"/>
          <p:cNvSpPr/>
          <p:nvPr/>
        </p:nvSpPr>
        <p:spPr>
          <a:xfrm>
            <a:off x="2212848" y="1005840"/>
            <a:ext cx="4754880" cy="0"/>
          </a:xfrm>
          <a:prstGeom prst="line">
            <a:avLst/>
          </a:prstGeom>
          <a:noFill/>
          <a:ln w="10160">
            <a:solidFill>
              <a:srgbClr val="E2E8F0"/>
            </a:solidFill>
            <a:prstDash val="solid"/>
          </a:ln>
        </p:spPr>
        <p:txBody>
          <a:bodyPr/>
          <a:lstStyle/>
          <a:p>
            <a:endParaRPr lang="en-IN"/>
          </a:p>
        </p:txBody>
      </p:sp>
      <p:sp>
        <p:nvSpPr>
          <p:cNvPr id="9" name="Shape 6"/>
          <p:cNvSpPr/>
          <p:nvPr/>
        </p:nvSpPr>
        <p:spPr>
          <a:xfrm>
            <a:off x="2212848" y="1133856"/>
            <a:ext cx="530352" cy="530352"/>
          </a:xfrm>
          <a:prstGeom prst="ellipse">
            <a:avLst/>
          </a:prstGeom>
          <a:solidFill>
            <a:srgbClr val="61DAFB"/>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0" name="Text 7"/>
          <p:cNvSpPr/>
          <p:nvPr/>
        </p:nvSpPr>
        <p:spPr>
          <a:xfrm>
            <a:off x="2212848" y="1133856"/>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11" name="Text 8"/>
          <p:cNvSpPr/>
          <p:nvPr/>
        </p:nvSpPr>
        <p:spPr>
          <a:xfrm>
            <a:off x="2907792" y="1115568"/>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React.js — Frontend</a:t>
            </a:r>
            <a:endParaRPr lang="en-US" sz="1250" dirty="0"/>
          </a:p>
        </p:txBody>
      </p:sp>
      <p:sp>
        <p:nvSpPr>
          <p:cNvPr id="12" name="Text 9"/>
          <p:cNvSpPr/>
          <p:nvPr/>
        </p:nvSpPr>
        <p:spPr>
          <a:xfrm>
            <a:off x="2907792" y="1389888"/>
            <a:ext cx="4023360" cy="310896"/>
          </a:xfrm>
          <a:prstGeom prst="rect">
            <a:avLst/>
          </a:prstGeom>
          <a:noFill/>
          <a:ln/>
        </p:spPr>
        <p:txBody>
          <a:bodyPr wrap="square" lIns="0" tIns="0" rIns="0" bIns="0" rtlCol="0" anchor="ctr"/>
          <a:lstStyle/>
          <a:p>
            <a:pPr marL="0" indent="0">
              <a:buNone/>
            </a:pPr>
            <a:r>
              <a:rPr lang="en-US" sz="950" dirty="0">
                <a:solidFill>
                  <a:srgbClr val="4A5568"/>
                </a:solidFill>
              </a:rPr>
              <a:t>SPA · Component-based UI · Axios REST calls · Role-based routing</a:t>
            </a:r>
            <a:endParaRPr lang="en-US" sz="950" dirty="0"/>
          </a:p>
        </p:txBody>
      </p:sp>
      <p:sp>
        <p:nvSpPr>
          <p:cNvPr id="13" name="Shape 10"/>
          <p:cNvSpPr/>
          <p:nvPr/>
        </p:nvSpPr>
        <p:spPr>
          <a:xfrm>
            <a:off x="2212848" y="1792224"/>
            <a:ext cx="4754880" cy="0"/>
          </a:xfrm>
          <a:prstGeom prst="line">
            <a:avLst/>
          </a:prstGeom>
          <a:noFill/>
          <a:ln w="10160">
            <a:solidFill>
              <a:srgbClr val="E2E8F0"/>
            </a:solidFill>
            <a:prstDash val="solid"/>
          </a:ln>
        </p:spPr>
        <p:txBody>
          <a:bodyPr/>
          <a:lstStyle/>
          <a:p>
            <a:endParaRPr lang="en-IN"/>
          </a:p>
        </p:txBody>
      </p:sp>
      <p:sp>
        <p:nvSpPr>
          <p:cNvPr id="14" name="Shape 11"/>
          <p:cNvSpPr/>
          <p:nvPr/>
        </p:nvSpPr>
        <p:spPr>
          <a:xfrm>
            <a:off x="2212848" y="1883664"/>
            <a:ext cx="530352" cy="530352"/>
          </a:xfrm>
          <a:prstGeom prst="ellipse">
            <a:avLst/>
          </a:prstGeom>
          <a:solidFill>
            <a:srgbClr val="6DB33F"/>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2"/>
          <p:cNvSpPr/>
          <p:nvPr/>
        </p:nvSpPr>
        <p:spPr>
          <a:xfrm>
            <a:off x="2212848" y="188366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6" name="Text 13"/>
          <p:cNvSpPr/>
          <p:nvPr/>
        </p:nvSpPr>
        <p:spPr>
          <a:xfrm>
            <a:off x="2907792" y="1865376"/>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Spring Boot — Backend</a:t>
            </a:r>
            <a:endParaRPr lang="en-US" sz="1250" dirty="0"/>
          </a:p>
        </p:txBody>
      </p:sp>
      <p:sp>
        <p:nvSpPr>
          <p:cNvPr id="17" name="Text 14"/>
          <p:cNvSpPr/>
          <p:nvPr/>
        </p:nvSpPr>
        <p:spPr>
          <a:xfrm>
            <a:off x="2907792" y="2139696"/>
            <a:ext cx="4023360" cy="310896"/>
          </a:xfrm>
          <a:prstGeom prst="rect">
            <a:avLst/>
          </a:prstGeom>
          <a:noFill/>
          <a:ln/>
        </p:spPr>
        <p:txBody>
          <a:bodyPr wrap="square" lIns="0" tIns="0" rIns="0" bIns="0" rtlCol="0" anchor="ctr"/>
          <a:lstStyle/>
          <a:p>
            <a:pPr marL="0" indent="0">
              <a:buNone/>
            </a:pPr>
            <a:r>
              <a:rPr lang="en-US" sz="950" dirty="0">
                <a:solidFill>
                  <a:srgbClr val="4A5568"/>
                </a:solidFill>
              </a:rPr>
              <a:t>Java REST API · Spring Security · JWT filter · @RestController</a:t>
            </a:r>
            <a:endParaRPr lang="en-US" sz="950" dirty="0"/>
          </a:p>
        </p:txBody>
      </p:sp>
      <p:sp>
        <p:nvSpPr>
          <p:cNvPr id="18" name="Shape 15"/>
          <p:cNvSpPr/>
          <p:nvPr/>
        </p:nvSpPr>
        <p:spPr>
          <a:xfrm>
            <a:off x="2212848" y="2542032"/>
            <a:ext cx="4754880" cy="0"/>
          </a:xfrm>
          <a:prstGeom prst="line">
            <a:avLst/>
          </a:prstGeom>
          <a:noFill/>
          <a:ln w="10160">
            <a:solidFill>
              <a:srgbClr val="E2E8F0"/>
            </a:solidFill>
            <a:prstDash val="solid"/>
          </a:ln>
        </p:spPr>
        <p:txBody>
          <a:bodyPr/>
          <a:lstStyle/>
          <a:p>
            <a:endParaRPr lang="en-IN"/>
          </a:p>
        </p:txBody>
      </p:sp>
      <p:sp>
        <p:nvSpPr>
          <p:cNvPr id="19" name="Shape 16"/>
          <p:cNvSpPr/>
          <p:nvPr/>
        </p:nvSpPr>
        <p:spPr>
          <a:xfrm>
            <a:off x="2212848" y="2633472"/>
            <a:ext cx="530352" cy="530352"/>
          </a:xfrm>
          <a:prstGeom prst="ellipse">
            <a:avLst/>
          </a:prstGeom>
          <a:solidFill>
            <a:srgbClr val="4479A1"/>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0" name="Text 17"/>
          <p:cNvSpPr/>
          <p:nvPr/>
        </p:nvSpPr>
        <p:spPr>
          <a:xfrm>
            <a:off x="2212848" y="2633472"/>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1" name="Text 18"/>
          <p:cNvSpPr/>
          <p:nvPr/>
        </p:nvSpPr>
        <p:spPr>
          <a:xfrm>
            <a:off x="2907792" y="2615184"/>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MySQL — Database</a:t>
            </a:r>
            <a:endParaRPr lang="en-US" sz="1250" dirty="0"/>
          </a:p>
        </p:txBody>
      </p:sp>
      <p:sp>
        <p:nvSpPr>
          <p:cNvPr id="22" name="Text 19"/>
          <p:cNvSpPr/>
          <p:nvPr/>
        </p:nvSpPr>
        <p:spPr>
          <a:xfrm>
            <a:off x="2907792" y="2889504"/>
            <a:ext cx="4023360" cy="310896"/>
          </a:xfrm>
          <a:prstGeom prst="rect">
            <a:avLst/>
          </a:prstGeom>
          <a:noFill/>
          <a:ln/>
        </p:spPr>
        <p:txBody>
          <a:bodyPr wrap="square" lIns="0" tIns="0" rIns="0" bIns="0" rtlCol="0" anchor="ctr"/>
          <a:lstStyle/>
          <a:p>
            <a:pPr marL="0" indent="0">
              <a:buNone/>
            </a:pPr>
            <a:r>
              <a:rPr lang="en-US" sz="950" dirty="0">
                <a:solidFill>
                  <a:srgbClr val="4A5568"/>
                </a:solidFill>
              </a:rPr>
              <a:t>User, Staff, Event, Task tables · FK constraints · JPA/Hibernate</a:t>
            </a:r>
            <a:endParaRPr lang="en-US" sz="950" dirty="0"/>
          </a:p>
        </p:txBody>
      </p:sp>
      <p:sp>
        <p:nvSpPr>
          <p:cNvPr id="23" name="Shape 20"/>
          <p:cNvSpPr/>
          <p:nvPr/>
        </p:nvSpPr>
        <p:spPr>
          <a:xfrm>
            <a:off x="2212848" y="3291840"/>
            <a:ext cx="4754880" cy="0"/>
          </a:xfrm>
          <a:prstGeom prst="line">
            <a:avLst/>
          </a:prstGeom>
          <a:noFill/>
          <a:ln w="10160">
            <a:solidFill>
              <a:srgbClr val="E2E8F0"/>
            </a:solidFill>
            <a:prstDash val="solid"/>
          </a:ln>
        </p:spPr>
        <p:txBody>
          <a:bodyPr/>
          <a:lstStyle/>
          <a:p>
            <a:endParaRPr lang="en-IN"/>
          </a:p>
        </p:txBody>
      </p:sp>
      <p:sp>
        <p:nvSpPr>
          <p:cNvPr id="24" name="Shape 21"/>
          <p:cNvSpPr/>
          <p:nvPr/>
        </p:nvSpPr>
        <p:spPr>
          <a:xfrm>
            <a:off x="2212848" y="3383280"/>
            <a:ext cx="530352" cy="530352"/>
          </a:xfrm>
          <a:prstGeom prst="ellipse">
            <a:avLst/>
          </a:prstGeom>
          <a:solidFill>
            <a:srgbClr val="F4A827"/>
          </a:solidFill>
          <a:ln w="254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5" name="Text 22"/>
          <p:cNvSpPr/>
          <p:nvPr/>
        </p:nvSpPr>
        <p:spPr>
          <a:xfrm>
            <a:off x="2212848" y="3383280"/>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6" name="Text 23"/>
          <p:cNvSpPr/>
          <p:nvPr/>
        </p:nvSpPr>
        <p:spPr>
          <a:xfrm>
            <a:off x="2907792" y="3364992"/>
            <a:ext cx="4023360" cy="274320"/>
          </a:xfrm>
          <a:prstGeom prst="rect">
            <a:avLst/>
          </a:prstGeom>
          <a:noFill/>
          <a:ln/>
        </p:spPr>
        <p:txBody>
          <a:bodyPr wrap="square" lIns="0" tIns="0" rIns="0" bIns="0" rtlCol="0" anchor="ctr"/>
          <a:lstStyle/>
          <a:p>
            <a:pPr marL="0" indent="0">
              <a:buNone/>
            </a:pPr>
            <a:r>
              <a:rPr lang="en-US" sz="1250" b="1" dirty="0">
                <a:solidFill>
                  <a:srgbClr val="1A2B4A"/>
                </a:solidFill>
              </a:rPr>
              <a:t>JWT + JPA Inheritance</a:t>
            </a:r>
            <a:endParaRPr lang="en-US" sz="1250" dirty="0"/>
          </a:p>
        </p:txBody>
      </p:sp>
      <p:sp>
        <p:nvSpPr>
          <p:cNvPr id="27" name="Text 24"/>
          <p:cNvSpPr/>
          <p:nvPr/>
        </p:nvSpPr>
        <p:spPr>
          <a:xfrm>
            <a:off x="2907792" y="3639312"/>
            <a:ext cx="4023360" cy="310896"/>
          </a:xfrm>
          <a:prstGeom prst="rect">
            <a:avLst/>
          </a:prstGeom>
          <a:noFill/>
          <a:ln/>
        </p:spPr>
        <p:txBody>
          <a:bodyPr wrap="square" lIns="0" tIns="0" rIns="0" bIns="0" rtlCol="0" anchor="ctr"/>
          <a:lstStyle/>
          <a:p>
            <a:pPr marL="0" indent="0">
              <a:buNone/>
            </a:pPr>
            <a:r>
              <a:rPr lang="en-US" sz="950" dirty="0">
                <a:solidFill>
                  <a:srgbClr val="4A5568"/>
                </a:solidFill>
              </a:rPr>
              <a:t>Token auth · Role guards · Staff IS-A User (SINGLE_TABLE)</a:t>
            </a:r>
            <a:endParaRPr lang="en-US" sz="950" dirty="0"/>
          </a:p>
        </p:txBody>
      </p:sp>
      <p:sp>
        <p:nvSpPr>
          <p:cNvPr id="28" name="Shape 25"/>
          <p:cNvSpPr/>
          <p:nvPr/>
        </p:nvSpPr>
        <p:spPr>
          <a:xfrm>
            <a:off x="0" y="4892040"/>
            <a:ext cx="9144000" cy="251460"/>
          </a:xfrm>
          <a:prstGeom prst="rect">
            <a:avLst/>
          </a:prstGeom>
          <a:solidFill>
            <a:srgbClr val="2D7DD2"/>
          </a:solidFill>
          <a:ln w="12700">
            <a:solidFill>
              <a:srgbClr val="2D7DD2"/>
            </a:solidFill>
            <a:prstDash val="solid"/>
          </a:ln>
        </p:spPr>
        <p:txBody>
          <a:bodyPr/>
          <a:lstStyle/>
          <a:p>
            <a:endParaRPr lang="en-IN"/>
          </a:p>
        </p:txBody>
      </p:sp>
      <p:sp>
        <p:nvSpPr>
          <p:cNvPr id="29" name="Text 26"/>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30" name="Text 27"/>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9B59B6"/>
          </a:solidFill>
          <a:ln w="12700">
            <a:solidFill>
              <a:srgbClr val="9B59B6"/>
            </a:solidFill>
            <a:prstDash val="solid"/>
          </a:ln>
        </p:spPr>
        <p:txBody>
          <a:bodyPr/>
          <a:lstStyle/>
          <a:p>
            <a:endParaRPr lang="en-IN"/>
          </a:p>
        </p:txBody>
      </p:sp>
      <p:sp>
        <p:nvSpPr>
          <p:cNvPr id="3" name="Text 1"/>
          <p:cNvSpPr/>
          <p:nvPr/>
        </p:nvSpPr>
        <p:spPr>
          <a:xfrm>
            <a:off x="365760" y="164592"/>
            <a:ext cx="8412480" cy="438912"/>
          </a:xfrm>
          <a:prstGeom prst="rect">
            <a:avLst/>
          </a:prstGeom>
          <a:noFill/>
          <a:ln/>
        </p:spPr>
        <p:txBody>
          <a:bodyPr wrap="square" lIns="0" tIns="0" rIns="0" bIns="0" rtlCol="0" anchor="ctr"/>
          <a:lstStyle/>
          <a:p>
            <a:pPr marL="0" indent="0">
              <a:buNone/>
            </a:pPr>
            <a:r>
              <a:rPr lang="en-US" sz="2600" b="1" dirty="0">
                <a:solidFill>
                  <a:srgbClr val="1A2B4A"/>
                </a:solidFill>
                <a:latin typeface="Calibri" pitchFamily="34" charset="0"/>
                <a:ea typeface="Calibri" pitchFamily="34" charset="-122"/>
                <a:cs typeface="Calibri" pitchFamily="34" charset="-120"/>
              </a:rPr>
              <a:t>System Flowchart</a:t>
            </a:r>
            <a:endParaRPr lang="en-US" sz="2600" dirty="0"/>
          </a:p>
        </p:txBody>
      </p:sp>
      <p:sp>
        <p:nvSpPr>
          <p:cNvPr id="4" name="Text 2"/>
          <p:cNvSpPr/>
          <p:nvPr/>
        </p:nvSpPr>
        <p:spPr>
          <a:xfrm>
            <a:off x="365760" y="585216"/>
            <a:ext cx="8412480" cy="237744"/>
          </a:xfrm>
          <a:prstGeom prst="rect">
            <a:avLst/>
          </a:prstGeom>
          <a:noFill/>
          <a:ln/>
        </p:spPr>
        <p:txBody>
          <a:bodyPr wrap="square" lIns="0" tIns="0" rIns="0" bIns="0" rtlCol="0" anchor="ctr"/>
          <a:lstStyle/>
          <a:p>
            <a:pPr marL="0" indent="0">
              <a:buNone/>
            </a:pPr>
            <a:r>
              <a:rPr lang="en-US" sz="1050" dirty="0">
                <a:solidFill>
                  <a:srgbClr val="8899BB"/>
                </a:solidFill>
              </a:rPr>
              <a:t>How every user role interacts with PlanIt — from registration to database update</a:t>
            </a:r>
            <a:endParaRPr lang="en-US" sz="1050" dirty="0"/>
          </a:p>
        </p:txBody>
      </p:sp>
      <p:sp>
        <p:nvSpPr>
          <p:cNvPr id="5" name="Shape 3"/>
          <p:cNvSpPr/>
          <p:nvPr/>
        </p:nvSpPr>
        <p:spPr>
          <a:xfrm>
            <a:off x="365760" y="850392"/>
            <a:ext cx="8412480" cy="0"/>
          </a:xfrm>
          <a:prstGeom prst="line">
            <a:avLst/>
          </a:prstGeom>
          <a:noFill/>
          <a:ln w="10160">
            <a:solidFill>
              <a:srgbClr val="E2E8F0"/>
            </a:solidFill>
            <a:prstDash val="solid"/>
          </a:ln>
        </p:spPr>
        <p:txBody>
          <a:bodyPr/>
          <a:lstStyle/>
          <a:p>
            <a:endParaRPr lang="en-IN"/>
          </a:p>
        </p:txBody>
      </p:sp>
      <p:sp>
        <p:nvSpPr>
          <p:cNvPr id="7" name="Shape 4"/>
          <p:cNvSpPr/>
          <p:nvPr/>
        </p:nvSpPr>
        <p:spPr>
          <a:xfrm>
            <a:off x="1600200" y="987552"/>
            <a:ext cx="1280160" cy="301752"/>
          </a:xfrm>
          <a:prstGeom prst="ellipse">
            <a:avLst>
              <a:gd name="adj" fmla="val 21212"/>
            </a:avLst>
          </a:prstGeom>
          <a:solidFill>
            <a:srgbClr val="F4A827"/>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pic>
        <p:nvPicPr>
          <p:cNvPr id="8" name="Picture 7">
            <a:extLst>
              <a:ext uri="{FF2B5EF4-FFF2-40B4-BE49-F238E27FC236}">
                <a16:creationId xmlns:a16="http://schemas.microsoft.com/office/drawing/2014/main" id="{4AD8A91B-E0A8-D627-7601-CBF92F01E944}"/>
              </a:ext>
            </a:extLst>
          </p:cNvPr>
          <p:cNvPicPr>
            <a:picLocks noChangeAspect="1"/>
          </p:cNvPicPr>
          <p:nvPr/>
        </p:nvPicPr>
        <p:blipFill>
          <a:blip r:embed="rId3"/>
          <a:stretch>
            <a:fillRect/>
          </a:stretch>
        </p:blipFill>
        <p:spPr>
          <a:xfrm>
            <a:off x="1876508" y="877825"/>
            <a:ext cx="5001369" cy="41951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E8521A"/>
          </a:solidFill>
          <a:ln w="12700">
            <a:solidFill>
              <a:srgbClr val="E8521A"/>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K. Mythili</a:t>
            </a:r>
            <a:endParaRPr lang="en-US" sz="1500" dirty="0"/>
          </a:p>
        </p:txBody>
      </p:sp>
      <p:sp>
        <p:nvSpPr>
          <p:cNvPr id="7" name="Shape 4"/>
          <p:cNvSpPr/>
          <p:nvPr/>
        </p:nvSpPr>
        <p:spPr>
          <a:xfrm>
            <a:off x="457200" y="3511296"/>
            <a:ext cx="2926080" cy="256032"/>
          </a:xfrm>
          <a:prstGeom prst="roundRect">
            <a:avLst>
              <a:gd name="adj" fmla="val 25000"/>
            </a:avLst>
          </a:prstGeom>
          <a:solidFill>
            <a:srgbClr val="E8521A">
              <a:alpha val="15000"/>
            </a:srgbClr>
          </a:solidFill>
          <a:ln w="15240">
            <a:solidFill>
              <a:srgbClr val="E8521A"/>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E8521A"/>
                </a:solidFill>
              </a:rPr>
              <a:t>Backend + Frontend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FR-05</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User &amp; Authentication Service</a:t>
            </a:r>
            <a:endParaRPr lang="en-US" sz="1800" dirty="0"/>
          </a:p>
        </p:txBody>
      </p:sp>
      <p:sp>
        <p:nvSpPr>
          <p:cNvPr id="12" name="Shape 9"/>
          <p:cNvSpPr/>
          <p:nvPr/>
        </p:nvSpPr>
        <p:spPr>
          <a:xfrm>
            <a:off x="4114800" y="694944"/>
            <a:ext cx="4754880" cy="301752"/>
          </a:xfrm>
          <a:prstGeom prst="rect">
            <a:avLst/>
          </a:prstGeom>
          <a:solidFill>
            <a:srgbClr val="E8521A">
              <a:alpha val="10000"/>
            </a:srgbClr>
          </a:solidFill>
          <a:ln w="10160">
            <a:solidFill>
              <a:srgbClr val="E8521A"/>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E8521A"/>
                </a:solidFill>
              </a:rPr>
              <a:t>"The security gatekeeper — every login, every token, every role guard."</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Mythili built PlanIt's security backbone. She designed the User entity, created registration and login endpoints, and configured Spring Security so every protected route validates a JWT before responding.</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E8521A"/>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entity/User.java</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Fields: id, username, password, email, role (PLANNER/STAFF/CLIENT)</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POST /api/user/register</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Registers any user type with BCrypt-hashed password storage</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POST /api/user/login</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Validates credentials and issues a signed JWT session token</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Spring Security Filter Chain</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Validates JWT on every incoming API request before routing</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Role Access Guards</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/api/planner/*, /api/staff/*, /api/client/* locked to correct roles</a:t>
            </a:r>
            <a:endParaRPr lang="en-US" sz="900" dirty="0"/>
          </a:p>
        </p:txBody>
      </p:sp>
      <p:sp>
        <p:nvSpPr>
          <p:cNvPr id="41" name="Shape 38"/>
          <p:cNvSpPr/>
          <p:nvPr/>
        </p:nvSpPr>
        <p:spPr>
          <a:xfrm>
            <a:off x="0" y="4892040"/>
            <a:ext cx="9144000" cy="251460"/>
          </a:xfrm>
          <a:prstGeom prst="rect">
            <a:avLst/>
          </a:prstGeom>
          <a:solidFill>
            <a:srgbClr val="E8521A"/>
          </a:solidFill>
          <a:ln w="12700">
            <a:solidFill>
              <a:srgbClr val="E8521A"/>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2D7DD2"/>
          </a:solidFill>
          <a:ln w="12700">
            <a:solidFill>
              <a:srgbClr val="2D7DD2"/>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H.B Purushottam</a:t>
            </a:r>
            <a:endParaRPr lang="en-US" sz="1500" dirty="0"/>
          </a:p>
        </p:txBody>
      </p:sp>
      <p:sp>
        <p:nvSpPr>
          <p:cNvPr id="7" name="Shape 4"/>
          <p:cNvSpPr/>
          <p:nvPr/>
        </p:nvSpPr>
        <p:spPr>
          <a:xfrm>
            <a:off x="457200" y="3511296"/>
            <a:ext cx="2926080" cy="256032"/>
          </a:xfrm>
          <a:prstGeom prst="roundRect">
            <a:avLst>
              <a:gd name="adj" fmla="val 25000"/>
            </a:avLst>
          </a:prstGeom>
          <a:solidFill>
            <a:srgbClr val="2D7DD2">
              <a:alpha val="15000"/>
            </a:srgbClr>
          </a:solidFill>
          <a:ln w="15240">
            <a:solidFill>
              <a:srgbClr val="2D7DD2"/>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2D7DD2"/>
                </a:solidFill>
              </a:rPr>
              <a:t>Backend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FR-02, FR-05</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Staff Entity &amp; Inheritance Service</a:t>
            </a:r>
            <a:endParaRPr lang="en-US" sz="1800" dirty="0"/>
          </a:p>
        </p:txBody>
      </p:sp>
      <p:sp>
        <p:nvSpPr>
          <p:cNvPr id="12" name="Shape 9"/>
          <p:cNvSpPr/>
          <p:nvPr/>
        </p:nvSpPr>
        <p:spPr>
          <a:xfrm>
            <a:off x="4114800" y="694944"/>
            <a:ext cx="4754880" cy="301752"/>
          </a:xfrm>
          <a:prstGeom prst="rect">
            <a:avLst/>
          </a:prstGeom>
          <a:solidFill>
            <a:srgbClr val="2D7DD2">
              <a:alpha val="10000"/>
            </a:srgbClr>
          </a:solidFill>
          <a:ln w="10160">
            <a:solidFill>
              <a:srgbClr val="2D7DD2"/>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2D7DD2"/>
                </a:solidFill>
              </a:rPr>
              <a:t>"The OOP architect — Staff IS-A User via JPA Inheritance."</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Purushottam implemented the IS-A relationship between Staff and User using JPA's SINGLE_TABLE strategy. Staff inherits all user fields while adding staff-specific behavior and repository queries.</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2D7DD2"/>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entity/Staff.java</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Extends User — inherits id, username, password, email, role</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@Inheritance(SINGLE_TABLE)</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@DiscriminatorValue('STAFF') — both types in one DB table</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Custom Repository</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findByRole() and findAllStaff() for efficient staff queries</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GET /api/planner/staff</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Returns all staff members so planners can assign tasks</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OOP Key Outcome</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Staff IS-A User demonstrated at JPA and database level</a:t>
            </a:r>
            <a:endParaRPr lang="en-US" sz="900" dirty="0"/>
          </a:p>
        </p:txBody>
      </p:sp>
      <p:sp>
        <p:nvSpPr>
          <p:cNvPr id="41" name="Shape 38"/>
          <p:cNvSpPr/>
          <p:nvPr/>
        </p:nvSpPr>
        <p:spPr>
          <a:xfrm>
            <a:off x="0" y="4892040"/>
            <a:ext cx="9144000" cy="251460"/>
          </a:xfrm>
          <a:prstGeom prst="rect">
            <a:avLst/>
          </a:prstGeom>
          <a:solidFill>
            <a:srgbClr val="2D7DD2"/>
          </a:solidFill>
          <a:ln w="12700">
            <a:solidFill>
              <a:srgbClr val="2D7DD2"/>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1AAB8A"/>
          </a:solidFill>
          <a:ln w="12700">
            <a:solidFill>
              <a:srgbClr val="1AAB8A"/>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N. Shahanadh</a:t>
            </a:r>
            <a:endParaRPr lang="en-US" sz="1500" dirty="0"/>
          </a:p>
        </p:txBody>
      </p:sp>
      <p:sp>
        <p:nvSpPr>
          <p:cNvPr id="7" name="Shape 4"/>
          <p:cNvSpPr/>
          <p:nvPr/>
        </p:nvSpPr>
        <p:spPr>
          <a:xfrm>
            <a:off x="457200" y="3511296"/>
            <a:ext cx="2926080" cy="256032"/>
          </a:xfrm>
          <a:prstGeom prst="roundRect">
            <a:avLst>
              <a:gd name="adj" fmla="val 25000"/>
            </a:avLst>
          </a:prstGeom>
          <a:solidFill>
            <a:srgbClr val="1AAB8A">
              <a:alpha val="15000"/>
            </a:srgbClr>
          </a:solidFill>
          <a:ln w="15240">
            <a:solidFill>
              <a:srgbClr val="1AAB8A"/>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1AAB8A"/>
                </a:solidFill>
              </a:rPr>
              <a:t>Backend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FR-01</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Event Management Service</a:t>
            </a:r>
            <a:endParaRPr lang="en-US" sz="1800" dirty="0"/>
          </a:p>
        </p:txBody>
      </p:sp>
      <p:sp>
        <p:nvSpPr>
          <p:cNvPr id="12" name="Shape 9"/>
          <p:cNvSpPr/>
          <p:nvPr/>
        </p:nvSpPr>
        <p:spPr>
          <a:xfrm>
            <a:off x="4114800" y="694944"/>
            <a:ext cx="4754880" cy="301752"/>
          </a:xfrm>
          <a:prstGeom prst="rect">
            <a:avLst/>
          </a:prstGeom>
          <a:solidFill>
            <a:srgbClr val="1AAB8A">
              <a:alpha val="10000"/>
            </a:srgbClr>
          </a:solidFill>
          <a:ln w="10160">
            <a:solidFill>
              <a:srgbClr val="1AAB8A"/>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1AAB8A"/>
                </a:solidFill>
              </a:rPr>
              <a:t>"The event engine — create, update, and query every event."</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Shahanadh owns the core of what PlanIt does. He designed the Event entity with title, date, location, status and feedback fields, wrote EventService with four operations, and exposed REST endpoints for planners.</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1AAB8A"/>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entity/Event.java</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id, title, date, location, description, status, feedback</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service/EventService.java</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createEvent(), updateEvent(), getEventsByPlanner(), getAllEvents()</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POST /api/planner/event</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Planner creates a new event linked to their account</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PUT /api/planner/event/{id}</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Planner edits title, date, location, or status</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GET /api/planner/events</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Returns all events for the planner's dashboard view</a:t>
            </a:r>
            <a:endParaRPr lang="en-US" sz="900" dirty="0"/>
          </a:p>
        </p:txBody>
      </p:sp>
      <p:sp>
        <p:nvSpPr>
          <p:cNvPr id="41" name="Shape 38"/>
          <p:cNvSpPr/>
          <p:nvPr/>
        </p:nvSpPr>
        <p:spPr>
          <a:xfrm>
            <a:off x="0" y="4892040"/>
            <a:ext cx="9144000" cy="251460"/>
          </a:xfrm>
          <a:prstGeom prst="rect">
            <a:avLst/>
          </a:prstGeom>
          <a:solidFill>
            <a:srgbClr val="1AAB8A"/>
          </a:solidFill>
          <a:ln w="12700">
            <a:solidFill>
              <a:srgbClr val="1AAB8A"/>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9B59B6"/>
          </a:solidFill>
          <a:ln w="12700">
            <a:solidFill>
              <a:srgbClr val="9B59B6"/>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L. Rama Kasturi</a:t>
            </a:r>
            <a:endParaRPr lang="en-US" sz="1500" dirty="0"/>
          </a:p>
        </p:txBody>
      </p:sp>
      <p:sp>
        <p:nvSpPr>
          <p:cNvPr id="7" name="Shape 4"/>
          <p:cNvSpPr/>
          <p:nvPr/>
        </p:nvSpPr>
        <p:spPr>
          <a:xfrm>
            <a:off x="457200" y="3511296"/>
            <a:ext cx="2926080" cy="256032"/>
          </a:xfrm>
          <a:prstGeom prst="roundRect">
            <a:avLst>
              <a:gd name="adj" fmla="val 25000"/>
            </a:avLst>
          </a:prstGeom>
          <a:solidFill>
            <a:srgbClr val="9B59B6">
              <a:alpha val="15000"/>
            </a:srgbClr>
          </a:solidFill>
          <a:ln w="15240">
            <a:solidFill>
              <a:srgbClr val="9B59B6"/>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9B59B6"/>
                </a:solidFill>
              </a:rPr>
              <a:t>Backend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FR-02</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Task Management Service</a:t>
            </a:r>
            <a:endParaRPr lang="en-US" sz="1800" dirty="0"/>
          </a:p>
        </p:txBody>
      </p:sp>
      <p:sp>
        <p:nvSpPr>
          <p:cNvPr id="12" name="Shape 9"/>
          <p:cNvSpPr/>
          <p:nvPr/>
        </p:nvSpPr>
        <p:spPr>
          <a:xfrm>
            <a:off x="4114800" y="694944"/>
            <a:ext cx="4754880" cy="301752"/>
          </a:xfrm>
          <a:prstGeom prst="rect">
            <a:avLst/>
          </a:prstGeom>
          <a:solidFill>
            <a:srgbClr val="9B59B6">
              <a:alpha val="10000"/>
            </a:srgbClr>
          </a:solidFill>
          <a:ln w="10160">
            <a:solidFill>
              <a:srgbClr val="9B59B6"/>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9B59B6"/>
                </a:solidFill>
              </a:rPr>
              <a:t>"The task backbone — the entity, FK, and service layer."</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Rama Kasturi built the Task entity and the FK link to the Staff table — the most critical data relationship in PlanIt. She wrote TaskRepository custom queries and TaskService methods.</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9B59B6"/>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entity/Task.java</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id, description, status, Staff assignedStaff (FK → Staff table)</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TaskRepository.java</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findByAssignedStaff() and findByStatus() custom query methods</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service/TaskService.java</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createTask(), getAllTasks(), updateTaskStatus() operations</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POST /api/planner/task</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Planner creates an unassigned task — ready for assignment</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GET /api/planner/tasks</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Returns all tasks so planners can decide who to assign each to</a:t>
            </a:r>
            <a:endParaRPr lang="en-US" sz="900" dirty="0"/>
          </a:p>
        </p:txBody>
      </p:sp>
      <p:sp>
        <p:nvSpPr>
          <p:cNvPr id="41" name="Shape 38"/>
          <p:cNvSpPr/>
          <p:nvPr/>
        </p:nvSpPr>
        <p:spPr>
          <a:xfrm>
            <a:off x="0" y="4892040"/>
            <a:ext cx="9144000" cy="251460"/>
          </a:xfrm>
          <a:prstGeom prst="rect">
            <a:avLst/>
          </a:prstGeom>
          <a:solidFill>
            <a:srgbClr val="9B59B6"/>
          </a:solidFill>
          <a:ln w="12700">
            <a:solidFill>
              <a:srgbClr val="9B59B6"/>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E74C3C"/>
          </a:solidFill>
          <a:ln w="12700">
            <a:solidFill>
              <a:srgbClr val="E74C3C"/>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B. Tharun</a:t>
            </a:r>
            <a:endParaRPr lang="en-US" sz="1500" dirty="0"/>
          </a:p>
        </p:txBody>
      </p:sp>
      <p:sp>
        <p:nvSpPr>
          <p:cNvPr id="7" name="Shape 4"/>
          <p:cNvSpPr/>
          <p:nvPr/>
        </p:nvSpPr>
        <p:spPr>
          <a:xfrm>
            <a:off x="457200" y="3511296"/>
            <a:ext cx="2926080" cy="256032"/>
          </a:xfrm>
          <a:prstGeom prst="roundRect">
            <a:avLst>
              <a:gd name="adj" fmla="val 25000"/>
            </a:avLst>
          </a:prstGeom>
          <a:solidFill>
            <a:srgbClr val="E74C3C">
              <a:alpha val="15000"/>
            </a:srgbClr>
          </a:solidFill>
          <a:ln w="15240">
            <a:solidFill>
              <a:srgbClr val="E74C3C"/>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E74C3C"/>
                </a:solidFill>
              </a:rPr>
              <a:t>Backend + Frontend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FR-02</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Task Assignment + Planner Dashboard</a:t>
            </a:r>
            <a:endParaRPr lang="en-US" sz="1800" dirty="0"/>
          </a:p>
        </p:txBody>
      </p:sp>
      <p:sp>
        <p:nvSpPr>
          <p:cNvPr id="12" name="Shape 9"/>
          <p:cNvSpPr/>
          <p:nvPr/>
        </p:nvSpPr>
        <p:spPr>
          <a:xfrm>
            <a:off x="4114800" y="694944"/>
            <a:ext cx="4754880" cy="301752"/>
          </a:xfrm>
          <a:prstGeom prst="rect">
            <a:avLst/>
          </a:prstGeom>
          <a:solidFill>
            <a:srgbClr val="E74C3C">
              <a:alpha val="10000"/>
            </a:srgbClr>
          </a:solidFill>
          <a:ln w="10160">
            <a:solidFill>
              <a:srgbClr val="E74C3C"/>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E74C3C"/>
                </a:solidFill>
              </a:rPr>
              <a:t>"The connector — linking tasks to people, building the dashboard."</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Tharun built the task assignment endpoint and the complete planner frontend. He wrote assignTask() with ID validation to prevent corrupt assignments and built four React pages for the full planner workflow.</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E74C3C"/>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POST /tasks/{taskId}/assign/{staffId}</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Links a task to a specific staff member via path variables</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assignTask() in TaskService</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Validates both IDs exist in DB before persisting the link</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DB Persistence</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Task.assignedStaff is updated and saved on successful assignment</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AssignTaskPage.jsx</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Planner selects task + staff from dropdowns and clicks Assign</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Full Planner Dashboard</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CreateEventForm, UpdateEventForm, CreateTaskForm — full UI</a:t>
            </a:r>
            <a:endParaRPr lang="en-US" sz="900" dirty="0"/>
          </a:p>
        </p:txBody>
      </p:sp>
      <p:sp>
        <p:nvSpPr>
          <p:cNvPr id="41" name="Shape 38"/>
          <p:cNvSpPr/>
          <p:nvPr/>
        </p:nvSpPr>
        <p:spPr>
          <a:xfrm>
            <a:off x="0" y="4892040"/>
            <a:ext cx="9144000" cy="251460"/>
          </a:xfrm>
          <a:prstGeom prst="rect">
            <a:avLst/>
          </a:prstGeom>
          <a:solidFill>
            <a:srgbClr val="E74C3C"/>
          </a:solidFill>
          <a:ln w="12700">
            <a:solidFill>
              <a:srgbClr val="E74C3C"/>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F39C12"/>
          </a:solidFill>
          <a:ln w="12700">
            <a:solidFill>
              <a:srgbClr val="F39C12"/>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B. Munendra</a:t>
            </a:r>
            <a:endParaRPr lang="en-US" sz="1500" dirty="0"/>
          </a:p>
        </p:txBody>
      </p:sp>
      <p:sp>
        <p:nvSpPr>
          <p:cNvPr id="7" name="Shape 4"/>
          <p:cNvSpPr/>
          <p:nvPr/>
        </p:nvSpPr>
        <p:spPr>
          <a:xfrm>
            <a:off x="457200" y="3511296"/>
            <a:ext cx="2926080" cy="256032"/>
          </a:xfrm>
          <a:prstGeom prst="roundRect">
            <a:avLst>
              <a:gd name="adj" fmla="val 25000"/>
            </a:avLst>
          </a:prstGeom>
          <a:solidFill>
            <a:srgbClr val="F39C12">
              <a:alpha val="15000"/>
            </a:srgbClr>
          </a:solidFill>
          <a:ln w="15240">
            <a:solidFill>
              <a:srgbClr val="F39C12"/>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F39C12"/>
                </a:solidFill>
              </a:rPr>
              <a:t>Backend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FR-03</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Staff Operations Service</a:t>
            </a:r>
            <a:endParaRPr lang="en-US" sz="1800" dirty="0"/>
          </a:p>
        </p:txBody>
      </p:sp>
      <p:sp>
        <p:nvSpPr>
          <p:cNvPr id="12" name="Shape 9"/>
          <p:cNvSpPr/>
          <p:nvPr/>
        </p:nvSpPr>
        <p:spPr>
          <a:xfrm>
            <a:off x="4114800" y="694944"/>
            <a:ext cx="4754880" cy="301752"/>
          </a:xfrm>
          <a:prstGeom prst="rect">
            <a:avLst/>
          </a:prstGeom>
          <a:solidFill>
            <a:srgbClr val="F39C12">
              <a:alpha val="10000"/>
            </a:srgbClr>
          </a:solidFill>
          <a:ln w="10160">
            <a:solidFill>
              <a:srgbClr val="F39C12"/>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F39C12"/>
                </a:solidFill>
              </a:rPr>
              <a:t>"The staff gateway — every task view and update flows through here."</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Munendra wrote the StaffController with strict role separation. Only STAFF tokens can access these endpoints. He implemented the task status update flow that delegates cleanly to the shared TaskService.</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F39C12"/>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StaffController.java</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All staff-facing API endpoints in one dedicated controller</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GET /api/staff/tasks/{staffId}</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Staff retrieves only their own tasks — no visibility of others</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PUT /api/staff/tasks/{taskId}</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Staff updates task status via ?status= query parameter</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Service Delegation</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updateTaskStatus() delegates to TaskService — no duplicate logic</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Role Guard</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Only STAFF JWT tokens are permitted to access these endpoints</a:t>
            </a:r>
            <a:endParaRPr lang="en-US" sz="900" dirty="0"/>
          </a:p>
        </p:txBody>
      </p:sp>
      <p:sp>
        <p:nvSpPr>
          <p:cNvPr id="41" name="Shape 38"/>
          <p:cNvSpPr/>
          <p:nvPr/>
        </p:nvSpPr>
        <p:spPr>
          <a:xfrm>
            <a:off x="0" y="4892040"/>
            <a:ext cx="9144000" cy="251460"/>
          </a:xfrm>
          <a:prstGeom prst="rect">
            <a:avLst/>
          </a:prstGeom>
          <a:solidFill>
            <a:srgbClr val="F39C12"/>
          </a:solidFill>
          <a:ln w="12700">
            <a:solidFill>
              <a:srgbClr val="F39C12"/>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1565C0"/>
          </a:solidFill>
          <a:ln w="12700">
            <a:solidFill>
              <a:srgbClr val="1565C0"/>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Peetla Lalitha</a:t>
            </a:r>
            <a:endParaRPr lang="en-US" sz="1500" dirty="0"/>
          </a:p>
        </p:txBody>
      </p:sp>
      <p:sp>
        <p:nvSpPr>
          <p:cNvPr id="7" name="Shape 4"/>
          <p:cNvSpPr/>
          <p:nvPr/>
        </p:nvSpPr>
        <p:spPr>
          <a:xfrm>
            <a:off x="457200" y="3511296"/>
            <a:ext cx="2926080" cy="256032"/>
          </a:xfrm>
          <a:prstGeom prst="roundRect">
            <a:avLst>
              <a:gd name="adj" fmla="val 25000"/>
            </a:avLst>
          </a:prstGeom>
          <a:solidFill>
            <a:srgbClr val="1565C0">
              <a:alpha val="15000"/>
            </a:srgbClr>
          </a:solidFill>
          <a:ln w="15240">
            <a:solidFill>
              <a:srgbClr val="1565C0"/>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1565C0"/>
                </a:solidFill>
              </a:rPr>
              <a:t>Backend + Frontend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FR-03, FR-04</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Client Portal Backend + Staff Dashboard FE</a:t>
            </a:r>
            <a:endParaRPr lang="en-US" sz="1800" dirty="0"/>
          </a:p>
        </p:txBody>
      </p:sp>
      <p:sp>
        <p:nvSpPr>
          <p:cNvPr id="12" name="Shape 9"/>
          <p:cNvSpPr/>
          <p:nvPr/>
        </p:nvSpPr>
        <p:spPr>
          <a:xfrm>
            <a:off x="4114800" y="694944"/>
            <a:ext cx="4754880" cy="301752"/>
          </a:xfrm>
          <a:prstGeom prst="rect">
            <a:avLst/>
          </a:prstGeom>
          <a:solidFill>
            <a:srgbClr val="1565C0">
              <a:alpha val="10000"/>
            </a:srgbClr>
          </a:solidFill>
          <a:ln w="10160">
            <a:solidFill>
              <a:srgbClr val="1565C0"/>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1565C0"/>
                </a:solidFill>
              </a:rPr>
              <a:t>"The bridge — client APIs + the staff dashboard interface."</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Lalitha built the ClientController APIs and implemented submitFeedback() that saves client text onto Event records. She also built both staff-facing React pages for task viewing and status updates.</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1565C0"/>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ClientController.java</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All client-facing API endpoints in one isolated controller</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GET /api/client/events</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Clients browse all events and see their current statuses</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PUT /api/client/event/{id}</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Client submits feedback text via ?feedback= query param</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StaffTasksPage.jsx</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Staff sees their full task list with current status badges</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UpdateTaskStatusPage.jsx</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Staff selects a new status from dropdown and submits update</a:t>
            </a:r>
            <a:endParaRPr lang="en-US" sz="900" dirty="0"/>
          </a:p>
        </p:txBody>
      </p:sp>
      <p:sp>
        <p:nvSpPr>
          <p:cNvPr id="41" name="Shape 38"/>
          <p:cNvSpPr/>
          <p:nvPr/>
        </p:nvSpPr>
        <p:spPr>
          <a:xfrm>
            <a:off x="0" y="4892040"/>
            <a:ext cx="9144000" cy="251460"/>
          </a:xfrm>
          <a:prstGeom prst="rect">
            <a:avLst/>
          </a:prstGeom>
          <a:solidFill>
            <a:srgbClr val="1565C0"/>
          </a:solidFill>
          <a:ln w="12700">
            <a:solidFill>
              <a:srgbClr val="1565C0"/>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00897B"/>
          </a:solidFill>
          <a:ln w="12700">
            <a:solidFill>
              <a:srgbClr val="00897B"/>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182880" y="3090672"/>
            <a:ext cx="3474720" cy="347472"/>
          </a:xfrm>
          <a:prstGeom prst="rect">
            <a:avLst/>
          </a:prstGeom>
          <a:noFill/>
          <a:ln/>
        </p:spPr>
        <p:txBody>
          <a:bodyPr wrap="square" lIns="0" tIns="0" rIns="0" bIns="0" rtlCol="0" anchor="ctr"/>
          <a:lstStyle/>
          <a:p>
            <a:pPr marL="0" indent="0" algn="ctr">
              <a:buNone/>
            </a:pPr>
            <a:r>
              <a:rPr lang="en-US" sz="1500" b="1" dirty="0">
                <a:solidFill>
                  <a:srgbClr val="1A2B4A"/>
                </a:solidFill>
              </a:rPr>
              <a:t>M. Veera Prathap</a:t>
            </a:r>
            <a:endParaRPr lang="en-US" sz="1500" dirty="0"/>
          </a:p>
        </p:txBody>
      </p:sp>
      <p:sp>
        <p:nvSpPr>
          <p:cNvPr id="7" name="Shape 4"/>
          <p:cNvSpPr/>
          <p:nvPr/>
        </p:nvSpPr>
        <p:spPr>
          <a:xfrm>
            <a:off x="457200" y="3511296"/>
            <a:ext cx="2926080" cy="256032"/>
          </a:xfrm>
          <a:prstGeom prst="roundRect">
            <a:avLst>
              <a:gd name="adj" fmla="val 25000"/>
            </a:avLst>
          </a:prstGeom>
          <a:solidFill>
            <a:srgbClr val="00897B">
              <a:alpha val="15000"/>
            </a:srgbClr>
          </a:solidFill>
          <a:ln w="15240">
            <a:solidFill>
              <a:srgbClr val="00897B"/>
            </a:solidFill>
            <a:prstDash val="solid"/>
          </a:ln>
        </p:spPr>
        <p:txBody>
          <a:bodyPr/>
          <a:lstStyle/>
          <a:p>
            <a:endParaRPr lang="en-IN"/>
          </a:p>
        </p:txBody>
      </p:sp>
      <p:sp>
        <p:nvSpPr>
          <p:cNvPr id="8" name="Text 5"/>
          <p:cNvSpPr/>
          <p:nvPr/>
        </p:nvSpPr>
        <p:spPr>
          <a:xfrm>
            <a:off x="457200" y="3511296"/>
            <a:ext cx="2926080" cy="256032"/>
          </a:xfrm>
          <a:prstGeom prst="rect">
            <a:avLst/>
          </a:prstGeom>
          <a:noFill/>
          <a:ln/>
        </p:spPr>
        <p:txBody>
          <a:bodyPr wrap="square" lIns="0" tIns="0" rIns="0" bIns="0" rtlCol="0" anchor="ctr"/>
          <a:lstStyle/>
          <a:p>
            <a:pPr marL="0" indent="0" algn="ctr">
              <a:buNone/>
            </a:pPr>
            <a:r>
              <a:rPr lang="en-US" sz="950" b="1" dirty="0">
                <a:solidFill>
                  <a:srgbClr val="00897B"/>
                </a:solidFill>
              </a:rPr>
              <a:t>Backend + Frontend</a:t>
            </a:r>
            <a:endParaRPr lang="en-US" sz="950" dirty="0"/>
          </a:p>
        </p:txBody>
      </p:sp>
      <p:sp>
        <p:nvSpPr>
          <p:cNvPr id="9" name="Shape 6"/>
          <p:cNvSpPr/>
          <p:nvPr/>
        </p:nvSpPr>
        <p:spPr>
          <a:xfrm>
            <a:off x="457200" y="3840480"/>
            <a:ext cx="2926080" cy="237744"/>
          </a:xfrm>
          <a:prstGeom prst="roundRect">
            <a:avLst>
              <a:gd name="adj" fmla="val 23077"/>
            </a:avLst>
          </a:prstGeom>
          <a:solidFill>
            <a:srgbClr val="F0F4FA"/>
          </a:solidFill>
          <a:ln w="12700">
            <a:solidFill>
              <a:srgbClr val="D0D8E4"/>
            </a:solidFill>
            <a:prstDash val="solid"/>
          </a:ln>
        </p:spPr>
        <p:txBody>
          <a:bodyPr/>
          <a:lstStyle/>
          <a:p>
            <a:endParaRPr lang="en-IN"/>
          </a:p>
        </p:txBody>
      </p:sp>
      <p:sp>
        <p:nvSpPr>
          <p:cNvPr id="10" name="Text 7"/>
          <p:cNvSpPr/>
          <p:nvPr/>
        </p:nvSpPr>
        <p:spPr>
          <a:xfrm>
            <a:off x="457200" y="3840480"/>
            <a:ext cx="2926080" cy="237744"/>
          </a:xfrm>
          <a:prstGeom prst="rect">
            <a:avLst/>
          </a:prstGeom>
          <a:noFill/>
          <a:ln/>
        </p:spPr>
        <p:txBody>
          <a:bodyPr wrap="square" lIns="0" tIns="0" rIns="0" bIns="0" rtlCol="0" anchor="ctr"/>
          <a:lstStyle/>
          <a:p>
            <a:pPr marL="0" indent="0" algn="ctr">
              <a:buNone/>
            </a:pPr>
            <a:r>
              <a:rPr lang="en-US" sz="900" dirty="0">
                <a:solidFill>
                  <a:srgbClr val="8899BB"/>
                </a:solidFill>
              </a:rPr>
              <a:t>FR: FR-03, FR-04</a:t>
            </a:r>
            <a:endParaRPr lang="en-US" sz="900" dirty="0"/>
          </a:p>
        </p:txBody>
      </p:sp>
      <p:sp>
        <p:nvSpPr>
          <p:cNvPr id="11" name="Text 8"/>
          <p:cNvSpPr/>
          <p:nvPr/>
        </p:nvSpPr>
        <p:spPr>
          <a:xfrm>
            <a:off x="4114800" y="182880"/>
            <a:ext cx="4754880" cy="475488"/>
          </a:xfrm>
          <a:prstGeom prst="rect">
            <a:avLst/>
          </a:prstGeom>
          <a:noFill/>
          <a:ln/>
        </p:spPr>
        <p:txBody>
          <a:bodyPr wrap="square" lIns="0" tIns="0" rIns="0" bIns="0" rtlCol="0" anchor="ctr"/>
          <a:lstStyle/>
          <a:p>
            <a:pPr marL="0" indent="0">
              <a:buNone/>
            </a:pPr>
            <a:r>
              <a:rPr lang="en-US" sz="1800" b="1" dirty="0">
                <a:solidFill>
                  <a:srgbClr val="1A2B4A"/>
                </a:solidFill>
                <a:latin typeface="Calibri" pitchFamily="34" charset="0"/>
                <a:ea typeface="Calibri" pitchFamily="34" charset="-122"/>
                <a:cs typeface="Calibri" pitchFamily="34" charset="-120"/>
              </a:rPr>
              <a:t>Client Portal Frontend</a:t>
            </a:r>
            <a:endParaRPr lang="en-US" sz="1800" dirty="0"/>
          </a:p>
        </p:txBody>
      </p:sp>
      <p:sp>
        <p:nvSpPr>
          <p:cNvPr id="12" name="Shape 9"/>
          <p:cNvSpPr/>
          <p:nvPr/>
        </p:nvSpPr>
        <p:spPr>
          <a:xfrm>
            <a:off x="4114800" y="694944"/>
            <a:ext cx="4754880" cy="301752"/>
          </a:xfrm>
          <a:prstGeom prst="rect">
            <a:avLst/>
          </a:prstGeom>
          <a:solidFill>
            <a:srgbClr val="00897B">
              <a:alpha val="10000"/>
            </a:srgbClr>
          </a:solidFill>
          <a:ln w="10160">
            <a:solidFill>
              <a:srgbClr val="00897B"/>
            </a:solidFill>
            <a:prstDash val="solid"/>
          </a:ln>
        </p:spPr>
        <p:txBody>
          <a:bodyPr/>
          <a:lstStyle/>
          <a:p>
            <a:endParaRPr lang="en-IN"/>
          </a:p>
        </p:txBody>
      </p:sp>
      <p:sp>
        <p:nvSpPr>
          <p:cNvPr id="13" name="Text 10"/>
          <p:cNvSpPr/>
          <p:nvPr/>
        </p:nvSpPr>
        <p:spPr>
          <a:xfrm>
            <a:off x="4160520" y="694944"/>
            <a:ext cx="4663440" cy="301752"/>
          </a:xfrm>
          <a:prstGeom prst="rect">
            <a:avLst/>
          </a:prstGeom>
          <a:noFill/>
          <a:ln/>
        </p:spPr>
        <p:txBody>
          <a:bodyPr wrap="square" lIns="0" tIns="0" rIns="0" bIns="0" rtlCol="0" anchor="ctr"/>
          <a:lstStyle/>
          <a:p>
            <a:pPr marL="0" indent="0">
              <a:buNone/>
            </a:pPr>
            <a:r>
              <a:rPr lang="en-US" sz="950" i="1" dirty="0">
                <a:solidFill>
                  <a:srgbClr val="00897B"/>
                </a:solidFill>
              </a:rPr>
              <a:t>"The client's window — browse events and submit feedback."</a:t>
            </a:r>
            <a:endParaRPr lang="en-US" sz="950" dirty="0"/>
          </a:p>
        </p:txBody>
      </p:sp>
      <p:sp>
        <p:nvSpPr>
          <p:cNvPr id="14" name="Text 11"/>
          <p:cNvSpPr/>
          <p:nvPr/>
        </p:nvSpPr>
        <p:spPr>
          <a:xfrm>
            <a:off x="4114800" y="1042416"/>
            <a:ext cx="4754880" cy="548640"/>
          </a:xfrm>
          <a:prstGeom prst="rect">
            <a:avLst/>
          </a:prstGeom>
          <a:noFill/>
          <a:ln/>
        </p:spPr>
        <p:txBody>
          <a:bodyPr wrap="square" lIns="0" tIns="0" rIns="0" bIns="0" rtlCol="0" anchor="ctr"/>
          <a:lstStyle/>
          <a:p>
            <a:pPr marL="0" indent="0">
              <a:buNone/>
            </a:pPr>
            <a:r>
              <a:rPr lang="en-US" sz="1000" dirty="0">
                <a:solidFill>
                  <a:srgbClr val="4A5568"/>
                </a:solidFill>
              </a:rPr>
              <a:t>Veera Prathap built the complete client-facing frontend with live event status display, a dynamic feedback form, JWT-aware Axios calls, and route guards so only CLIENT role users can access these pages.</a:t>
            </a:r>
            <a:endParaRPr lang="en-US" sz="1000" dirty="0"/>
          </a:p>
        </p:txBody>
      </p:sp>
      <p:sp>
        <p:nvSpPr>
          <p:cNvPr id="15" name="Shape 12"/>
          <p:cNvSpPr/>
          <p:nvPr/>
        </p:nvSpPr>
        <p:spPr>
          <a:xfrm>
            <a:off x="4114800" y="1627632"/>
            <a:ext cx="4754880" cy="0"/>
          </a:xfrm>
          <a:prstGeom prst="line">
            <a:avLst/>
          </a:prstGeom>
          <a:noFill/>
          <a:ln w="10160">
            <a:solidFill>
              <a:srgbClr val="E2E8F0"/>
            </a:solidFill>
            <a:prstDash val="solid"/>
          </a:ln>
        </p:spPr>
        <p:txBody>
          <a:bodyPr/>
          <a:lstStyle/>
          <a:p>
            <a:endParaRPr lang="en-IN"/>
          </a:p>
        </p:txBody>
      </p:sp>
      <p:sp>
        <p:nvSpPr>
          <p:cNvPr id="16" name="Text 13"/>
          <p:cNvSpPr/>
          <p:nvPr/>
        </p:nvSpPr>
        <p:spPr>
          <a:xfrm>
            <a:off x="4114800" y="1682496"/>
            <a:ext cx="2011680" cy="219456"/>
          </a:xfrm>
          <a:prstGeom prst="rect">
            <a:avLst/>
          </a:prstGeom>
          <a:noFill/>
          <a:ln/>
        </p:spPr>
        <p:txBody>
          <a:bodyPr wrap="square" lIns="0" tIns="0" rIns="0" bIns="0" rtlCol="0" anchor="ctr"/>
          <a:lstStyle/>
          <a:p>
            <a:pPr marL="0" indent="0">
              <a:buNone/>
            </a:pPr>
            <a:r>
              <a:rPr lang="en-US" sz="850" b="1" kern="0" spc="200" dirty="0">
                <a:solidFill>
                  <a:srgbClr val="00897B"/>
                </a:solidFill>
              </a:rPr>
              <a:t>DELIVERABLES</a:t>
            </a:r>
            <a:endParaRPr lang="en-US" sz="850" dirty="0"/>
          </a:p>
        </p:txBody>
      </p:sp>
      <p:sp>
        <p:nvSpPr>
          <p:cNvPr id="17" name="Shape 14"/>
          <p:cNvSpPr/>
          <p:nvPr/>
        </p:nvSpPr>
        <p:spPr>
          <a:xfrm>
            <a:off x="4114800" y="2012594"/>
            <a:ext cx="420624" cy="420624"/>
          </a:xfrm>
          <a:prstGeom prst="ellipse">
            <a:avLst/>
          </a:prstGeom>
          <a:solidFill>
            <a:srgbClr val="E8521A"/>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5"/>
          <p:cNvSpPr/>
          <p:nvPr/>
        </p:nvSpPr>
        <p:spPr>
          <a:xfrm>
            <a:off x="4114800" y="2012594"/>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9" name="Text 16"/>
          <p:cNvSpPr/>
          <p:nvPr/>
        </p:nvSpPr>
        <p:spPr>
          <a:xfrm>
            <a:off x="4626864" y="2012594"/>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ClientEventsPage.jsx</a:t>
            </a:r>
            <a:endParaRPr lang="en-US" sz="1100" dirty="0"/>
          </a:p>
        </p:txBody>
      </p:sp>
      <p:sp>
        <p:nvSpPr>
          <p:cNvPr id="20" name="Text 17"/>
          <p:cNvSpPr/>
          <p:nvPr/>
        </p:nvSpPr>
        <p:spPr>
          <a:xfrm>
            <a:off x="4626864" y="2232050"/>
            <a:ext cx="4160520" cy="219456"/>
          </a:xfrm>
          <a:prstGeom prst="rect">
            <a:avLst/>
          </a:prstGeom>
          <a:noFill/>
          <a:ln/>
        </p:spPr>
        <p:txBody>
          <a:bodyPr wrap="square" lIns="0" tIns="0" rIns="0" bIns="0" rtlCol="0" anchor="ctr"/>
          <a:lstStyle/>
          <a:p>
            <a:pPr marL="0" indent="0">
              <a:buNone/>
            </a:pPr>
            <a:r>
              <a:rPr lang="en-US" sz="900" dirty="0">
                <a:solidFill>
                  <a:srgbClr val="4A5568"/>
                </a:solidFill>
              </a:rPr>
              <a:t>Displays all events with title, date, location and live status</a:t>
            </a:r>
            <a:endParaRPr lang="en-US" sz="900" dirty="0"/>
          </a:p>
        </p:txBody>
      </p:sp>
      <p:sp>
        <p:nvSpPr>
          <p:cNvPr id="21" name="Shape 18"/>
          <p:cNvSpPr/>
          <p:nvPr/>
        </p:nvSpPr>
        <p:spPr>
          <a:xfrm>
            <a:off x="4114800" y="2452421"/>
            <a:ext cx="4754880" cy="0"/>
          </a:xfrm>
          <a:prstGeom prst="line">
            <a:avLst/>
          </a:prstGeom>
          <a:noFill/>
          <a:ln w="10160">
            <a:solidFill>
              <a:srgbClr val="E2E8F0"/>
            </a:solidFill>
            <a:prstDash val="solid"/>
          </a:ln>
        </p:spPr>
        <p:txBody>
          <a:bodyPr/>
          <a:lstStyle/>
          <a:p>
            <a:endParaRPr lang="en-IN"/>
          </a:p>
        </p:txBody>
      </p:sp>
      <p:sp>
        <p:nvSpPr>
          <p:cNvPr id="22" name="Shape 19"/>
          <p:cNvSpPr/>
          <p:nvPr/>
        </p:nvSpPr>
        <p:spPr>
          <a:xfrm>
            <a:off x="4114800" y="2544775"/>
            <a:ext cx="420624" cy="420624"/>
          </a:xfrm>
          <a:prstGeom prst="ellipse">
            <a:avLst/>
          </a:prstGeom>
          <a:solidFill>
            <a:srgbClr val="F39C1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3" name="Text 20"/>
          <p:cNvSpPr/>
          <p:nvPr/>
        </p:nvSpPr>
        <p:spPr>
          <a:xfrm>
            <a:off x="4114800" y="2544775"/>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24" name="Text 21"/>
          <p:cNvSpPr/>
          <p:nvPr/>
        </p:nvSpPr>
        <p:spPr>
          <a:xfrm>
            <a:off x="4626864" y="2544775"/>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FeedbackForm.jsx</a:t>
            </a:r>
            <a:endParaRPr lang="en-US" sz="1100" dirty="0"/>
          </a:p>
        </p:txBody>
      </p:sp>
      <p:sp>
        <p:nvSpPr>
          <p:cNvPr id="25" name="Text 22"/>
          <p:cNvSpPr/>
          <p:nvPr/>
        </p:nvSpPr>
        <p:spPr>
          <a:xfrm>
            <a:off x="4626864" y="2764231"/>
            <a:ext cx="4160520" cy="219456"/>
          </a:xfrm>
          <a:prstGeom prst="rect">
            <a:avLst/>
          </a:prstGeom>
          <a:noFill/>
          <a:ln/>
        </p:spPr>
        <p:txBody>
          <a:bodyPr wrap="square" lIns="0" tIns="0" rIns="0" bIns="0" rtlCol="0" anchor="ctr"/>
          <a:lstStyle/>
          <a:p>
            <a:pPr marL="0" indent="0">
              <a:buNone/>
            </a:pPr>
            <a:r>
              <a:rPr lang="en-US" sz="900" dirty="0">
                <a:solidFill>
                  <a:srgbClr val="4A5568"/>
                </a:solidFill>
              </a:rPr>
              <a:t>Dynamic event dropdown + text field — submits to feedback API</a:t>
            </a:r>
            <a:endParaRPr lang="en-US" sz="900" dirty="0"/>
          </a:p>
        </p:txBody>
      </p:sp>
      <p:sp>
        <p:nvSpPr>
          <p:cNvPr id="26" name="Shape 23"/>
          <p:cNvSpPr/>
          <p:nvPr/>
        </p:nvSpPr>
        <p:spPr>
          <a:xfrm>
            <a:off x="4114800" y="2984602"/>
            <a:ext cx="4754880" cy="0"/>
          </a:xfrm>
          <a:prstGeom prst="line">
            <a:avLst/>
          </a:prstGeom>
          <a:noFill/>
          <a:ln w="10160">
            <a:solidFill>
              <a:srgbClr val="E2E8F0"/>
            </a:solidFill>
            <a:prstDash val="solid"/>
          </a:ln>
        </p:spPr>
        <p:txBody>
          <a:bodyPr/>
          <a:lstStyle/>
          <a:p>
            <a:endParaRPr lang="en-IN"/>
          </a:p>
        </p:txBody>
      </p:sp>
      <p:sp>
        <p:nvSpPr>
          <p:cNvPr id="27" name="Shape 24"/>
          <p:cNvSpPr/>
          <p:nvPr/>
        </p:nvSpPr>
        <p:spPr>
          <a:xfrm>
            <a:off x="4114800" y="3076956"/>
            <a:ext cx="420624" cy="420624"/>
          </a:xfrm>
          <a:prstGeom prst="ellipse">
            <a:avLst/>
          </a:prstGeom>
          <a:solidFill>
            <a:srgbClr val="2D7DD2"/>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5"/>
          <p:cNvSpPr/>
          <p:nvPr/>
        </p:nvSpPr>
        <p:spPr>
          <a:xfrm>
            <a:off x="4114800" y="3076956"/>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6"/>
          <p:cNvSpPr/>
          <p:nvPr/>
        </p:nvSpPr>
        <p:spPr>
          <a:xfrm>
            <a:off x="4626864" y="3076956"/>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HttpService.js</a:t>
            </a:r>
            <a:endParaRPr lang="en-US" sz="1100" dirty="0"/>
          </a:p>
        </p:txBody>
      </p:sp>
      <p:sp>
        <p:nvSpPr>
          <p:cNvPr id="30" name="Text 27"/>
          <p:cNvSpPr/>
          <p:nvPr/>
        </p:nvSpPr>
        <p:spPr>
          <a:xfrm>
            <a:off x="4626864" y="3296412"/>
            <a:ext cx="4160520" cy="219456"/>
          </a:xfrm>
          <a:prstGeom prst="rect">
            <a:avLst/>
          </a:prstGeom>
          <a:noFill/>
          <a:ln/>
        </p:spPr>
        <p:txBody>
          <a:bodyPr wrap="square" lIns="0" tIns="0" rIns="0" bIns="0" rtlCol="0" anchor="ctr"/>
          <a:lstStyle/>
          <a:p>
            <a:pPr marL="0" indent="0">
              <a:buNone/>
            </a:pPr>
            <a:r>
              <a:rPr lang="en-US" sz="900" dirty="0">
                <a:solidFill>
                  <a:srgbClr val="4A5568"/>
                </a:solidFill>
              </a:rPr>
              <a:t>Axios wrapper auto-attaches JWT token to every outgoing call</a:t>
            </a:r>
            <a:endParaRPr lang="en-US" sz="900" dirty="0"/>
          </a:p>
        </p:txBody>
      </p:sp>
      <p:sp>
        <p:nvSpPr>
          <p:cNvPr id="31" name="Shape 28"/>
          <p:cNvSpPr/>
          <p:nvPr/>
        </p:nvSpPr>
        <p:spPr>
          <a:xfrm>
            <a:off x="4114800" y="3516782"/>
            <a:ext cx="4754880" cy="0"/>
          </a:xfrm>
          <a:prstGeom prst="line">
            <a:avLst/>
          </a:prstGeom>
          <a:noFill/>
          <a:ln w="10160">
            <a:solidFill>
              <a:srgbClr val="E2E8F0"/>
            </a:solidFill>
            <a:prstDash val="solid"/>
          </a:ln>
        </p:spPr>
        <p:txBody>
          <a:bodyPr/>
          <a:lstStyle/>
          <a:p>
            <a:endParaRPr lang="en-IN"/>
          </a:p>
        </p:txBody>
      </p:sp>
      <p:sp>
        <p:nvSpPr>
          <p:cNvPr id="32" name="Shape 29"/>
          <p:cNvSpPr/>
          <p:nvPr/>
        </p:nvSpPr>
        <p:spPr>
          <a:xfrm>
            <a:off x="4114800" y="3609137"/>
            <a:ext cx="420624" cy="420624"/>
          </a:xfrm>
          <a:prstGeom prst="ellipse">
            <a:avLst/>
          </a:prstGeom>
          <a:solidFill>
            <a:srgbClr val="9B59B6"/>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0"/>
          <p:cNvSpPr/>
          <p:nvPr/>
        </p:nvSpPr>
        <p:spPr>
          <a:xfrm>
            <a:off x="4114800" y="3609137"/>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34" name="Text 31"/>
          <p:cNvSpPr/>
          <p:nvPr/>
        </p:nvSpPr>
        <p:spPr>
          <a:xfrm>
            <a:off x="4626864" y="3609137"/>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Protected Route</a:t>
            </a:r>
            <a:endParaRPr lang="en-US" sz="1100" dirty="0"/>
          </a:p>
        </p:txBody>
      </p:sp>
      <p:sp>
        <p:nvSpPr>
          <p:cNvPr id="35" name="Text 32"/>
          <p:cNvSpPr/>
          <p:nvPr/>
        </p:nvSpPr>
        <p:spPr>
          <a:xfrm>
            <a:off x="4626864" y="3828593"/>
            <a:ext cx="4160520" cy="219456"/>
          </a:xfrm>
          <a:prstGeom prst="rect">
            <a:avLst/>
          </a:prstGeom>
          <a:noFill/>
          <a:ln/>
        </p:spPr>
        <p:txBody>
          <a:bodyPr wrap="square" lIns="0" tIns="0" rIns="0" bIns="0" rtlCol="0" anchor="ctr"/>
          <a:lstStyle/>
          <a:p>
            <a:pPr marL="0" indent="0">
              <a:buNone/>
            </a:pPr>
            <a:r>
              <a:rPr lang="en-US" sz="900" dirty="0">
                <a:solidFill>
                  <a:srgbClr val="4A5568"/>
                </a:solidFill>
              </a:rPr>
              <a:t>CLIENT role check on every navigation — redirects others to login</a:t>
            </a:r>
            <a:endParaRPr lang="en-US" sz="900" dirty="0"/>
          </a:p>
        </p:txBody>
      </p:sp>
      <p:sp>
        <p:nvSpPr>
          <p:cNvPr id="36" name="Shape 33"/>
          <p:cNvSpPr/>
          <p:nvPr/>
        </p:nvSpPr>
        <p:spPr>
          <a:xfrm>
            <a:off x="4114800" y="4048963"/>
            <a:ext cx="4754880" cy="0"/>
          </a:xfrm>
          <a:prstGeom prst="line">
            <a:avLst/>
          </a:prstGeom>
          <a:noFill/>
          <a:ln w="10160">
            <a:solidFill>
              <a:srgbClr val="E2E8F0"/>
            </a:solidFill>
            <a:prstDash val="solid"/>
          </a:ln>
        </p:spPr>
        <p:txBody>
          <a:bodyPr/>
          <a:lstStyle/>
          <a:p>
            <a:endParaRPr lang="en-IN"/>
          </a:p>
        </p:txBody>
      </p:sp>
      <p:sp>
        <p:nvSpPr>
          <p:cNvPr id="37" name="Shape 34"/>
          <p:cNvSpPr/>
          <p:nvPr/>
        </p:nvSpPr>
        <p:spPr>
          <a:xfrm>
            <a:off x="4114800" y="4141318"/>
            <a:ext cx="420624" cy="420624"/>
          </a:xfrm>
          <a:prstGeom prst="ellipse">
            <a:avLst/>
          </a:prstGeom>
          <a:solidFill>
            <a:srgbClr val="E74C3C"/>
          </a:solidFill>
          <a:ln w="1905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8" name="Text 35"/>
          <p:cNvSpPr/>
          <p:nvPr/>
        </p:nvSpPr>
        <p:spPr>
          <a:xfrm>
            <a:off x="4114800" y="4141318"/>
            <a:ext cx="420624" cy="420624"/>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9" name="Text 36"/>
          <p:cNvSpPr/>
          <p:nvPr/>
        </p:nvSpPr>
        <p:spPr>
          <a:xfrm>
            <a:off x="4626864" y="4141318"/>
            <a:ext cx="4160520" cy="219456"/>
          </a:xfrm>
          <a:prstGeom prst="rect">
            <a:avLst/>
          </a:prstGeom>
          <a:noFill/>
          <a:ln/>
        </p:spPr>
        <p:txBody>
          <a:bodyPr wrap="square" lIns="0" tIns="0" rIns="0" bIns="0" rtlCol="0" anchor="ctr"/>
          <a:lstStyle/>
          <a:p>
            <a:pPr marL="0" indent="0">
              <a:buNone/>
            </a:pPr>
            <a:r>
              <a:rPr lang="en-US" sz="1100" b="1" dirty="0">
                <a:solidFill>
                  <a:srgbClr val="1A2B4A"/>
                </a:solidFill>
              </a:rPr>
              <a:t>Route Guard</a:t>
            </a:r>
            <a:endParaRPr lang="en-US" sz="1100" dirty="0"/>
          </a:p>
        </p:txBody>
      </p:sp>
      <p:sp>
        <p:nvSpPr>
          <p:cNvPr id="40" name="Text 37"/>
          <p:cNvSpPr/>
          <p:nvPr/>
        </p:nvSpPr>
        <p:spPr>
          <a:xfrm>
            <a:off x="4626864" y="4360774"/>
            <a:ext cx="4160520" cy="219456"/>
          </a:xfrm>
          <a:prstGeom prst="rect">
            <a:avLst/>
          </a:prstGeom>
          <a:noFill/>
          <a:ln/>
        </p:spPr>
        <p:txBody>
          <a:bodyPr wrap="square" lIns="0" tIns="0" rIns="0" bIns="0" rtlCol="0" anchor="ctr"/>
          <a:lstStyle/>
          <a:p>
            <a:pPr marL="0" indent="0">
              <a:buNone/>
            </a:pPr>
            <a:r>
              <a:rPr lang="en-US" sz="900" dirty="0">
                <a:solidFill>
                  <a:srgbClr val="4A5568"/>
                </a:solidFill>
              </a:rPr>
              <a:t>Prevents staff or planners from accessing the client portal</a:t>
            </a:r>
            <a:endParaRPr lang="en-US" sz="900" dirty="0"/>
          </a:p>
        </p:txBody>
      </p:sp>
      <p:sp>
        <p:nvSpPr>
          <p:cNvPr id="41" name="Shape 38"/>
          <p:cNvSpPr/>
          <p:nvPr/>
        </p:nvSpPr>
        <p:spPr>
          <a:xfrm>
            <a:off x="0" y="4892040"/>
            <a:ext cx="9144000" cy="251460"/>
          </a:xfrm>
          <a:prstGeom prst="rect">
            <a:avLst/>
          </a:prstGeom>
          <a:solidFill>
            <a:srgbClr val="00897B"/>
          </a:solidFill>
          <a:ln w="12700">
            <a:solidFill>
              <a:srgbClr val="00897B"/>
            </a:solidFill>
            <a:prstDash val="solid"/>
          </a:ln>
        </p:spPr>
        <p:txBody>
          <a:bodyPr/>
          <a:lstStyle/>
          <a:p>
            <a:endParaRPr lang="en-IN"/>
          </a:p>
        </p:txBody>
      </p:sp>
      <p:sp>
        <p:nvSpPr>
          <p:cNvPr id="42" name="Text 39"/>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43" name="Text 40"/>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4892040"/>
          </a:xfrm>
          <a:prstGeom prst="rect">
            <a:avLst/>
          </a:prstGeom>
          <a:solidFill>
            <a:srgbClr val="F0F4FA"/>
          </a:solidFill>
          <a:ln w="12700">
            <a:solidFill>
              <a:srgbClr val="E8EEF5"/>
            </a:solidFill>
            <a:prstDash val="solid"/>
          </a:ln>
        </p:spPr>
        <p:txBody>
          <a:bodyPr/>
          <a:lstStyle/>
          <a:p>
            <a:endParaRPr lang="en-IN"/>
          </a:p>
        </p:txBody>
      </p:sp>
      <p:sp>
        <p:nvSpPr>
          <p:cNvPr id="3" name="Shape 1"/>
          <p:cNvSpPr/>
          <p:nvPr/>
        </p:nvSpPr>
        <p:spPr>
          <a:xfrm>
            <a:off x="0" y="0"/>
            <a:ext cx="3840480" cy="91440"/>
          </a:xfrm>
          <a:prstGeom prst="rect">
            <a:avLst/>
          </a:prstGeom>
          <a:solidFill>
            <a:srgbClr val="E8521A"/>
          </a:solidFill>
          <a:ln w="12700">
            <a:solidFill>
              <a:srgbClr val="E8521A"/>
            </a:solidFill>
            <a:prstDash val="solid"/>
          </a:ln>
        </p:spPr>
        <p:txBody>
          <a:bodyPr/>
          <a:lstStyle/>
          <a:p>
            <a:endParaRPr lang="en-IN"/>
          </a:p>
        </p:txBody>
      </p:sp>
      <p:sp>
        <p:nvSpPr>
          <p:cNvPr id="4" name="Shape 2"/>
          <p:cNvSpPr/>
          <p:nvPr/>
        </p:nvSpPr>
        <p:spPr>
          <a:xfrm>
            <a:off x="3840480" y="0"/>
            <a:ext cx="5303520" cy="4892040"/>
          </a:xfrm>
          <a:prstGeom prst="rect">
            <a:avLst/>
          </a:prstGeom>
          <a:solidFill>
            <a:srgbClr val="FFFFFF"/>
          </a:solidFill>
          <a:ln w="12700">
            <a:solidFill>
              <a:srgbClr val="FFFFFF"/>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91440" y="91440"/>
            <a:ext cx="3657600" cy="4480560"/>
          </a:xfrm>
          <a:prstGeom prst="rect">
            <a:avLst/>
          </a:prstGeom>
        </p:spPr>
      </p:pic>
      <p:sp>
        <p:nvSpPr>
          <p:cNvPr id="6" name="Text 3"/>
          <p:cNvSpPr/>
          <p:nvPr/>
        </p:nvSpPr>
        <p:spPr>
          <a:xfrm>
            <a:off x="4114800" y="502920"/>
            <a:ext cx="4754880" cy="914400"/>
          </a:xfrm>
          <a:prstGeom prst="rect">
            <a:avLst/>
          </a:prstGeom>
          <a:noFill/>
          <a:ln/>
        </p:spPr>
        <p:txBody>
          <a:bodyPr wrap="square" lIns="0" tIns="0" rIns="0" bIns="0" rtlCol="0" anchor="ctr"/>
          <a:lstStyle/>
          <a:p>
            <a:pPr marL="0" indent="0" algn="ctr">
              <a:buNone/>
            </a:pPr>
            <a:r>
              <a:rPr lang="en-US" sz="6000" b="1" dirty="0">
                <a:solidFill>
                  <a:srgbClr val="1A2B4A"/>
                </a:solidFill>
                <a:latin typeface="Calibri" pitchFamily="34" charset="0"/>
                <a:ea typeface="Calibri" pitchFamily="34" charset="-122"/>
                <a:cs typeface="Calibri" pitchFamily="34" charset="-120"/>
              </a:rPr>
              <a:t>Thank</a:t>
            </a:r>
            <a:endParaRPr lang="en-US" sz="6000" dirty="0"/>
          </a:p>
        </p:txBody>
      </p:sp>
      <p:sp>
        <p:nvSpPr>
          <p:cNvPr id="7" name="Text 4"/>
          <p:cNvSpPr/>
          <p:nvPr/>
        </p:nvSpPr>
        <p:spPr>
          <a:xfrm>
            <a:off x="4114800" y="1325880"/>
            <a:ext cx="4754880" cy="914400"/>
          </a:xfrm>
          <a:prstGeom prst="rect">
            <a:avLst/>
          </a:prstGeom>
          <a:noFill/>
          <a:ln/>
        </p:spPr>
        <p:txBody>
          <a:bodyPr wrap="square" lIns="0" tIns="0" rIns="0" bIns="0" rtlCol="0" anchor="ctr"/>
          <a:lstStyle/>
          <a:p>
            <a:pPr marL="0" indent="0" algn="ctr">
              <a:buNone/>
            </a:pPr>
            <a:r>
              <a:rPr lang="en-US" sz="6000" b="1" dirty="0">
                <a:solidFill>
                  <a:srgbClr val="E8521A"/>
                </a:solidFill>
                <a:latin typeface="Calibri" pitchFamily="34" charset="0"/>
                <a:ea typeface="Calibri" pitchFamily="34" charset="-122"/>
                <a:cs typeface="Calibri" pitchFamily="34" charset="-120"/>
              </a:rPr>
              <a:t>You!</a:t>
            </a:r>
            <a:endParaRPr lang="en-US" sz="6000" dirty="0"/>
          </a:p>
        </p:txBody>
      </p:sp>
      <p:sp>
        <p:nvSpPr>
          <p:cNvPr id="8" name="Shape 5"/>
          <p:cNvSpPr/>
          <p:nvPr/>
        </p:nvSpPr>
        <p:spPr>
          <a:xfrm>
            <a:off x="4114800" y="2331720"/>
            <a:ext cx="4754880" cy="0"/>
          </a:xfrm>
          <a:prstGeom prst="line">
            <a:avLst/>
          </a:prstGeom>
          <a:noFill/>
          <a:ln w="10160">
            <a:solidFill>
              <a:srgbClr val="E2E8F0"/>
            </a:solidFill>
            <a:prstDash val="solid"/>
          </a:ln>
        </p:spPr>
        <p:txBody>
          <a:bodyPr/>
          <a:lstStyle/>
          <a:p>
            <a:endParaRPr lang="en-IN"/>
          </a:p>
        </p:txBody>
      </p:sp>
      <p:sp>
        <p:nvSpPr>
          <p:cNvPr id="9" name="Text 6"/>
          <p:cNvSpPr/>
          <p:nvPr/>
        </p:nvSpPr>
        <p:spPr>
          <a:xfrm>
            <a:off x="4114800" y="2423160"/>
            <a:ext cx="4754880" cy="329184"/>
          </a:xfrm>
          <a:prstGeom prst="rect">
            <a:avLst/>
          </a:prstGeom>
          <a:noFill/>
          <a:ln/>
        </p:spPr>
        <p:txBody>
          <a:bodyPr wrap="square" lIns="0" tIns="0" rIns="0" bIns="0" rtlCol="0" anchor="ctr"/>
          <a:lstStyle/>
          <a:p>
            <a:pPr marL="0" indent="0" algn="ctr">
              <a:buNone/>
            </a:pPr>
            <a:r>
              <a:rPr lang="en-US" sz="1400" dirty="0">
                <a:solidFill>
                  <a:srgbClr val="4A5568"/>
                </a:solidFill>
              </a:rPr>
              <a:t>PlanIt — Event Management System</a:t>
            </a:r>
            <a:endParaRPr lang="en-US" sz="1400" dirty="0"/>
          </a:p>
        </p:txBody>
      </p:sp>
      <p:sp>
        <p:nvSpPr>
          <p:cNvPr id="10" name="Text 7"/>
          <p:cNvSpPr/>
          <p:nvPr/>
        </p:nvSpPr>
        <p:spPr>
          <a:xfrm>
            <a:off x="4114800" y="2788920"/>
            <a:ext cx="4754880" cy="274320"/>
          </a:xfrm>
          <a:prstGeom prst="rect">
            <a:avLst/>
          </a:prstGeom>
          <a:noFill/>
          <a:ln/>
        </p:spPr>
        <p:txBody>
          <a:bodyPr wrap="square" lIns="0" tIns="0" rIns="0" bIns="0" rtlCol="0" anchor="ctr"/>
          <a:lstStyle/>
          <a:p>
            <a:pPr marL="0" indent="0" algn="ctr">
              <a:buNone/>
            </a:pPr>
            <a:r>
              <a:rPr lang="en-US" sz="950" dirty="0">
                <a:solidFill>
                  <a:srgbClr val="8899BB"/>
                </a:solidFill>
              </a:rPr>
              <a:t>React  ·  Spring Boot  ·  MySQL  ·  JWT  ·  JPA  ·  REST API</a:t>
            </a:r>
            <a:endParaRPr lang="en-US" sz="950" dirty="0"/>
          </a:p>
        </p:txBody>
      </p:sp>
      <p:sp>
        <p:nvSpPr>
          <p:cNvPr id="11" name="Shape 8"/>
          <p:cNvSpPr/>
          <p:nvPr/>
        </p:nvSpPr>
        <p:spPr>
          <a:xfrm>
            <a:off x="4114800" y="3127248"/>
            <a:ext cx="4754880" cy="0"/>
          </a:xfrm>
          <a:prstGeom prst="line">
            <a:avLst/>
          </a:prstGeom>
          <a:noFill/>
          <a:ln w="10160">
            <a:solidFill>
              <a:srgbClr val="E2E8F0"/>
            </a:solidFill>
            <a:prstDash val="solid"/>
          </a:ln>
        </p:spPr>
        <p:txBody>
          <a:bodyPr/>
          <a:lstStyle/>
          <a:p>
            <a:endParaRPr lang="en-IN"/>
          </a:p>
        </p:txBody>
      </p:sp>
      <p:sp>
        <p:nvSpPr>
          <p:cNvPr id="12" name="Text 9"/>
          <p:cNvSpPr/>
          <p:nvPr/>
        </p:nvSpPr>
        <p:spPr>
          <a:xfrm>
            <a:off x="4114800" y="3218688"/>
            <a:ext cx="4754880" cy="274320"/>
          </a:xfrm>
          <a:prstGeom prst="rect">
            <a:avLst/>
          </a:prstGeom>
          <a:noFill/>
          <a:ln/>
        </p:spPr>
        <p:txBody>
          <a:bodyPr wrap="square" lIns="0" tIns="0" rIns="0" bIns="0" rtlCol="0" anchor="ctr"/>
          <a:lstStyle/>
          <a:p>
            <a:pPr marL="0" indent="0" algn="ctr">
              <a:buNone/>
            </a:pPr>
            <a:r>
              <a:rPr lang="en-US" sz="1200" b="1" dirty="0">
                <a:solidFill>
                  <a:srgbClr val="E8521A"/>
                </a:solidFill>
              </a:rPr>
              <a:t>A Full Stack Microservice Project</a:t>
            </a:r>
            <a:endParaRPr lang="en-US" sz="1200" dirty="0"/>
          </a:p>
        </p:txBody>
      </p:sp>
      <p:sp>
        <p:nvSpPr>
          <p:cNvPr id="13" name="Shape 10"/>
          <p:cNvSpPr/>
          <p:nvPr/>
        </p:nvSpPr>
        <p:spPr>
          <a:xfrm>
            <a:off x="4133088" y="3611880"/>
            <a:ext cx="1097280" cy="301752"/>
          </a:xfrm>
          <a:prstGeom prst="roundRect">
            <a:avLst>
              <a:gd name="adj" fmla="val 21212"/>
            </a:avLst>
          </a:prstGeom>
          <a:solidFill>
            <a:srgbClr val="E8521A">
              <a:alpha val="12000"/>
            </a:srgbClr>
          </a:solidFill>
          <a:ln w="12700">
            <a:solidFill>
              <a:srgbClr val="E8521A"/>
            </a:solidFill>
            <a:prstDash val="solid"/>
          </a:ln>
        </p:spPr>
        <p:txBody>
          <a:bodyPr/>
          <a:lstStyle/>
          <a:p>
            <a:endParaRPr lang="en-IN"/>
          </a:p>
        </p:txBody>
      </p:sp>
      <p:sp>
        <p:nvSpPr>
          <p:cNvPr id="14" name="Text 11"/>
          <p:cNvSpPr/>
          <p:nvPr/>
        </p:nvSpPr>
        <p:spPr>
          <a:xfrm>
            <a:off x="4133088" y="3611880"/>
            <a:ext cx="1097280" cy="301752"/>
          </a:xfrm>
          <a:prstGeom prst="rect">
            <a:avLst/>
          </a:prstGeom>
          <a:noFill/>
          <a:ln/>
        </p:spPr>
        <p:txBody>
          <a:bodyPr wrap="square" lIns="0" tIns="0" rIns="0" bIns="0" rtlCol="0" anchor="ctr"/>
          <a:lstStyle/>
          <a:p>
            <a:pPr marL="0" indent="0" algn="ctr">
              <a:buNone/>
            </a:pPr>
            <a:r>
              <a:rPr lang="en-US" sz="850" b="1" dirty="0">
                <a:solidFill>
                  <a:srgbClr val="E8521A"/>
                </a:solidFill>
              </a:rPr>
              <a:t>B. Tharun</a:t>
            </a:r>
            <a:endParaRPr lang="en-US" sz="850" dirty="0"/>
          </a:p>
        </p:txBody>
      </p:sp>
      <p:sp>
        <p:nvSpPr>
          <p:cNvPr id="15" name="Shape 12"/>
          <p:cNvSpPr/>
          <p:nvPr/>
        </p:nvSpPr>
        <p:spPr>
          <a:xfrm>
            <a:off x="5303520" y="3611880"/>
            <a:ext cx="1097280" cy="301752"/>
          </a:xfrm>
          <a:prstGeom prst="roundRect">
            <a:avLst>
              <a:gd name="adj" fmla="val 21212"/>
            </a:avLst>
          </a:prstGeom>
          <a:solidFill>
            <a:srgbClr val="2D7DD2">
              <a:alpha val="12000"/>
            </a:srgbClr>
          </a:solidFill>
          <a:ln w="12700">
            <a:solidFill>
              <a:srgbClr val="2D7DD2"/>
            </a:solidFill>
            <a:prstDash val="solid"/>
          </a:ln>
        </p:spPr>
        <p:txBody>
          <a:bodyPr/>
          <a:lstStyle/>
          <a:p>
            <a:endParaRPr lang="en-IN"/>
          </a:p>
        </p:txBody>
      </p:sp>
      <p:sp>
        <p:nvSpPr>
          <p:cNvPr id="16" name="Text 13"/>
          <p:cNvSpPr/>
          <p:nvPr/>
        </p:nvSpPr>
        <p:spPr>
          <a:xfrm>
            <a:off x="5303520" y="3611880"/>
            <a:ext cx="1097280" cy="301752"/>
          </a:xfrm>
          <a:prstGeom prst="rect">
            <a:avLst/>
          </a:prstGeom>
          <a:noFill/>
          <a:ln/>
        </p:spPr>
        <p:txBody>
          <a:bodyPr wrap="square" lIns="0" tIns="0" rIns="0" bIns="0" rtlCol="0" anchor="ctr"/>
          <a:lstStyle/>
          <a:p>
            <a:pPr marL="0" indent="0" algn="ctr">
              <a:buNone/>
            </a:pPr>
            <a:r>
              <a:rPr lang="en-US" sz="850" b="1" dirty="0">
                <a:solidFill>
                  <a:srgbClr val="2D7DD2"/>
                </a:solidFill>
              </a:rPr>
              <a:t>N. Shahanadh</a:t>
            </a:r>
            <a:endParaRPr lang="en-US" sz="850" dirty="0"/>
          </a:p>
        </p:txBody>
      </p:sp>
      <p:sp>
        <p:nvSpPr>
          <p:cNvPr id="17" name="Shape 14"/>
          <p:cNvSpPr/>
          <p:nvPr/>
        </p:nvSpPr>
        <p:spPr>
          <a:xfrm>
            <a:off x="6473952" y="3611880"/>
            <a:ext cx="1097280" cy="301752"/>
          </a:xfrm>
          <a:prstGeom prst="roundRect">
            <a:avLst>
              <a:gd name="adj" fmla="val 21212"/>
            </a:avLst>
          </a:prstGeom>
          <a:solidFill>
            <a:srgbClr val="1AAB8A">
              <a:alpha val="12000"/>
            </a:srgbClr>
          </a:solidFill>
          <a:ln w="12700">
            <a:solidFill>
              <a:srgbClr val="1AAB8A"/>
            </a:solidFill>
            <a:prstDash val="solid"/>
          </a:ln>
        </p:spPr>
        <p:txBody>
          <a:bodyPr/>
          <a:lstStyle/>
          <a:p>
            <a:endParaRPr lang="en-IN"/>
          </a:p>
        </p:txBody>
      </p:sp>
      <p:sp>
        <p:nvSpPr>
          <p:cNvPr id="18" name="Text 15"/>
          <p:cNvSpPr/>
          <p:nvPr/>
        </p:nvSpPr>
        <p:spPr>
          <a:xfrm>
            <a:off x="6473952" y="3611880"/>
            <a:ext cx="1097280" cy="301752"/>
          </a:xfrm>
          <a:prstGeom prst="rect">
            <a:avLst/>
          </a:prstGeom>
          <a:noFill/>
          <a:ln/>
        </p:spPr>
        <p:txBody>
          <a:bodyPr wrap="square" lIns="0" tIns="0" rIns="0" bIns="0" rtlCol="0" anchor="ctr"/>
          <a:lstStyle/>
          <a:p>
            <a:pPr marL="0" indent="0" algn="ctr">
              <a:buNone/>
            </a:pPr>
            <a:r>
              <a:rPr lang="en-US" sz="850" b="1" dirty="0">
                <a:solidFill>
                  <a:srgbClr val="1AAB8A"/>
                </a:solidFill>
              </a:rPr>
              <a:t>B. Munendra</a:t>
            </a:r>
            <a:endParaRPr lang="en-US" sz="850" dirty="0"/>
          </a:p>
        </p:txBody>
      </p:sp>
      <p:sp>
        <p:nvSpPr>
          <p:cNvPr id="19" name="Shape 16"/>
          <p:cNvSpPr/>
          <p:nvPr/>
        </p:nvSpPr>
        <p:spPr>
          <a:xfrm>
            <a:off x="7644384" y="3611880"/>
            <a:ext cx="1097280" cy="301752"/>
          </a:xfrm>
          <a:prstGeom prst="roundRect">
            <a:avLst>
              <a:gd name="adj" fmla="val 21212"/>
            </a:avLst>
          </a:prstGeom>
          <a:solidFill>
            <a:srgbClr val="9B59B6">
              <a:alpha val="12000"/>
            </a:srgbClr>
          </a:solidFill>
          <a:ln w="12700">
            <a:solidFill>
              <a:srgbClr val="9B59B6"/>
            </a:solidFill>
            <a:prstDash val="solid"/>
          </a:ln>
        </p:spPr>
        <p:txBody>
          <a:bodyPr/>
          <a:lstStyle/>
          <a:p>
            <a:endParaRPr lang="en-IN"/>
          </a:p>
        </p:txBody>
      </p:sp>
      <p:sp>
        <p:nvSpPr>
          <p:cNvPr id="20" name="Text 17"/>
          <p:cNvSpPr/>
          <p:nvPr/>
        </p:nvSpPr>
        <p:spPr>
          <a:xfrm>
            <a:off x="7644384" y="3611880"/>
            <a:ext cx="1097280" cy="301752"/>
          </a:xfrm>
          <a:prstGeom prst="rect">
            <a:avLst/>
          </a:prstGeom>
          <a:noFill/>
          <a:ln/>
        </p:spPr>
        <p:txBody>
          <a:bodyPr wrap="square" lIns="0" tIns="0" rIns="0" bIns="0" rtlCol="0" anchor="ctr"/>
          <a:lstStyle/>
          <a:p>
            <a:pPr marL="0" indent="0" algn="ctr">
              <a:buNone/>
            </a:pPr>
            <a:r>
              <a:rPr lang="en-US" sz="850" b="1" dirty="0">
                <a:solidFill>
                  <a:srgbClr val="9B59B6"/>
                </a:solidFill>
              </a:rPr>
              <a:t>L. Rama Kasturi</a:t>
            </a:r>
            <a:endParaRPr lang="en-US" sz="850" dirty="0"/>
          </a:p>
        </p:txBody>
      </p:sp>
      <p:sp>
        <p:nvSpPr>
          <p:cNvPr id="21" name="Shape 18"/>
          <p:cNvSpPr/>
          <p:nvPr/>
        </p:nvSpPr>
        <p:spPr>
          <a:xfrm>
            <a:off x="4133088" y="3995928"/>
            <a:ext cx="1097280" cy="301752"/>
          </a:xfrm>
          <a:prstGeom prst="roundRect">
            <a:avLst>
              <a:gd name="adj" fmla="val 21212"/>
            </a:avLst>
          </a:prstGeom>
          <a:solidFill>
            <a:srgbClr val="E74C3C">
              <a:alpha val="12000"/>
            </a:srgbClr>
          </a:solidFill>
          <a:ln w="12700">
            <a:solidFill>
              <a:srgbClr val="E74C3C"/>
            </a:solidFill>
            <a:prstDash val="solid"/>
          </a:ln>
        </p:spPr>
        <p:txBody>
          <a:bodyPr/>
          <a:lstStyle/>
          <a:p>
            <a:endParaRPr lang="en-IN"/>
          </a:p>
        </p:txBody>
      </p:sp>
      <p:sp>
        <p:nvSpPr>
          <p:cNvPr id="22" name="Text 19"/>
          <p:cNvSpPr/>
          <p:nvPr/>
        </p:nvSpPr>
        <p:spPr>
          <a:xfrm>
            <a:off x="4133088" y="3995928"/>
            <a:ext cx="1097280" cy="301752"/>
          </a:xfrm>
          <a:prstGeom prst="rect">
            <a:avLst/>
          </a:prstGeom>
          <a:noFill/>
          <a:ln/>
        </p:spPr>
        <p:txBody>
          <a:bodyPr wrap="square" lIns="0" tIns="0" rIns="0" bIns="0" rtlCol="0" anchor="ctr"/>
          <a:lstStyle/>
          <a:p>
            <a:pPr marL="0" indent="0" algn="ctr">
              <a:buNone/>
            </a:pPr>
            <a:r>
              <a:rPr lang="en-US" sz="850" b="1" dirty="0">
                <a:solidFill>
                  <a:srgbClr val="E74C3C"/>
                </a:solidFill>
              </a:rPr>
              <a:t>K. Mythili</a:t>
            </a:r>
            <a:endParaRPr lang="en-US" sz="850" dirty="0"/>
          </a:p>
        </p:txBody>
      </p:sp>
      <p:sp>
        <p:nvSpPr>
          <p:cNvPr id="23" name="Shape 20"/>
          <p:cNvSpPr/>
          <p:nvPr/>
        </p:nvSpPr>
        <p:spPr>
          <a:xfrm>
            <a:off x="5303520" y="3995928"/>
            <a:ext cx="1097280" cy="301752"/>
          </a:xfrm>
          <a:prstGeom prst="roundRect">
            <a:avLst>
              <a:gd name="adj" fmla="val 21212"/>
            </a:avLst>
          </a:prstGeom>
          <a:solidFill>
            <a:srgbClr val="F39C12">
              <a:alpha val="12000"/>
            </a:srgbClr>
          </a:solidFill>
          <a:ln w="12700">
            <a:solidFill>
              <a:srgbClr val="F39C12"/>
            </a:solidFill>
            <a:prstDash val="solid"/>
          </a:ln>
        </p:spPr>
        <p:txBody>
          <a:bodyPr/>
          <a:lstStyle/>
          <a:p>
            <a:endParaRPr lang="en-IN"/>
          </a:p>
        </p:txBody>
      </p:sp>
      <p:sp>
        <p:nvSpPr>
          <p:cNvPr id="24" name="Text 21"/>
          <p:cNvSpPr/>
          <p:nvPr/>
        </p:nvSpPr>
        <p:spPr>
          <a:xfrm>
            <a:off x="5303520" y="3995928"/>
            <a:ext cx="1097280" cy="301752"/>
          </a:xfrm>
          <a:prstGeom prst="rect">
            <a:avLst/>
          </a:prstGeom>
          <a:noFill/>
          <a:ln/>
        </p:spPr>
        <p:txBody>
          <a:bodyPr wrap="square" lIns="0" tIns="0" rIns="0" bIns="0" rtlCol="0" anchor="ctr"/>
          <a:lstStyle/>
          <a:p>
            <a:pPr marL="0" indent="0" algn="ctr">
              <a:buNone/>
            </a:pPr>
            <a:r>
              <a:rPr lang="en-US" sz="850" b="1" dirty="0">
                <a:solidFill>
                  <a:srgbClr val="F39C12"/>
                </a:solidFill>
              </a:rPr>
              <a:t>Peetla Lalitha</a:t>
            </a:r>
            <a:endParaRPr lang="en-US" sz="850" dirty="0"/>
          </a:p>
        </p:txBody>
      </p:sp>
      <p:sp>
        <p:nvSpPr>
          <p:cNvPr id="25" name="Shape 22"/>
          <p:cNvSpPr/>
          <p:nvPr/>
        </p:nvSpPr>
        <p:spPr>
          <a:xfrm>
            <a:off x="6473952" y="3995928"/>
            <a:ext cx="1097280" cy="301752"/>
          </a:xfrm>
          <a:prstGeom prst="roundRect">
            <a:avLst>
              <a:gd name="adj" fmla="val 21212"/>
            </a:avLst>
          </a:prstGeom>
          <a:solidFill>
            <a:srgbClr val="1565C0">
              <a:alpha val="12000"/>
            </a:srgbClr>
          </a:solidFill>
          <a:ln w="12700">
            <a:solidFill>
              <a:srgbClr val="1565C0"/>
            </a:solidFill>
            <a:prstDash val="solid"/>
          </a:ln>
        </p:spPr>
        <p:txBody>
          <a:bodyPr/>
          <a:lstStyle/>
          <a:p>
            <a:endParaRPr lang="en-IN"/>
          </a:p>
        </p:txBody>
      </p:sp>
      <p:sp>
        <p:nvSpPr>
          <p:cNvPr id="26" name="Text 23"/>
          <p:cNvSpPr/>
          <p:nvPr/>
        </p:nvSpPr>
        <p:spPr>
          <a:xfrm>
            <a:off x="6473952" y="3995928"/>
            <a:ext cx="1097280" cy="301752"/>
          </a:xfrm>
          <a:prstGeom prst="rect">
            <a:avLst/>
          </a:prstGeom>
          <a:noFill/>
          <a:ln/>
        </p:spPr>
        <p:txBody>
          <a:bodyPr wrap="square" lIns="0" tIns="0" rIns="0" bIns="0" rtlCol="0" anchor="ctr"/>
          <a:lstStyle/>
          <a:p>
            <a:pPr marL="0" indent="0" algn="ctr">
              <a:buNone/>
            </a:pPr>
            <a:r>
              <a:rPr lang="en-US" sz="850" b="1" dirty="0">
                <a:solidFill>
                  <a:srgbClr val="1565C0"/>
                </a:solidFill>
              </a:rPr>
              <a:t>M. Veera Prathap</a:t>
            </a:r>
            <a:endParaRPr lang="en-US" sz="850" dirty="0"/>
          </a:p>
        </p:txBody>
      </p:sp>
      <p:sp>
        <p:nvSpPr>
          <p:cNvPr id="27" name="Shape 24"/>
          <p:cNvSpPr/>
          <p:nvPr/>
        </p:nvSpPr>
        <p:spPr>
          <a:xfrm>
            <a:off x="7644384" y="3995928"/>
            <a:ext cx="1097280" cy="301752"/>
          </a:xfrm>
          <a:prstGeom prst="roundRect">
            <a:avLst>
              <a:gd name="adj" fmla="val 21212"/>
            </a:avLst>
          </a:prstGeom>
          <a:solidFill>
            <a:srgbClr val="00897B">
              <a:alpha val="12000"/>
            </a:srgbClr>
          </a:solidFill>
          <a:ln w="12700">
            <a:solidFill>
              <a:srgbClr val="00897B"/>
            </a:solidFill>
            <a:prstDash val="solid"/>
          </a:ln>
        </p:spPr>
        <p:txBody>
          <a:bodyPr/>
          <a:lstStyle/>
          <a:p>
            <a:endParaRPr lang="en-IN"/>
          </a:p>
        </p:txBody>
      </p:sp>
      <p:sp>
        <p:nvSpPr>
          <p:cNvPr id="28" name="Text 25"/>
          <p:cNvSpPr/>
          <p:nvPr/>
        </p:nvSpPr>
        <p:spPr>
          <a:xfrm>
            <a:off x="7644384" y="3995928"/>
            <a:ext cx="1097280" cy="301752"/>
          </a:xfrm>
          <a:prstGeom prst="rect">
            <a:avLst/>
          </a:prstGeom>
          <a:noFill/>
          <a:ln/>
        </p:spPr>
        <p:txBody>
          <a:bodyPr wrap="square" lIns="0" tIns="0" rIns="0" bIns="0" rtlCol="0" anchor="ctr"/>
          <a:lstStyle/>
          <a:p>
            <a:pPr marL="0" indent="0" algn="ctr">
              <a:buNone/>
            </a:pPr>
            <a:r>
              <a:rPr lang="en-US" sz="850" b="1" dirty="0">
                <a:solidFill>
                  <a:srgbClr val="00897B"/>
                </a:solidFill>
              </a:rPr>
              <a:t>H.B Purushottam</a:t>
            </a:r>
            <a:endParaRPr lang="en-US" sz="850" dirty="0"/>
          </a:p>
        </p:txBody>
      </p:sp>
      <p:sp>
        <p:nvSpPr>
          <p:cNvPr id="29" name="Shape 26"/>
          <p:cNvSpPr/>
          <p:nvPr/>
        </p:nvSpPr>
        <p:spPr>
          <a:xfrm>
            <a:off x="0" y="4892040"/>
            <a:ext cx="9144000" cy="251460"/>
          </a:xfrm>
          <a:prstGeom prst="rect">
            <a:avLst/>
          </a:prstGeom>
          <a:solidFill>
            <a:srgbClr val="E8521A"/>
          </a:solidFill>
          <a:ln w="12700">
            <a:solidFill>
              <a:srgbClr val="E8521A"/>
            </a:solidFill>
            <a:prstDash val="solid"/>
          </a:ln>
        </p:spPr>
        <p:txBody>
          <a:bodyPr/>
          <a:lstStyle/>
          <a:p>
            <a:endParaRPr lang="en-IN"/>
          </a:p>
        </p:txBody>
      </p:sp>
      <p:sp>
        <p:nvSpPr>
          <p:cNvPr id="30" name="Text 27"/>
          <p:cNvSpPr/>
          <p:nvPr/>
        </p:nvSpPr>
        <p:spPr>
          <a:xfrm>
            <a:off x="320040" y="4892040"/>
            <a:ext cx="6400800" cy="251460"/>
          </a:xfrm>
          <a:prstGeom prst="rect">
            <a:avLst/>
          </a:prstGeom>
          <a:noFill/>
          <a:ln/>
        </p:spPr>
        <p:txBody>
          <a:bodyPr wrap="square" lIns="0" tIns="0" rIns="0" bIns="0" rtlCol="0" anchor="ctr"/>
          <a:lstStyle/>
          <a:p>
            <a:pPr marL="0" indent="0">
              <a:buNone/>
            </a:pPr>
            <a:r>
              <a:rPr lang="en-US" sz="950" b="1" dirty="0">
                <a:solidFill>
                  <a:srgbClr val="FFFFFF"/>
                </a:solidFill>
              </a:rPr>
              <a:t>PlanIt</a:t>
            </a:r>
            <a:r>
              <a:rPr lang="en-US" sz="950" dirty="0">
                <a:solidFill>
                  <a:srgbClr val="FFFFFF"/>
                </a:solidFill>
              </a:rPr>
              <a:t>  ·  Event Management System</a:t>
            </a:r>
            <a:endParaRPr lang="en-US" sz="950" dirty="0"/>
          </a:p>
        </p:txBody>
      </p:sp>
      <p:sp>
        <p:nvSpPr>
          <p:cNvPr id="31" name="Text 28"/>
          <p:cNvSpPr/>
          <p:nvPr/>
        </p:nvSpPr>
        <p:spPr>
          <a:xfrm>
            <a:off x="6400800" y="4892040"/>
            <a:ext cx="2560320" cy="251460"/>
          </a:xfrm>
          <a:prstGeom prst="rect">
            <a:avLst/>
          </a:prstGeom>
          <a:noFill/>
          <a:ln/>
        </p:spPr>
        <p:txBody>
          <a:bodyPr wrap="square" lIns="0" tIns="0" rIns="0" bIns="0" rtlCol="0" anchor="ctr"/>
          <a:lstStyle/>
          <a:p>
            <a:pPr marL="0" indent="0" algn="r">
              <a:buNone/>
            </a:pPr>
            <a:r>
              <a:rPr lang="en-US" sz="850" dirty="0">
                <a:solidFill>
                  <a:srgbClr val="FFFFFF"/>
                </a:solidFill>
              </a:rPr>
              <a:t>React · Spring Boot · MySQL · JWT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1675</Words>
  <Application>Microsoft Office PowerPoint</Application>
  <PresentationFormat>On-screen Show (16:9)</PresentationFormat>
  <Paragraphs>306</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PlanIt — Event Management System</dc:title>
  <dc:subject>PptxGenJS Presentation</dc:subject>
  <dc:creator>PptxGenJS</dc:creator>
  <cp:lastModifiedBy>arekante rajesh</cp:lastModifiedBy>
  <cp:revision>2</cp:revision>
  <dcterms:created xsi:type="dcterms:W3CDTF">2026-03-16T17:03:52Z</dcterms:created>
  <dcterms:modified xsi:type="dcterms:W3CDTF">2026-03-16T17:47:34Z</dcterms:modified>
</cp:coreProperties>
</file>