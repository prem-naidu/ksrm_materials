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56" r:id="rId2"/>
    <p:sldId id="257" r:id="rId3"/>
    <p:sldId id="258" r:id="rId4"/>
    <p:sldId id="319" r:id="rId5"/>
    <p:sldId id="260" r:id="rId6"/>
    <p:sldId id="263" r:id="rId7"/>
    <p:sldId id="264" r:id="rId8"/>
    <p:sldId id="259" r:id="rId9"/>
    <p:sldId id="265" r:id="rId10"/>
    <p:sldId id="261" r:id="rId11"/>
    <p:sldId id="262" r:id="rId12"/>
    <p:sldId id="266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321" r:id="rId35"/>
    <p:sldId id="294" r:id="rId36"/>
    <p:sldId id="295" r:id="rId37"/>
    <p:sldId id="297" r:id="rId38"/>
    <p:sldId id="298" r:id="rId39"/>
    <p:sldId id="299" r:id="rId40"/>
    <p:sldId id="300" r:id="rId41"/>
    <p:sldId id="301" r:id="rId42"/>
    <p:sldId id="302" r:id="rId43"/>
    <p:sldId id="304" r:id="rId44"/>
    <p:sldId id="305" r:id="rId45"/>
    <p:sldId id="306" r:id="rId46"/>
    <p:sldId id="308" r:id="rId47"/>
    <p:sldId id="309" r:id="rId48"/>
    <p:sldId id="310" r:id="rId49"/>
    <p:sldId id="313" r:id="rId50"/>
    <p:sldId id="312" r:id="rId51"/>
    <p:sldId id="315" r:id="rId52"/>
    <p:sldId id="316" r:id="rId53"/>
    <p:sldId id="317" r:id="rId54"/>
    <p:sldId id="320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THA BOLLAPU" userId="774a74f3f7006d87" providerId="LiveId" clId="{627EC6D7-29FB-48FC-A441-4AE7DFBCCE53}"/>
    <pc:docChg chg="undo custSel addSld delSld modSld">
      <pc:chgData name="NIKHITHA BOLLAPU" userId="774a74f3f7006d87" providerId="LiveId" clId="{627EC6D7-29FB-48FC-A441-4AE7DFBCCE53}" dt="2026-03-16T17:11:51.641" v="117" actId="2696"/>
      <pc:docMkLst>
        <pc:docMk/>
      </pc:docMkLst>
      <pc:sldChg chg="modSp mod">
        <pc:chgData name="NIKHITHA BOLLAPU" userId="774a74f3f7006d87" providerId="LiveId" clId="{627EC6D7-29FB-48FC-A441-4AE7DFBCCE53}" dt="2026-03-16T09:56:34.961" v="82" actId="1076"/>
        <pc:sldMkLst>
          <pc:docMk/>
          <pc:sldMk cId="938483905" sldId="257"/>
        </pc:sldMkLst>
        <pc:picChg chg="mod">
          <ac:chgData name="NIKHITHA BOLLAPU" userId="774a74f3f7006d87" providerId="LiveId" clId="{627EC6D7-29FB-48FC-A441-4AE7DFBCCE53}" dt="2026-03-16T09:56:34.961" v="82" actId="1076"/>
          <ac:picMkLst>
            <pc:docMk/>
            <pc:sldMk cId="938483905" sldId="257"/>
            <ac:picMk id="5" creationId="{B73F0131-89D7-7FC8-8055-706374CB1B6C}"/>
          </ac:picMkLst>
        </pc:picChg>
      </pc:sldChg>
      <pc:sldChg chg="del">
        <pc:chgData name="NIKHITHA BOLLAPU" userId="774a74f3f7006d87" providerId="LiveId" clId="{627EC6D7-29FB-48FC-A441-4AE7DFBCCE53}" dt="2026-03-16T09:50:50.691" v="80" actId="2696"/>
        <pc:sldMkLst>
          <pc:docMk/>
          <pc:sldMk cId="0" sldId="267"/>
        </pc:sldMkLst>
      </pc:sldChg>
      <pc:sldChg chg="del">
        <pc:chgData name="NIKHITHA BOLLAPU" userId="774a74f3f7006d87" providerId="LiveId" clId="{627EC6D7-29FB-48FC-A441-4AE7DFBCCE53}" dt="2026-03-16T08:22:12.861" v="50" actId="2696"/>
        <pc:sldMkLst>
          <pc:docMk/>
          <pc:sldMk cId="0" sldId="270"/>
        </pc:sldMkLst>
      </pc:sldChg>
      <pc:sldChg chg="modSp mod">
        <pc:chgData name="NIKHITHA BOLLAPU" userId="774a74f3f7006d87" providerId="LiveId" clId="{627EC6D7-29FB-48FC-A441-4AE7DFBCCE53}" dt="2026-03-16T17:11:12.595" v="116" actId="1036"/>
        <pc:sldMkLst>
          <pc:docMk/>
          <pc:sldMk cId="0" sldId="278"/>
        </pc:sldMkLst>
        <pc:picChg chg="mod">
          <ac:chgData name="NIKHITHA BOLLAPU" userId="774a74f3f7006d87" providerId="LiveId" clId="{627EC6D7-29FB-48FC-A441-4AE7DFBCCE53}" dt="2026-03-16T17:11:12.595" v="116" actId="1036"/>
          <ac:picMkLst>
            <pc:docMk/>
            <pc:sldMk cId="0" sldId="278"/>
            <ac:picMk id="18" creationId="{00000000-0000-0000-0000-000000000000}"/>
          </ac:picMkLst>
        </pc:picChg>
      </pc:sldChg>
      <pc:sldChg chg="addSp delSp modSp mod">
        <pc:chgData name="NIKHITHA BOLLAPU" userId="774a74f3f7006d87" providerId="LiveId" clId="{627EC6D7-29FB-48FC-A441-4AE7DFBCCE53}" dt="2026-03-16T08:19:49.184" v="47" actId="14100"/>
        <pc:sldMkLst>
          <pc:docMk/>
          <pc:sldMk cId="0" sldId="279"/>
        </pc:sldMkLst>
        <pc:picChg chg="del">
          <ac:chgData name="NIKHITHA BOLLAPU" userId="774a74f3f7006d87" providerId="LiveId" clId="{627EC6D7-29FB-48FC-A441-4AE7DFBCCE53}" dt="2026-03-16T07:52:08.059" v="27" actId="478"/>
          <ac:picMkLst>
            <pc:docMk/>
            <pc:sldMk cId="0" sldId="279"/>
            <ac:picMk id="18" creationId="{00000000-0000-0000-0000-000000000000}"/>
          </ac:picMkLst>
        </pc:picChg>
        <pc:picChg chg="add del mod">
          <ac:chgData name="NIKHITHA BOLLAPU" userId="774a74f3f7006d87" providerId="LiveId" clId="{627EC6D7-29FB-48FC-A441-4AE7DFBCCE53}" dt="2026-03-16T07:53:32.061" v="37" actId="21"/>
          <ac:picMkLst>
            <pc:docMk/>
            <pc:sldMk cId="0" sldId="279"/>
            <ac:picMk id="19" creationId="{47029D2B-9098-F43D-70DA-0CB766746253}"/>
          </ac:picMkLst>
        </pc:picChg>
        <pc:picChg chg="add mod">
          <ac:chgData name="NIKHITHA BOLLAPU" userId="774a74f3f7006d87" providerId="LiveId" clId="{627EC6D7-29FB-48FC-A441-4AE7DFBCCE53}" dt="2026-03-16T08:19:49.184" v="47" actId="14100"/>
          <ac:picMkLst>
            <pc:docMk/>
            <pc:sldMk cId="0" sldId="279"/>
            <ac:picMk id="19" creationId="{BB5E3CF8-E914-1159-9F25-75551F1B5693}"/>
          </ac:picMkLst>
        </pc:picChg>
      </pc:sldChg>
      <pc:sldChg chg="del">
        <pc:chgData name="NIKHITHA BOLLAPU" userId="774a74f3f7006d87" providerId="LiveId" clId="{627EC6D7-29FB-48FC-A441-4AE7DFBCCE53}" dt="2026-03-16T17:11:51.641" v="117" actId="2696"/>
        <pc:sldMkLst>
          <pc:docMk/>
          <pc:sldMk cId="0" sldId="281"/>
        </pc:sldMkLst>
      </pc:sldChg>
      <pc:sldChg chg="addSp modSp mod">
        <pc:chgData name="NIKHITHA BOLLAPU" userId="774a74f3f7006d87" providerId="LiveId" clId="{627EC6D7-29FB-48FC-A441-4AE7DFBCCE53}" dt="2026-03-16T15:58:12.858" v="108" actId="20577"/>
        <pc:sldMkLst>
          <pc:docMk/>
          <pc:sldMk cId="0" sldId="290"/>
        </pc:sldMkLst>
        <pc:spChg chg="mod">
          <ac:chgData name="NIKHITHA BOLLAPU" userId="774a74f3f7006d87" providerId="LiveId" clId="{627EC6D7-29FB-48FC-A441-4AE7DFBCCE53}" dt="2026-03-16T15:58:12.858" v="108" actId="20577"/>
          <ac:spMkLst>
            <pc:docMk/>
            <pc:sldMk cId="0" sldId="290"/>
            <ac:spMk id="6" creationId="{00000000-0000-0000-0000-000000000000}"/>
          </ac:spMkLst>
        </pc:spChg>
        <pc:picChg chg="add">
          <ac:chgData name="NIKHITHA BOLLAPU" userId="774a74f3f7006d87" providerId="LiveId" clId="{627EC6D7-29FB-48FC-A441-4AE7DFBCCE53}" dt="2026-03-16T09:40:12.842" v="56"/>
          <ac:picMkLst>
            <pc:docMk/>
            <pc:sldMk cId="0" sldId="290"/>
            <ac:picMk id="1026" creationId="{28BBB1CE-7C58-36A2-5559-4C388223E481}"/>
          </ac:picMkLst>
        </pc:picChg>
      </pc:sldChg>
      <pc:sldChg chg="del">
        <pc:chgData name="NIKHITHA BOLLAPU" userId="774a74f3f7006d87" providerId="LiveId" clId="{627EC6D7-29FB-48FC-A441-4AE7DFBCCE53}" dt="2026-03-16T08:20:53.452" v="49" actId="2696"/>
        <pc:sldMkLst>
          <pc:docMk/>
          <pc:sldMk cId="0" sldId="291"/>
        </pc:sldMkLst>
      </pc:sldChg>
      <pc:sldChg chg="del">
        <pc:chgData name="NIKHITHA BOLLAPU" userId="774a74f3f7006d87" providerId="LiveId" clId="{627EC6D7-29FB-48FC-A441-4AE7DFBCCE53}" dt="2026-03-16T09:39:50.240" v="52" actId="2696"/>
        <pc:sldMkLst>
          <pc:docMk/>
          <pc:sldMk cId="0" sldId="292"/>
        </pc:sldMkLst>
      </pc:sldChg>
      <pc:sldChg chg="add del">
        <pc:chgData name="NIKHITHA BOLLAPU" userId="774a74f3f7006d87" providerId="LiveId" clId="{627EC6D7-29FB-48FC-A441-4AE7DFBCCE53}" dt="2026-03-16T09:41:42.516" v="71" actId="2696"/>
        <pc:sldMkLst>
          <pc:docMk/>
          <pc:sldMk cId="0" sldId="293"/>
        </pc:sldMkLst>
      </pc:sldChg>
      <pc:sldChg chg="add del">
        <pc:chgData name="NIKHITHA BOLLAPU" userId="774a74f3f7006d87" providerId="LiveId" clId="{627EC6D7-29FB-48FC-A441-4AE7DFBCCE53}" dt="2026-03-16T09:42:10.782" v="75" actId="2696"/>
        <pc:sldMkLst>
          <pc:docMk/>
          <pc:sldMk cId="4241700568" sldId="293"/>
        </pc:sldMkLst>
      </pc:sldChg>
      <pc:sldChg chg="add del">
        <pc:chgData name="NIKHITHA BOLLAPU" userId="774a74f3f7006d87" providerId="LiveId" clId="{627EC6D7-29FB-48FC-A441-4AE7DFBCCE53}" dt="2026-03-16T09:41:19.393" v="69" actId="2696"/>
        <pc:sldMkLst>
          <pc:docMk/>
          <pc:sldMk cId="0" sldId="294"/>
        </pc:sldMkLst>
      </pc:sldChg>
      <pc:sldChg chg="add del">
        <pc:chgData name="NIKHITHA BOLLAPU" userId="774a74f3f7006d87" providerId="LiveId" clId="{627EC6D7-29FB-48FC-A441-4AE7DFBCCE53}" dt="2026-03-16T09:41:18.956" v="68" actId="2696"/>
        <pc:sldMkLst>
          <pc:docMk/>
          <pc:sldMk cId="0" sldId="295"/>
        </pc:sldMkLst>
      </pc:sldChg>
      <pc:sldChg chg="del">
        <pc:chgData name="NIKHITHA BOLLAPU" userId="774a74f3f7006d87" providerId="LiveId" clId="{627EC6D7-29FB-48FC-A441-4AE7DFBCCE53}" dt="2026-03-16T08:20:38.352" v="48" actId="2696"/>
        <pc:sldMkLst>
          <pc:docMk/>
          <pc:sldMk cId="0" sldId="296"/>
        </pc:sldMkLst>
      </pc:sldChg>
      <pc:sldChg chg="del">
        <pc:chgData name="NIKHITHA BOLLAPU" userId="774a74f3f7006d87" providerId="LiveId" clId="{627EC6D7-29FB-48FC-A441-4AE7DFBCCE53}" dt="2026-03-16T15:55:01.583" v="83" actId="2696"/>
        <pc:sldMkLst>
          <pc:docMk/>
          <pc:sldMk cId="0" sldId="303"/>
        </pc:sldMkLst>
      </pc:sldChg>
      <pc:sldChg chg="del">
        <pc:chgData name="NIKHITHA BOLLAPU" userId="774a74f3f7006d87" providerId="LiveId" clId="{627EC6D7-29FB-48FC-A441-4AE7DFBCCE53}" dt="2026-03-16T08:23:21.443" v="51" actId="2696"/>
        <pc:sldMkLst>
          <pc:docMk/>
          <pc:sldMk cId="0" sldId="307"/>
        </pc:sldMkLst>
      </pc:sldChg>
      <pc:sldChg chg="modSp mod">
        <pc:chgData name="NIKHITHA BOLLAPU" userId="774a74f3f7006d87" providerId="LiveId" clId="{627EC6D7-29FB-48FC-A441-4AE7DFBCCE53}" dt="2026-03-16T16:52:02.570" v="110" actId="1036"/>
        <pc:sldMkLst>
          <pc:docMk/>
          <pc:sldMk cId="0" sldId="310"/>
        </pc:sldMkLst>
        <pc:spChg chg="mod">
          <ac:chgData name="NIKHITHA BOLLAPU" userId="774a74f3f7006d87" providerId="LiveId" clId="{627EC6D7-29FB-48FC-A441-4AE7DFBCCE53}" dt="2026-03-16T16:52:02.570" v="110" actId="1036"/>
          <ac:spMkLst>
            <pc:docMk/>
            <pc:sldMk cId="0" sldId="310"/>
            <ac:spMk id="12" creationId="{00000000-0000-0000-0000-000000000000}"/>
          </ac:spMkLst>
        </pc:spChg>
      </pc:sldChg>
      <pc:sldChg chg="del">
        <pc:chgData name="NIKHITHA BOLLAPU" userId="774a74f3f7006d87" providerId="LiveId" clId="{627EC6D7-29FB-48FC-A441-4AE7DFBCCE53}" dt="2026-03-16T15:56:51.498" v="84" actId="2696"/>
        <pc:sldMkLst>
          <pc:docMk/>
          <pc:sldMk cId="0" sldId="311"/>
        </pc:sldMkLst>
      </pc:sldChg>
      <pc:sldChg chg="delSp modSp del mod">
        <pc:chgData name="NIKHITHA BOLLAPU" userId="774a74f3f7006d87" providerId="LiveId" clId="{627EC6D7-29FB-48FC-A441-4AE7DFBCCE53}" dt="2026-03-16T16:55:31.161" v="111" actId="2696"/>
        <pc:sldMkLst>
          <pc:docMk/>
          <pc:sldMk cId="0" sldId="312"/>
        </pc:sldMkLst>
        <pc:spChg chg="del mod">
          <ac:chgData name="NIKHITHA BOLLAPU" userId="774a74f3f7006d87" providerId="LiveId" clId="{627EC6D7-29FB-48FC-A441-4AE7DFBCCE53}" dt="2026-03-16T15:57:21.227" v="86" actId="478"/>
          <ac:spMkLst>
            <pc:docMk/>
            <pc:sldMk cId="0" sldId="312"/>
            <ac:spMk id="30" creationId="{00000000-0000-0000-0000-000000000000}"/>
          </ac:spMkLst>
        </pc:spChg>
      </pc:sldChg>
      <pc:sldChg chg="add">
        <pc:chgData name="NIKHITHA BOLLAPU" userId="774a74f3f7006d87" providerId="LiveId" clId="{627EC6D7-29FB-48FC-A441-4AE7DFBCCE53}" dt="2026-03-16T16:55:38.433" v="113"/>
        <pc:sldMkLst>
          <pc:docMk/>
          <pc:sldMk cId="1973761068" sldId="312"/>
        </pc:sldMkLst>
      </pc:sldChg>
      <pc:sldChg chg="del">
        <pc:chgData name="NIKHITHA BOLLAPU" userId="774a74f3f7006d87" providerId="LiveId" clId="{627EC6D7-29FB-48FC-A441-4AE7DFBCCE53}" dt="2026-03-16T16:57:57.427" v="115" actId="2696"/>
        <pc:sldMkLst>
          <pc:docMk/>
          <pc:sldMk cId="0" sldId="314"/>
        </pc:sldMkLst>
      </pc:sldChg>
      <pc:sldChg chg="addSp delSp">
        <pc:chgData name="NIKHITHA BOLLAPU" userId="774a74f3f7006d87" providerId="LiveId" clId="{627EC6D7-29FB-48FC-A441-4AE7DFBCCE53}" dt="2026-03-16T07:43:54.852" v="24" actId="478"/>
        <pc:sldMkLst>
          <pc:docMk/>
          <pc:sldMk cId="0" sldId="317"/>
        </pc:sldMkLst>
        <pc:picChg chg="add del">
          <ac:chgData name="NIKHITHA BOLLAPU" userId="774a74f3f7006d87" providerId="LiveId" clId="{627EC6D7-29FB-48FC-A441-4AE7DFBCCE53}" dt="2026-03-16T07:43:54.852" v="24" actId="478"/>
          <ac:picMkLst>
            <pc:docMk/>
            <pc:sldMk cId="0" sldId="317"/>
            <ac:picMk id="1026" creationId="{07EA1046-8BB5-D15D-A152-F3D0EBAA4B6B}"/>
          </ac:picMkLst>
        </pc:picChg>
      </pc:sldChg>
      <pc:sldChg chg="delSp modSp del mod">
        <pc:chgData name="NIKHITHA BOLLAPU" userId="774a74f3f7006d87" providerId="LiveId" clId="{627EC6D7-29FB-48FC-A441-4AE7DFBCCE53}" dt="2026-03-16T07:38:58.945" v="22" actId="2696"/>
        <pc:sldMkLst>
          <pc:docMk/>
          <pc:sldMk cId="0" sldId="318"/>
        </pc:sldMkLst>
        <pc:spChg chg="del">
          <ac:chgData name="NIKHITHA BOLLAPU" userId="774a74f3f7006d87" providerId="LiveId" clId="{627EC6D7-29FB-48FC-A441-4AE7DFBCCE53}" dt="2026-03-16T07:38:01.961" v="0" actId="478"/>
          <ac:spMkLst>
            <pc:docMk/>
            <pc:sldMk cId="0" sldId="318"/>
            <ac:spMk id="2" creationId="{00000000-0000-0000-0000-000000000000}"/>
          </ac:spMkLst>
        </pc:spChg>
        <pc:spChg chg="mod">
          <ac:chgData name="NIKHITHA BOLLAPU" userId="774a74f3f7006d87" providerId="LiveId" clId="{627EC6D7-29FB-48FC-A441-4AE7DFBCCE53}" dt="2026-03-16T07:38:20.308" v="20" actId="20577"/>
          <ac:spMkLst>
            <pc:docMk/>
            <pc:sldMk cId="0" sldId="318"/>
            <ac:spMk id="4" creationId="{00000000-0000-0000-0000-000000000000}"/>
          </ac:spMkLst>
        </pc:spChg>
      </pc:sldChg>
      <pc:sldChg chg="add">
        <pc:chgData name="NIKHITHA BOLLAPU" userId="774a74f3f7006d87" providerId="LiveId" clId="{627EC6D7-29FB-48FC-A441-4AE7DFBCCE53}" dt="2026-03-16T07:38:48.675" v="21"/>
        <pc:sldMkLst>
          <pc:docMk/>
          <pc:sldMk cId="437228912" sldId="319"/>
        </pc:sldMkLst>
      </pc:sldChg>
      <pc:sldChg chg="addSp new">
        <pc:chgData name="NIKHITHA BOLLAPU" userId="774a74f3f7006d87" providerId="LiveId" clId="{627EC6D7-29FB-48FC-A441-4AE7DFBCCE53}" dt="2026-03-16T07:44:01.472" v="26"/>
        <pc:sldMkLst>
          <pc:docMk/>
          <pc:sldMk cId="2229547641" sldId="320"/>
        </pc:sldMkLst>
        <pc:picChg chg="add">
          <ac:chgData name="NIKHITHA BOLLAPU" userId="774a74f3f7006d87" providerId="LiveId" clId="{627EC6D7-29FB-48FC-A441-4AE7DFBCCE53}" dt="2026-03-16T07:44:01.472" v="26"/>
          <ac:picMkLst>
            <pc:docMk/>
            <pc:sldMk cId="2229547641" sldId="320"/>
            <ac:picMk id="2050" creationId="{F8B6F7B2-9242-DD3E-21F8-2A60561481EA}"/>
          </ac:picMkLst>
        </pc:picChg>
      </pc:sldChg>
      <pc:sldChg chg="addSp modSp new">
        <pc:chgData name="NIKHITHA BOLLAPU" userId="774a74f3f7006d87" providerId="LiveId" clId="{627EC6D7-29FB-48FC-A441-4AE7DFBCCE53}" dt="2026-03-16T09:42:31.295" v="79" actId="14100"/>
        <pc:sldMkLst>
          <pc:docMk/>
          <pc:sldMk cId="1291984319" sldId="321"/>
        </pc:sldMkLst>
        <pc:picChg chg="add mod">
          <ac:chgData name="NIKHITHA BOLLAPU" userId="774a74f3f7006d87" providerId="LiveId" clId="{627EC6D7-29FB-48FC-A441-4AE7DFBCCE53}" dt="2026-03-16T09:42:31.295" v="79" actId="14100"/>
          <ac:picMkLst>
            <pc:docMk/>
            <pc:sldMk cId="1291984319" sldId="321"/>
            <ac:picMk id="3074" creationId="{BA84B1EC-7344-2BDB-35E1-6A83EE3BE657}"/>
          </ac:picMkLst>
        </pc:picChg>
      </pc:sldChg>
      <pc:sldChg chg="addSp modSp new del">
        <pc:chgData name="NIKHITHA BOLLAPU" userId="774a74f3f7006d87" providerId="LiveId" clId="{627EC6D7-29FB-48FC-A441-4AE7DFBCCE53}" dt="2026-03-16T09:41:18.163" v="67" actId="680"/>
        <pc:sldMkLst>
          <pc:docMk/>
          <pc:sldMk cId="3487124405" sldId="321"/>
        </pc:sldMkLst>
        <pc:picChg chg="add mod">
          <ac:chgData name="NIKHITHA BOLLAPU" userId="774a74f3f7006d87" providerId="LiveId" clId="{627EC6D7-29FB-48FC-A441-4AE7DFBCCE53}" dt="2026-03-16T09:41:17.428" v="66" actId="14100"/>
          <ac:picMkLst>
            <pc:docMk/>
            <pc:sldMk cId="3487124405" sldId="321"/>
            <ac:picMk id="2050" creationId="{64FE3DFD-05DC-EE00-45FE-AC288B74E339}"/>
          </ac:picMkLst>
        </pc:picChg>
      </pc:sldChg>
      <pc:sldChg chg="new del">
        <pc:chgData name="NIKHITHA BOLLAPU" userId="774a74f3f7006d87" providerId="LiveId" clId="{627EC6D7-29FB-48FC-A441-4AE7DFBCCE53}" dt="2026-03-16T16:55:44.293" v="114" actId="2696"/>
        <pc:sldMkLst>
          <pc:docMk/>
          <pc:sldMk cId="3711248022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67250-2F5E-4C45-9F84-368E60B8E42B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E95A1-CC23-40C4-9ECA-7E2C3A4DC4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12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5DD84-B961-8A06-37D3-AF166772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C0D03-3175-41D7-B3DC-F30476A60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27461-05A6-3008-7D77-940EA47B7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10D97-56D6-9C08-E09E-C366AAF6CC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24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0A54-30C7-B7A7-0B18-B7A84B5A5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875FA0-672D-98F0-37EC-4E19B8FE9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A765E-3C7A-E518-6BAA-C055DEE535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EF744-5D18-54CB-9171-C4DF3E3C18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15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5174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AE469-8E2B-E186-A4D3-208703AA9A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0A54F-57DE-23CD-C437-7DE4E8D5F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E7152-FA00-D141-AE9A-CBAA7DF9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04183-68AF-E40E-C979-142C377DE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B4BC2-0999-160C-C49C-FB7A45552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33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22DE-788A-9792-6CFE-11C2069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DA08F-85C0-8F12-6759-F18C9F083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7EED7-3370-34BE-CEFA-99C457F0D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B5E84-A294-2ACC-D921-783E5EB0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BF12-7D74-6C7D-74C4-1C91364E8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85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B536-795F-7C22-44EA-8B5762801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253E4B-B218-2D11-06E3-7076360025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B14C8-82C9-894A-B415-66CDEFB80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A9943-8D14-3C8D-239E-2D09585D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8C65-B1AD-8987-ECC5-5C0ECD0E7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435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BD4ED-8D8B-93AA-1AE4-19557153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2D120-2402-2F35-DD00-2D5BCC81A3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AC6B46-63CB-487A-DFD9-1F086F0B6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E8F0C-6D85-F322-47AA-C84651A1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C1C26-2784-DF81-ED01-D34379384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C46A5-FF08-0B81-75D3-C6B6DABF1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9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77867-1246-9BB1-7C7A-9E578EC6C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77213-9364-2611-C9DB-4C3E87973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A67217-884E-79CB-5599-66E9D0A8D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9F9659-9AB7-A969-A639-F665830C24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A3D66-5C25-A570-09F7-7C8772C992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7E536-9D37-931A-EA8A-3C7A8B1A7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B48F2E-C573-FB69-CCF1-AD4F80804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793DD7-6D02-BF94-9F97-698CFFD88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02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4FFF-0769-EA37-C30A-048A6B78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B0493-89BC-2A68-86E1-FE9DE2E3A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84EF2F-57B4-32B6-CBA2-4CDFA0A9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60320-698E-4243-F985-B3807D1E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5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8763F-8DE1-3679-8D51-A0374C3AC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237488-7300-5131-41B9-E96DB311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14ED5A-E39E-2796-C8EA-E3110669E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328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CBCC5-CBAB-5462-3CBF-49551467A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70191-533A-512E-85C3-E5ACE932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3C684-5DD5-B430-FE91-FD993E4BA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BD96C-0D73-D98C-F3C7-6E1237028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691BC2-2152-F77A-C386-4C9D64A6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1C945-6DEA-6CF2-52A7-24F69CFB3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571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289E7-0E95-C312-4267-E9EAAC7C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709DBB-166C-ADD5-D5AB-7999B1FD4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0D616-3707-E97D-6662-A3B68D400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741E8A-358B-27CC-D953-428D2FCC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8B35F-7827-4EA2-3B2C-DB5BBF6E0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05DF8F-D061-97BA-792A-5C9A0EC9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5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B81A2-00AC-CB78-86DD-B37CF03E2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51A9A-13F3-41DC-DAE3-B06DC465A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22E08-021D-6687-F223-DE721076A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3DE53-ACFF-12A1-6E52-6BC29CD0F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BB561-608C-BC0B-3114-9B0A2DE3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48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E46E91-39A4-854B-A9D8-47F88C3C5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36835-4ACD-4927-0322-E1DD396DF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52532-E919-F8FF-2FB9-83C8BF09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FFA38-B037-A9B2-68AA-5B7E6500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45529-7A7E-705D-2D5C-9384B0045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643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306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9F468-394D-5A94-C0CF-F8F189214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02ABC-1BFF-004A-EC3C-77B9B126E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53FEC-873E-960B-0D98-67F7E265B8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F92970-1C93-4A0A-90D2-1067BAF4914D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844F5-0BCE-F55D-BE5D-5615323AF8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70FEC-5373-4BF8-E7AC-7897D4F88A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1693AF-DFD3-4B10-92EE-3C9D60A669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06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132FB-21AD-10D7-7396-D373B2207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EAA186-D827-B800-4F51-E9A28CDDAB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621CD-CFCF-FAA0-FA28-8E0850743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952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2712-BAB6-7513-9AD7-EAB238AFF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FF7923-95CD-8A37-C707-71284C738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F0131-89D7-7FC8-8055-706374CB1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83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361BB-E30E-643A-D114-F0EC0A694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39A60-4954-2014-CC46-B56811431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F9D9D3-1618-D69C-8851-8617DCE16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14312"/>
            <a:ext cx="114300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60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29539-38A2-1588-BE44-0898172B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B6B7291-D743-56FE-08C4-3866D4C42496}"/>
              </a:ext>
            </a:extLst>
          </p:cNvPr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FB809B-7B86-695B-FA96-603765B11A25}"/>
              </a:ext>
            </a:extLst>
          </p:cNvPr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Flowchart — LMS </a:t>
            </a:r>
            <a:r>
              <a:rPr lang="en-US" sz="29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</a:t>
            </a:r>
            <a:r>
              <a:rPr lang="en-US" sz="2933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r>
              <a:rPr lang="en-US" sz="2933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2933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2E33445-F531-0D58-31F1-DA72D2C334B4}"/>
              </a:ext>
            </a:extLst>
          </p:cNvPr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DBF883F-9D85-2DD6-FAFF-0091CF8CD602}"/>
              </a:ext>
            </a:extLst>
          </p:cNvPr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pic>
        <p:nvPicPr>
          <p:cNvPr id="7" name="Image 0" descr="preencoded.png">
            <a:extLst>
              <a:ext uri="{FF2B5EF4-FFF2-40B4-BE49-F238E27FC236}">
                <a16:creationId xmlns:a16="http://schemas.microsoft.com/office/drawing/2014/main" id="{590BB23E-BD4F-1B37-265E-DDAEB077C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11460480" cy="536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2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0" y="85344"/>
            <a:ext cx="36576" cy="67726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792480"/>
            <a:ext cx="1950720" cy="19507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816864"/>
            <a:ext cx="1950720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dirty="0">
                <a:solidFill>
                  <a:srgbClr val="000000"/>
                </a:solidFill>
              </a:rPr>
              <a:t>👤</a:t>
            </a:r>
            <a:endParaRPr lang="en-US" sz="5867" dirty="0"/>
          </a:p>
        </p:txBody>
      </p:sp>
      <p:sp>
        <p:nvSpPr>
          <p:cNvPr id="6" name="Shape 4"/>
          <p:cNvSpPr/>
          <p:nvPr/>
        </p:nvSpPr>
        <p:spPr>
          <a:xfrm>
            <a:off x="2097024" y="1853184"/>
            <a:ext cx="1097280" cy="1097280"/>
          </a:xfrm>
          <a:prstGeom prst="ellipse">
            <a:avLst/>
          </a:prstGeom>
          <a:solidFill>
            <a:srgbClr val="16213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97024" y="187756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000000"/>
                </a:solidFill>
              </a:rPr>
              <a:t>🔒</a:t>
            </a:r>
            <a:endParaRPr lang="en-US" sz="2667" dirty="0"/>
          </a:p>
        </p:txBody>
      </p:sp>
      <p:sp>
        <p:nvSpPr>
          <p:cNvPr id="8" name="Text 6"/>
          <p:cNvSpPr/>
          <p:nvPr/>
        </p:nvSpPr>
        <p:spPr>
          <a:xfrm>
            <a:off x="182880" y="31699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kern="0" spc="4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Member1</a:t>
            </a:r>
            <a:r>
              <a:rPr lang="en-US" sz="2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 B E R   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82880" y="3840480"/>
            <a:ext cx="402336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— Case Study 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" y="423062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Assignment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059680"/>
            <a:ext cx="329184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84064"/>
            <a:ext cx="329184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10 Members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4754880" y="548640"/>
            <a:ext cx="719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0" dirty="0">
              <a:solidFill>
                <a:srgbClr val="FFC0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54880" y="1584960"/>
            <a:ext cx="719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0" dirty="0">
              <a:solidFill>
                <a:srgbClr val="FFC0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54880" y="2682240"/>
            <a:ext cx="719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 Service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754880" y="3962400"/>
            <a:ext cx="719328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·  Spring Security  ·  MySQL  ·  JWT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6213A"/>
          </a:solidFill>
          <a:ln w="12700">
            <a:solidFill>
              <a:srgbClr val="1621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  ·  User.java  ·  All Roles: ADMIN / LIBRARIAN / STUDENT</a:t>
            </a:r>
            <a:endParaRPr lang="en-US" sz="146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F4815-2E31-5489-750B-41ACEC775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9F90D4-DEB2-1813-36D3-8192B1B6D202}"/>
              </a:ext>
            </a:extLst>
          </p:cNvPr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6BB4FD6-1042-B9C7-1AB9-F0F80EDA21B6}"/>
              </a:ext>
            </a:extLst>
          </p:cNvPr>
          <p:cNvSpPr/>
          <p:nvPr/>
        </p:nvSpPr>
        <p:spPr>
          <a:xfrm>
            <a:off x="0" y="0"/>
            <a:ext cx="341376" cy="792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E37ED4-AEF6-B899-768F-42AAD6D150F2}"/>
              </a:ext>
            </a:extLst>
          </p:cNvPr>
          <p:cNvSpPr/>
          <p:nvPr/>
        </p:nvSpPr>
        <p:spPr>
          <a:xfrm>
            <a:off x="548640" y="8534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</a:t>
            </a:r>
            <a:endParaRPr lang="en-US" sz="2933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EE3853E-AA0F-F1B2-E499-955231787BEE}"/>
              </a:ext>
            </a:extLst>
          </p:cNvPr>
          <p:cNvSpPr/>
          <p:nvPr/>
        </p:nvSpPr>
        <p:spPr>
          <a:xfrm>
            <a:off x="365760" y="1036320"/>
            <a:ext cx="11460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0B488F-FDF0-F1EA-E45E-54E1729CB2AB}"/>
              </a:ext>
            </a:extLst>
          </p:cNvPr>
          <p:cNvSpPr/>
          <p:nvPr/>
        </p:nvSpPr>
        <p:spPr>
          <a:xfrm>
            <a:off x="365760" y="1036320"/>
            <a:ext cx="73152" cy="10972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3974EDB-A031-EB9B-4FE4-BD93FB5227F6}"/>
              </a:ext>
            </a:extLst>
          </p:cNvPr>
          <p:cNvSpPr/>
          <p:nvPr/>
        </p:nvSpPr>
        <p:spPr>
          <a:xfrm>
            <a:off x="670560" y="1121664"/>
            <a:ext cx="10850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owns the Security Foundation — the backend service that handles registration, login, and JWT-based authentication for all three roles. Every other microservice depends on the JWT token and role guards produced by this service.</a:t>
            </a:r>
            <a:endParaRPr lang="en-US" sz="1733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BA8C58-FE3E-83E2-6A66-88F6DE6FA015}"/>
              </a:ext>
            </a:extLst>
          </p:cNvPr>
          <p:cNvSpPr/>
          <p:nvPr/>
        </p:nvSpPr>
        <p:spPr>
          <a:xfrm>
            <a:off x="365760" y="2438400"/>
            <a:ext cx="3657600" cy="377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B0D451E-04CB-A562-111F-829151B67F7F}"/>
              </a:ext>
            </a:extLst>
          </p:cNvPr>
          <p:cNvSpPr/>
          <p:nvPr/>
        </p:nvSpPr>
        <p:spPr>
          <a:xfrm>
            <a:off x="365760" y="243840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EBBE564-E5BB-B6F5-4D96-2BC3837E8E0C}"/>
              </a:ext>
            </a:extLst>
          </p:cNvPr>
          <p:cNvSpPr/>
          <p:nvPr/>
        </p:nvSpPr>
        <p:spPr>
          <a:xfrm>
            <a:off x="1645920" y="2706624"/>
            <a:ext cx="1097280" cy="1097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D060979-7525-CB46-25EE-482BE43AE7C0}"/>
              </a:ext>
            </a:extLst>
          </p:cNvPr>
          <p:cNvSpPr/>
          <p:nvPr/>
        </p:nvSpPr>
        <p:spPr>
          <a:xfrm>
            <a:off x="1645920" y="273100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👥</a:t>
            </a:r>
            <a:endParaRPr lang="en-US" sz="2933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FFDD92C-EE7A-DFFD-3EC8-996E64F94486}"/>
              </a:ext>
            </a:extLst>
          </p:cNvPr>
          <p:cNvSpPr/>
          <p:nvPr/>
        </p:nvSpPr>
        <p:spPr>
          <a:xfrm>
            <a:off x="548640" y="40233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867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FD4AB7-5E5B-479D-8A48-38F4A663C80A}"/>
              </a:ext>
            </a:extLst>
          </p:cNvPr>
          <p:cNvSpPr/>
          <p:nvPr/>
        </p:nvSpPr>
        <p:spPr>
          <a:xfrm>
            <a:off x="548640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ADMIN, LIBRARIAN, and STUDENT users with BCrypt encrypted passwords stored in MySQL.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5F9B692-1C9F-F972-7CCB-ED6A9786D9DB}"/>
              </a:ext>
            </a:extLst>
          </p:cNvPr>
          <p:cNvSpPr/>
          <p:nvPr/>
        </p:nvSpPr>
        <p:spPr>
          <a:xfrm>
            <a:off x="4230624" y="2438400"/>
            <a:ext cx="3657600" cy="377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ABC34A33-8522-F761-F207-E939183035DC}"/>
              </a:ext>
            </a:extLst>
          </p:cNvPr>
          <p:cNvSpPr/>
          <p:nvPr/>
        </p:nvSpPr>
        <p:spPr>
          <a:xfrm>
            <a:off x="4230624" y="243840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62C5CBAD-A809-447E-DD43-375D1E4D3B7D}"/>
              </a:ext>
            </a:extLst>
          </p:cNvPr>
          <p:cNvSpPr/>
          <p:nvPr/>
        </p:nvSpPr>
        <p:spPr>
          <a:xfrm>
            <a:off x="5510784" y="2706624"/>
            <a:ext cx="1097280" cy="1097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F691B31-7534-6D02-BE43-9812FF00322C}"/>
              </a:ext>
            </a:extLst>
          </p:cNvPr>
          <p:cNvSpPr/>
          <p:nvPr/>
        </p:nvSpPr>
        <p:spPr>
          <a:xfrm>
            <a:off x="5510784" y="273100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🔑</a:t>
            </a:r>
            <a:endParaRPr lang="en-US" sz="2933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6B5A6D8-3D7D-4E9D-3845-BDAD90835C06}"/>
              </a:ext>
            </a:extLst>
          </p:cNvPr>
          <p:cNvSpPr/>
          <p:nvPr/>
        </p:nvSpPr>
        <p:spPr>
          <a:xfrm>
            <a:off x="4413504" y="40233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JWT Token</a:t>
            </a:r>
            <a:endParaRPr lang="en-US" sz="1867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1660E05E-5E65-1BB2-9A73-B1FD7B6C87CE}"/>
              </a:ext>
            </a:extLst>
          </p:cNvPr>
          <p:cNvSpPr/>
          <p:nvPr/>
        </p:nvSpPr>
        <p:spPr>
          <a:xfrm>
            <a:off x="4413504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users and issues a signed JWT token containing the user's role and userId.</a:t>
            </a:r>
            <a:endParaRPr lang="en-US" sz="1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DDBDD31-18BD-7008-2291-041E2586EAD1}"/>
              </a:ext>
            </a:extLst>
          </p:cNvPr>
          <p:cNvSpPr/>
          <p:nvPr/>
        </p:nvSpPr>
        <p:spPr>
          <a:xfrm>
            <a:off x="8095488" y="2438400"/>
            <a:ext cx="3657600" cy="3779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F5B7A09-EC2A-2AB5-432C-8D8144DBCDE3}"/>
              </a:ext>
            </a:extLst>
          </p:cNvPr>
          <p:cNvSpPr/>
          <p:nvPr/>
        </p:nvSpPr>
        <p:spPr>
          <a:xfrm>
            <a:off x="8095488" y="243840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68B95947-4300-B7F9-C072-D24C9E3FE158}"/>
              </a:ext>
            </a:extLst>
          </p:cNvPr>
          <p:cNvSpPr/>
          <p:nvPr/>
        </p:nvSpPr>
        <p:spPr>
          <a:xfrm>
            <a:off x="9375648" y="2706624"/>
            <a:ext cx="1097280" cy="1097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14746C6-D78A-06FD-1DA8-C0E34D2CDEC1}"/>
              </a:ext>
            </a:extLst>
          </p:cNvPr>
          <p:cNvSpPr/>
          <p:nvPr/>
        </p:nvSpPr>
        <p:spPr>
          <a:xfrm>
            <a:off x="9375648" y="2731008"/>
            <a:ext cx="10972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dirty="0">
                <a:solidFill>
                  <a:srgbClr val="000000"/>
                </a:solidFill>
              </a:rPr>
              <a:t>🛡️</a:t>
            </a:r>
            <a:endParaRPr lang="en-US" sz="2933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950F1C90-D11C-72F3-3E1B-7D9471F3A9F0}"/>
              </a:ext>
            </a:extLst>
          </p:cNvPr>
          <p:cNvSpPr/>
          <p:nvPr/>
        </p:nvSpPr>
        <p:spPr>
          <a:xfrm>
            <a:off x="8278368" y="4023360"/>
            <a:ext cx="32918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Security</a:t>
            </a:r>
            <a:endParaRPr lang="en-US" sz="1867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236ED67B-A46F-484B-FA8E-7E84D90AE85B}"/>
              </a:ext>
            </a:extLst>
          </p:cNvPr>
          <p:cNvSpPr/>
          <p:nvPr/>
        </p:nvSpPr>
        <p:spPr>
          <a:xfrm>
            <a:off x="8278368" y="457200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Secures all endpoints using Spring Security — only the correct role can access each route.</a:t>
            </a:r>
            <a:endParaRPr lang="en-US" sz="16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59F9D88-09A7-6F4D-2344-1F87745753FE}"/>
              </a:ext>
            </a:extLst>
          </p:cNvPr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7CFACFC-DFC8-AA74-C6B6-677CDD308768}"/>
              </a:ext>
            </a:extLst>
          </p:cNvPr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User Authentication &amp; Security Service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3604564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1376" cy="792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34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3413760" cy="5181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34137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255520"/>
            <a:ext cx="341376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65760" y="4328160"/>
            <a:ext cx="34137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45280" y="1036320"/>
            <a:ext cx="7680960" cy="518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0" y="1194816"/>
            <a:ext cx="719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 — User Authentication &amp; Security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50080" y="1926336"/>
            <a:ext cx="341376" cy="34137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74336" y="1901952"/>
            <a:ext cx="6644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system shall allow any role (ADMIN / LIBRARIAN / STUDENT) to register with a unique email and password.</a:t>
            </a:r>
            <a:endParaRPr lang="en-US" sz="1667" dirty="0"/>
          </a:p>
        </p:txBody>
      </p:sp>
      <p:sp>
        <p:nvSpPr>
          <p:cNvPr id="13" name="Shape 11"/>
          <p:cNvSpPr/>
          <p:nvPr/>
        </p:nvSpPr>
        <p:spPr>
          <a:xfrm>
            <a:off x="4450080" y="2816352"/>
            <a:ext cx="341376" cy="34137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2791968"/>
            <a:ext cx="6644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system shall authenticate users by email and password and issue a signed JWT session token.</a:t>
            </a:r>
            <a:endParaRPr lang="en-US" sz="1667" dirty="0"/>
          </a:p>
        </p:txBody>
      </p:sp>
      <p:sp>
        <p:nvSpPr>
          <p:cNvPr id="15" name="Shape 13"/>
          <p:cNvSpPr/>
          <p:nvPr/>
        </p:nvSpPr>
        <p:spPr>
          <a:xfrm>
            <a:off x="4450080" y="3706368"/>
            <a:ext cx="341376" cy="34137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3681984"/>
            <a:ext cx="6644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system shall embed the user's role and userId inside the JWT token payload.</a:t>
            </a:r>
            <a:endParaRPr lang="en-US" sz="1667" dirty="0"/>
          </a:p>
        </p:txBody>
      </p:sp>
      <p:sp>
        <p:nvSpPr>
          <p:cNvPr id="17" name="Shape 15"/>
          <p:cNvSpPr/>
          <p:nvPr/>
        </p:nvSpPr>
        <p:spPr>
          <a:xfrm>
            <a:off x="4450080" y="4596384"/>
            <a:ext cx="341376" cy="341376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74336" y="4572000"/>
            <a:ext cx="66446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All librarian, student, and admin routes shall be secured using Spring Security role guards.</a:t>
            </a:r>
            <a:endParaRPr lang="en-US" sz="1667" dirty="0"/>
          </a:p>
        </p:txBody>
      </p:sp>
      <p:sp>
        <p:nvSpPr>
          <p:cNvPr id="19" name="Shape 17"/>
          <p:cNvSpPr/>
          <p:nvPr/>
        </p:nvSpPr>
        <p:spPr>
          <a:xfrm>
            <a:off x="365760" y="6193536"/>
            <a:ext cx="11460480" cy="633984"/>
          </a:xfrm>
          <a:prstGeom prst="rect">
            <a:avLst/>
          </a:prstGeom>
          <a:solidFill>
            <a:srgbClr val="EEF1F6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9600" y="6254496"/>
            <a:ext cx="158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File: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2133600" y="6217920"/>
            <a:ext cx="2438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User.java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4511040" y="6254496"/>
            <a:ext cx="71932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with id, username, password, email, role — shared across all members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User Authentication &amp; Security Service</a:t>
            </a:r>
            <a:endParaRPr lang="en-US" sz="146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1376" cy="792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34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114604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36320"/>
            <a:ext cx="73152" cy="15240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3984" y="1402080"/>
            <a:ext cx="1036320" cy="46329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3984" y="1426464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53184" y="1158240"/>
            <a:ext cx="707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/api/auth/register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53184" y="1706880"/>
            <a:ext cx="829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 new user. Accepts name, email, password, and role (ADMIN / LIBRARIAN / STUDENT). Password is BCrypt-hashed before saving.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997440" y="1219200"/>
            <a:ext cx="1584960" cy="390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97440" y="1243584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365760" y="2767584"/>
            <a:ext cx="114604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767584"/>
            <a:ext cx="73152" cy="15240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984" y="3133344"/>
            <a:ext cx="1036320" cy="46329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84" y="3157728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853184" y="2889504"/>
            <a:ext cx="707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/api/auth/login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53184" y="3438144"/>
            <a:ext cx="829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the user by email and password. Returns a signed JWT token containing role and userId for use in all subsequent API calls.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997440" y="2950464"/>
            <a:ext cx="1584960" cy="390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7440" y="297484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333" dirty="0"/>
          </a:p>
        </p:txBody>
      </p:sp>
      <p:sp>
        <p:nvSpPr>
          <p:cNvPr id="21" name="Shape 19"/>
          <p:cNvSpPr/>
          <p:nvPr/>
        </p:nvSpPr>
        <p:spPr>
          <a:xfrm>
            <a:off x="365760" y="4498848"/>
            <a:ext cx="1146048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4498848"/>
            <a:ext cx="73152" cy="1524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984" y="4864608"/>
            <a:ext cx="1036320" cy="46329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984" y="4888992"/>
            <a:ext cx="10363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53184" y="4620768"/>
            <a:ext cx="7071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/api/auth/logout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53184" y="5169408"/>
            <a:ext cx="829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out the user. Frontend clears the JWT token from localStorage. All protected endpoints become inaccessible until next login.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97440" y="4681728"/>
            <a:ext cx="1584960" cy="39014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97440" y="4706112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Required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365760" y="6217920"/>
            <a:ext cx="1146048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25449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Login are open to all. All other endpoints require a valid JWT Bearer token in the Authorization header.</a:t>
            </a:r>
            <a:endParaRPr lang="en-US" sz="1533" dirty="0"/>
          </a:p>
        </p:txBody>
      </p:sp>
      <p:sp>
        <p:nvSpPr>
          <p:cNvPr id="31" name="Shape 29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User Authentication &amp; Security Service</a:t>
            </a:r>
            <a:endParaRPr lang="en-US" sz="14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5760" cy="82905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97536"/>
            <a:ext cx="853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Output — Live Screenshots</a:t>
            </a:r>
            <a:endParaRPr lang="en-US" sz="2933" dirty="0"/>
          </a:p>
        </p:txBody>
      </p:sp>
      <p:sp>
        <p:nvSpPr>
          <p:cNvPr id="5" name="Text 3"/>
          <p:cNvSpPr/>
          <p:nvPr/>
        </p:nvSpPr>
        <p:spPr>
          <a:xfrm>
            <a:off x="609600" y="97536"/>
            <a:ext cx="113385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733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localhost:8083</a:t>
            </a:r>
            <a:endParaRPr lang="en-US" sz="1733" dirty="0"/>
          </a:p>
        </p:txBody>
      </p:sp>
      <p:sp>
        <p:nvSpPr>
          <p:cNvPr id="6" name="Shape 4"/>
          <p:cNvSpPr/>
          <p:nvPr/>
        </p:nvSpPr>
        <p:spPr>
          <a:xfrm>
            <a:off x="304800" y="1036320"/>
            <a:ext cx="6705600" cy="46573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04800" y="1036320"/>
            <a:ext cx="670560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4800" y="1036320"/>
            <a:ext cx="85344" cy="51206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296" y="1121664"/>
            <a:ext cx="316992" cy="3169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296" y="1133856"/>
            <a:ext cx="316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33" dirty="0"/>
          </a:p>
        </p:txBody>
      </p:sp>
      <p:sp>
        <p:nvSpPr>
          <p:cNvPr id="11" name="Text 9"/>
          <p:cNvSpPr/>
          <p:nvPr/>
        </p:nvSpPr>
        <p:spPr>
          <a:xfrm>
            <a:off x="902208" y="1121664"/>
            <a:ext cx="58521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 — Welcome Back  (localhost:8083)</a:t>
            </a:r>
            <a:endParaRPr lang="en-US" sz="1467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6720" y="1645920"/>
            <a:ext cx="6437376" cy="39014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254240" y="1036320"/>
            <a:ext cx="4632960" cy="2218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254240" y="1036320"/>
            <a:ext cx="463296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54240" y="1036320"/>
            <a:ext cx="85344" cy="5120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12736" y="1121664"/>
            <a:ext cx="316992" cy="3169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12736" y="1133856"/>
            <a:ext cx="316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7851648" y="1121664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 — After Login</a:t>
            </a:r>
            <a:endParaRPr lang="en-US" sz="1467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76160" y="1645920"/>
            <a:ext cx="4389120" cy="148742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254240" y="3438144"/>
            <a:ext cx="463296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7254240" y="3438144"/>
            <a:ext cx="4632960" cy="51206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254240" y="3438144"/>
            <a:ext cx="85344" cy="512064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12736" y="3523488"/>
            <a:ext cx="316992" cy="316992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412736" y="3535680"/>
            <a:ext cx="316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33" dirty="0"/>
          </a:p>
        </p:txBody>
      </p:sp>
      <p:sp>
        <p:nvSpPr>
          <p:cNvPr id="25" name="Text 21"/>
          <p:cNvSpPr/>
          <p:nvPr/>
        </p:nvSpPr>
        <p:spPr>
          <a:xfrm>
            <a:off x="7851648" y="3523488"/>
            <a:ext cx="377952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 — Create Account</a:t>
            </a:r>
            <a:endParaRPr lang="en-US" sz="1467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76160" y="4047744"/>
            <a:ext cx="4389120" cy="15240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304800" y="5876544"/>
            <a:ext cx="11582400" cy="4632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09600" y="5937504"/>
            <a:ext cx="26822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Login Working</a:t>
            </a:r>
            <a:endParaRPr lang="en-US" sz="1467" dirty="0"/>
          </a:p>
        </p:txBody>
      </p:sp>
      <p:sp>
        <p:nvSpPr>
          <p:cNvPr id="29" name="Text 24"/>
          <p:cNvSpPr/>
          <p:nvPr/>
        </p:nvSpPr>
        <p:spPr>
          <a:xfrm>
            <a:off x="3413760" y="5937504"/>
            <a:ext cx="2926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JWT Token Issued</a:t>
            </a:r>
            <a:endParaRPr lang="en-US" sz="1467" dirty="0"/>
          </a:p>
        </p:txBody>
      </p:sp>
      <p:sp>
        <p:nvSpPr>
          <p:cNvPr id="30" name="Text 25"/>
          <p:cNvSpPr/>
          <p:nvPr/>
        </p:nvSpPr>
        <p:spPr>
          <a:xfrm>
            <a:off x="6461760" y="5937504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Role Redirect Working</a:t>
            </a:r>
            <a:endParaRPr lang="en-US" sz="1467" dirty="0"/>
          </a:p>
        </p:txBody>
      </p:sp>
      <p:sp>
        <p:nvSpPr>
          <p:cNvPr id="31" name="Text 26"/>
          <p:cNvSpPr/>
          <p:nvPr/>
        </p:nvSpPr>
        <p:spPr>
          <a:xfrm>
            <a:off x="9631680" y="5937504"/>
            <a:ext cx="207264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Register Working</a:t>
            </a:r>
            <a:endParaRPr lang="en-US" sz="1467" dirty="0"/>
          </a:p>
        </p:txBody>
      </p:sp>
      <p:sp>
        <p:nvSpPr>
          <p:cNvPr id="32" name="Shape 27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Frontend Output  ·  React  ·  localhost:8083</a:t>
            </a:r>
            <a:endParaRPr lang="en-US" sz="146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1376" cy="792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34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365760" y="1036320"/>
            <a:ext cx="5852160" cy="5181600"/>
          </a:xfrm>
          <a:prstGeom prst="rect">
            <a:avLst/>
          </a:prstGeom>
          <a:solidFill>
            <a:srgbClr val="151E2E"/>
          </a:solidFill>
          <a:ln w="12700">
            <a:solidFill>
              <a:srgbClr val="151E2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21664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5D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auth-service / src / main / java / com / libraryhub_auth_service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2064" y="1548384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libraryhub_auth_service/</a:t>
            </a:r>
            <a:endParaRPr lang="en-US" sz="1227" dirty="0"/>
          </a:p>
        </p:txBody>
      </p:sp>
      <p:sp>
        <p:nvSpPr>
          <p:cNvPr id="8" name="Text 6"/>
          <p:cNvSpPr/>
          <p:nvPr/>
        </p:nvSpPr>
        <p:spPr>
          <a:xfrm>
            <a:off x="512064" y="1780032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5D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src/main/java/com/libraryhub_auth_service/</a:t>
            </a:r>
            <a:endParaRPr lang="en-US" sz="1227" dirty="0"/>
          </a:p>
        </p:txBody>
      </p:sp>
      <p:sp>
        <p:nvSpPr>
          <p:cNvPr id="9" name="Text 7"/>
          <p:cNvSpPr/>
          <p:nvPr/>
        </p:nvSpPr>
        <p:spPr>
          <a:xfrm>
            <a:off x="512064" y="2011680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LibraryhubAuthServiceApplication.java</a:t>
            </a:r>
            <a:endParaRPr lang="en-US" sz="1227" dirty="0"/>
          </a:p>
        </p:txBody>
      </p:sp>
      <p:sp>
        <p:nvSpPr>
          <p:cNvPr id="10" name="Text 8"/>
          <p:cNvSpPr/>
          <p:nvPr/>
        </p:nvSpPr>
        <p:spPr>
          <a:xfrm>
            <a:off x="512064" y="2243328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controller/</a:t>
            </a:r>
            <a:endParaRPr lang="en-US" sz="1227" dirty="0"/>
          </a:p>
        </p:txBody>
      </p:sp>
      <p:sp>
        <p:nvSpPr>
          <p:cNvPr id="11" name="Text 9"/>
          <p:cNvSpPr/>
          <p:nvPr/>
        </p:nvSpPr>
        <p:spPr>
          <a:xfrm>
            <a:off x="512064" y="2474976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AuthController.java</a:t>
            </a:r>
            <a:endParaRPr lang="en-US" sz="1227" dirty="0"/>
          </a:p>
        </p:txBody>
      </p:sp>
      <p:sp>
        <p:nvSpPr>
          <p:cNvPr id="12" name="Text 10"/>
          <p:cNvSpPr/>
          <p:nvPr/>
        </p:nvSpPr>
        <p:spPr>
          <a:xfrm>
            <a:off x="512064" y="2706624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dto/</a:t>
            </a:r>
            <a:endParaRPr lang="en-US" sz="1227" dirty="0"/>
          </a:p>
        </p:txBody>
      </p:sp>
      <p:sp>
        <p:nvSpPr>
          <p:cNvPr id="13" name="Text 11"/>
          <p:cNvSpPr/>
          <p:nvPr/>
        </p:nvSpPr>
        <p:spPr>
          <a:xfrm>
            <a:off x="512064" y="2938272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LoginRequest.java  RegisterRequest.java</a:t>
            </a:r>
            <a:endParaRPr lang="en-US" sz="1227" dirty="0"/>
          </a:p>
        </p:txBody>
      </p:sp>
      <p:sp>
        <p:nvSpPr>
          <p:cNvPr id="14" name="Text 12"/>
          <p:cNvSpPr/>
          <p:nvPr/>
        </p:nvSpPr>
        <p:spPr>
          <a:xfrm>
            <a:off x="512064" y="3169920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entity/</a:t>
            </a:r>
            <a:endParaRPr lang="en-US" sz="1227" dirty="0"/>
          </a:p>
        </p:txBody>
      </p:sp>
      <p:sp>
        <p:nvSpPr>
          <p:cNvPr id="15" name="Text 13"/>
          <p:cNvSpPr/>
          <p:nvPr/>
        </p:nvSpPr>
        <p:spPr>
          <a:xfrm>
            <a:off x="512064" y="3401568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User.java</a:t>
            </a:r>
            <a:endParaRPr lang="en-US" sz="1227" dirty="0"/>
          </a:p>
        </p:txBody>
      </p:sp>
      <p:sp>
        <p:nvSpPr>
          <p:cNvPr id="16" name="Text 14"/>
          <p:cNvSpPr/>
          <p:nvPr/>
        </p:nvSpPr>
        <p:spPr>
          <a:xfrm>
            <a:off x="512064" y="3633216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repository/</a:t>
            </a:r>
            <a:endParaRPr lang="en-US" sz="1227" dirty="0"/>
          </a:p>
        </p:txBody>
      </p:sp>
      <p:sp>
        <p:nvSpPr>
          <p:cNvPr id="17" name="Text 15"/>
          <p:cNvSpPr/>
          <p:nvPr/>
        </p:nvSpPr>
        <p:spPr>
          <a:xfrm>
            <a:off x="512064" y="3864864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UserRepository.java</a:t>
            </a:r>
            <a:endParaRPr lang="en-US" sz="1227" dirty="0"/>
          </a:p>
        </p:txBody>
      </p:sp>
      <p:sp>
        <p:nvSpPr>
          <p:cNvPr id="18" name="Text 16"/>
          <p:cNvSpPr/>
          <p:nvPr/>
        </p:nvSpPr>
        <p:spPr>
          <a:xfrm>
            <a:off x="512064" y="4096512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security/</a:t>
            </a:r>
            <a:endParaRPr lang="en-US" sz="1227" dirty="0"/>
          </a:p>
        </p:txBody>
      </p:sp>
      <p:sp>
        <p:nvSpPr>
          <p:cNvPr id="19" name="Text 17"/>
          <p:cNvSpPr/>
          <p:nvPr/>
        </p:nvSpPr>
        <p:spPr>
          <a:xfrm>
            <a:off x="512064" y="4328160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JwtUtil.java  JwtFilter.java  SecurityConfig.java</a:t>
            </a:r>
            <a:endParaRPr lang="en-US" sz="1227" dirty="0"/>
          </a:p>
        </p:txBody>
      </p:sp>
      <p:sp>
        <p:nvSpPr>
          <p:cNvPr id="20" name="Text 18"/>
          <p:cNvSpPr/>
          <p:nvPr/>
        </p:nvSpPr>
        <p:spPr>
          <a:xfrm>
            <a:off x="512064" y="4559808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service/</a:t>
            </a:r>
            <a:endParaRPr lang="en-US" sz="1227" dirty="0"/>
          </a:p>
        </p:txBody>
      </p:sp>
      <p:sp>
        <p:nvSpPr>
          <p:cNvPr id="21" name="Text 19"/>
          <p:cNvSpPr/>
          <p:nvPr/>
        </p:nvSpPr>
        <p:spPr>
          <a:xfrm>
            <a:off x="512064" y="4791456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 AuthService.java</a:t>
            </a:r>
            <a:endParaRPr lang="en-US" sz="1227" dirty="0"/>
          </a:p>
        </p:txBody>
      </p:sp>
      <p:sp>
        <p:nvSpPr>
          <p:cNvPr id="22" name="Text 20"/>
          <p:cNvSpPr/>
          <p:nvPr/>
        </p:nvSpPr>
        <p:spPr>
          <a:xfrm>
            <a:off x="512064" y="5023104"/>
            <a:ext cx="56083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27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resources/  application.properties</a:t>
            </a:r>
            <a:endParaRPr lang="en-US" sz="1227" dirty="0"/>
          </a:p>
        </p:txBody>
      </p:sp>
      <p:sp>
        <p:nvSpPr>
          <p:cNvPr id="23" name="Text 21"/>
          <p:cNvSpPr/>
          <p:nvPr/>
        </p:nvSpPr>
        <p:spPr>
          <a:xfrm>
            <a:off x="6583680" y="1072896"/>
            <a:ext cx="52425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2133" dirty="0"/>
          </a:p>
        </p:txBody>
      </p:sp>
      <p:sp>
        <p:nvSpPr>
          <p:cNvPr id="24" name="Shape 22"/>
          <p:cNvSpPr/>
          <p:nvPr/>
        </p:nvSpPr>
        <p:spPr>
          <a:xfrm>
            <a:off x="6522720" y="1682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22720" y="1682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9984" y="1731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LibraryhubAuthServiceApplication.java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29984" y="2023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entry point for the auth microservice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522720" y="2444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2720" y="2444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9984" y="2493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AuthController.java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29984" y="2785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POST /register, POST /login, POST /logout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6522720" y="3206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522720" y="3206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9984" y="3255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AuthService.java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29984" y="3547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registration, login, JWT generation</a:t>
            </a:r>
            <a:endParaRPr lang="en-US" sz="1333" dirty="0"/>
          </a:p>
        </p:txBody>
      </p:sp>
      <p:sp>
        <p:nvSpPr>
          <p:cNvPr id="36" name="Shape 34"/>
          <p:cNvSpPr/>
          <p:nvPr/>
        </p:nvSpPr>
        <p:spPr>
          <a:xfrm>
            <a:off x="6522720" y="3968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22720" y="3968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29984" y="4017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JwtUtil.java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29984" y="4309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and validates JWT tokens with role + userId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6522720" y="4730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22720" y="4730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29984" y="4779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SecurityConfig.java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729984" y="5071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config, CORS, JWT filter chain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6522720" y="5492496"/>
            <a:ext cx="5303520" cy="633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522720" y="5492496"/>
            <a:ext cx="60960" cy="63398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29984" y="5541264"/>
            <a:ext cx="4998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6729984" y="5833872"/>
            <a:ext cx="49987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connection, server port 8080, JWT secret key</a:t>
            </a:r>
            <a:endParaRPr lang="en-US" sz="1333" dirty="0"/>
          </a:p>
        </p:txBody>
      </p:sp>
      <p:sp>
        <p:nvSpPr>
          <p:cNvPr id="48" name="Shape 46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User Authentication &amp; Security Service</a:t>
            </a:r>
            <a:endParaRPr lang="en-US" sz="146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92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1376" cy="7924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5344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365760" y="1072896"/>
            <a:ext cx="1146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3296" y="1219200"/>
            <a:ext cx="560832" cy="5608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3296" y="1243584"/>
            <a:ext cx="56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 dirty="0"/>
          </a:p>
        </p:txBody>
      </p:sp>
      <p:sp>
        <p:nvSpPr>
          <p:cNvPr id="8" name="Shape 6"/>
          <p:cNvSpPr/>
          <p:nvPr/>
        </p:nvSpPr>
        <p:spPr>
          <a:xfrm>
            <a:off x="1194816" y="1194816"/>
            <a:ext cx="609600" cy="60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4816" y="1219200"/>
            <a:ext cx="6096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000000"/>
                </a:solidFill>
              </a:rPr>
              <a:t>&lt;/&gt;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2011680" y="1146048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471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User.java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2011680" y="1536192"/>
            <a:ext cx="9631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— id, username, password, email, role (ADMIN / LIBRARIAN / STUDENT)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1146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296" y="2267712"/>
            <a:ext cx="560832" cy="5608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296" y="2292096"/>
            <a:ext cx="56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 dirty="0"/>
          </a:p>
        </p:txBody>
      </p:sp>
      <p:sp>
        <p:nvSpPr>
          <p:cNvPr id="15" name="Shape 13"/>
          <p:cNvSpPr/>
          <p:nvPr/>
        </p:nvSpPr>
        <p:spPr>
          <a:xfrm>
            <a:off x="1194816" y="2243328"/>
            <a:ext cx="609600" cy="60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4816" y="2267712"/>
            <a:ext cx="6096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000000"/>
                </a:solidFill>
              </a:rPr>
              <a:t>📝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2011680" y="2194560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/api/auth/register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2011680" y="2584704"/>
            <a:ext cx="9631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any user role — saves BCrypt-hashed password to MySQL users table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3169920"/>
            <a:ext cx="1146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3296" y="3316224"/>
            <a:ext cx="560832" cy="5608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296" y="3340608"/>
            <a:ext cx="56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1194816" y="3291840"/>
            <a:ext cx="609600" cy="60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4816" y="3316224"/>
            <a:ext cx="6096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000000"/>
                </a:solidFill>
              </a:rPr>
              <a:t>🔑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2011680" y="3243072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/api/auth/login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2011680" y="3633216"/>
            <a:ext cx="9631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return JWT session token containing role and userId in payload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4218432"/>
            <a:ext cx="1146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3296" y="4364736"/>
            <a:ext cx="560832" cy="5608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296" y="4389120"/>
            <a:ext cx="56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 dirty="0"/>
          </a:p>
        </p:txBody>
      </p:sp>
      <p:sp>
        <p:nvSpPr>
          <p:cNvPr id="29" name="Shape 27"/>
          <p:cNvSpPr/>
          <p:nvPr/>
        </p:nvSpPr>
        <p:spPr>
          <a:xfrm>
            <a:off x="1194816" y="4340352"/>
            <a:ext cx="609600" cy="60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94816" y="4364736"/>
            <a:ext cx="6096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000000"/>
                </a:solidFill>
              </a:rPr>
              <a:t>⚙️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2011680" y="4291584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Security + JWT Filter</a:t>
            </a:r>
            <a:endParaRPr lang="en-US" sz="1733" dirty="0"/>
          </a:p>
        </p:txBody>
      </p:sp>
      <p:sp>
        <p:nvSpPr>
          <p:cNvPr id="32" name="Text 30"/>
          <p:cNvSpPr/>
          <p:nvPr/>
        </p:nvSpPr>
        <p:spPr>
          <a:xfrm>
            <a:off x="2011680" y="4681728"/>
            <a:ext cx="9631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 validates every request; SecurityConfig sets up the filter chain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65760" y="5266944"/>
            <a:ext cx="11460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3296" y="5413248"/>
            <a:ext cx="560832" cy="56083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3296" y="5437632"/>
            <a:ext cx="56083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 dirty="0"/>
          </a:p>
        </p:txBody>
      </p:sp>
      <p:sp>
        <p:nvSpPr>
          <p:cNvPr id="36" name="Shape 34"/>
          <p:cNvSpPr/>
          <p:nvPr/>
        </p:nvSpPr>
        <p:spPr>
          <a:xfrm>
            <a:off x="1194816" y="5388864"/>
            <a:ext cx="609600" cy="609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94816" y="5413248"/>
            <a:ext cx="60960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dirty="0">
                <a:solidFill>
                  <a:srgbClr val="000000"/>
                </a:solidFill>
              </a:rPr>
              <a:t>🛡️</a:t>
            </a:r>
            <a:endParaRPr lang="en-US" sz="1867" dirty="0"/>
          </a:p>
        </p:txBody>
      </p:sp>
      <p:sp>
        <p:nvSpPr>
          <p:cNvPr id="38" name="Text 36"/>
          <p:cNvSpPr/>
          <p:nvPr/>
        </p:nvSpPr>
        <p:spPr>
          <a:xfrm>
            <a:off x="2011680" y="5340096"/>
            <a:ext cx="963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Role-Based Access Control</a:t>
            </a:r>
            <a:endParaRPr lang="en-US" sz="1733" dirty="0"/>
          </a:p>
        </p:txBody>
      </p:sp>
      <p:sp>
        <p:nvSpPr>
          <p:cNvPr id="39" name="Text 37"/>
          <p:cNvSpPr/>
          <p:nvPr/>
        </p:nvSpPr>
        <p:spPr>
          <a:xfrm>
            <a:off x="2011680" y="5730240"/>
            <a:ext cx="96316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librarian, student, and admin routes secured via @PreAuthorize role guards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6461760"/>
            <a:ext cx="1146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1 — User Authentication &amp; Security Service</a:t>
            </a:r>
            <a:endParaRPr lang="en-US" sz="146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9984"/>
            <a:ext cx="12192000" cy="121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670560"/>
            <a:ext cx="109728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</a:t>
            </a:r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r>
              <a:rPr lang="en-US" sz="61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r>
              <a:rPr lang="en-US" sz="6133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133" dirty="0"/>
          </a:p>
        </p:txBody>
      </p:sp>
      <p:sp>
        <p:nvSpPr>
          <p:cNvPr id="5" name="Text 3"/>
          <p:cNvSpPr/>
          <p:nvPr/>
        </p:nvSpPr>
        <p:spPr>
          <a:xfrm>
            <a:off x="609600" y="188976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Catalog &amp; Category Service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632960" y="2865120"/>
            <a:ext cx="292608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9600" y="31089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dirty="0">
                <a:solidFill>
                  <a:srgbClr val="CADCFC"/>
                </a:solidFill>
              </a:rPr>
              <a:t>Spring Boot  |  MySQL  |  React (TypeScript)</a:t>
            </a:r>
            <a:endParaRPr lang="en-US" sz="1867" dirty="0"/>
          </a:p>
        </p:txBody>
      </p:sp>
      <p:sp>
        <p:nvSpPr>
          <p:cNvPr id="8" name="Shape 6"/>
          <p:cNvSpPr/>
          <p:nvPr/>
        </p:nvSpPr>
        <p:spPr>
          <a:xfrm>
            <a:off x="2682240" y="3901440"/>
            <a:ext cx="1950720" cy="487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2240" y="39014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</a:rPr>
              <a:t>FR-01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5120640" y="3901440"/>
            <a:ext cx="1950720" cy="487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39014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</a:rPr>
              <a:t>Backend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7315200" y="3901440"/>
            <a:ext cx="1950720" cy="4876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0" y="3901440"/>
            <a:ext cx="19507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E2761"/>
                </a:solidFill>
              </a:rPr>
              <a:t>Book Entity Owner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0" y="6364224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CADCFC"/>
                </a:solidFill>
              </a:rPr>
              <a:t>LibraryHub — Library Management System  •  Group of 10</a:t>
            </a:r>
            <a:endParaRPr lang="en-US" sz="133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87680" y="18288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E2761"/>
                </a:solidFill>
              </a:rPr>
              <a:t>How Other Members Connect to Member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0" y="2865120"/>
            <a:ext cx="3048000" cy="1158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0" y="2865120"/>
            <a:ext cx="30480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👤 Member 2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</a:rPr>
              <a:t>Book Catalog Service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3840" y="115824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3840" y="1158240"/>
            <a:ext cx="3291840" cy="5120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3840" y="11582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3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Librarian CRUD</a:t>
            </a:r>
            <a:endParaRPr lang="en-US" sz="1333" dirty="0"/>
          </a:p>
        </p:txBody>
      </p:sp>
      <p:sp>
        <p:nvSpPr>
          <p:cNvPr id="9" name="Text 7"/>
          <p:cNvSpPr/>
          <p:nvPr/>
        </p:nvSpPr>
        <p:spPr>
          <a:xfrm>
            <a:off x="365760" y="174345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Uses: addBook()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updateBook()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deleteBook()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3840" y="414528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840" y="4145280"/>
            <a:ext cx="3291840" cy="5120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840" y="41452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4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Borrow Approval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365760" y="473049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Uses: getBookById()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decrement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AvailableCopies()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778240" y="115824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1158240"/>
            <a:ext cx="3291840" cy="5120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115824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5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Student Borrow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8900160" y="174345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Uses: getAllBooks()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searchBooks()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isAvailable()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778240" y="414528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0" y="4145280"/>
            <a:ext cx="3291840" cy="5120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41452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6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Return Service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8900160" y="473049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Uses: getBookById()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increment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AvailableCopies()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3840" y="231648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43840" y="2316480"/>
            <a:ext cx="3291840" cy="5120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3840" y="23164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9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Librarian UI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365760" y="290169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Calls: GET /books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POST /books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DELETE /books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778240" y="2316480"/>
            <a:ext cx="3291840" cy="158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778240" y="2316480"/>
            <a:ext cx="3291840" cy="5120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316480"/>
            <a:ext cx="3291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</a:rPr>
              <a:t>Member 10</a:t>
            </a:r>
            <a:endParaRPr lang="en-US" sz="1333" dirty="0"/>
          </a:p>
          <a:p>
            <a:pPr algn="ctr"/>
            <a:r>
              <a:rPr lang="en-US" sz="1333" b="1" dirty="0">
                <a:solidFill>
                  <a:srgbClr val="FFFFFF"/>
                </a:solidFill>
              </a:rPr>
              <a:t>Student UI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8900160" y="2901696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374151"/>
                </a:solidFill>
              </a:rPr>
              <a:t>Calls: GET /books</a:t>
            </a:r>
            <a:endParaRPr lang="en-US" sz="1200" dirty="0"/>
          </a:p>
          <a:p>
            <a:r>
              <a:rPr lang="en-US" sz="1200" dirty="0">
                <a:solidFill>
                  <a:srgbClr val="374151"/>
                </a:solidFill>
              </a:rPr>
              <a:t>search?query=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535680" y="1950720"/>
            <a:ext cx="1036320" cy="1341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535680" y="3108960"/>
            <a:ext cx="103632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535680" y="4754880"/>
            <a:ext cx="10363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778240" y="1950720"/>
            <a:ext cx="0" cy="134112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8778240" y="3108960"/>
            <a:ext cx="0" cy="18288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778240" y="475488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Project File Structure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486400" cy="5486400"/>
          </a:xfrm>
          <a:prstGeom prst="rect">
            <a:avLst/>
          </a:prstGeom>
          <a:solidFill>
            <a:srgbClr val="1E1E2E"/>
          </a:solidFill>
          <a:ln w="12700">
            <a:solidFill>
              <a:srgbClr val="374151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7680" y="128016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catalog-service/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7680" y="164592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src/main/java/com/libraryhub/catalog/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7680" y="201168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CatalogServiceApplication.java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680" y="237744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entity/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7680" y="274320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Book.java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7680" y="310896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Category.java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7680" y="347472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repository/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680" y="384048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BookRepository.java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680" y="420624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CategoryRepository.java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7680" y="457200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service/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7680" y="493776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BookService.java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7680" y="530352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controller/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680" y="566928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CatalogController.java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7680" y="6035040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resources/application.properties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0" y="1097280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96000" y="1097280"/>
            <a:ext cx="731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78880" y="1121664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Book.java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6278880" y="1438656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Core entity. availableCopies managed here.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96000" y="1865376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1865376"/>
            <a:ext cx="73152" cy="6949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8880" y="1889760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Category.java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6278880" y="2206752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OneToMany parent. Holds list of books.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096000" y="2633472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96000" y="2633472"/>
            <a:ext cx="73152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8880" y="2657856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BookRepository.java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6278880" y="2974848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searchByKeyword(), existsByIsbn(), findByCategoryId()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096000" y="3401568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96000" y="3401568"/>
            <a:ext cx="73152" cy="69494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78880" y="3425952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CategoryRepository.java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6278880" y="3742944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findByNameIgnoreCase(), existsByNameIgnoreCase()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096000" y="4169664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96000" y="4169664"/>
            <a:ext cx="73152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78880" y="4194048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BookService.java</a:t>
            </a:r>
            <a:endParaRPr lang="en-US" sz="1333" dirty="0"/>
          </a:p>
        </p:txBody>
      </p:sp>
      <p:sp>
        <p:nvSpPr>
          <p:cNvPr id="38" name="Text 36"/>
          <p:cNvSpPr/>
          <p:nvPr/>
        </p:nvSpPr>
        <p:spPr>
          <a:xfrm>
            <a:off x="6278880" y="4511040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All business logic. addBook(), updateBook() etc.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96000" y="4937760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096000" y="4937760"/>
            <a:ext cx="73152" cy="69494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78880" y="4962144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CatalogController.java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6278880" y="5279136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REST endpoints. @CrossOrigin for frontend.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96000" y="5705856"/>
            <a:ext cx="5730240" cy="694944"/>
          </a:xfrm>
          <a:prstGeom prst="rect">
            <a:avLst/>
          </a:prstGeom>
          <a:solidFill>
            <a:srgbClr val="EEF2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96000" y="5705856"/>
            <a:ext cx="73152" cy="6949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78880" y="5730240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333" dirty="0"/>
          </a:p>
        </p:txBody>
      </p:sp>
      <p:sp>
        <p:nvSpPr>
          <p:cNvPr id="46" name="Text 44"/>
          <p:cNvSpPr/>
          <p:nvPr/>
        </p:nvSpPr>
        <p:spPr>
          <a:xfrm>
            <a:off x="6278880" y="6047232"/>
            <a:ext cx="536448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DB config, port 8080, ddl-auto=update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75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733" b="1" dirty="0">
                <a:solidFill>
                  <a:srgbClr val="1E2761"/>
                </a:solidFill>
              </a:rPr>
              <a:t>Postman Testing Guide</a:t>
            </a:r>
            <a:endParaRPr lang="en-US" sz="3733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14604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14604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09728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Add Category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" y="1645920"/>
            <a:ext cx="91440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8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POST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1524000" y="162153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/api/catalog/categories</a:t>
            </a:r>
            <a:endParaRPr lang="en-US" sz="1067" dirty="0"/>
          </a:p>
        </p:txBody>
      </p:sp>
      <p:sp>
        <p:nvSpPr>
          <p:cNvPr id="12" name="Text 10"/>
          <p:cNvSpPr/>
          <p:nvPr/>
        </p:nvSpPr>
        <p:spPr>
          <a:xfrm>
            <a:off x="487680" y="201168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201 Created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680" y="229209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"name": "Technology",</a:t>
            </a:r>
            <a:endParaRPr lang="en-US" sz="1067" dirty="0"/>
          </a:p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"description": "Tech books" }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365760" y="298704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8704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680" y="303580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303580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8704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Add Book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3535680"/>
            <a:ext cx="914400" cy="2926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680" y="3535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POST</a:t>
            </a:r>
            <a:endParaRPr lang="en-US" sz="1067" dirty="0"/>
          </a:p>
        </p:txBody>
      </p:sp>
      <p:sp>
        <p:nvSpPr>
          <p:cNvPr id="21" name="Text 19"/>
          <p:cNvSpPr/>
          <p:nvPr/>
        </p:nvSpPr>
        <p:spPr>
          <a:xfrm>
            <a:off x="1524000" y="351129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/api/catalog/books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487680" y="390144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201 Created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7680" y="418185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"title": "Java Programming",</a:t>
            </a:r>
            <a:endParaRPr lang="en-US" sz="1067" dirty="0"/>
          </a:p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"author": "James Gosling",</a:t>
            </a:r>
            <a:endParaRPr lang="en-US" sz="1067" dirty="0"/>
          </a:p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"totalCopies": 5 }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365760" y="487680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87680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680" y="492556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680" y="492556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487680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Get All Books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487680" y="5425440"/>
            <a:ext cx="914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680" y="5425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GET</a:t>
            </a:r>
            <a:endParaRPr lang="en-US" sz="1067" dirty="0"/>
          </a:p>
        </p:txBody>
      </p:sp>
      <p:sp>
        <p:nvSpPr>
          <p:cNvPr id="31" name="Text 29"/>
          <p:cNvSpPr/>
          <p:nvPr/>
        </p:nvSpPr>
        <p:spPr>
          <a:xfrm>
            <a:off x="1524000" y="540105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/api/catalog/books</a:t>
            </a:r>
            <a:endParaRPr lang="en-US" sz="1067" dirty="0"/>
          </a:p>
        </p:txBody>
      </p:sp>
      <p:sp>
        <p:nvSpPr>
          <p:cNvPr id="32" name="Text 30"/>
          <p:cNvSpPr/>
          <p:nvPr/>
        </p:nvSpPr>
        <p:spPr>
          <a:xfrm>
            <a:off x="487680" y="579120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200 OK + list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7680" y="607161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body needed</a:t>
            </a:r>
            <a:endParaRPr lang="en-US" sz="1067" dirty="0"/>
          </a:p>
        </p:txBody>
      </p:sp>
      <p:sp>
        <p:nvSpPr>
          <p:cNvPr id="34" name="Shape 32"/>
          <p:cNvSpPr/>
          <p:nvPr/>
        </p:nvSpPr>
        <p:spPr>
          <a:xfrm>
            <a:off x="6217920" y="109728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09728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39840" y="114604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39840" y="114604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66560" y="109728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Search Books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6339840" y="1645920"/>
            <a:ext cx="9144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984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GET</a:t>
            </a:r>
            <a:endParaRPr lang="en-US" sz="1067" dirty="0"/>
          </a:p>
        </p:txBody>
      </p:sp>
      <p:sp>
        <p:nvSpPr>
          <p:cNvPr id="41" name="Text 39"/>
          <p:cNvSpPr/>
          <p:nvPr/>
        </p:nvSpPr>
        <p:spPr>
          <a:xfrm>
            <a:off x="7376160" y="162153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/api/catalog/books/search?query=java</a:t>
            </a:r>
            <a:endParaRPr lang="en-US" sz="1067" dirty="0"/>
          </a:p>
        </p:txBody>
      </p:sp>
      <p:sp>
        <p:nvSpPr>
          <p:cNvPr id="42" name="Text 40"/>
          <p:cNvSpPr/>
          <p:nvPr/>
        </p:nvSpPr>
        <p:spPr>
          <a:xfrm>
            <a:off x="6339840" y="201168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200 OK + results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339840" y="229209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body needed</a:t>
            </a:r>
            <a:endParaRPr lang="en-US" sz="1067" dirty="0"/>
          </a:p>
        </p:txBody>
      </p:sp>
      <p:sp>
        <p:nvSpPr>
          <p:cNvPr id="44" name="Shape 42"/>
          <p:cNvSpPr/>
          <p:nvPr/>
        </p:nvSpPr>
        <p:spPr>
          <a:xfrm>
            <a:off x="6217920" y="298704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298704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39840" y="303580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39840" y="303580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766560" y="298704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Update Book</a:t>
            </a:r>
            <a:endParaRPr lang="en-US" sz="1467" dirty="0"/>
          </a:p>
        </p:txBody>
      </p:sp>
      <p:sp>
        <p:nvSpPr>
          <p:cNvPr id="49" name="Shape 47"/>
          <p:cNvSpPr/>
          <p:nvPr/>
        </p:nvSpPr>
        <p:spPr>
          <a:xfrm>
            <a:off x="6339840" y="3535680"/>
            <a:ext cx="9144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9840" y="3535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PUT</a:t>
            </a:r>
            <a:endParaRPr lang="en-US" sz="1067" dirty="0"/>
          </a:p>
        </p:txBody>
      </p:sp>
      <p:sp>
        <p:nvSpPr>
          <p:cNvPr id="51" name="Text 49"/>
          <p:cNvSpPr/>
          <p:nvPr/>
        </p:nvSpPr>
        <p:spPr>
          <a:xfrm>
            <a:off x="7376160" y="351129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/api/catalog/books/1</a:t>
            </a:r>
            <a:endParaRPr lang="en-US" sz="1067" dirty="0"/>
          </a:p>
        </p:txBody>
      </p:sp>
      <p:sp>
        <p:nvSpPr>
          <p:cNvPr id="52" name="Text 50"/>
          <p:cNvSpPr/>
          <p:nvPr/>
        </p:nvSpPr>
        <p:spPr>
          <a:xfrm>
            <a:off x="6339840" y="390144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200 OK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39840" y="418185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"title": "Updated Title",</a:t>
            </a:r>
            <a:endParaRPr lang="en-US" sz="1067" dirty="0"/>
          </a:p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"totalCopies": 10 }</a:t>
            </a:r>
            <a:endParaRPr lang="en-US" sz="1067" dirty="0"/>
          </a:p>
        </p:txBody>
      </p:sp>
      <p:sp>
        <p:nvSpPr>
          <p:cNvPr id="54" name="Shape 52"/>
          <p:cNvSpPr/>
          <p:nvPr/>
        </p:nvSpPr>
        <p:spPr>
          <a:xfrm>
            <a:off x="6217920" y="4876800"/>
            <a:ext cx="5608320" cy="176784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217920" y="4876800"/>
            <a:ext cx="5608320" cy="46329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39840" y="4925568"/>
            <a:ext cx="341376" cy="3413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39840" y="4925568"/>
            <a:ext cx="3413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E2761"/>
                </a:solidFill>
              </a:rPr>
              <a:t>6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766560" y="487680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Delete Book</a:t>
            </a:r>
            <a:endParaRPr lang="en-US" sz="1467" dirty="0"/>
          </a:p>
        </p:txBody>
      </p:sp>
      <p:sp>
        <p:nvSpPr>
          <p:cNvPr id="59" name="Shape 57"/>
          <p:cNvSpPr/>
          <p:nvPr/>
        </p:nvSpPr>
        <p:spPr>
          <a:xfrm>
            <a:off x="6339840" y="5425440"/>
            <a:ext cx="9144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9840" y="54254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FFFFF"/>
                </a:solidFill>
              </a:rPr>
              <a:t>DELETE</a:t>
            </a:r>
            <a:endParaRPr lang="en-US" sz="1067" dirty="0"/>
          </a:p>
        </p:txBody>
      </p:sp>
      <p:sp>
        <p:nvSpPr>
          <p:cNvPr id="61" name="Text 59"/>
          <p:cNvSpPr/>
          <p:nvPr/>
        </p:nvSpPr>
        <p:spPr>
          <a:xfrm>
            <a:off x="7376160" y="5401056"/>
            <a:ext cx="43281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/api/catalog/books/1</a:t>
            </a:r>
            <a:endParaRPr lang="en-US" sz="1067" dirty="0"/>
          </a:p>
        </p:txBody>
      </p:sp>
      <p:sp>
        <p:nvSpPr>
          <p:cNvPr id="62" name="Text 60"/>
          <p:cNvSpPr/>
          <p:nvPr/>
        </p:nvSpPr>
        <p:spPr>
          <a:xfrm>
            <a:off x="6339840" y="5791200"/>
            <a:ext cx="5242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Expected: 204 No Content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339840" y="6071616"/>
            <a:ext cx="5242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body needed</a:t>
            </a:r>
            <a:endParaRPr lang="en-US" sz="1067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75360" y="-975360"/>
            <a:ext cx="3657600" cy="3657600"/>
          </a:xfrm>
          <a:prstGeom prst="ellipse">
            <a:avLst/>
          </a:prstGeom>
          <a:solidFill>
            <a:srgbClr val="8C3530">
              <a:alpha val="30000"/>
            </a:srgbClr>
          </a:solidFill>
          <a:ln w="12700">
            <a:solidFill>
              <a:srgbClr val="8C35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0" y="4267200"/>
            <a:ext cx="3048000" cy="3048000"/>
          </a:xfrm>
          <a:prstGeom prst="ellipse">
            <a:avLst/>
          </a:prstGeom>
          <a:solidFill>
            <a:srgbClr val="D4736A">
              <a:alpha val="25000"/>
            </a:srgbClr>
          </a:solidFill>
          <a:ln w="12700">
            <a:solidFill>
              <a:srgbClr val="D4736A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26720"/>
            <a:ext cx="4145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733" b="1" dirty="0">
                <a:solidFill>
                  <a:srgbClr val="8C3530">
                    <a:alpha val="5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733" dirty="0"/>
          </a:p>
        </p:txBody>
      </p:sp>
      <p:sp>
        <p:nvSpPr>
          <p:cNvPr id="6" name="Text 4"/>
          <p:cNvSpPr/>
          <p:nvPr/>
        </p:nvSpPr>
        <p:spPr>
          <a:xfrm>
            <a:off x="365760" y="1584960"/>
            <a:ext cx="414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kern="0" spc="667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975360" y="2255520"/>
            <a:ext cx="2926080" cy="48768"/>
          </a:xfrm>
          <a:prstGeom prst="rect">
            <a:avLst/>
          </a:prstGeom>
          <a:solidFill>
            <a:srgbClr val="E8A83A">
              <a:alpha val="70000"/>
            </a:srgbClr>
          </a:solidFill>
          <a:ln w="12700">
            <a:solidFill>
              <a:srgbClr val="E8A83A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438400"/>
            <a:ext cx="4145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i="1" dirty="0">
                <a:solidFill>
                  <a:srgbClr val="EDE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LibraryHub</a:t>
            </a:r>
            <a:endParaRPr lang="en-US" sz="1733" dirty="0"/>
          </a:p>
          <a:p>
            <a:pPr algn="ctr"/>
            <a:r>
              <a:rPr lang="en-US" sz="1733" i="1" dirty="0">
                <a:solidFill>
                  <a:srgbClr val="EDE0C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Project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26720" y="5608320"/>
            <a:ext cx="1341120" cy="414528"/>
          </a:xfrm>
          <a:prstGeom prst="rect">
            <a:avLst/>
          </a:prstGeom>
          <a:solidFill>
            <a:srgbClr val="8C3530"/>
          </a:solidFill>
          <a:ln w="12700">
            <a:solidFill>
              <a:srgbClr val="E8A8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6720" y="5608320"/>
            <a:ext cx="1341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8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89760" y="5608320"/>
            <a:ext cx="1341120" cy="414528"/>
          </a:xfrm>
          <a:prstGeom prst="rect">
            <a:avLst/>
          </a:prstGeom>
          <a:solidFill>
            <a:srgbClr val="8C3530"/>
          </a:solidFill>
          <a:ln w="12700">
            <a:solidFill>
              <a:srgbClr val="E8A8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89760" y="5608320"/>
            <a:ext cx="1341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8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52800" y="5608320"/>
            <a:ext cx="1341120" cy="414528"/>
          </a:xfrm>
          <a:prstGeom prst="rect">
            <a:avLst/>
          </a:prstGeom>
          <a:solidFill>
            <a:srgbClr val="8C3530"/>
          </a:solidFill>
          <a:ln w="12700">
            <a:solidFill>
              <a:srgbClr val="E8A8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2800" y="5608320"/>
            <a:ext cx="134112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8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0" y="609600"/>
            <a:ext cx="6583680" cy="1158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933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Librarian</a:t>
            </a:r>
            <a:endParaRPr lang="en-US" sz="6933" dirty="0"/>
          </a:p>
        </p:txBody>
      </p:sp>
      <p:sp>
        <p:nvSpPr>
          <p:cNvPr id="16" name="Text 14"/>
          <p:cNvSpPr/>
          <p:nvPr/>
        </p:nvSpPr>
        <p:spPr>
          <a:xfrm>
            <a:off x="5303520" y="1706880"/>
            <a:ext cx="6583680" cy="85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 Management</a:t>
            </a:r>
            <a:endParaRPr lang="en-US" sz="4533" dirty="0"/>
          </a:p>
        </p:txBody>
      </p:sp>
      <p:sp>
        <p:nvSpPr>
          <p:cNvPr id="17" name="Text 15"/>
          <p:cNvSpPr/>
          <p:nvPr/>
        </p:nvSpPr>
        <p:spPr>
          <a:xfrm>
            <a:off x="5303520" y="2535936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4533" i="1" dirty="0">
                <a:solidFill>
                  <a:srgbClr val="6B8F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4533" dirty="0"/>
          </a:p>
        </p:txBody>
      </p:sp>
      <p:sp>
        <p:nvSpPr>
          <p:cNvPr id="18" name="Shape 16"/>
          <p:cNvSpPr/>
          <p:nvPr/>
        </p:nvSpPr>
        <p:spPr>
          <a:xfrm>
            <a:off x="5303520" y="3438144"/>
            <a:ext cx="6339840" cy="48768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657600"/>
            <a:ext cx="633984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operations for the LibraryHub book catalog.</a:t>
            </a:r>
            <a:endParaRPr lang="en-US" sz="1733" dirty="0"/>
          </a:p>
          <a:p>
            <a:r>
              <a:rPr lang="en-US" sz="1733" i="1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Librarian-facing REST API secured with Spring Security.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5303520" y="4937760"/>
            <a:ext cx="63398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C88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LibrarianController.java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5303520" y="5437632"/>
            <a:ext cx="633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controller/LibrarianController.java  ·  wired to BookService (M2)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Role &amp; Responsibility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548640" y="1487424"/>
            <a:ext cx="3474720" cy="1219200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87424"/>
            <a:ext cx="34747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633728"/>
            <a:ext cx="31699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Layer</a:t>
            </a:r>
            <a:endParaRPr lang="en-US" sz="1333" dirty="0"/>
          </a:p>
        </p:txBody>
      </p:sp>
      <p:sp>
        <p:nvSpPr>
          <p:cNvPr id="8" name="Text 6"/>
          <p:cNvSpPr/>
          <p:nvPr/>
        </p:nvSpPr>
        <p:spPr>
          <a:xfrm>
            <a:off x="694944" y="1975104"/>
            <a:ext cx="316992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667" dirty="0"/>
          </a:p>
        </p:txBody>
      </p:sp>
      <p:sp>
        <p:nvSpPr>
          <p:cNvPr id="9" name="Shape 7"/>
          <p:cNvSpPr/>
          <p:nvPr/>
        </p:nvSpPr>
        <p:spPr>
          <a:xfrm>
            <a:off x="4328160" y="1487424"/>
            <a:ext cx="3474720" cy="1219200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8160" y="1487424"/>
            <a:ext cx="3474720" cy="73152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1633728"/>
            <a:ext cx="31699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FR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4474464" y="1975104"/>
            <a:ext cx="316992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FR-01</a:t>
            </a:r>
            <a:endParaRPr lang="en-US" sz="2667" dirty="0"/>
          </a:p>
        </p:txBody>
      </p:sp>
      <p:sp>
        <p:nvSpPr>
          <p:cNvPr id="13" name="Shape 11"/>
          <p:cNvSpPr/>
          <p:nvPr/>
        </p:nvSpPr>
        <p:spPr>
          <a:xfrm>
            <a:off x="8107680" y="1487424"/>
            <a:ext cx="3474720" cy="1219200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7680" y="1487424"/>
            <a:ext cx="3474720" cy="73152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3984" y="1633728"/>
            <a:ext cx="316992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kern="0" spc="133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Stack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8253984" y="1975104"/>
            <a:ext cx="3169920" cy="560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67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2667" dirty="0"/>
          </a:p>
        </p:txBody>
      </p:sp>
      <p:sp>
        <p:nvSpPr>
          <p:cNvPr id="17" name="Text 15"/>
          <p:cNvSpPr/>
          <p:nvPr/>
        </p:nvSpPr>
        <p:spPr>
          <a:xfrm>
            <a:off x="548640" y="2950464"/>
            <a:ext cx="60960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2C24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I'm Building</a:t>
            </a:r>
            <a:endParaRPr lang="en-US" sz="2133" dirty="0"/>
          </a:p>
        </p:txBody>
      </p:sp>
      <p:sp>
        <p:nvSpPr>
          <p:cNvPr id="18" name="Shape 16"/>
          <p:cNvSpPr/>
          <p:nvPr/>
        </p:nvSpPr>
        <p:spPr>
          <a:xfrm>
            <a:off x="548640" y="3462528"/>
            <a:ext cx="3048000" cy="4876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79520"/>
            <a:ext cx="268224" cy="2682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9744" y="3681984"/>
            <a:ext cx="560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LibrarianController.java — the core CRUD controller</a:t>
            </a:r>
            <a:endParaRPr lang="en-US" sz="1667" dirty="0"/>
          </a:p>
        </p:txBody>
      </p:sp>
      <p:sp>
        <p:nvSpPr>
          <p:cNvPr id="21" name="Shape 19"/>
          <p:cNvSpPr/>
          <p:nvPr/>
        </p:nvSpPr>
        <p:spPr>
          <a:xfrm>
            <a:off x="548640" y="4328160"/>
            <a:ext cx="268224" cy="2682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9744" y="4230624"/>
            <a:ext cx="560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Update / Delete / View books via REST endpoints</a:t>
            </a:r>
            <a:endParaRPr lang="en-US" sz="1667" dirty="0"/>
          </a:p>
        </p:txBody>
      </p:sp>
      <p:sp>
        <p:nvSpPr>
          <p:cNvPr id="23" name="Shape 21"/>
          <p:cNvSpPr/>
          <p:nvPr/>
        </p:nvSpPr>
        <p:spPr>
          <a:xfrm>
            <a:off x="548640" y="4876800"/>
            <a:ext cx="268224" cy="2682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9744" y="4779264"/>
            <a:ext cx="560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all methods to BookService (provided by Member 2)</a:t>
            </a:r>
            <a:endParaRPr lang="en-US" sz="1667" dirty="0"/>
          </a:p>
        </p:txBody>
      </p:sp>
      <p:sp>
        <p:nvSpPr>
          <p:cNvPr id="25" name="Shape 23"/>
          <p:cNvSpPr/>
          <p:nvPr/>
        </p:nvSpPr>
        <p:spPr>
          <a:xfrm>
            <a:off x="548640" y="5425440"/>
            <a:ext cx="268224" cy="2682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9744" y="5327904"/>
            <a:ext cx="560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every endpoint to LIBRARIAN role via Spring Security</a:t>
            </a:r>
            <a:endParaRPr lang="en-US" sz="1667" dirty="0"/>
          </a:p>
        </p:txBody>
      </p:sp>
      <p:sp>
        <p:nvSpPr>
          <p:cNvPr id="27" name="Shape 25"/>
          <p:cNvSpPr/>
          <p:nvPr/>
        </p:nvSpPr>
        <p:spPr>
          <a:xfrm>
            <a:off x="548640" y="5974080"/>
            <a:ext cx="268224" cy="268224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9744" y="5876544"/>
            <a:ext cx="5608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proper HTTP status codes on every response</a:t>
            </a:r>
            <a:endParaRPr lang="en-US" sz="1667" dirty="0"/>
          </a:p>
        </p:txBody>
      </p:sp>
      <p:sp>
        <p:nvSpPr>
          <p:cNvPr id="29" name="Shape 27"/>
          <p:cNvSpPr/>
          <p:nvPr/>
        </p:nvSpPr>
        <p:spPr>
          <a:xfrm>
            <a:off x="6888480" y="2852928"/>
            <a:ext cx="4937760" cy="3657600"/>
          </a:xfrm>
          <a:prstGeom prst="rect">
            <a:avLst/>
          </a:prstGeom>
          <a:solidFill>
            <a:srgbClr val="EDE0C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88480" y="2852928"/>
            <a:ext cx="4937760" cy="73152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95744" y="3023616"/>
            <a:ext cx="451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4A6B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Depends On</a:t>
            </a:r>
            <a:endParaRPr lang="en-US" sz="1867" dirty="0"/>
          </a:p>
        </p:txBody>
      </p:sp>
      <p:sp>
        <p:nvSpPr>
          <p:cNvPr id="32" name="Shape 30"/>
          <p:cNvSpPr/>
          <p:nvPr/>
        </p:nvSpPr>
        <p:spPr>
          <a:xfrm>
            <a:off x="7095744" y="3681984"/>
            <a:ext cx="4511040" cy="877824"/>
          </a:xfrm>
          <a:prstGeom prst="rect">
            <a:avLst/>
          </a:prstGeom>
          <a:solidFill>
            <a:srgbClr val="FBF7F2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6432" y="3755136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66432" y="4096512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Spring Security config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7095744" y="4779264"/>
            <a:ext cx="4511040" cy="877824"/>
          </a:xfrm>
          <a:prstGeom prst="rect">
            <a:avLst/>
          </a:prstGeom>
          <a:solidFill>
            <a:srgbClr val="FBF7F2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6432" y="4852416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66432" y="5193792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Book.java entity + BookService.java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7095744" y="6144768"/>
            <a:ext cx="451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Member 1 &amp; 2 before starting your work.</a:t>
            </a:r>
            <a:endParaRPr lang="en-US" sz="13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 &amp; File Structure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438656"/>
            <a:ext cx="5486400" cy="5059680"/>
          </a:xfrm>
          <a:prstGeom prst="rect">
            <a:avLst/>
          </a:prstGeom>
          <a:solidFill>
            <a:srgbClr val="FBF7F2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7680" y="1438656"/>
            <a:ext cx="5486400" cy="63398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752" y="1438656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📘  Book.java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2752" y="2145792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owned by Member 2  ·  used by your controller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87680" y="2535936"/>
            <a:ext cx="5486400" cy="560832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752" y="2584704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533" dirty="0"/>
          </a:p>
        </p:txBody>
      </p:sp>
      <p:sp>
        <p:nvSpPr>
          <p:cNvPr id="11" name="Text 9"/>
          <p:cNvSpPr/>
          <p:nvPr/>
        </p:nvSpPr>
        <p:spPr>
          <a:xfrm>
            <a:off x="2682240" y="2584704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3755136" y="2584704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82752" y="3145536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533" dirty="0"/>
          </a:p>
        </p:txBody>
      </p:sp>
      <p:sp>
        <p:nvSpPr>
          <p:cNvPr id="14" name="Text 12"/>
          <p:cNvSpPr/>
          <p:nvPr/>
        </p:nvSpPr>
        <p:spPr>
          <a:xfrm>
            <a:off x="2682240" y="3145536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3755136" y="3145536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87680" y="3657600"/>
            <a:ext cx="5486400" cy="560832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752" y="3706368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1533" dirty="0"/>
          </a:p>
        </p:txBody>
      </p:sp>
      <p:sp>
        <p:nvSpPr>
          <p:cNvPr id="18" name="Text 16"/>
          <p:cNvSpPr/>
          <p:nvPr/>
        </p:nvSpPr>
        <p:spPr>
          <a:xfrm>
            <a:off x="2682240" y="3706368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3755136" y="3706368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name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82752" y="4267200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isbn</a:t>
            </a:r>
            <a:endParaRPr lang="en-US" sz="1533" dirty="0"/>
          </a:p>
        </p:txBody>
      </p:sp>
      <p:sp>
        <p:nvSpPr>
          <p:cNvPr id="21" name="Text 19"/>
          <p:cNvSpPr/>
          <p:nvPr/>
        </p:nvSpPr>
        <p:spPr>
          <a:xfrm>
            <a:off x="2682240" y="4267200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3755136" y="4267200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ISBN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487680" y="4779264"/>
            <a:ext cx="5486400" cy="560832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2752" y="4828032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genre</a:t>
            </a:r>
            <a:endParaRPr lang="en-US" sz="1533" dirty="0"/>
          </a:p>
        </p:txBody>
      </p:sp>
      <p:sp>
        <p:nvSpPr>
          <p:cNvPr id="25" name="Text 23"/>
          <p:cNvSpPr/>
          <p:nvPr/>
        </p:nvSpPr>
        <p:spPr>
          <a:xfrm>
            <a:off x="2682240" y="4828032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3755136" y="4828032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genre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682752" y="5388864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totalCopies</a:t>
            </a:r>
            <a:endParaRPr lang="en-US" sz="1533" dirty="0"/>
          </a:p>
        </p:txBody>
      </p:sp>
      <p:sp>
        <p:nvSpPr>
          <p:cNvPr id="28" name="Text 26"/>
          <p:cNvSpPr/>
          <p:nvPr/>
        </p:nvSpPr>
        <p:spPr>
          <a:xfrm>
            <a:off x="2682240" y="5388864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3755136" y="5388864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stock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487680" y="5900928"/>
            <a:ext cx="5486400" cy="560832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2752" y="5949696"/>
            <a:ext cx="201168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availableCopies</a:t>
            </a:r>
            <a:endParaRPr lang="en-US" sz="1533" dirty="0"/>
          </a:p>
        </p:txBody>
      </p:sp>
      <p:sp>
        <p:nvSpPr>
          <p:cNvPr id="32" name="Text 30"/>
          <p:cNvSpPr/>
          <p:nvPr/>
        </p:nvSpPr>
        <p:spPr>
          <a:xfrm>
            <a:off x="2682240" y="5949696"/>
            <a:ext cx="103632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3755136" y="5949696"/>
            <a:ext cx="2072640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6339840" y="1438656"/>
            <a:ext cx="5486400" cy="5059680"/>
          </a:xfrm>
          <a:prstGeom prst="rect">
            <a:avLst/>
          </a:prstGeom>
          <a:solidFill>
            <a:srgbClr val="FBF7F2"/>
          </a:solidFill>
          <a:ln/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39840" y="1438656"/>
            <a:ext cx="5486400" cy="63398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4912" y="1438656"/>
            <a:ext cx="512064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⚙  LibrarianController.java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6534912" y="2194560"/>
            <a:ext cx="51206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CORE FILE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34912" y="2657856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@RestController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534912" y="3194304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@RequestMapping("/api/librarian")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6534912" y="3730752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C88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@PreAuthorize("LIBRARIAN")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6534912" y="4267200"/>
            <a:ext cx="5120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5C4A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@Autowired  BookService bookService</a:t>
            </a:r>
            <a:endParaRPr lang="en-US" sz="1467" dirty="0"/>
          </a:p>
        </p:txBody>
      </p:sp>
      <p:sp>
        <p:nvSpPr>
          <p:cNvPr id="42" name="Shape 40"/>
          <p:cNvSpPr/>
          <p:nvPr/>
        </p:nvSpPr>
        <p:spPr>
          <a:xfrm>
            <a:off x="6339840" y="4876800"/>
            <a:ext cx="5486400" cy="48768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4912" y="4998720"/>
            <a:ext cx="5120640" cy="316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i="1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6534912" y="5474208"/>
            <a:ext cx="243840" cy="2438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76288" y="5388864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addBook()</a:t>
            </a:r>
            <a:endParaRPr lang="en-US" sz="1467" dirty="0"/>
          </a:p>
        </p:txBody>
      </p:sp>
      <p:sp>
        <p:nvSpPr>
          <p:cNvPr id="46" name="Shape 44"/>
          <p:cNvSpPr/>
          <p:nvPr/>
        </p:nvSpPr>
        <p:spPr>
          <a:xfrm>
            <a:off x="9156192" y="5474208"/>
            <a:ext cx="243840" cy="2438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97568" y="5388864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updateBook()</a:t>
            </a:r>
            <a:endParaRPr lang="en-US" sz="1467" dirty="0"/>
          </a:p>
        </p:txBody>
      </p:sp>
      <p:sp>
        <p:nvSpPr>
          <p:cNvPr id="48" name="Shape 46"/>
          <p:cNvSpPr/>
          <p:nvPr/>
        </p:nvSpPr>
        <p:spPr>
          <a:xfrm>
            <a:off x="6534912" y="5913120"/>
            <a:ext cx="243840" cy="2438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6288" y="5827776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deleteBook()</a:t>
            </a:r>
            <a:endParaRPr lang="en-US" sz="1467" dirty="0"/>
          </a:p>
        </p:txBody>
      </p:sp>
      <p:sp>
        <p:nvSpPr>
          <p:cNvPr id="50" name="Shape 48"/>
          <p:cNvSpPr/>
          <p:nvPr/>
        </p:nvSpPr>
        <p:spPr>
          <a:xfrm>
            <a:off x="9156192" y="5913120"/>
            <a:ext cx="243840" cy="24384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497568" y="5827776"/>
            <a:ext cx="219456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getAllBooks()</a:t>
            </a:r>
            <a:endParaRPr lang="en-US" sz="1467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Endpoints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511808"/>
            <a:ext cx="11216640" cy="1097280"/>
          </a:xfrm>
          <a:prstGeom prst="rect">
            <a:avLst/>
          </a:prstGeom>
          <a:solidFill>
            <a:srgbClr val="FBF7F2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7680" y="1511808"/>
            <a:ext cx="1341120" cy="109728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511808"/>
            <a:ext cx="134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609344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/api/librarian/book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2121408"/>
            <a:ext cx="426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Body: Book JSON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339840" y="2121408"/>
            <a:ext cx="499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201 Created  +  saved Book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10424160" y="1609344"/>
            <a:ext cx="1219200" cy="390144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0" y="1609344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LIBRARIAN</a:t>
            </a:r>
            <a:endParaRPr lang="en-US" sz="1133" dirty="0"/>
          </a:p>
        </p:txBody>
      </p:sp>
      <p:sp>
        <p:nvSpPr>
          <p:cNvPr id="13" name="Shape 11"/>
          <p:cNvSpPr/>
          <p:nvPr/>
        </p:nvSpPr>
        <p:spPr>
          <a:xfrm>
            <a:off x="487680" y="2804160"/>
            <a:ext cx="11216640" cy="1097280"/>
          </a:xfrm>
          <a:prstGeom prst="rect">
            <a:avLst/>
          </a:prstGeom>
          <a:solidFill>
            <a:srgbClr val="FBF7F2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680" y="2804160"/>
            <a:ext cx="1341120" cy="10972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680" y="2804160"/>
            <a:ext cx="134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011680" y="2901696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/api/librarian/book/{bookId}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011680" y="3413760"/>
            <a:ext cx="426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@PathVariable: bookId (Long)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339840" y="3413760"/>
            <a:ext cx="499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 OK  +  updated Book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10424160" y="2901696"/>
            <a:ext cx="1219200" cy="390144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24160" y="2901696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LIBRARIAN</a:t>
            </a:r>
            <a:endParaRPr lang="en-US" sz="1133" dirty="0"/>
          </a:p>
        </p:txBody>
      </p:sp>
      <p:sp>
        <p:nvSpPr>
          <p:cNvPr id="21" name="Shape 19"/>
          <p:cNvSpPr/>
          <p:nvPr/>
        </p:nvSpPr>
        <p:spPr>
          <a:xfrm>
            <a:off x="487680" y="4096512"/>
            <a:ext cx="11216640" cy="1097280"/>
          </a:xfrm>
          <a:prstGeom prst="rect">
            <a:avLst/>
          </a:prstGeom>
          <a:solidFill>
            <a:srgbClr val="FBF7F2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7680" y="4096512"/>
            <a:ext cx="1341120" cy="10972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680" y="4096512"/>
            <a:ext cx="134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19404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/api/librarian/book/{bookId}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011680" y="4706112"/>
            <a:ext cx="426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@PathVariable: bookId (Long)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339840" y="4706112"/>
            <a:ext cx="499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 OK  +  success message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10424160" y="4194048"/>
            <a:ext cx="1219200" cy="390144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424160" y="4194048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LIBRARIAN</a:t>
            </a:r>
            <a:endParaRPr lang="en-US" sz="1133" dirty="0"/>
          </a:p>
        </p:txBody>
      </p:sp>
      <p:sp>
        <p:nvSpPr>
          <p:cNvPr id="29" name="Shape 27"/>
          <p:cNvSpPr/>
          <p:nvPr/>
        </p:nvSpPr>
        <p:spPr>
          <a:xfrm>
            <a:off x="487680" y="5388864"/>
            <a:ext cx="11216640" cy="1097280"/>
          </a:xfrm>
          <a:prstGeom prst="rect">
            <a:avLst/>
          </a:prstGeom>
          <a:solidFill>
            <a:srgbClr val="FBF7F2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680" y="5388864"/>
            <a:ext cx="1341120" cy="109728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680" y="5388864"/>
            <a:ext cx="1341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011680" y="5486400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2C24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/api/librarian/books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011680" y="5998464"/>
            <a:ext cx="426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8C7A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parameters required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6339840" y="5998464"/>
            <a:ext cx="499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A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200 OK  +  List&lt;Book&gt;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10424160" y="5486400"/>
            <a:ext cx="1219200" cy="390144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24160" y="5486400"/>
            <a:ext cx="12192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LIBRARIAN</a:t>
            </a:r>
            <a:endParaRPr lang="en-US" sz="11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&amp; Method Flow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365760" y="1487424"/>
            <a:ext cx="2011680" cy="975360"/>
          </a:xfrm>
          <a:prstGeom prst="rect">
            <a:avLst/>
          </a:prstGeom>
          <a:solidFill>
            <a:srgbClr val="C8841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87424"/>
            <a:ext cx="2011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2377440" y="1914144"/>
            <a:ext cx="280416" cy="73152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4704" y="1828800"/>
            <a:ext cx="219456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B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67" dirty="0"/>
          </a:p>
        </p:txBody>
      </p:sp>
      <p:sp>
        <p:nvSpPr>
          <p:cNvPr id="9" name="Shape 7"/>
          <p:cNvSpPr/>
          <p:nvPr/>
        </p:nvSpPr>
        <p:spPr>
          <a:xfrm>
            <a:off x="2657856" y="1487424"/>
            <a:ext cx="2011680" cy="975360"/>
          </a:xfrm>
          <a:prstGeom prst="rect">
            <a:avLst/>
          </a:prstGeom>
          <a:solidFill>
            <a:srgbClr val="B85042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7856" y="1487424"/>
            <a:ext cx="2011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4669536" y="1914144"/>
            <a:ext cx="280416" cy="73152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6800" y="1828800"/>
            <a:ext cx="219456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B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67" dirty="0"/>
          </a:p>
        </p:txBody>
      </p:sp>
      <p:sp>
        <p:nvSpPr>
          <p:cNvPr id="13" name="Shape 11"/>
          <p:cNvSpPr/>
          <p:nvPr/>
        </p:nvSpPr>
        <p:spPr>
          <a:xfrm>
            <a:off x="4949952" y="1487424"/>
            <a:ext cx="2011680" cy="975360"/>
          </a:xfrm>
          <a:prstGeom prst="rect">
            <a:avLst/>
          </a:prstGeom>
          <a:solidFill>
            <a:srgbClr val="2C241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49952" y="1487424"/>
            <a:ext cx="2011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6961632" y="1914144"/>
            <a:ext cx="280416" cy="73152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68896" y="1828800"/>
            <a:ext cx="219456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B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67" dirty="0"/>
          </a:p>
        </p:txBody>
      </p:sp>
      <p:sp>
        <p:nvSpPr>
          <p:cNvPr id="17" name="Shape 15"/>
          <p:cNvSpPr/>
          <p:nvPr/>
        </p:nvSpPr>
        <p:spPr>
          <a:xfrm>
            <a:off x="7242048" y="1487424"/>
            <a:ext cx="2011680" cy="975360"/>
          </a:xfrm>
          <a:prstGeom prst="rect">
            <a:avLst/>
          </a:prstGeom>
          <a:solidFill>
            <a:srgbClr val="6B8F7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42048" y="1487424"/>
            <a:ext cx="2011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(M2)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9253728" y="1914144"/>
            <a:ext cx="280416" cy="73152"/>
          </a:xfrm>
          <a:prstGeom prst="rect">
            <a:avLst/>
          </a:prstGeom>
          <a:solidFill>
            <a:srgbClr val="D9C9B0"/>
          </a:solidFill>
          <a:ln w="12700">
            <a:solidFill>
              <a:srgbClr val="D9C9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60992" y="1828800"/>
            <a:ext cx="219456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67" dirty="0">
                <a:solidFill>
                  <a:srgbClr val="B0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67" dirty="0"/>
          </a:p>
        </p:txBody>
      </p:sp>
      <p:sp>
        <p:nvSpPr>
          <p:cNvPr id="21" name="Shape 19"/>
          <p:cNvSpPr/>
          <p:nvPr/>
        </p:nvSpPr>
        <p:spPr>
          <a:xfrm>
            <a:off x="9534144" y="1487424"/>
            <a:ext cx="2011680" cy="975360"/>
          </a:xfrm>
          <a:prstGeom prst="rect">
            <a:avLst/>
          </a:prstGeom>
          <a:solidFill>
            <a:srgbClr val="A0722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534144" y="1487424"/>
            <a:ext cx="201168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67" dirty="0"/>
          </a:p>
          <a:p>
            <a:pPr algn="ctr"/>
            <a:r>
              <a:rPr lang="en-US" sz="1467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487680" y="2706624"/>
            <a:ext cx="5608320" cy="1731264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7680" y="2706624"/>
            <a:ext cx="5608320" cy="463296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7680" y="2706624"/>
            <a:ext cx="73152" cy="1731264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2752" y="276758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6B8F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addBook()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68275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2659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hits /api/librarian/book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199948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02387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6771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@RequestBody → Book object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334060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6499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60883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bookService.addBook()</a:t>
            </a:r>
            <a:endParaRPr lang="en-US" sz="1267" dirty="0"/>
          </a:p>
        </p:txBody>
      </p:sp>
      <p:sp>
        <p:nvSpPr>
          <p:cNvPr id="35" name="Text 33"/>
          <p:cNvSpPr/>
          <p:nvPr/>
        </p:nvSpPr>
        <p:spPr>
          <a:xfrm>
            <a:off x="468172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0611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4995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Book + HTTP 201</a:t>
            </a:r>
            <a:endParaRPr lang="en-US" sz="1267" dirty="0"/>
          </a:p>
        </p:txBody>
      </p:sp>
      <p:sp>
        <p:nvSpPr>
          <p:cNvPr id="38" name="Shape 36"/>
          <p:cNvSpPr/>
          <p:nvPr/>
        </p:nvSpPr>
        <p:spPr>
          <a:xfrm>
            <a:off x="6400800" y="2706624"/>
            <a:ext cx="5608320" cy="1731264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00800" y="2706624"/>
            <a:ext cx="5608320" cy="463296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2706624"/>
            <a:ext cx="73152" cy="1731264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95872" y="276758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C884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updateBook()</a:t>
            </a:r>
            <a:endParaRPr lang="en-US" sz="1733" dirty="0"/>
          </a:p>
        </p:txBody>
      </p:sp>
      <p:sp>
        <p:nvSpPr>
          <p:cNvPr id="42" name="Text 40"/>
          <p:cNvSpPr/>
          <p:nvPr/>
        </p:nvSpPr>
        <p:spPr>
          <a:xfrm>
            <a:off x="659587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3971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with {bookId} in path</a:t>
            </a:r>
            <a:endParaRPr lang="en-US" sz="1267" dirty="0"/>
          </a:p>
        </p:txBody>
      </p:sp>
      <p:sp>
        <p:nvSpPr>
          <p:cNvPr id="44" name="Text 42"/>
          <p:cNvSpPr/>
          <p:nvPr/>
        </p:nvSpPr>
        <p:spPr>
          <a:xfrm>
            <a:off x="791260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93699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18083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book or throws 404</a:t>
            </a:r>
            <a:endParaRPr lang="en-US" sz="1267" dirty="0"/>
          </a:p>
        </p:txBody>
      </p:sp>
      <p:sp>
        <p:nvSpPr>
          <p:cNvPr id="47" name="Text 45"/>
          <p:cNvSpPr/>
          <p:nvPr/>
        </p:nvSpPr>
        <p:spPr>
          <a:xfrm>
            <a:off x="925372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27811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52195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bookService.updateBook()</a:t>
            </a:r>
            <a:endParaRPr lang="en-US" sz="1267" dirty="0"/>
          </a:p>
        </p:txBody>
      </p:sp>
      <p:sp>
        <p:nvSpPr>
          <p:cNvPr id="50" name="Text 48"/>
          <p:cNvSpPr/>
          <p:nvPr/>
        </p:nvSpPr>
        <p:spPr>
          <a:xfrm>
            <a:off x="10594848" y="334060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619232" y="324307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C88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863072" y="321868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Book + HTTP 200</a:t>
            </a:r>
            <a:endParaRPr lang="en-US" sz="1267" dirty="0"/>
          </a:p>
        </p:txBody>
      </p:sp>
      <p:sp>
        <p:nvSpPr>
          <p:cNvPr id="53" name="Shape 51"/>
          <p:cNvSpPr/>
          <p:nvPr/>
        </p:nvSpPr>
        <p:spPr>
          <a:xfrm>
            <a:off x="487680" y="4657344"/>
            <a:ext cx="5608320" cy="1731264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87680" y="4657344"/>
            <a:ext cx="5608320" cy="463296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87680" y="4657344"/>
            <a:ext cx="73152" cy="17312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752" y="471830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deleteBook()</a:t>
            </a:r>
            <a:endParaRPr lang="en-US" sz="1733" dirty="0"/>
          </a:p>
        </p:txBody>
      </p:sp>
      <p:sp>
        <p:nvSpPr>
          <p:cNvPr id="57" name="Text 55"/>
          <p:cNvSpPr/>
          <p:nvPr/>
        </p:nvSpPr>
        <p:spPr>
          <a:xfrm>
            <a:off x="68275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2659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with {bookId} in path</a:t>
            </a:r>
            <a:endParaRPr lang="en-US" sz="1267" dirty="0"/>
          </a:p>
        </p:txBody>
      </p:sp>
      <p:sp>
        <p:nvSpPr>
          <p:cNvPr id="59" name="Text 57"/>
          <p:cNvSpPr/>
          <p:nvPr/>
        </p:nvSpPr>
        <p:spPr>
          <a:xfrm>
            <a:off x="199948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202387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226771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book or throws 404</a:t>
            </a:r>
            <a:endParaRPr lang="en-US" sz="1267" dirty="0"/>
          </a:p>
        </p:txBody>
      </p:sp>
      <p:sp>
        <p:nvSpPr>
          <p:cNvPr id="62" name="Text 60"/>
          <p:cNvSpPr/>
          <p:nvPr/>
        </p:nvSpPr>
        <p:spPr>
          <a:xfrm>
            <a:off x="334060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336499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60883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bookService.deleteBook()</a:t>
            </a:r>
            <a:endParaRPr lang="en-US" sz="1267" dirty="0"/>
          </a:p>
        </p:txBody>
      </p:sp>
      <p:sp>
        <p:nvSpPr>
          <p:cNvPr id="65" name="Text 63"/>
          <p:cNvSpPr/>
          <p:nvPr/>
        </p:nvSpPr>
        <p:spPr>
          <a:xfrm>
            <a:off x="468172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470611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494995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message + HTTP 200</a:t>
            </a:r>
            <a:endParaRPr lang="en-US" sz="1267" dirty="0"/>
          </a:p>
        </p:txBody>
      </p:sp>
      <p:sp>
        <p:nvSpPr>
          <p:cNvPr id="68" name="Shape 66"/>
          <p:cNvSpPr/>
          <p:nvPr/>
        </p:nvSpPr>
        <p:spPr>
          <a:xfrm>
            <a:off x="6400800" y="4657344"/>
            <a:ext cx="5608320" cy="1731264"/>
          </a:xfrm>
          <a:prstGeom prst="rect">
            <a:avLst/>
          </a:prstGeom>
          <a:solidFill>
            <a:srgbClr val="FBF7F2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6400800" y="4657344"/>
            <a:ext cx="5608320" cy="463296"/>
          </a:xfrm>
          <a:prstGeom prst="rect">
            <a:avLst/>
          </a:prstGeom>
          <a:solidFill>
            <a:srgbClr val="EDE0CF"/>
          </a:solidFill>
          <a:ln w="12700">
            <a:solidFill>
              <a:srgbClr val="EDE0C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400800" y="4657344"/>
            <a:ext cx="73152" cy="1731264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95872" y="4718304"/>
            <a:ext cx="5242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A07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getAllBooks()</a:t>
            </a:r>
            <a:endParaRPr lang="en-US" sz="1733" dirty="0"/>
          </a:p>
        </p:txBody>
      </p:sp>
      <p:sp>
        <p:nvSpPr>
          <p:cNvPr id="72" name="Text 70"/>
          <p:cNvSpPr/>
          <p:nvPr/>
        </p:nvSpPr>
        <p:spPr>
          <a:xfrm>
            <a:off x="659587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83971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hits /api/librarian/books</a:t>
            </a:r>
            <a:endParaRPr lang="en-US" sz="1267" dirty="0"/>
          </a:p>
        </p:txBody>
      </p:sp>
      <p:sp>
        <p:nvSpPr>
          <p:cNvPr id="74" name="Text 72"/>
          <p:cNvSpPr/>
          <p:nvPr/>
        </p:nvSpPr>
        <p:spPr>
          <a:xfrm>
            <a:off x="791260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793699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18083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params needed</a:t>
            </a:r>
            <a:endParaRPr lang="en-US" sz="1267" dirty="0"/>
          </a:p>
        </p:txBody>
      </p:sp>
      <p:sp>
        <p:nvSpPr>
          <p:cNvPr id="77" name="Text 75"/>
          <p:cNvSpPr/>
          <p:nvPr/>
        </p:nvSpPr>
        <p:spPr>
          <a:xfrm>
            <a:off x="925372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927811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952195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bookService.getAllBooks()</a:t>
            </a:r>
            <a:endParaRPr lang="en-US" sz="1267" dirty="0"/>
          </a:p>
        </p:txBody>
      </p:sp>
      <p:sp>
        <p:nvSpPr>
          <p:cNvPr id="80" name="Text 78"/>
          <p:cNvSpPr/>
          <p:nvPr/>
        </p:nvSpPr>
        <p:spPr>
          <a:xfrm>
            <a:off x="10594848" y="5291328"/>
            <a:ext cx="17068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D9C9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619232" y="5193792"/>
            <a:ext cx="2438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A07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863072" y="5169408"/>
            <a:ext cx="107289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>
                <a:solidFill>
                  <a:srgbClr val="5C4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List&lt;Book&gt; + HTTP 200</a:t>
            </a:r>
            <a:endParaRPr lang="en-US" sz="12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1 — Manage Books (Catalog View)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389888"/>
            <a:ext cx="60960" cy="487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984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Full catalog visible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389376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9376" y="1389888"/>
            <a:ext cx="60960" cy="4876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5680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Edit / Delete actions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291072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389888"/>
            <a:ext cx="60960" cy="48768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by title/author/ISBN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192768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92768" y="1389888"/>
            <a:ext cx="60960" cy="48768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9072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Copies &amp; Available count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63296" y="1999488"/>
            <a:ext cx="11265408" cy="4535424"/>
          </a:xfrm>
          <a:prstGeom prst="rect">
            <a:avLst/>
          </a:prstGeom>
          <a:solidFill>
            <a:srgbClr val="FFFFFF"/>
          </a:solidFill>
          <a:ln w="25400">
            <a:solidFill>
              <a:srgbClr val="B85042"/>
            </a:solidFill>
            <a:prstDash val="solid"/>
          </a:ln>
          <a:effectLst>
            <a:outerShdw blurRad="177800" dist="508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8" name="Image 0" descr="/home/claude/man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872" y="2036064"/>
            <a:ext cx="11192256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2 — Add Book (POST /api/librarian/book)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389888"/>
            <a:ext cx="60960" cy="48768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984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Title &amp; Author fields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389376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9376" y="1389888"/>
            <a:ext cx="60960" cy="4876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5680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ISBN, Genre, Year, Copies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291072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389888"/>
            <a:ext cx="60960" cy="487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Location &amp; Shelf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192768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92768" y="1389888"/>
            <a:ext cx="60960" cy="48768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9072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 Cover Image URL + Description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63296" y="1999488"/>
            <a:ext cx="11265408" cy="4535424"/>
          </a:xfrm>
          <a:prstGeom prst="rect">
            <a:avLst/>
          </a:prstGeom>
          <a:solidFill>
            <a:srgbClr val="FFFFFF"/>
          </a:solidFill>
          <a:ln w="25400">
            <a:solidFill>
              <a:srgbClr val="6B8F71"/>
            </a:solidFill>
            <a:prstDash val="solid"/>
          </a:ln>
          <a:effectLst>
            <a:outerShdw blurRad="177800" dist="508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8" name="Image 0" descr="/home/claude/ad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872" y="2045896"/>
            <a:ext cx="11192256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3 — Members (Librarian Panel)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389888"/>
            <a:ext cx="60960" cy="487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984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6 total members listed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389376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9376" y="1389888"/>
            <a:ext cx="60960" cy="48768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5680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Active / Inactive status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291072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389888"/>
            <a:ext cx="60960" cy="4876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Books Issued count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192768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92768" y="1389888"/>
            <a:ext cx="60960" cy="48768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9072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Currently Borrowing + due dates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63296" y="1999488"/>
            <a:ext cx="11265408" cy="4535424"/>
          </a:xfrm>
          <a:prstGeom prst="rect">
            <a:avLst/>
          </a:prstGeom>
          <a:solidFill>
            <a:srgbClr val="FFFFFF"/>
          </a:solidFill>
          <a:ln w="25400">
            <a:solidFill>
              <a:srgbClr val="C8841A"/>
            </a:solidFill>
            <a:prstDash val="solid"/>
          </a:ln>
          <a:effectLst>
            <a:outerShdw blurRad="177800" dist="508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B5E3CF8-E914-1159-9F25-75551F1B56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" y="1999488"/>
            <a:ext cx="11241024" cy="453542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48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4 — Issued Books (Borrow Tracking)</a:t>
            </a:r>
            <a:endParaRPr lang="en-US" sz="3467" dirty="0"/>
          </a:p>
        </p:txBody>
      </p:sp>
      <p:sp>
        <p:nvSpPr>
          <p:cNvPr id="4" name="Text 2"/>
          <p:cNvSpPr/>
          <p:nvPr/>
        </p:nvSpPr>
        <p:spPr>
          <a:xfrm>
            <a:off x="10728960" y="0"/>
            <a:ext cx="1097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67" dirty="0">
                <a:solidFill>
                  <a:srgbClr val="D47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467" dirty="0"/>
          </a:p>
        </p:txBody>
      </p:sp>
      <p:sp>
        <p:nvSpPr>
          <p:cNvPr id="5" name="Shape 3"/>
          <p:cNvSpPr/>
          <p:nvPr/>
        </p:nvSpPr>
        <p:spPr>
          <a:xfrm>
            <a:off x="487680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7680" y="1389888"/>
            <a:ext cx="60960" cy="487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3984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issued / returned / overdue</a:t>
            </a:r>
            <a:endParaRPr lang="en-US" sz="1333" dirty="0"/>
          </a:p>
        </p:txBody>
      </p:sp>
      <p:sp>
        <p:nvSpPr>
          <p:cNvPr id="8" name="Shape 6"/>
          <p:cNvSpPr/>
          <p:nvPr/>
        </p:nvSpPr>
        <p:spPr>
          <a:xfrm>
            <a:off x="3389376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9376" y="1389888"/>
            <a:ext cx="60960" cy="487680"/>
          </a:xfrm>
          <a:prstGeom prst="rect">
            <a:avLst/>
          </a:prstGeom>
          <a:solidFill>
            <a:srgbClr val="C8841A"/>
          </a:solidFill>
          <a:ln w="12700">
            <a:solidFill>
              <a:srgbClr val="C884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35680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Overdue fine ₹50 shown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6291072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91072" y="1389888"/>
            <a:ext cx="60960" cy="48768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Mark Returned action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9192768" y="1389888"/>
            <a:ext cx="2682240" cy="487680"/>
          </a:xfrm>
          <a:prstGeom prst="rect">
            <a:avLst/>
          </a:prstGeom>
          <a:solidFill>
            <a:srgbClr val="EDE0CF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92768" y="1389888"/>
            <a:ext cx="60960" cy="487680"/>
          </a:xfrm>
          <a:prstGeom prst="rect">
            <a:avLst/>
          </a:prstGeom>
          <a:solidFill>
            <a:srgbClr val="A0722A"/>
          </a:solidFill>
          <a:ln w="12700">
            <a:solidFill>
              <a:srgbClr val="A07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39072" y="1389888"/>
            <a:ext cx="2438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b="1" dirty="0">
                <a:solidFill>
                  <a:srgbClr val="2C2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Issue, Due &amp; Return dates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463296" y="1999488"/>
            <a:ext cx="11265408" cy="4535424"/>
          </a:xfrm>
          <a:prstGeom prst="rect">
            <a:avLst/>
          </a:prstGeom>
          <a:solidFill>
            <a:srgbClr val="FFFFFF"/>
          </a:solidFill>
          <a:ln w="25400">
            <a:solidFill>
              <a:srgbClr val="A0722A"/>
            </a:solidFill>
            <a:prstDash val="solid"/>
          </a:ln>
          <a:effectLst>
            <a:outerShdw blurRad="177800" dist="50800" dir="8100000" algn="bl" rotWithShape="0">
              <a:srgbClr val="000000">
                <a:alpha val="16000"/>
              </a:srgbClr>
            </a:outerShdw>
          </a:effectLst>
        </p:spPr>
      </p:sp>
      <p:pic>
        <p:nvPicPr>
          <p:cNvPr id="18" name="Image 0" descr="/home/claude/issu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9872" y="2036064"/>
            <a:ext cx="11192256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8897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121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533" dirty="0">
                <a:solidFill>
                  <a:srgbClr val="E8A020"/>
                </a:solidFill>
              </a:rPr>
              <a:t>TEAM MEMBER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512064"/>
            <a:ext cx="109728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4 — Borrow Request &amp; Approval Service</a:t>
            </a:r>
            <a:endParaRPr lang="en-US" sz="3467" dirty="0"/>
          </a:p>
        </p:txBody>
      </p:sp>
      <p:sp>
        <p:nvSpPr>
          <p:cNvPr id="6" name="Shape 4"/>
          <p:cNvSpPr/>
          <p:nvPr/>
        </p:nvSpPr>
        <p:spPr>
          <a:xfrm>
            <a:off x="609600" y="2194560"/>
            <a:ext cx="1950720" cy="1950720"/>
          </a:xfrm>
          <a:prstGeom prst="ellipse">
            <a:avLst/>
          </a:prstGeom>
          <a:solidFill>
            <a:srgbClr val="E8A020"/>
          </a:solidFill>
          <a:ln w="381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09600" y="2194560"/>
            <a:ext cx="1950720" cy="1950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HK</a:t>
            </a:r>
            <a:endParaRPr lang="en-US" sz="4533" dirty="0"/>
          </a:p>
        </p:txBody>
      </p:sp>
      <p:sp>
        <p:nvSpPr>
          <p:cNvPr id="8" name="Text 6"/>
          <p:cNvSpPr/>
          <p:nvPr/>
        </p:nvSpPr>
        <p:spPr>
          <a:xfrm>
            <a:off x="2926080" y="2255520"/>
            <a:ext cx="877824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Humera Kausar</a:t>
            </a:r>
            <a:endParaRPr lang="en-US" sz="4267" dirty="0"/>
          </a:p>
        </p:txBody>
      </p:sp>
      <p:sp>
        <p:nvSpPr>
          <p:cNvPr id="9" name="Text 7"/>
          <p:cNvSpPr/>
          <p:nvPr/>
        </p:nvSpPr>
        <p:spPr>
          <a:xfrm>
            <a:off x="2926080" y="3072384"/>
            <a:ext cx="6096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239Y1A0549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26080" y="3560064"/>
            <a:ext cx="792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Computer Science  |  Borrow Service Owner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09600" y="4120896"/>
            <a:ext cx="10972800" cy="48768"/>
          </a:xfrm>
          <a:prstGeom prst="rect">
            <a:avLst/>
          </a:prstGeom>
          <a:solidFill>
            <a:srgbClr val="E8A020">
              <a:alpha val="40000"/>
            </a:srgbClr>
          </a:solidFill>
          <a:ln w="12700">
            <a:solidFill>
              <a:srgbClr val="E8A020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0" y="4291584"/>
            <a:ext cx="487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400" dirty="0">
                <a:solidFill>
                  <a:srgbClr val="E8A020"/>
                </a:solidFill>
              </a:rPr>
              <a:t>MY RESPONSIBILITIES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600" y="4730496"/>
            <a:ext cx="359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9600" y="4730496"/>
            <a:ext cx="85344" cy="999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4767072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Design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792480" y="5120640"/>
            <a:ext cx="3352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BorrowRecord.java — id, studentId, bookId, dates, status enum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89120" y="4730496"/>
            <a:ext cx="359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89120" y="4730496"/>
            <a:ext cx="85344" cy="999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4767072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Layer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4572000" y="5120640"/>
            <a:ext cx="3352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findByStudentId(), findByStatus(), findByBookId()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68640" y="4730496"/>
            <a:ext cx="3596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68640" y="4730496"/>
            <a:ext cx="85344" cy="9997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1520" y="4767072"/>
            <a:ext cx="335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Logic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8351520" y="5120640"/>
            <a:ext cx="3352800" cy="56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requestBorrow(), approveBorrow(), rejectBorrow() with guards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9600" y="58277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9600" y="5827776"/>
            <a:ext cx="85344" cy="87782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2480" y="5864352"/>
            <a:ext cx="335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792480" y="6193536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GET, PUT — full CRUD for borrow workflow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389120" y="58277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5827776"/>
            <a:ext cx="85344" cy="87782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5864352"/>
            <a:ext cx="335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Integration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4572000" y="6193536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BrowseBooks.tsx, MyBooks.tsx, LibrarianDashboard.tsx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68640" y="5827776"/>
            <a:ext cx="35966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168640" y="5827776"/>
            <a:ext cx="85344" cy="87782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51520" y="5864352"/>
            <a:ext cx="335280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Guards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8351520" y="6193536"/>
            <a:ext cx="33528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If-conditions block double-approvals &amp; invalid states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87680" y="1645920"/>
            <a:ext cx="524256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82880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LibraryHub?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731520" y="24627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Library Management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723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Spring Boot microservices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6819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frontend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42915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 with Hibernate ORM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9011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Role-based: Student, Librarian, Admin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5510784"/>
            <a:ext cx="47548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borrow request workflow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548640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61760" y="1828800"/>
            <a:ext cx="499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133" dirty="0"/>
          </a:p>
        </p:txBody>
      </p:sp>
      <p:sp>
        <p:nvSpPr>
          <p:cNvPr id="15" name="Shape 13"/>
          <p:cNvSpPr/>
          <p:nvPr/>
        </p:nvSpPr>
        <p:spPr>
          <a:xfrm>
            <a:off x="6461760" y="24871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1760" y="24871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924800" y="25115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+ Tailwind CSS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6461760" y="30967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1760" y="30967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24800" y="31211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4.x + Java 25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6461760" y="37063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61760" y="37063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Database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24800" y="37307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9.6 + Hibernate ORM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461760" y="43159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1760" y="43159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API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24800" y="43403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 + Axios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6461760" y="49255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61760" y="49255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Tools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24800" y="49499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STS, VS Code, Postman, MySQL Workbench</a:t>
            </a:r>
            <a:endParaRPr lang="en-US" sz="1467" dirty="0"/>
          </a:p>
        </p:txBody>
      </p:sp>
      <p:sp>
        <p:nvSpPr>
          <p:cNvPr id="30" name="Shape 28"/>
          <p:cNvSpPr/>
          <p:nvPr/>
        </p:nvSpPr>
        <p:spPr>
          <a:xfrm>
            <a:off x="6461760" y="5535168"/>
            <a:ext cx="1341120" cy="43891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61760" y="5535168"/>
            <a:ext cx="134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Build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24800" y="5559552"/>
            <a:ext cx="359664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+ Vite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0" y="6437376"/>
            <a:ext cx="12192000" cy="420624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9600" y="6461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i="1" dirty="0">
                <a:solidFill>
                  <a:srgbClr val="FFF8EE"/>
                </a:solidFill>
              </a:rPr>
              <a:t>Built as a collaborative microservice architecture — each team member owns one service end-to-end</a:t>
            </a:r>
            <a:endParaRPr lang="en-US" sz="13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07264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BORROW REQUEST WORKFLOW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65760" y="1524000"/>
            <a:ext cx="26822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52400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Student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'Request to Borrow'</a:t>
            </a:r>
            <a:endParaRPr lang="en-US" sz="1467" dirty="0"/>
          </a:p>
        </p:txBody>
      </p:sp>
      <p:sp>
        <p:nvSpPr>
          <p:cNvPr id="7" name="Shape 5"/>
          <p:cNvSpPr/>
          <p:nvPr/>
        </p:nvSpPr>
        <p:spPr>
          <a:xfrm>
            <a:off x="3048000" y="1914144"/>
            <a:ext cx="609600" cy="67056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21024" y="1792224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▶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3901440" y="1524000"/>
            <a:ext cx="2682240" cy="914400"/>
          </a:xfrm>
          <a:prstGeom prst="rect">
            <a:avLst/>
          </a:prstGeom>
          <a:solidFill>
            <a:srgbClr val="3D3D3D"/>
          </a:solidFill>
          <a:ln w="12700">
            <a:solidFill>
              <a:srgbClr val="E8A02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01440" y="152400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POST Request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/api/borrow-requests</a:t>
            </a:r>
            <a:endParaRPr lang="en-US" sz="1467" dirty="0"/>
          </a:p>
        </p:txBody>
      </p:sp>
      <p:sp>
        <p:nvSpPr>
          <p:cNvPr id="11" name="Shape 9"/>
          <p:cNvSpPr/>
          <p:nvPr/>
        </p:nvSpPr>
        <p:spPr>
          <a:xfrm>
            <a:off x="6583680" y="1914144"/>
            <a:ext cx="609600" cy="67056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56704" y="1792224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▶</a:t>
            </a:r>
            <a:endParaRPr lang="en-US" sz="1733" dirty="0"/>
          </a:p>
        </p:txBody>
      </p:sp>
      <p:sp>
        <p:nvSpPr>
          <p:cNvPr id="13" name="Shape 11"/>
          <p:cNvSpPr/>
          <p:nvPr/>
        </p:nvSpPr>
        <p:spPr>
          <a:xfrm>
            <a:off x="7437120" y="1524000"/>
            <a:ext cx="2682240" cy="914400"/>
          </a:xfrm>
          <a:prstGeom prst="rect">
            <a:avLst/>
          </a:prstGeom>
          <a:solidFill>
            <a:srgbClr val="3D3D3D"/>
          </a:solidFill>
          <a:ln w="127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37120" y="152400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MySQL Saves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"REQUESTED"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8729472" y="2438400"/>
            <a:ext cx="67056" cy="548640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2950464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▼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7437120" y="3230880"/>
            <a:ext cx="2682240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37120" y="323088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Librarian Views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/borrow-requests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6583680" y="3621024"/>
            <a:ext cx="853440" cy="67056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8880" y="3499104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◀</a:t>
            </a:r>
            <a:endParaRPr lang="en-US" sz="1733" dirty="0"/>
          </a:p>
        </p:txBody>
      </p:sp>
      <p:sp>
        <p:nvSpPr>
          <p:cNvPr id="21" name="Shape 19"/>
          <p:cNvSpPr/>
          <p:nvPr/>
        </p:nvSpPr>
        <p:spPr>
          <a:xfrm>
            <a:off x="3901440" y="3230880"/>
            <a:ext cx="2682240" cy="914400"/>
          </a:xfrm>
          <a:prstGeom prst="rect">
            <a:avLst/>
          </a:prstGeom>
          <a:solidFill>
            <a:srgbClr val="3D3D3D"/>
          </a:solidFill>
          <a:ln w="254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901440" y="323088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PUT Decision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?status=APPROVED / REJECTED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365760" y="3230880"/>
            <a:ext cx="2682240" cy="914400"/>
          </a:xfrm>
          <a:prstGeom prst="rect">
            <a:avLst/>
          </a:prstGeom>
          <a:solidFill>
            <a:srgbClr val="3D3D3D"/>
          </a:solidFill>
          <a:ln w="12700">
            <a:solidFill>
              <a:srgbClr val="F5B942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3230880"/>
            <a:ext cx="2682240" cy="914400"/>
          </a:xfrm>
          <a:prstGeom prst="rect">
            <a:avLst/>
          </a:prstGeom>
          <a:noFill/>
          <a:ln/>
        </p:spPr>
        <p:txBody>
          <a:bodyPr wrap="square" lIns="67733" tIns="67733" rIns="67733" bIns="67733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Student Checks</a:t>
            </a:r>
            <a:endParaRPr lang="en-US" sz="1467" dirty="0"/>
          </a:p>
          <a:p>
            <a:pPr algn="ctr"/>
            <a:r>
              <a:rPr lang="en-US" sz="14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Books → sees live status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4718304" y="4145280"/>
            <a:ext cx="67056" cy="426720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535424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▼</a:t>
            </a:r>
            <a:endParaRPr lang="en-US" sz="1733" dirty="0"/>
          </a:p>
        </p:txBody>
      </p:sp>
      <p:sp>
        <p:nvSpPr>
          <p:cNvPr id="27" name="Shape 25"/>
          <p:cNvSpPr/>
          <p:nvPr/>
        </p:nvSpPr>
        <p:spPr>
          <a:xfrm>
            <a:off x="3048000" y="4815840"/>
            <a:ext cx="1828800" cy="792480"/>
          </a:xfrm>
          <a:prstGeom prst="rect">
            <a:avLst/>
          </a:prstGeom>
          <a:solidFill>
            <a:srgbClr val="2D7A47"/>
          </a:solidFill>
          <a:ln w="12700">
            <a:solidFill>
              <a:srgbClr val="3DAF6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048000" y="4815840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✅ APPROVED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4998720" y="4815840"/>
            <a:ext cx="1828800" cy="792480"/>
          </a:xfrm>
          <a:prstGeom prst="rect">
            <a:avLst/>
          </a:prstGeom>
          <a:solidFill>
            <a:srgbClr val="B03030"/>
          </a:solidFill>
          <a:ln w="12700">
            <a:solidFill>
              <a:srgbClr val="E040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98720" y="4815840"/>
            <a:ext cx="1828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</a:rPr>
              <a:t>❌ REJECTED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1706880" y="5059680"/>
            <a:ext cx="1341120" cy="67056"/>
          </a:xfrm>
          <a:prstGeom prst="rect">
            <a:avLst/>
          </a:prstGeom>
          <a:solidFill>
            <a:srgbClr val="B0A090"/>
          </a:solidFill>
          <a:ln w="12700">
            <a:solidFill>
              <a:srgbClr val="B0A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02080" y="4937760"/>
            <a:ext cx="268224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B0A090"/>
                </a:solidFill>
              </a:rPr>
              <a:t>◀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1463040" y="5157216"/>
            <a:ext cx="170688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i="1" dirty="0">
                <a:solidFill>
                  <a:srgbClr val="B0A090"/>
                </a:solidFill>
              </a:rPr>
              <a:t>status update</a:t>
            </a:r>
            <a:endParaRPr lang="en-US" sz="1067" dirty="0"/>
          </a:p>
        </p:txBody>
      </p:sp>
      <p:sp>
        <p:nvSpPr>
          <p:cNvPr id="34" name="Shape 32"/>
          <p:cNvSpPr/>
          <p:nvPr/>
        </p:nvSpPr>
        <p:spPr>
          <a:xfrm>
            <a:off x="365760" y="5913120"/>
            <a:ext cx="11460480" cy="707136"/>
          </a:xfrm>
          <a:prstGeom prst="rect">
            <a:avLst/>
          </a:prstGeom>
          <a:solidFill>
            <a:srgbClr val="222222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9600" y="5949696"/>
            <a:ext cx="10972800" cy="633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Security Guard: Service checks status === REQUESTED before allowing approve/reject — prevents double-processing</a:t>
            </a:r>
            <a:endParaRPr lang="en-US" sz="1467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ENDPOINTS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87680" y="1560576"/>
            <a:ext cx="112166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A4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7680" y="1560576"/>
            <a:ext cx="1072896" cy="853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7680" y="1560576"/>
            <a:ext cx="10728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POST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82496" y="1609344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/api/borrow-requests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56320" y="1633728"/>
            <a:ext cx="1584960" cy="3169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56320" y="163372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8A020"/>
                </a:solidFill>
              </a:rPr>
              <a:t>Student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82496" y="2023872"/>
            <a:ext cx="963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submits a new borrow request for a book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487680" y="2535936"/>
            <a:ext cx="112166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680" y="2535936"/>
            <a:ext cx="1072896" cy="853440"/>
          </a:xfrm>
          <a:prstGeom prst="rect">
            <a:avLst/>
          </a:prstGeom>
          <a:solidFill>
            <a:srgbClr val="1A5FA0"/>
          </a:solidFill>
          <a:ln w="12700">
            <a:solidFill>
              <a:srgbClr val="1A5F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680" y="2535936"/>
            <a:ext cx="10728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82496" y="2584704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/api/librarian/borrow-requests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56320" y="2609088"/>
            <a:ext cx="1584960" cy="3169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56320" y="260908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5B942"/>
                </a:solidFill>
              </a:rPr>
              <a:t>Librarian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82496" y="2999232"/>
            <a:ext cx="963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fetches all records with status REQUESTED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87680" y="3511296"/>
            <a:ext cx="112166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601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680" y="3511296"/>
            <a:ext cx="1072896" cy="853440"/>
          </a:xfrm>
          <a:prstGeom prst="rect">
            <a:avLst/>
          </a:prstGeom>
          <a:solidFill>
            <a:srgbClr val="A06010"/>
          </a:solidFill>
          <a:ln w="12700">
            <a:solidFill>
              <a:srgbClr val="A06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" y="3511296"/>
            <a:ext cx="10728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PUT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82496" y="3560064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/api/librarian/borrow-request/{id}?status=APPROVED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56320" y="3584448"/>
            <a:ext cx="1584960" cy="3169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56320" y="358444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5B942"/>
                </a:solidFill>
              </a:rPr>
              <a:t>Librarian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82496" y="3974592"/>
            <a:ext cx="963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approves the borrow request — status → APPROVED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87680" y="4486656"/>
            <a:ext cx="112166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A03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7680" y="4486656"/>
            <a:ext cx="1072896" cy="853440"/>
          </a:xfrm>
          <a:prstGeom prst="rect">
            <a:avLst/>
          </a:prstGeom>
          <a:solidFill>
            <a:srgbClr val="A03020"/>
          </a:solidFill>
          <a:ln w="12700">
            <a:solidFill>
              <a:srgbClr val="A03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680" y="4486656"/>
            <a:ext cx="10728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PUT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82496" y="4535424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/api/librarian/borrow-request/{id}?status=REJECTED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656320" y="4559808"/>
            <a:ext cx="1584960" cy="3169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56320" y="455980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F5B942"/>
                </a:solidFill>
              </a:rPr>
              <a:t>Librarian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682496" y="4949952"/>
            <a:ext cx="963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rejects the borrow request — status → REJECTED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487680" y="5462016"/>
            <a:ext cx="1121664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FA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7680" y="5462016"/>
            <a:ext cx="1072896" cy="853440"/>
          </a:xfrm>
          <a:prstGeom prst="rect">
            <a:avLst/>
          </a:prstGeom>
          <a:solidFill>
            <a:srgbClr val="1A5FA0"/>
          </a:solidFill>
          <a:ln w="12700">
            <a:solidFill>
              <a:srgbClr val="1A5F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680" y="5462016"/>
            <a:ext cx="1072896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GET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682496" y="5510784"/>
            <a:ext cx="682752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/api/borrow-requests/student/{studentId}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56320" y="5535168"/>
            <a:ext cx="1584960" cy="316992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56320" y="5535168"/>
            <a:ext cx="158496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8A020"/>
                </a:solidFill>
              </a:rPr>
              <a:t>Student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682496" y="5925312"/>
            <a:ext cx="9631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views their own borrow history and status</a:t>
            </a:r>
            <a:endParaRPr lang="en-US" sz="1333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2D7A47"/>
          </a:solidFill>
          <a:ln w="12700">
            <a:solidFill>
              <a:srgbClr val="2D7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1 — Student: Browse Books &amp; Send Request</a:t>
            </a:r>
            <a:endParaRPr lang="en-US" sz="346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524000"/>
            <a:ext cx="7559040" cy="4754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29600" y="1524000"/>
            <a:ext cx="353568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524000"/>
            <a:ext cx="85344" cy="1341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88096" y="1584960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</a:rPr>
              <a:t>Logged in 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88096" y="1889760"/>
            <a:ext cx="32918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Humera Kausar Dauzi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388096" y="2255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humerakausardauzi@gmail.com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3048000"/>
            <a:ext cx="353568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3048000"/>
            <a:ext cx="85344" cy="1219200"/>
          </a:xfrm>
          <a:prstGeom prst="rect">
            <a:avLst/>
          </a:prstGeom>
          <a:solidFill>
            <a:srgbClr val="2D7A47"/>
          </a:solidFill>
          <a:ln w="12700">
            <a:solidFill>
              <a:srgbClr val="2D7A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8096" y="3121152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</a:rPr>
              <a:t>Toast notification shown: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88096" y="343814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2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"Borrow request sent!"</a:t>
            </a:r>
            <a:endParaRPr lang="en-US" sz="1467" dirty="0"/>
          </a:p>
        </p:txBody>
      </p:sp>
      <p:sp>
        <p:nvSpPr>
          <p:cNvPr id="15" name="Text 12"/>
          <p:cNvSpPr/>
          <p:nvPr/>
        </p:nvSpPr>
        <p:spPr>
          <a:xfrm>
            <a:off x="8388096" y="3803904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2026-03-29</a:t>
            </a:r>
            <a:endParaRPr lang="en-US" sz="1333" dirty="0"/>
          </a:p>
        </p:txBody>
      </p:sp>
      <p:sp>
        <p:nvSpPr>
          <p:cNvPr id="16" name="Shape 13"/>
          <p:cNvSpPr/>
          <p:nvPr/>
        </p:nvSpPr>
        <p:spPr>
          <a:xfrm>
            <a:off x="8229600" y="4450080"/>
            <a:ext cx="3535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4450080"/>
            <a:ext cx="85344" cy="182880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8096" y="4511040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8A020"/>
                </a:solidFill>
              </a:rPr>
              <a:t>What happened: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88096" y="4901184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/api/borrow-requests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saved in MySQL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"REQUESTED"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2 — Librarian: View Pending &amp; Approve Requests</a:t>
            </a:r>
            <a:endParaRPr lang="en-US" sz="3467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524000"/>
            <a:ext cx="7559040" cy="4754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29600" y="1524000"/>
            <a:ext cx="3535680" cy="1219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0" y="1524000"/>
            <a:ext cx="85344" cy="12192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88096" y="1584960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</a:rPr>
              <a:t>Logged in 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88096" y="1889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Librarian</a:t>
            </a:r>
            <a:endParaRPr lang="en-US" sz="1733" dirty="0"/>
          </a:p>
        </p:txBody>
      </p:sp>
      <p:sp>
        <p:nvSpPr>
          <p:cNvPr id="10" name="Text 7"/>
          <p:cNvSpPr/>
          <p:nvPr/>
        </p:nvSpPr>
        <p:spPr>
          <a:xfrm>
            <a:off x="8388096" y="22555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librarian@libraryhub.com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2901696"/>
            <a:ext cx="3535680" cy="1341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2901696"/>
            <a:ext cx="85344" cy="1341120"/>
          </a:xfrm>
          <a:prstGeom prst="rect">
            <a:avLst/>
          </a:prstGeom>
          <a:solidFill>
            <a:srgbClr val="2D7A47"/>
          </a:solidFill>
          <a:ln w="12700">
            <a:solidFill>
              <a:srgbClr val="2D7A4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8096" y="2974848"/>
            <a:ext cx="32918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A1A1A"/>
                </a:solidFill>
              </a:rPr>
              <a:t>2 requests pending</a:t>
            </a:r>
            <a:endParaRPr lang="en-US" sz="1333" dirty="0"/>
          </a:p>
        </p:txBody>
      </p:sp>
      <p:sp>
        <p:nvSpPr>
          <p:cNvPr id="14" name="Text 11"/>
          <p:cNvSpPr/>
          <p:nvPr/>
        </p:nvSpPr>
        <p:spPr>
          <a:xfrm>
            <a:off x="8388096" y="3340608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#3 already approved</a:t>
            </a:r>
            <a:endParaRPr lang="en-US" sz="1333" dirty="0"/>
          </a:p>
          <a:p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(toast visible)</a:t>
            </a:r>
            <a:endParaRPr lang="en-US" sz="1333" dirty="0"/>
          </a:p>
        </p:txBody>
      </p:sp>
      <p:sp>
        <p:nvSpPr>
          <p:cNvPr id="15" name="Text 12"/>
          <p:cNvSpPr/>
          <p:nvPr/>
        </p:nvSpPr>
        <p:spPr>
          <a:xfrm>
            <a:off x="8388096" y="3925824"/>
            <a:ext cx="329184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i="1" dirty="0">
                <a:solidFill>
                  <a:srgbClr val="2D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'Request #3 approved! ✓'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229600" y="4413504"/>
            <a:ext cx="3535680" cy="1865376"/>
          </a:xfrm>
          <a:prstGeom prst="rect">
            <a:avLst/>
          </a:prstGeom>
          <a:solidFill>
            <a:srgbClr val="FFFFFF"/>
          </a:solidFill>
          <a:ln w="1270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229600" y="4413504"/>
            <a:ext cx="85344" cy="186537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88096" y="4486656"/>
            <a:ext cx="32918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8A020"/>
                </a:solidFill>
              </a:rPr>
              <a:t>What happened: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88096" y="4852416"/>
            <a:ext cx="3291840" cy="1365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/librarian/borrow-requests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IDs #4 and #5 pending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?status=APPROVED fires</a:t>
            </a:r>
            <a:endParaRPr lang="en-US" sz="1200" dirty="0"/>
          </a:p>
          <a:p>
            <a:pPr marL="457189" indent="-457189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updates instantly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41120"/>
            <a:ext cx="12192000" cy="73152"/>
          </a:xfrm>
          <a:prstGeom prst="rect">
            <a:avLst/>
          </a:prstGeom>
          <a:solidFill>
            <a:srgbClr val="2D7A47"/>
          </a:solidFill>
          <a:ln w="12700">
            <a:solidFill>
              <a:srgbClr val="2D7A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3 — MySQL Database Confirmation</a:t>
            </a:r>
            <a:endParaRPr lang="en-US" sz="3733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524000"/>
            <a:ext cx="7559040" cy="4754880"/>
          </a:xfrm>
          <a:prstGeom prst="rect">
            <a:avLst/>
          </a:prstGeom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6" name="Shape 3"/>
          <p:cNvSpPr/>
          <p:nvPr/>
        </p:nvSpPr>
        <p:spPr>
          <a:xfrm>
            <a:off x="8229600" y="1524000"/>
            <a:ext cx="3535680" cy="1048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B94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0" y="1572768"/>
            <a:ext cx="353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533" dirty="0"/>
          </a:p>
        </p:txBody>
      </p:sp>
      <p:sp>
        <p:nvSpPr>
          <p:cNvPr id="8" name="Text 5"/>
          <p:cNvSpPr/>
          <p:nvPr/>
        </p:nvSpPr>
        <p:spPr>
          <a:xfrm>
            <a:off x="8229600" y="2182368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8229600" y="2718816"/>
            <a:ext cx="3535680" cy="1048512"/>
          </a:xfrm>
          <a:prstGeom prst="rect">
            <a:avLst/>
          </a:prstGeom>
          <a:solidFill>
            <a:srgbClr val="FFFFFF"/>
          </a:solidFill>
          <a:ln w="19050">
            <a:solidFill>
              <a:srgbClr val="3DAF63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229600" y="2767584"/>
            <a:ext cx="353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b="1" dirty="0">
                <a:solidFill>
                  <a:srgbClr val="3DAF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533" dirty="0"/>
          </a:p>
        </p:txBody>
      </p:sp>
      <p:sp>
        <p:nvSpPr>
          <p:cNvPr id="11" name="Text 8"/>
          <p:cNvSpPr/>
          <p:nvPr/>
        </p:nvSpPr>
        <p:spPr>
          <a:xfrm>
            <a:off x="8229600" y="3377184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333" dirty="0"/>
          </a:p>
        </p:txBody>
      </p:sp>
      <p:sp>
        <p:nvSpPr>
          <p:cNvPr id="12" name="Shape 9"/>
          <p:cNvSpPr/>
          <p:nvPr/>
        </p:nvSpPr>
        <p:spPr>
          <a:xfrm>
            <a:off x="8229600" y="3913632"/>
            <a:ext cx="3535680" cy="1048512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229600" y="3962400"/>
            <a:ext cx="353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533" dirty="0"/>
          </a:p>
        </p:txBody>
      </p:sp>
      <p:sp>
        <p:nvSpPr>
          <p:cNvPr id="14" name="Text 11"/>
          <p:cNvSpPr/>
          <p:nvPr/>
        </p:nvSpPr>
        <p:spPr>
          <a:xfrm>
            <a:off x="8229600" y="4572000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 (pending)</a:t>
            </a:r>
            <a:endParaRPr lang="en-US" sz="1333" dirty="0"/>
          </a:p>
        </p:txBody>
      </p:sp>
      <p:sp>
        <p:nvSpPr>
          <p:cNvPr id="15" name="Shape 12"/>
          <p:cNvSpPr/>
          <p:nvPr/>
        </p:nvSpPr>
        <p:spPr>
          <a:xfrm>
            <a:off x="8229600" y="5108448"/>
            <a:ext cx="3535680" cy="1048512"/>
          </a:xfrm>
          <a:prstGeom prst="rect">
            <a:avLst/>
          </a:prstGeom>
          <a:solidFill>
            <a:srgbClr val="FFFFFF"/>
          </a:solidFill>
          <a:ln w="19050">
            <a:solidFill>
              <a:srgbClr val="F5B94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29600" y="5157216"/>
            <a:ext cx="35356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33" b="1" dirty="0">
                <a:solidFill>
                  <a:srgbClr val="F5B9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533" dirty="0"/>
          </a:p>
        </p:txBody>
      </p:sp>
      <p:sp>
        <p:nvSpPr>
          <p:cNvPr id="17" name="Text 14"/>
          <p:cNvSpPr/>
          <p:nvPr/>
        </p:nvSpPr>
        <p:spPr>
          <a:xfrm>
            <a:off x="8229600" y="5766816"/>
            <a:ext cx="3535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persisted</a:t>
            </a:r>
            <a:endParaRPr lang="en-US" sz="1333" dirty="0"/>
          </a:p>
        </p:txBody>
      </p:sp>
      <p:sp>
        <p:nvSpPr>
          <p:cNvPr id="18" name="Text 15"/>
          <p:cNvSpPr/>
          <p:nvPr/>
        </p:nvSpPr>
        <p:spPr>
          <a:xfrm>
            <a:off x="426720" y="6364224"/>
            <a:ext cx="1133856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4A4A4A"/>
                </a:solidFill>
              </a:rPr>
              <a:t>SELECT * FROM borrow_records — 5 rows returned, all data persisted correctly in MySQL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2804160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-731520"/>
            <a:ext cx="4632960" cy="4632960"/>
          </a:xfrm>
          <a:prstGeom prst="ellipse">
            <a:avLst/>
          </a:prstGeom>
          <a:solidFill>
            <a:srgbClr val="E8A020">
              <a:alpha val="8000"/>
            </a:srgbClr>
          </a:solidFill>
          <a:ln w="12700">
            <a:solidFill>
              <a:srgbClr val="E8A02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2682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533" dirty="0">
                <a:solidFill>
                  <a:srgbClr val="E8A020"/>
                </a:solidFill>
              </a:rPr>
              <a:t>CONCLUSION</a:t>
            </a:r>
            <a:endParaRPr lang="en-US" sz="1333" dirty="0"/>
          </a:p>
        </p:txBody>
      </p:sp>
      <p:sp>
        <p:nvSpPr>
          <p:cNvPr id="6" name="Text 4"/>
          <p:cNvSpPr/>
          <p:nvPr/>
        </p:nvSpPr>
        <p:spPr>
          <a:xfrm>
            <a:off x="609600" y="682752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 4 — Fully Delivered</a:t>
            </a:r>
            <a:endParaRPr lang="en-US" sz="5067" dirty="0"/>
          </a:p>
        </p:txBody>
      </p:sp>
      <p:sp>
        <p:nvSpPr>
          <p:cNvPr id="7" name="Text 5"/>
          <p:cNvSpPr/>
          <p:nvPr/>
        </p:nvSpPr>
        <p:spPr>
          <a:xfrm>
            <a:off x="609600" y="1853184"/>
            <a:ext cx="1097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dirty="0">
                <a:solidFill>
                  <a:srgbClr val="F5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Humera Kausar  |  Roll No: 239Y1A0549</a:t>
            </a:r>
            <a:endParaRPr lang="en-US" sz="2133" dirty="0"/>
          </a:p>
        </p:txBody>
      </p:sp>
      <p:sp>
        <p:nvSpPr>
          <p:cNvPr id="8" name="Shape 6"/>
          <p:cNvSpPr/>
          <p:nvPr/>
        </p:nvSpPr>
        <p:spPr>
          <a:xfrm>
            <a:off x="487680" y="3072384"/>
            <a:ext cx="2682240" cy="335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768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🏗️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87680" y="4023360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9600" y="4535424"/>
            <a:ext cx="2438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+ MySQL + Hibernate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3352800" y="3072384"/>
            <a:ext cx="2682240" cy="335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5280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🎨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52800" y="4023360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4535424"/>
            <a:ext cx="2438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BrowseBooks · MyBooks · Dashboard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6217920" y="3072384"/>
            <a:ext cx="2682240" cy="335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2D2D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🔒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17920" y="4023360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39840" y="4535424"/>
            <a:ext cx="2438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If-condition guards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invalid state changes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9083040" y="3072384"/>
            <a:ext cx="2682240" cy="3352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7A4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083040" y="3230880"/>
            <a:ext cx="268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dirty="0">
                <a:solidFill>
                  <a:srgbClr val="000000"/>
                </a:solidFill>
              </a:rPr>
              <a:t>✅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083040" y="4023360"/>
            <a:ext cx="26822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204960" y="4535424"/>
            <a:ext cx="24384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· Browser</a:t>
            </a:r>
            <a:endParaRPr lang="en-US" sz="1333" dirty="0"/>
          </a:p>
          <a:p>
            <a:pPr algn="ctr"/>
            <a:r>
              <a:rPr lang="en-US" sz="1333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 verified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0" y="6425184"/>
            <a:ext cx="12192000" cy="432816"/>
          </a:xfrm>
          <a:prstGeom prst="rect">
            <a:avLst/>
          </a:prstGeom>
          <a:solidFill>
            <a:srgbClr val="2D2D2D"/>
          </a:solidFill>
          <a:ln w="12700">
            <a:solidFill>
              <a:srgbClr val="2D2D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600" y="64495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LibraryHub — Library Management System  •  2025–26</a:t>
            </a:r>
            <a:endParaRPr lang="en-US" sz="1467" dirty="0"/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CDD14AA4-5E5C-5531-45C3-F8FF405E9759}"/>
              </a:ext>
            </a:extLst>
          </p:cNvPr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</a:rPr>
              <a:t>Backend: Spring Boot  |  Database: MySQL  |  Frontend: React</a:t>
            </a:r>
            <a:endParaRPr lang="en-US" sz="1300" dirty="0"/>
          </a:p>
        </p:txBody>
      </p:sp>
      <p:sp>
        <p:nvSpPr>
          <p:cNvPr id="27" name="Text 5">
            <a:extLst>
              <a:ext uri="{FF2B5EF4-FFF2-40B4-BE49-F238E27FC236}">
                <a16:creationId xmlns:a16="http://schemas.microsoft.com/office/drawing/2014/main" id="{851E400F-79D3-5952-3949-14968B75ED00}"/>
              </a:ext>
            </a:extLst>
          </p:cNvPr>
          <p:cNvSpPr/>
          <p:nvPr/>
        </p:nvSpPr>
        <p:spPr>
          <a:xfrm>
            <a:off x="609600" y="3215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</a:rPr>
              <a:t>Backend: Spring Boot  |  Database: MySQL  |  </a:t>
            </a:r>
            <a:r>
              <a:rPr lang="en-US" sz="1300" dirty="0" err="1">
                <a:solidFill>
                  <a:srgbClr val="E2E8F0"/>
                </a:solidFill>
              </a:rPr>
              <a:t>rontend</a:t>
            </a:r>
            <a:r>
              <a:rPr lang="en-US" sz="1300" dirty="0">
                <a:solidFill>
                  <a:srgbClr val="E2E8F0"/>
                </a:solidFill>
              </a:rPr>
              <a:t>: React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33" b="1" dirty="0">
                <a:solidFill>
                  <a:srgbClr val="0D9488"/>
                </a:solidFill>
              </a:rPr>
              <a:t>LibraryHub — Library Management System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4267200" y="1219200"/>
            <a:ext cx="3657600" cy="54864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Member 5</a:t>
            </a:r>
            <a:endParaRPr lang="en-US" sz="1733" dirty="0"/>
          </a:p>
        </p:txBody>
      </p:sp>
      <p:sp>
        <p:nvSpPr>
          <p:cNvPr id="6" name="Text 4"/>
          <p:cNvSpPr/>
          <p:nvPr/>
        </p:nvSpPr>
        <p:spPr>
          <a:xfrm>
            <a:off x="609600" y="201168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333" b="1" dirty="0">
                <a:solidFill>
                  <a:srgbClr val="C00000"/>
                </a:solidFill>
              </a:rPr>
              <a:t>Student</a:t>
            </a:r>
            <a:r>
              <a:rPr lang="en-US" sz="5333" b="1" dirty="0">
                <a:solidFill>
                  <a:srgbClr val="FFFFFF"/>
                </a:solidFill>
              </a:rPr>
              <a:t> </a:t>
            </a:r>
            <a:r>
              <a:rPr lang="en-US" sz="5333" b="1" dirty="0">
                <a:solidFill>
                  <a:srgbClr val="C00000"/>
                </a:solidFill>
              </a:rPr>
              <a:t>Borrowing</a:t>
            </a:r>
            <a:r>
              <a:rPr lang="en-US" sz="5333" b="1" dirty="0">
                <a:solidFill>
                  <a:srgbClr val="FFFFFF"/>
                </a:solidFill>
              </a:rPr>
              <a:t>  </a:t>
            </a:r>
            <a:r>
              <a:rPr lang="en-US" sz="5333" b="1" dirty="0">
                <a:solidFill>
                  <a:srgbClr val="C00000"/>
                </a:solidFill>
              </a:rPr>
              <a:t>&amp;</a:t>
            </a:r>
            <a:endParaRPr lang="en-US" sz="5333" dirty="0"/>
          </a:p>
          <a:p>
            <a:pPr algn="ctr"/>
            <a:r>
              <a:rPr lang="en-US" sz="5333" b="1" dirty="0">
                <a:solidFill>
                  <a:srgbClr val="C00000"/>
                </a:solidFill>
              </a:rPr>
              <a:t>History</a:t>
            </a:r>
            <a:r>
              <a:rPr lang="en-US" sz="5333" b="1" dirty="0">
                <a:solidFill>
                  <a:srgbClr val="FFFFFF"/>
                </a:solidFill>
              </a:rPr>
              <a:t> </a:t>
            </a:r>
            <a:r>
              <a:rPr lang="en-US" sz="5333" b="1" dirty="0">
                <a:solidFill>
                  <a:srgbClr val="C00000"/>
                </a:solidFill>
              </a:rPr>
              <a:t>Service</a:t>
            </a:r>
            <a:endParaRPr lang="en-US" sz="5333" dirty="0">
              <a:solidFill>
                <a:srgbClr val="C0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09600" y="4084320"/>
            <a:ext cx="10972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dirty="0">
                <a:solidFill>
                  <a:srgbClr val="E2E8F0"/>
                </a:solidFill>
              </a:rPr>
              <a:t>Backend: Spring Boot  |  Database: MySQL  |  Frontend: React</a:t>
            </a:r>
            <a:endParaRPr lang="en-US" sz="1733" dirty="0"/>
          </a:p>
        </p:txBody>
      </p:sp>
      <p:sp>
        <p:nvSpPr>
          <p:cNvPr id="8" name="Text 6"/>
          <p:cNvSpPr/>
          <p:nvPr/>
        </p:nvSpPr>
        <p:spPr>
          <a:xfrm>
            <a:off x="4632960" y="4815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0D9488"/>
                </a:solidFill>
              </a:rPr>
              <a:t>FR-02  •  FR-04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09600" y="5974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64748B"/>
                </a:solidFill>
              </a:rPr>
              <a:t>Microservice Project  •  Group of 10 Members</a:t>
            </a:r>
            <a:endParaRPr lang="en-US" sz="1333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A84B1EC-7344-2BDB-35E1-6A83EE3BE6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323"/>
            <a:ext cx="12192000" cy="665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9843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How the Student Flow Works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487680" y="1365504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365504"/>
            <a:ext cx="6705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365504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41120" y="1426464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Student Logs In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1120" y="1767840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JWT token issued by Auth Service — Member 1</a:t>
            </a:r>
            <a:endParaRPr lang="en-US" sz="1333" dirty="0"/>
          </a:p>
        </p:txBody>
      </p:sp>
      <p:sp>
        <p:nvSpPr>
          <p:cNvPr id="9" name="Shape 7"/>
          <p:cNvSpPr/>
          <p:nvPr/>
        </p:nvSpPr>
        <p:spPr>
          <a:xfrm>
            <a:off x="487680" y="2267712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680" y="2267712"/>
            <a:ext cx="67056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" y="2267712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120" y="2328672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Browse Books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41120" y="2670048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GET /api/student/books — fetches from MySQL books table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487680" y="3169920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680" y="3169920"/>
            <a:ext cx="67056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680" y="3169920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41120" y="3230880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Submit Borrow Request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1120" y="3572256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POST /api/student/borrow — creates borrow_record (REQUESTED)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487680" y="4072128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680" y="4072128"/>
            <a:ext cx="67056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" y="4072128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41120" y="4133088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Librarian Approves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41120" y="4474464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Member 4 changes status REQUESTED → APPROVED</a:t>
            </a:r>
            <a:endParaRPr lang="en-US" sz="1333" dirty="0"/>
          </a:p>
        </p:txBody>
      </p:sp>
      <p:sp>
        <p:nvSpPr>
          <p:cNvPr id="24" name="Shape 22"/>
          <p:cNvSpPr/>
          <p:nvPr/>
        </p:nvSpPr>
        <p:spPr>
          <a:xfrm>
            <a:off x="487680" y="4974336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680" y="4974336"/>
            <a:ext cx="670560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680" y="4974336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341120" y="5035296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Return Book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1120" y="5376672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Member 6 changes status APPROVED → RETURNED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87680" y="5876544"/>
            <a:ext cx="11216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7680" y="5876544"/>
            <a:ext cx="67056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680" y="5876544"/>
            <a:ext cx="67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341120" y="5937504"/>
            <a:ext cx="390144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</a:rPr>
              <a:t>View History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41120" y="6278880"/>
            <a:ext cx="1011936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4748B"/>
                </a:solidFill>
              </a:rPr>
              <a:t>GET /api/student/history — shows all records with status</a:t>
            </a:r>
            <a:endParaRPr lang="en-US" sz="1333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0"/>
            <a:ext cx="109728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How I Connected with Other Members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1341120"/>
            <a:ext cx="11216640" cy="609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680" y="1341120"/>
            <a:ext cx="11216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Order:  Member 1 (Auth)  →  Members 2, 3  →  Members 4, 5, 6, 7  →  Members 8, 9, 10</a:t>
            </a:r>
            <a:endParaRPr lang="en-US" sz="1467" dirty="0"/>
          </a:p>
        </p:txBody>
      </p:sp>
      <p:sp>
        <p:nvSpPr>
          <p:cNvPr id="6" name="Shape 4"/>
          <p:cNvSpPr/>
          <p:nvPr/>
        </p:nvSpPr>
        <p:spPr>
          <a:xfrm>
            <a:off x="487680" y="2170176"/>
            <a:ext cx="5364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2170176"/>
            <a:ext cx="5364480" cy="463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0" y="2170176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Member 1 — Auth Service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0" y="2243328"/>
            <a:ext cx="877824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76800" y="2243328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0D9488"/>
                </a:solidFill>
              </a:rPr>
              <a:t>Depends On</a:t>
            </a:r>
            <a:endParaRPr lang="en-US" sz="1067" dirty="0"/>
          </a:p>
        </p:txBody>
      </p:sp>
      <p:sp>
        <p:nvSpPr>
          <p:cNvPr id="11" name="Text 9"/>
          <p:cNvSpPr/>
          <p:nvPr/>
        </p:nvSpPr>
        <p:spPr>
          <a:xfrm>
            <a:off x="633984" y="2706624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Uses JWT token from Member 1 to authenticate student requests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3984" y="3060192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@PreAuthorize('hasRole(STUDENT)') guards all my endpoints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3984" y="3413760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Same JWT secret key used in JwtUtil.java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3984" y="3767328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Student must login via Member 1 before using my APIs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39840" y="2170176"/>
            <a:ext cx="5364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39840" y="2170176"/>
            <a:ext cx="5364480" cy="46329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1760" y="2170176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Member 2 — Book Catalog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10728960" y="2243328"/>
            <a:ext cx="877824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28960" y="2243328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3B82F6"/>
                </a:solidFill>
              </a:rPr>
              <a:t>Depends On</a:t>
            </a:r>
            <a:endParaRPr lang="en-US" sz="1067" dirty="0"/>
          </a:p>
        </p:txBody>
      </p:sp>
      <p:sp>
        <p:nvSpPr>
          <p:cNvPr id="20" name="Text 18"/>
          <p:cNvSpPr/>
          <p:nvPr/>
        </p:nvSpPr>
        <p:spPr>
          <a:xfrm>
            <a:off x="6486144" y="2706624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Book.java entity owned by Member 2 — I just use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86144" y="3060192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BookRepository.java created by Member 2 — I import it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86144" y="3413760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My BookService calls findAll(), findByTitle(), findByAuthor()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86144" y="3767328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Both librarian and student share same books table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7680" y="4389120"/>
            <a:ext cx="5364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7680" y="4389120"/>
            <a:ext cx="5364480" cy="46329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4389120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Member 4 — Borrow Approval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4876800" y="4462272"/>
            <a:ext cx="877824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76800" y="4462272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10B981"/>
                </a:solidFill>
              </a:rPr>
              <a:t>Depends On</a:t>
            </a:r>
            <a:endParaRPr lang="en-US" sz="1067" dirty="0"/>
          </a:p>
        </p:txBody>
      </p:sp>
      <p:sp>
        <p:nvSpPr>
          <p:cNvPr id="29" name="Text 27"/>
          <p:cNvSpPr/>
          <p:nvPr/>
        </p:nvSpPr>
        <p:spPr>
          <a:xfrm>
            <a:off x="633984" y="4925568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BorrowRecord.java entity owned by Member 4 — I use 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3984" y="5279136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BorrowRecordRepository.java created by Member 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33984" y="5632704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I create records with status REQUESTED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3984" y="5986272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Member 4 then changes status to APPROVED or REJECTED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39840" y="4389120"/>
            <a:ext cx="536448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39840" y="4389120"/>
            <a:ext cx="5364480" cy="463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1760" y="4389120"/>
            <a:ext cx="426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FFFFFF"/>
                </a:solidFill>
              </a:rPr>
              <a:t>Member 10 — Student Frontend UI</a:t>
            </a:r>
            <a:endParaRPr lang="en-US" sz="1467" dirty="0"/>
          </a:p>
        </p:txBody>
      </p:sp>
      <p:sp>
        <p:nvSpPr>
          <p:cNvPr id="36" name="Shape 34"/>
          <p:cNvSpPr/>
          <p:nvPr/>
        </p:nvSpPr>
        <p:spPr>
          <a:xfrm>
            <a:off x="10728960" y="4462272"/>
            <a:ext cx="877824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728960" y="4462272"/>
            <a:ext cx="8778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dirty="0">
                <a:solidFill>
                  <a:srgbClr val="F59E0B"/>
                </a:solidFill>
              </a:rPr>
              <a:t>Used By</a:t>
            </a:r>
            <a:endParaRPr lang="en-US" sz="1067" dirty="0"/>
          </a:p>
        </p:txBody>
      </p:sp>
      <p:sp>
        <p:nvSpPr>
          <p:cNvPr id="38" name="Text 36"/>
          <p:cNvSpPr/>
          <p:nvPr/>
        </p:nvSpPr>
        <p:spPr>
          <a:xfrm>
            <a:off x="6486144" y="4925568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StudentBooksPage.jsx calls my GET /api/student/books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86144" y="5279136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BorrowHistoryPage.jsx calls my GET /api/student/history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86144" y="5632704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Borrow button calls my POST /api/student/borrow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486144" y="5986272"/>
            <a:ext cx="5059680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• Member 8's HttpService.js attaches JWT to all my API calls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7536" cy="1219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3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Output — Student Dashboard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Live Application 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79248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402080"/>
            <a:ext cx="7802880" cy="499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34400" y="1341120"/>
            <a:ext cx="3474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402080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3A5F"/>
                </a:solidFill>
              </a:rPr>
              <a:t>Dashboard Stats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8656320" y="1804416"/>
            <a:ext cx="316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6320" y="1889760"/>
            <a:ext cx="32308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17280" y="192633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3B82F6"/>
                </a:solidFill>
              </a:rPr>
              <a:t>Currently Borrowed: 2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8656320" y="2560320"/>
            <a:ext cx="32308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17280" y="259689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0B981"/>
                </a:solidFill>
              </a:rPr>
              <a:t>Overdue: 0</a:t>
            </a:r>
            <a:endParaRPr lang="en-US" sz="1333" dirty="0"/>
          </a:p>
        </p:txBody>
      </p:sp>
      <p:sp>
        <p:nvSpPr>
          <p:cNvPr id="16" name="Shape 13"/>
          <p:cNvSpPr/>
          <p:nvPr/>
        </p:nvSpPr>
        <p:spPr>
          <a:xfrm>
            <a:off x="8656320" y="3230880"/>
            <a:ext cx="32308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717280" y="326745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D9488"/>
                </a:solidFill>
              </a:rPr>
              <a:t>Last Issued: 2026-03-15</a:t>
            </a:r>
            <a:endParaRPr lang="en-US" sz="1333" dirty="0"/>
          </a:p>
        </p:txBody>
      </p:sp>
      <p:sp>
        <p:nvSpPr>
          <p:cNvPr id="18" name="Shape 15"/>
          <p:cNvSpPr/>
          <p:nvPr/>
        </p:nvSpPr>
        <p:spPr>
          <a:xfrm>
            <a:off x="8656320" y="3901440"/>
            <a:ext cx="323088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717280" y="3938016"/>
            <a:ext cx="3108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59E0B"/>
                </a:solidFill>
              </a:rPr>
              <a:t>Return Reminder: 14d left</a:t>
            </a:r>
            <a:endParaRPr lang="en-US" sz="1333" dirty="0"/>
          </a:p>
        </p:txBody>
      </p:sp>
      <p:sp>
        <p:nvSpPr>
          <p:cNvPr id="20" name="Shape 17"/>
          <p:cNvSpPr/>
          <p:nvPr/>
        </p:nvSpPr>
        <p:spPr>
          <a:xfrm>
            <a:off x="8656320" y="4632960"/>
            <a:ext cx="316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595360" y="4693920"/>
            <a:ext cx="335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Shows currently borrowed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books with issue &amp; due dates</a:t>
            </a:r>
            <a:endParaRPr lang="en-US" sz="1267" dirty="0"/>
          </a:p>
        </p:txBody>
      </p:sp>
      <p:sp>
        <p:nvSpPr>
          <p:cNvPr id="22" name="Text 19"/>
          <p:cNvSpPr/>
          <p:nvPr/>
        </p:nvSpPr>
        <p:spPr>
          <a:xfrm>
            <a:off x="8595360" y="5608320"/>
            <a:ext cx="3352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9488"/>
                </a:solidFill>
              </a:rPr>
              <a:t>Logged in as: BOLLAPU NIKHITHA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7536" cy="1219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3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</a:rPr>
              <a:t>Output — Browse Books (FR-02)</a:t>
            </a:r>
            <a:endParaRPr lang="en-US" sz="3467" dirty="0"/>
          </a:p>
        </p:txBody>
      </p:sp>
      <p:sp>
        <p:nvSpPr>
          <p:cNvPr id="5" name="Shape 3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/api/student/books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79248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402080"/>
            <a:ext cx="7802880" cy="499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34400" y="1341120"/>
            <a:ext cx="3474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402080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3A5F"/>
                </a:solidFill>
              </a:rPr>
              <a:t>What this shows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8656320" y="1804416"/>
            <a:ext cx="316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6320" y="188976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56320" y="1889760"/>
            <a:ext cx="85344" cy="7071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02624" y="1926336"/>
            <a:ext cx="30236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Books loaded from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MySQL database</a:t>
            </a:r>
            <a:endParaRPr lang="en-US" sz="1267" dirty="0"/>
          </a:p>
        </p:txBody>
      </p:sp>
      <p:sp>
        <p:nvSpPr>
          <p:cNvPr id="15" name="Shape 12"/>
          <p:cNvSpPr/>
          <p:nvPr/>
        </p:nvSpPr>
        <p:spPr>
          <a:xfrm>
            <a:off x="8656320" y="274320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656320" y="2743200"/>
            <a:ext cx="85344" cy="7071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02624" y="2779776"/>
            <a:ext cx="30236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Search bar — title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or author filter</a:t>
            </a:r>
            <a:endParaRPr lang="en-US" sz="1267" dirty="0"/>
          </a:p>
        </p:txBody>
      </p:sp>
      <p:sp>
        <p:nvSpPr>
          <p:cNvPr id="18" name="Shape 15"/>
          <p:cNvSpPr/>
          <p:nvPr/>
        </p:nvSpPr>
        <p:spPr>
          <a:xfrm>
            <a:off x="8656320" y="359664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56320" y="3596640"/>
            <a:ext cx="85344" cy="7071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02624" y="3633216"/>
            <a:ext cx="30236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Genre filter pills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(All, Fiction, etc)</a:t>
            </a:r>
            <a:endParaRPr lang="en-US" sz="1267" dirty="0"/>
          </a:p>
        </p:txBody>
      </p:sp>
      <p:sp>
        <p:nvSpPr>
          <p:cNvPr id="21" name="Shape 18"/>
          <p:cNvSpPr/>
          <p:nvPr/>
        </p:nvSpPr>
        <p:spPr>
          <a:xfrm>
            <a:off x="8656320" y="445008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656320" y="4450080"/>
            <a:ext cx="85344" cy="707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802624" y="4486656"/>
            <a:ext cx="30236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Available copies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badge on each card</a:t>
            </a:r>
            <a:endParaRPr lang="en-US" sz="1267" dirty="0"/>
          </a:p>
        </p:txBody>
      </p:sp>
      <p:sp>
        <p:nvSpPr>
          <p:cNvPr id="24" name="Shape 21"/>
          <p:cNvSpPr/>
          <p:nvPr/>
        </p:nvSpPr>
        <p:spPr>
          <a:xfrm>
            <a:off x="8656320" y="530352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56320" y="5303520"/>
            <a:ext cx="85344" cy="7071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02624" y="5340096"/>
            <a:ext cx="302361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Click card to view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details &amp; borrow</a:t>
            </a:r>
            <a:endParaRPr lang="en-US" sz="1267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7536" cy="1219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3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</a:rPr>
              <a:t>Output — Book Details &amp; Issue (FR-02)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/api/student/borrow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79248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402080"/>
            <a:ext cx="7802880" cy="499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34400" y="1341120"/>
            <a:ext cx="3474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402080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3A5F"/>
                </a:solidFill>
              </a:rPr>
              <a:t>Borrow Flow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8656320" y="1804416"/>
            <a:ext cx="316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6320" y="1889760"/>
            <a:ext cx="323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56320" y="1889760"/>
            <a:ext cx="426720" cy="731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56320" y="1889760"/>
            <a:ext cx="42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1</a:t>
            </a:r>
            <a:endParaRPr lang="en-US" sz="1733" dirty="0"/>
          </a:p>
        </p:txBody>
      </p:sp>
      <p:sp>
        <p:nvSpPr>
          <p:cNvPr id="15" name="Text 12"/>
          <p:cNvSpPr/>
          <p:nvPr/>
        </p:nvSpPr>
        <p:spPr>
          <a:xfrm>
            <a:off x="9144000" y="1950720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Student clicks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on a book card</a:t>
            </a:r>
            <a:endParaRPr lang="en-US" sz="1267" dirty="0"/>
          </a:p>
        </p:txBody>
      </p:sp>
      <p:sp>
        <p:nvSpPr>
          <p:cNvPr id="16" name="Shape 13"/>
          <p:cNvSpPr/>
          <p:nvPr/>
        </p:nvSpPr>
        <p:spPr>
          <a:xfrm>
            <a:off x="8656320" y="2767584"/>
            <a:ext cx="323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56320" y="2767584"/>
            <a:ext cx="426720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56320" y="2767584"/>
            <a:ext cx="42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2</a:t>
            </a:r>
            <a:endParaRPr lang="en-US" sz="1733" dirty="0"/>
          </a:p>
        </p:txBody>
      </p:sp>
      <p:sp>
        <p:nvSpPr>
          <p:cNvPr id="19" name="Text 16"/>
          <p:cNvSpPr/>
          <p:nvPr/>
        </p:nvSpPr>
        <p:spPr>
          <a:xfrm>
            <a:off x="9144000" y="2828544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Modal shows book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details &amp; copies</a:t>
            </a:r>
            <a:endParaRPr lang="en-US" sz="1267" dirty="0"/>
          </a:p>
        </p:txBody>
      </p:sp>
      <p:sp>
        <p:nvSpPr>
          <p:cNvPr id="20" name="Shape 17"/>
          <p:cNvSpPr/>
          <p:nvPr/>
        </p:nvSpPr>
        <p:spPr>
          <a:xfrm>
            <a:off x="8656320" y="3645408"/>
            <a:ext cx="323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56320" y="3645408"/>
            <a:ext cx="426720" cy="731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56320" y="3645408"/>
            <a:ext cx="42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3</a:t>
            </a:r>
            <a:endParaRPr lang="en-US" sz="1733" dirty="0"/>
          </a:p>
        </p:txBody>
      </p:sp>
      <p:sp>
        <p:nvSpPr>
          <p:cNvPr id="23" name="Text 20"/>
          <p:cNvSpPr/>
          <p:nvPr/>
        </p:nvSpPr>
        <p:spPr>
          <a:xfrm>
            <a:off x="9144000" y="3706368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Student clicks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'Issue This Book'</a:t>
            </a:r>
            <a:endParaRPr lang="en-US" sz="1267" dirty="0"/>
          </a:p>
        </p:txBody>
      </p:sp>
      <p:sp>
        <p:nvSpPr>
          <p:cNvPr id="24" name="Shape 21"/>
          <p:cNvSpPr/>
          <p:nvPr/>
        </p:nvSpPr>
        <p:spPr>
          <a:xfrm>
            <a:off x="8656320" y="4523232"/>
            <a:ext cx="323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56320" y="4523232"/>
            <a:ext cx="42672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56320" y="4523232"/>
            <a:ext cx="42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4</a:t>
            </a:r>
            <a:endParaRPr lang="en-US" sz="1733" dirty="0"/>
          </a:p>
        </p:txBody>
      </p:sp>
      <p:sp>
        <p:nvSpPr>
          <p:cNvPr id="27" name="Text 24"/>
          <p:cNvSpPr/>
          <p:nvPr/>
        </p:nvSpPr>
        <p:spPr>
          <a:xfrm>
            <a:off x="9144000" y="4584192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POST /borrow called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with bookId</a:t>
            </a:r>
            <a:endParaRPr lang="en-US" sz="1267" dirty="0"/>
          </a:p>
        </p:txBody>
      </p:sp>
      <p:sp>
        <p:nvSpPr>
          <p:cNvPr id="28" name="Shape 25"/>
          <p:cNvSpPr/>
          <p:nvPr/>
        </p:nvSpPr>
        <p:spPr>
          <a:xfrm>
            <a:off x="8656320" y="5401056"/>
            <a:ext cx="3230880" cy="731520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6320" y="5401056"/>
            <a:ext cx="426720" cy="7315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56320" y="5401056"/>
            <a:ext cx="42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</a:rPr>
              <a:t>5</a:t>
            </a:r>
            <a:endParaRPr lang="en-US" sz="1733" dirty="0"/>
          </a:p>
        </p:txBody>
      </p:sp>
      <p:sp>
        <p:nvSpPr>
          <p:cNvPr id="31" name="Text 28"/>
          <p:cNvSpPr/>
          <p:nvPr/>
        </p:nvSpPr>
        <p:spPr>
          <a:xfrm>
            <a:off x="9144000" y="5462016"/>
            <a:ext cx="26822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64748B"/>
                </a:solidFill>
              </a:rPr>
              <a:t>Status saved as</a:t>
            </a:r>
            <a:endParaRPr lang="en-US" sz="1267" dirty="0"/>
          </a:p>
          <a:p>
            <a:r>
              <a:rPr lang="en-US" sz="1267" dirty="0">
                <a:solidFill>
                  <a:srgbClr val="64748B"/>
                </a:solidFill>
              </a:rPr>
              <a:t>REQUESTED in DB</a:t>
            </a:r>
            <a:endParaRPr lang="en-US" sz="1267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219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7536" cy="1219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5344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</a:rPr>
              <a:t>Output — My Books &amp; Borrow History (FR-04)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0" y="182880"/>
            <a:ext cx="304800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/api/student/history</a:t>
            </a:r>
            <a:endParaRPr lang="en-US" sz="1333" dirty="0"/>
          </a:p>
        </p:txBody>
      </p:sp>
      <p:sp>
        <p:nvSpPr>
          <p:cNvPr id="7" name="Shape 5"/>
          <p:cNvSpPr/>
          <p:nvPr/>
        </p:nvSpPr>
        <p:spPr>
          <a:xfrm>
            <a:off x="365760" y="1341120"/>
            <a:ext cx="792480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1402080"/>
            <a:ext cx="7802880" cy="4998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534400" y="1341120"/>
            <a:ext cx="347472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595360" y="1402080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E3A5F"/>
                </a:solidFill>
              </a:rPr>
              <a:t>What this shows</a:t>
            </a:r>
            <a:endParaRPr lang="en-US" sz="1467" dirty="0"/>
          </a:p>
        </p:txBody>
      </p:sp>
      <p:sp>
        <p:nvSpPr>
          <p:cNvPr id="11" name="Shape 8"/>
          <p:cNvSpPr/>
          <p:nvPr/>
        </p:nvSpPr>
        <p:spPr>
          <a:xfrm>
            <a:off x="8656320" y="1804416"/>
            <a:ext cx="31699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56320" y="188976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56320" y="1889760"/>
            <a:ext cx="85344" cy="7071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02624" y="1914144"/>
            <a:ext cx="30236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3B82F6"/>
                </a:solidFill>
              </a:rPr>
              <a:t>Currently Borrowed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802624" y="2206752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2/3 books borrowed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56320" y="274320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56320" y="2743200"/>
            <a:ext cx="85344" cy="7071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02624" y="2767584"/>
            <a:ext cx="30236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F59E0B"/>
                </a:solidFill>
              </a:rPr>
              <a:t>Status: issued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802624" y="3060192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The Great Gatsby</a:t>
            </a:r>
            <a:endParaRPr lang="en-US" sz="1200" dirty="0"/>
          </a:p>
          <a:p>
            <a:r>
              <a:rPr lang="en-US" sz="1200" dirty="0">
                <a:solidFill>
                  <a:srgbClr val="64748B"/>
                </a:solidFill>
              </a:rPr>
              <a:t>Pride and Prejudice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56320" y="359664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56320" y="3596640"/>
            <a:ext cx="85344" cy="70713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02624" y="3621024"/>
            <a:ext cx="30236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0B981"/>
                </a:solidFill>
              </a:rPr>
              <a:t>Status: Returned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02624" y="3913632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Sapiens — returned</a:t>
            </a:r>
            <a:endParaRPr lang="en-US" sz="1200" dirty="0"/>
          </a:p>
          <a:p>
            <a:r>
              <a:rPr lang="en-US" sz="1200" dirty="0">
                <a:solidFill>
                  <a:srgbClr val="64748B"/>
                </a:solidFill>
              </a:rPr>
              <a:t>2026-03-15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656320" y="445008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656320" y="4450080"/>
            <a:ext cx="85344" cy="7071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02624" y="4474464"/>
            <a:ext cx="30236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D9488"/>
                </a:solidFill>
              </a:rPr>
              <a:t>Borrow History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8802624" y="4767072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Full history table</a:t>
            </a:r>
            <a:endParaRPr lang="en-US" sz="1200" dirty="0"/>
          </a:p>
          <a:p>
            <a:r>
              <a:rPr lang="en-US" sz="1200" dirty="0">
                <a:solidFill>
                  <a:srgbClr val="64748B"/>
                </a:solidFill>
              </a:rPr>
              <a:t>with status badges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656320" y="5303520"/>
            <a:ext cx="3230880" cy="707136"/>
          </a:xfrm>
          <a:prstGeom prst="rect">
            <a:avLst/>
          </a:prstGeom>
          <a:solidFill>
            <a:srgbClr val="F8FAF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656320" y="5303520"/>
            <a:ext cx="85344" cy="7071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02624" y="5327904"/>
            <a:ext cx="3023616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E3A5F"/>
                </a:solidFill>
              </a:rPr>
              <a:t>Return Action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802624" y="5620512"/>
            <a:ext cx="3023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64748B"/>
                </a:solidFill>
              </a:rPr>
              <a:t>Return button per</a:t>
            </a:r>
            <a:endParaRPr lang="en-US" sz="1200" dirty="0"/>
          </a:p>
          <a:p>
            <a:r>
              <a:rPr lang="en-US" sz="1200" dirty="0">
                <a:solidFill>
                  <a:srgbClr val="64748B"/>
                </a:solidFill>
              </a:rPr>
              <a:t>borrowed book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0944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4267200" cy="671779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731520"/>
            <a:ext cx="2438400" cy="24384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731520"/>
            <a:ext cx="2438400" cy="2438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6400" dirty="0">
                <a:solidFill>
                  <a:srgbClr val="000000"/>
                </a:solidFill>
              </a:rPr>
              <a:t>🔄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243840" y="3474720"/>
            <a:ext cx="377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867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 M B E R    6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243840" y="4084320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— Case Study 07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243840" y="4450080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Assignment</a:t>
            </a:r>
            <a:endParaRPr lang="en-US" sz="1467" dirty="0"/>
          </a:p>
        </p:txBody>
      </p:sp>
      <p:sp>
        <p:nvSpPr>
          <p:cNvPr id="10" name="Shape 8"/>
          <p:cNvSpPr/>
          <p:nvPr/>
        </p:nvSpPr>
        <p:spPr>
          <a:xfrm>
            <a:off x="487680" y="4998720"/>
            <a:ext cx="3291840" cy="548640"/>
          </a:xfrm>
          <a:prstGeom prst="rect">
            <a:avLst/>
          </a:prstGeom>
          <a:solidFill>
            <a:srgbClr val="1C2B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680" y="49987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7 Members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43840" y="5730240"/>
            <a:ext cx="377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67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Gurulakshmi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4754880" y="445008"/>
            <a:ext cx="7315200" cy="390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6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&amp;&amp;</a:t>
            </a:r>
            <a:endParaRPr lang="en-US" sz="6400" dirty="0">
              <a:solidFill>
                <a:srgbClr val="FFC000"/>
              </a:solidFill>
            </a:endParaRPr>
          </a:p>
          <a:p>
            <a:r>
              <a:rPr lang="en-US" sz="6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 </a:t>
            </a:r>
          </a:p>
          <a:p>
            <a:r>
              <a:rPr lang="en-US" sz="640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6400" dirty="0">
              <a:solidFill>
                <a:srgbClr val="FFC000"/>
              </a:solidFill>
            </a:endParaRPr>
          </a:p>
          <a:p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4511040" y="4267200"/>
            <a:ext cx="73152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9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6933" dirty="0"/>
          </a:p>
        </p:txBody>
      </p:sp>
      <p:sp>
        <p:nvSpPr>
          <p:cNvPr id="15" name="Text 13"/>
          <p:cNvSpPr/>
          <p:nvPr/>
        </p:nvSpPr>
        <p:spPr>
          <a:xfrm>
            <a:off x="4511040" y="5730240"/>
            <a:ext cx="73152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·  MySQL  ·  React</a:t>
            </a:r>
            <a:endParaRPr lang="en-US" sz="1733" dirty="0"/>
          </a:p>
        </p:txBody>
      </p:sp>
      <p:sp>
        <p:nvSpPr>
          <p:cNvPr id="16" name="Text 14"/>
          <p:cNvSpPr/>
          <p:nvPr/>
        </p:nvSpPr>
        <p:spPr>
          <a:xfrm>
            <a:off x="0" y="633984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66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  ·  BorrowService.java  ·  LIBRARIAN Role Only</a:t>
            </a:r>
            <a:endParaRPr lang="en-US" sz="1333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60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73152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9600" y="1097280"/>
            <a:ext cx="1109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owns the Return &amp; Inventory Service — the back-end service that handles book returns and keeps the library inventory accurate by incrementing availableCopies on every successful return.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4960" y="2438400"/>
            <a:ext cx="1219200" cy="12192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84960" y="2438400"/>
            <a:ext cx="12192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🔄</a:t>
            </a:r>
            <a:endParaRPr lang="en-US" sz="3467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Return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548640" y="4450080"/>
            <a:ext cx="329184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records a book return by entering Book ID and User ID via the React UI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4230624" y="219456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30624" y="219456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49824" y="2438400"/>
            <a:ext cx="1219200" cy="12192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9824" y="2438400"/>
            <a:ext cx="12192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📦</a:t>
            </a:r>
            <a:endParaRPr lang="en-US" sz="3467" dirty="0"/>
          </a:p>
        </p:txBody>
      </p:sp>
      <p:sp>
        <p:nvSpPr>
          <p:cNvPr id="20" name="Text 18"/>
          <p:cNvSpPr/>
          <p:nvPr/>
        </p:nvSpPr>
        <p:spPr>
          <a:xfrm>
            <a:off x="4413504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Inventory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4413504" y="4450080"/>
            <a:ext cx="329184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availableCopies is incremented by 1 on every successful return — inventory stays accurate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8095488" y="2194560"/>
            <a:ext cx="3657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95488" y="2194560"/>
            <a:ext cx="36576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14688" y="2438400"/>
            <a:ext cx="1219200" cy="121920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14688" y="2438400"/>
            <a:ext cx="12192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467" dirty="0">
                <a:solidFill>
                  <a:srgbClr val="000000"/>
                </a:solidFill>
              </a:rPr>
              <a:t>🔒</a:t>
            </a:r>
            <a:endParaRPr lang="en-US" sz="3467" dirty="0"/>
          </a:p>
        </p:txBody>
      </p:sp>
      <p:sp>
        <p:nvSpPr>
          <p:cNvPr id="26" name="Text 24"/>
          <p:cNvSpPr/>
          <p:nvPr/>
        </p:nvSpPr>
        <p:spPr>
          <a:xfrm>
            <a:off x="8278368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Only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8278368" y="4450080"/>
            <a:ext cx="3291840" cy="1584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is restricted to LIBRARIAN role only — students cannot record returns</a:t>
            </a:r>
            <a:endParaRPr lang="en-US" sz="1467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158240"/>
            <a:ext cx="11460480" cy="1341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158240"/>
            <a:ext cx="73152" cy="13411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9600" y="1365504"/>
            <a:ext cx="1097280" cy="463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0" y="1365504"/>
            <a:ext cx="109728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89760" y="1341120"/>
            <a:ext cx="670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1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/return/{bookId}/{userId}</a:t>
            </a:r>
            <a:endParaRPr lang="en-US" sz="2133" dirty="0"/>
          </a:p>
        </p:txBody>
      </p:sp>
      <p:sp>
        <p:nvSpPr>
          <p:cNvPr id="12" name="Shape 10"/>
          <p:cNvSpPr/>
          <p:nvPr/>
        </p:nvSpPr>
        <p:spPr>
          <a:xfrm>
            <a:off x="9509760" y="1365504"/>
            <a:ext cx="2072640" cy="463296"/>
          </a:xfrm>
          <a:prstGeom prst="rect">
            <a:avLst/>
          </a:prstGeom>
          <a:solidFill>
            <a:srgbClr val="1C2B4A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0" y="1365504"/>
            <a:ext cx="2072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only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365760" y="26822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48000" y="2682240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822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30880" y="26822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32918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48000" y="3291840"/>
            <a:ext cx="8778240" cy="585216"/>
          </a:xfrm>
          <a:prstGeom prst="rect">
            <a:avLst/>
          </a:prstGeom>
          <a:solidFill>
            <a:srgbClr val="EEF1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918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30880" y="32918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/return/{bookId}/{userId}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65760" y="39014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48000" y="3901440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9014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30880" y="39014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LIBRARIAN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5760" y="45110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48000" y="4511040"/>
            <a:ext cx="8778240" cy="585216"/>
          </a:xfrm>
          <a:prstGeom prst="rect">
            <a:avLst/>
          </a:prstGeom>
          <a:solidFill>
            <a:srgbClr val="EEF1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110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30880" y="45110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Calls returnBook(bookId, userId) in BorrowService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5760" y="51206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48000" y="5120640"/>
            <a:ext cx="87782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51206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30880" y="51206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 returned successfully for User Id:{userId}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5730240"/>
            <a:ext cx="2682240" cy="58521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48000" y="5730240"/>
            <a:ext cx="8778240" cy="585216"/>
          </a:xfrm>
          <a:prstGeom prst="rect">
            <a:avLst/>
          </a:prstGeom>
          <a:solidFill>
            <a:srgbClr val="EEF1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730240"/>
            <a:ext cx="2682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230880" y="5730240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RuntimeException — Book not found with id: {bookId}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6096000" cy="5303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6096000" cy="463296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return-service / src / main / java / com / libraryhub / 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5730240" cy="463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return-service/</a:t>
            </a:r>
            <a:endParaRPr lang="en-US" sz="1467" dirty="0"/>
          </a:p>
          <a:p>
            <a:r>
              <a:rPr lang="en-US" sz="1467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src/main/java/com/libraryhub/rs/</a:t>
            </a:r>
            <a:endParaRPr lang="en-US" sz="1467" dirty="0"/>
          </a:p>
          <a:p>
            <a:r>
              <a:rPr lang="en-US" sz="1467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ReturnServiceApplication.java</a:t>
            </a:r>
            <a:endParaRPr lang="en-US" sz="1467" dirty="0"/>
          </a:p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controller/</a:t>
            </a:r>
            <a:endParaRPr lang="en-US" sz="1467" dirty="0"/>
          </a:p>
          <a:p>
            <a:r>
              <a:rPr lang="en-US" sz="146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ReturnController.java</a:t>
            </a:r>
            <a:endParaRPr lang="en-US" sz="1467" dirty="0"/>
          </a:p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entity/</a:t>
            </a:r>
            <a:endParaRPr lang="en-US" sz="1467" dirty="0"/>
          </a:p>
          <a:p>
            <a:r>
              <a:rPr lang="en-US" sz="1467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Book.java</a:t>
            </a:r>
            <a:endParaRPr lang="en-US" sz="1467" dirty="0"/>
          </a:p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repository/</a:t>
            </a:r>
            <a:endParaRPr lang="en-US" sz="1467" dirty="0"/>
          </a:p>
          <a:p>
            <a:r>
              <a:rPr lang="en-US" sz="1467" dirty="0">
                <a:solidFill>
                  <a:srgbClr val="F9A8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BookRepository.java</a:t>
            </a:r>
            <a:endParaRPr lang="en-US" sz="1467" dirty="0"/>
          </a:p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service/</a:t>
            </a:r>
            <a:endParaRPr lang="en-US" sz="1467" dirty="0"/>
          </a:p>
          <a:p>
            <a:r>
              <a:rPr lang="en-US" sz="1467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BorrowService.java</a:t>
            </a:r>
            <a:endParaRPr lang="en-US" sz="1467" dirty="0"/>
          </a:p>
          <a:p>
            <a:r>
              <a:rPr lang="en-US" sz="1467" b="1" dirty="0">
                <a:solidFill>
                  <a:srgbClr val="C9A84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resources/</a:t>
            </a:r>
            <a:endParaRPr lang="en-US" sz="1467" dirty="0"/>
          </a:p>
          <a:p>
            <a:r>
              <a:rPr lang="en-US" sz="1467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application.properties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0" y="1097280"/>
            <a:ext cx="5120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705600" y="1731264"/>
            <a:ext cx="5120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05600" y="1731264"/>
            <a:ext cx="73152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780032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ReturnServiceApplication.java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949440" y="2170176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entry point for the return microservice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705600" y="2889504"/>
            <a:ext cx="5120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05600" y="2889504"/>
            <a:ext cx="73152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0" y="2938272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ReturnController.java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6949440" y="3328416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/return/{bookId}/{userId} — REST endpoint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705600" y="4047744"/>
            <a:ext cx="5120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5600" y="4047744"/>
            <a:ext cx="73152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4096512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BorrowService.java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6949440" y="4486656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returnBook() + incrementAvailableCopies() logic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705600" y="5205984"/>
            <a:ext cx="5120640" cy="999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05600" y="5205984"/>
            <a:ext cx="73152" cy="99974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5254752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949440" y="5644896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connection, server port 8085, MySQL config</a:t>
            </a:r>
            <a:endParaRPr lang="en-US" sz="1333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11460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2064" y="1219200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21920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1341120" y="1219200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1120" y="121920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94560" y="1194816"/>
            <a:ext cx="938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ReturnController.java</a:t>
            </a:r>
            <a:endParaRPr lang="en-US" sz="1733" dirty="0"/>
          </a:p>
        </p:txBody>
      </p:sp>
      <p:sp>
        <p:nvSpPr>
          <p:cNvPr id="13" name="Text 11"/>
          <p:cNvSpPr/>
          <p:nvPr/>
        </p:nvSpPr>
        <p:spPr>
          <a:xfrm>
            <a:off x="2194560" y="1560576"/>
            <a:ext cx="9387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 — POST /return/{bookId}/{userId} wired to BorrowService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365760" y="2170176"/>
            <a:ext cx="11460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292096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29209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1341120" y="2292096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1120" y="229209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94560" y="2267712"/>
            <a:ext cx="938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returnBook()</a:t>
            </a:r>
            <a:endParaRPr lang="en-US" sz="1733" dirty="0"/>
          </a:p>
        </p:txBody>
      </p:sp>
      <p:sp>
        <p:nvSpPr>
          <p:cNvPr id="20" name="Text 18"/>
          <p:cNvSpPr/>
          <p:nvPr/>
        </p:nvSpPr>
        <p:spPr>
          <a:xfrm>
            <a:off x="2194560" y="2633472"/>
            <a:ext cx="9387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incrementAvailableCopies() and returns success message to frontend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365760" y="3243072"/>
            <a:ext cx="11460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3364992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" y="336499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 dirty="0"/>
          </a:p>
        </p:txBody>
      </p:sp>
      <p:sp>
        <p:nvSpPr>
          <p:cNvPr id="24" name="Shape 22"/>
          <p:cNvSpPr/>
          <p:nvPr/>
        </p:nvSpPr>
        <p:spPr>
          <a:xfrm>
            <a:off x="1341120" y="3364992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41120" y="3364992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2194560" y="3340608"/>
            <a:ext cx="938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incrementAvailableCopies()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2194560" y="3706368"/>
            <a:ext cx="9387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book from DB, adds 1 to availableCopies, saves back to MySQL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365760" y="4315968"/>
            <a:ext cx="11460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2064" y="4437888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" y="4437888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33" dirty="0"/>
          </a:p>
        </p:txBody>
      </p:sp>
      <p:sp>
        <p:nvSpPr>
          <p:cNvPr id="31" name="Shape 29"/>
          <p:cNvSpPr/>
          <p:nvPr/>
        </p:nvSpPr>
        <p:spPr>
          <a:xfrm>
            <a:off x="1341120" y="4437888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1120" y="4437888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194560" y="4413504"/>
            <a:ext cx="938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Book.java + BookRepository.java</a:t>
            </a:r>
            <a:endParaRPr lang="en-US" sz="1733" dirty="0"/>
          </a:p>
        </p:txBody>
      </p:sp>
      <p:sp>
        <p:nvSpPr>
          <p:cNvPr id="34" name="Text 32"/>
          <p:cNvSpPr/>
          <p:nvPr/>
        </p:nvSpPr>
        <p:spPr>
          <a:xfrm>
            <a:off x="2194560" y="4779264"/>
            <a:ext cx="9387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and repository from C. Mythili (Member 2) — used in BorrowService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365760" y="5388864"/>
            <a:ext cx="1146048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2064" y="5510784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" y="551078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33" dirty="0"/>
          </a:p>
        </p:txBody>
      </p:sp>
      <p:sp>
        <p:nvSpPr>
          <p:cNvPr id="38" name="Shape 36"/>
          <p:cNvSpPr/>
          <p:nvPr/>
        </p:nvSpPr>
        <p:spPr>
          <a:xfrm>
            <a:off x="1341120" y="5510784"/>
            <a:ext cx="670560" cy="670560"/>
          </a:xfrm>
          <a:prstGeom prst="ellipse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41120" y="551078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2194560" y="5486400"/>
            <a:ext cx="938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C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@CrossOrigin + CORS config</a:t>
            </a:r>
            <a:endParaRPr lang="en-US" sz="1733" dirty="0"/>
          </a:p>
        </p:txBody>
      </p:sp>
      <p:sp>
        <p:nvSpPr>
          <p:cNvPr id="41" name="Text 39"/>
          <p:cNvSpPr/>
          <p:nvPr/>
        </p:nvSpPr>
        <p:spPr>
          <a:xfrm>
            <a:off x="2194560" y="5852160"/>
            <a:ext cx="938784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React (port 8080) to call Spring Boot (port 8085) without CORS errors</a:t>
            </a:r>
            <a:endParaRPr lang="en-US" sz="1467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12192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87680" y="0"/>
            <a:ext cx="11216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Output — Live Demo Screenshots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solidFill>
            <a:srgbClr val="243558"/>
          </a:solidFill>
          <a:ln w="12700">
            <a:solidFill>
              <a:srgbClr val="2435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6608064"/>
            <a:ext cx="1219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6 — Return &amp; Inventory Management Service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5486400" cy="4632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97280"/>
            <a:ext cx="73152" cy="46329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97280"/>
            <a:ext cx="5303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Librarian Dashboard</a:t>
            </a:r>
            <a:endParaRPr lang="en-US" sz="1733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09344"/>
            <a:ext cx="5486400" cy="40233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1609344"/>
            <a:ext cx="5486400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5760" y="5669280"/>
            <a:ext cx="5486400" cy="390144"/>
          </a:xfrm>
          <a:prstGeom prst="rect">
            <a:avLst/>
          </a:prstGeom>
          <a:solidFill>
            <a:srgbClr val="EEF1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5669280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tab visible in sidebar ✔</a:t>
            </a:r>
            <a:endParaRPr lang="en-US" sz="1333" dirty="0"/>
          </a:p>
        </p:txBody>
      </p:sp>
      <p:sp>
        <p:nvSpPr>
          <p:cNvPr id="14" name="Shape 11"/>
          <p:cNvSpPr/>
          <p:nvPr/>
        </p:nvSpPr>
        <p:spPr>
          <a:xfrm>
            <a:off x="6339840" y="1097280"/>
            <a:ext cx="5486400" cy="463296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39840" y="1097280"/>
            <a:ext cx="73152" cy="4632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22720" y="1097280"/>
            <a:ext cx="5303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Book — Success Output</a:t>
            </a:r>
            <a:endParaRPr lang="en-US" sz="1733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840" y="1609344"/>
            <a:ext cx="5486400" cy="40233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339840" y="1609344"/>
            <a:ext cx="5486400" cy="40233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39840" y="5669280"/>
            <a:ext cx="5486400" cy="390144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39840" y="5669280"/>
            <a:ext cx="5486400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returned successfully for User Id:1 ✔</a:t>
            </a:r>
            <a:endParaRPr lang="en-US" sz="1333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4389120" cy="6784848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9144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98704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kern="0" spc="667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 7</a:t>
            </a:r>
            <a:endParaRPr lang="en-US" sz="1733" dirty="0"/>
          </a:p>
        </p:txBody>
      </p:sp>
      <p:sp>
        <p:nvSpPr>
          <p:cNvPr id="6" name="Text 3"/>
          <p:cNvSpPr/>
          <p:nvPr/>
        </p:nvSpPr>
        <p:spPr>
          <a:xfrm>
            <a:off x="0" y="3596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— Case Study 07</a:t>
            </a:r>
            <a:endParaRPr lang="en-US" sz="1267" dirty="0"/>
          </a:p>
        </p:txBody>
      </p:sp>
      <p:sp>
        <p:nvSpPr>
          <p:cNvPr id="7" name="Text 4"/>
          <p:cNvSpPr/>
          <p:nvPr/>
        </p:nvSpPr>
        <p:spPr>
          <a:xfrm>
            <a:off x="0" y="3938016"/>
            <a:ext cx="4389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Assignment</a:t>
            </a:r>
            <a:endParaRPr lang="en-US" sz="1267" dirty="0"/>
          </a:p>
        </p:txBody>
      </p:sp>
      <p:sp>
        <p:nvSpPr>
          <p:cNvPr id="8" name="Shape 5"/>
          <p:cNvSpPr/>
          <p:nvPr/>
        </p:nvSpPr>
        <p:spPr>
          <a:xfrm>
            <a:off x="975360" y="4535424"/>
            <a:ext cx="2438400" cy="414528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5360" y="4535424"/>
            <a:ext cx="2438400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10 Members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815840" y="975360"/>
            <a:ext cx="6949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User</a:t>
            </a:r>
            <a:endParaRPr lang="en-US" sz="5867" dirty="0">
              <a:solidFill>
                <a:srgbClr val="FFC00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4815840" y="1950720"/>
            <a:ext cx="6949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5867" dirty="0">
              <a:solidFill>
                <a:srgbClr val="FFC000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4815840" y="2950464"/>
            <a:ext cx="69494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867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5867" dirty="0"/>
          </a:p>
        </p:txBody>
      </p:sp>
      <p:sp>
        <p:nvSpPr>
          <p:cNvPr id="13" name="Text 10"/>
          <p:cNvSpPr/>
          <p:nvPr/>
        </p:nvSpPr>
        <p:spPr>
          <a:xfrm>
            <a:off x="4815840" y="4206240"/>
            <a:ext cx="694944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 ·  Spring Security  ·  MySQL  ·  React</a:t>
            </a:r>
            <a:endParaRPr lang="en-US" sz="1467" dirty="0"/>
          </a:p>
        </p:txBody>
      </p:sp>
      <p:sp>
        <p:nvSpPr>
          <p:cNvPr id="14" name="Shape 1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6498336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  ·  AdminController.java  ·  ADMIN Role Only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947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11216640" cy="1072896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0560" y="1036320"/>
            <a:ext cx="10972800" cy="1072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owns the Admin Portal — the back-end service that gives the ADMIN role complete control over user accounts and system-wide activity reporting across the entire LibraryHub platform.</a:t>
            </a:r>
            <a:endParaRPr lang="en-US" sz="1667" dirty="0"/>
          </a:p>
        </p:txBody>
      </p:sp>
      <p:sp>
        <p:nvSpPr>
          <p:cNvPr id="6" name="Shape 4"/>
          <p:cNvSpPr/>
          <p:nvPr/>
        </p:nvSpPr>
        <p:spPr>
          <a:xfrm>
            <a:off x="487680" y="231648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7680" y="2316480"/>
            <a:ext cx="3657600" cy="8534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560320"/>
            <a:ext cx="975360" cy="97536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720" y="2657856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9600" y="3730752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Users</a:t>
            </a:r>
            <a:endParaRPr lang="en-US" sz="1733" dirty="0"/>
          </a:p>
        </p:txBody>
      </p:sp>
      <p:sp>
        <p:nvSpPr>
          <p:cNvPr id="11" name="Text 8"/>
          <p:cNvSpPr/>
          <p:nvPr/>
        </p:nvSpPr>
        <p:spPr>
          <a:xfrm>
            <a:off x="707136" y="4267200"/>
            <a:ext cx="3230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every registered user with their assigned role (ADMIN / LIBRARIAN / STUDENT).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389120" y="2336144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2316480"/>
            <a:ext cx="3657600" cy="8534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730240" y="2560320"/>
            <a:ext cx="975360" cy="97536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2657856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11040" y="3730752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Accounts</a:t>
            </a:r>
            <a:endParaRPr lang="en-US" sz="1733" dirty="0"/>
          </a:p>
        </p:txBody>
      </p:sp>
      <p:sp>
        <p:nvSpPr>
          <p:cNvPr id="17" name="Text 13"/>
          <p:cNvSpPr/>
          <p:nvPr/>
        </p:nvSpPr>
        <p:spPr>
          <a:xfrm>
            <a:off x="4608576" y="4267200"/>
            <a:ext cx="3230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 or permanently delete any user account from the system.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290560" y="231648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90560" y="2316480"/>
            <a:ext cx="3657600" cy="8534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31680" y="2560320"/>
            <a:ext cx="975360" cy="975360"/>
          </a:xfrm>
          <a:prstGeom prst="ellipse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3600" y="2657856"/>
            <a:ext cx="731520" cy="7315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412480" y="3730752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Reports</a:t>
            </a:r>
            <a:endParaRPr lang="en-US" sz="1733" dirty="0"/>
          </a:p>
        </p:txBody>
      </p:sp>
      <p:sp>
        <p:nvSpPr>
          <p:cNvPr id="23" name="Text 18"/>
          <p:cNvSpPr/>
          <p:nvPr/>
        </p:nvSpPr>
        <p:spPr>
          <a:xfrm>
            <a:off x="8510016" y="4267200"/>
            <a:ext cx="323088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 consolidated summary of all borrow and return activity across the library.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0" y="6498336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7 — Admin User Management Service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947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6339840" cy="5181600"/>
          </a:xfrm>
          <a:prstGeom prst="rect">
            <a:avLst/>
          </a:prstGeom>
          <a:solidFill>
            <a:srgbClr val="0F1F35"/>
          </a:solidFill>
          <a:ln w="12700">
            <a:solidFill>
              <a:srgbClr val="0F1F3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36320"/>
            <a:ext cx="6339840" cy="365760"/>
          </a:xfrm>
          <a:prstGeom prst="rect">
            <a:avLst/>
          </a:prstGeom>
          <a:solidFill>
            <a:srgbClr val="0A1625"/>
          </a:solidFill>
          <a:ln w="12700">
            <a:solidFill>
              <a:srgbClr val="0A16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0560" y="1036320"/>
            <a:ext cx="597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89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admin-service / src / main / java / com / libraryhub / admin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560" y="1511808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C8A9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admin-service/</a:t>
            </a:r>
            <a:endParaRPr lang="en-US" sz="1467" dirty="0"/>
          </a:p>
        </p:txBody>
      </p:sp>
      <p:sp>
        <p:nvSpPr>
          <p:cNvPr id="8" name="Text 6"/>
          <p:cNvSpPr/>
          <p:nvPr/>
        </p:nvSpPr>
        <p:spPr>
          <a:xfrm>
            <a:off x="670560" y="1914144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8898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src/main/java/com/libraryhub/admin/</a:t>
            </a:r>
            <a:endParaRPr lang="en-US" sz="1467" dirty="0"/>
          </a:p>
        </p:txBody>
      </p:sp>
      <p:sp>
        <p:nvSpPr>
          <p:cNvPr id="9" name="Text 7"/>
          <p:cNvSpPr/>
          <p:nvPr/>
        </p:nvSpPr>
        <p:spPr>
          <a:xfrm>
            <a:off x="670560" y="2316480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AdminServiceApplication.java</a:t>
            </a:r>
            <a:endParaRPr lang="en-US" sz="1467" dirty="0"/>
          </a:p>
        </p:txBody>
      </p:sp>
      <p:sp>
        <p:nvSpPr>
          <p:cNvPr id="10" name="Text 8"/>
          <p:cNvSpPr/>
          <p:nvPr/>
        </p:nvSpPr>
        <p:spPr>
          <a:xfrm>
            <a:off x="670560" y="2718816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controller/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670560" y="3121152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AdminController.java</a:t>
            </a:r>
            <a:endParaRPr lang="en-US" sz="1467" dirty="0"/>
          </a:p>
        </p:txBody>
      </p:sp>
      <p:sp>
        <p:nvSpPr>
          <p:cNvPr id="12" name="Text 10"/>
          <p:cNvSpPr/>
          <p:nvPr/>
        </p:nvSpPr>
        <p:spPr>
          <a:xfrm>
            <a:off x="670560" y="3523488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service/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670560" y="3925824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7EC8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AdminService.java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670560" y="4328160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E8C9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 resources/</a:t>
            </a:r>
            <a:endParaRPr lang="en-US" sz="1467" dirty="0"/>
          </a:p>
        </p:txBody>
      </p:sp>
      <p:sp>
        <p:nvSpPr>
          <p:cNvPr id="15" name="Text 13"/>
          <p:cNvSpPr/>
          <p:nvPr/>
        </p:nvSpPr>
        <p:spPr>
          <a:xfrm>
            <a:off x="670560" y="4730496"/>
            <a:ext cx="597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A8C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  application.properties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7132320" y="1072896"/>
            <a:ext cx="46329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Files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7132320" y="1645920"/>
            <a:ext cx="46329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0" y="1645920"/>
            <a:ext cx="60960" cy="853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39584" y="1694688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AdminServiceApplication.java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7339584" y="2036064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entry point for the admin microservice</a:t>
            </a:r>
            <a:endParaRPr lang="en-US" sz="1267" dirty="0"/>
          </a:p>
        </p:txBody>
      </p:sp>
      <p:sp>
        <p:nvSpPr>
          <p:cNvPr id="21" name="Shape 19"/>
          <p:cNvSpPr/>
          <p:nvPr/>
        </p:nvSpPr>
        <p:spPr>
          <a:xfrm>
            <a:off x="7132320" y="2645664"/>
            <a:ext cx="46329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0" y="2645664"/>
            <a:ext cx="60960" cy="853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39584" y="269443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AdminController.java</a:t>
            </a:r>
            <a:endParaRPr lang="en-US" sz="1267" dirty="0"/>
          </a:p>
        </p:txBody>
      </p:sp>
      <p:sp>
        <p:nvSpPr>
          <p:cNvPr id="24" name="Text 22"/>
          <p:cNvSpPr/>
          <p:nvPr/>
        </p:nvSpPr>
        <p:spPr>
          <a:xfrm>
            <a:off x="7339584" y="3035808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GET /users, DELETE /users/{id}, GET /reports</a:t>
            </a:r>
            <a:endParaRPr lang="en-US" sz="1267" dirty="0"/>
          </a:p>
        </p:txBody>
      </p:sp>
      <p:sp>
        <p:nvSpPr>
          <p:cNvPr id="25" name="Shape 23"/>
          <p:cNvSpPr/>
          <p:nvPr/>
        </p:nvSpPr>
        <p:spPr>
          <a:xfrm>
            <a:off x="7132320" y="3645408"/>
            <a:ext cx="46329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32320" y="3645408"/>
            <a:ext cx="60960" cy="853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9584" y="369417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AdminService.java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7339584" y="4035552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user retrieval, deletion, report aggregation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7132320" y="4645152"/>
            <a:ext cx="4632960" cy="85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0" y="4645152"/>
            <a:ext cx="60960" cy="853440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39584" y="4693920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7339584" y="5035296"/>
            <a:ext cx="42672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connection, server port, and JWT configuration</a:t>
            </a:r>
            <a:endParaRPr lang="en-US" sz="1267" dirty="0"/>
          </a:p>
        </p:txBody>
      </p:sp>
      <p:sp>
        <p:nvSpPr>
          <p:cNvPr id="33" name="Shape 31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6498336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7 — Admin User Management Service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947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1121664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36320"/>
            <a:ext cx="85344" cy="1402080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2480" y="1377696"/>
            <a:ext cx="1219200" cy="438912"/>
          </a:xfrm>
          <a:prstGeom prst="rect">
            <a:avLst/>
          </a:prstGeom>
          <a:solidFill>
            <a:srgbClr val="D4EDDA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480" y="1377696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1A6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533" dirty="0"/>
          </a:p>
        </p:txBody>
      </p:sp>
      <p:sp>
        <p:nvSpPr>
          <p:cNvPr id="8" name="Text 6"/>
          <p:cNvSpPr/>
          <p:nvPr/>
        </p:nvSpPr>
        <p:spPr>
          <a:xfrm>
            <a:off x="2255520" y="1194816"/>
            <a:ext cx="670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</a:t>
            </a:r>
            <a:endParaRPr lang="en-US" sz="1867" dirty="0"/>
          </a:p>
        </p:txBody>
      </p:sp>
      <p:sp>
        <p:nvSpPr>
          <p:cNvPr id="9" name="Shape 7"/>
          <p:cNvSpPr/>
          <p:nvPr/>
        </p:nvSpPr>
        <p:spPr>
          <a:xfrm>
            <a:off x="9204960" y="1243584"/>
            <a:ext cx="225552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04960" y="124358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67" dirty="0"/>
          </a:p>
        </p:txBody>
      </p:sp>
      <p:sp>
        <p:nvSpPr>
          <p:cNvPr id="11" name="Text 9"/>
          <p:cNvSpPr/>
          <p:nvPr/>
        </p:nvSpPr>
        <p:spPr>
          <a:xfrm>
            <a:off x="2255520" y="1767840"/>
            <a:ext cx="920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all registered users with id, username, email, and role.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487680" y="2682240"/>
            <a:ext cx="1121664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7680" y="2682240"/>
            <a:ext cx="85344" cy="1402080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2480" y="3023616"/>
            <a:ext cx="1219200" cy="438912"/>
          </a:xfrm>
          <a:prstGeom prst="rect">
            <a:avLst/>
          </a:prstGeom>
          <a:solidFill>
            <a:srgbClr val="FADDDD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480" y="3023616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8B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endParaRPr lang="en-US" sz="1533" dirty="0"/>
          </a:p>
        </p:txBody>
      </p:sp>
      <p:sp>
        <p:nvSpPr>
          <p:cNvPr id="16" name="Text 14"/>
          <p:cNvSpPr/>
          <p:nvPr/>
        </p:nvSpPr>
        <p:spPr>
          <a:xfrm>
            <a:off x="2255520" y="2840736"/>
            <a:ext cx="670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/api/admin/users/{id}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9204960" y="2889504"/>
            <a:ext cx="225552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04960" y="288950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2255520" y="3413760"/>
            <a:ext cx="920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Deactivates or permanently removes the specified user account.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487680" y="4328160"/>
            <a:ext cx="11216640" cy="140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7680" y="4328160"/>
            <a:ext cx="85344" cy="1402080"/>
          </a:xfrm>
          <a:prstGeom prst="rect">
            <a:avLst/>
          </a:prstGeom>
          <a:solidFill>
            <a:srgbClr val="1A6B36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2480" y="4669536"/>
            <a:ext cx="1219200" cy="438912"/>
          </a:xfrm>
          <a:prstGeom prst="rect">
            <a:avLst/>
          </a:prstGeom>
          <a:solidFill>
            <a:srgbClr val="D4EDDA"/>
          </a:solidFill>
          <a:ln w="12700">
            <a:solidFill>
              <a:srgbClr val="1A6B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480" y="4669536"/>
            <a:ext cx="121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33" b="1" dirty="0">
                <a:solidFill>
                  <a:srgbClr val="1A6B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533" dirty="0"/>
          </a:p>
        </p:txBody>
      </p:sp>
      <p:sp>
        <p:nvSpPr>
          <p:cNvPr id="24" name="Text 22"/>
          <p:cNvSpPr/>
          <p:nvPr/>
        </p:nvSpPr>
        <p:spPr>
          <a:xfrm>
            <a:off x="2255520" y="4486656"/>
            <a:ext cx="670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B2E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/api/admin/reports</a:t>
            </a:r>
            <a:endParaRPr lang="en-US" sz="1867" dirty="0"/>
          </a:p>
        </p:txBody>
      </p:sp>
      <p:sp>
        <p:nvSpPr>
          <p:cNvPr id="25" name="Shape 23"/>
          <p:cNvSpPr/>
          <p:nvPr/>
        </p:nvSpPr>
        <p:spPr>
          <a:xfrm>
            <a:off x="9204960" y="4535424"/>
            <a:ext cx="225552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04960" y="4535424"/>
            <a:ext cx="225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only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2255520" y="5059680"/>
            <a:ext cx="920496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system-wide summary of all borrow and return activity.</a:t>
            </a:r>
            <a:endParaRPr lang="en-US" sz="1467" dirty="0"/>
          </a:p>
        </p:txBody>
      </p:sp>
      <p:sp>
        <p:nvSpPr>
          <p:cNvPr id="28" name="Shape 26"/>
          <p:cNvSpPr/>
          <p:nvPr/>
        </p:nvSpPr>
        <p:spPr>
          <a:xfrm>
            <a:off x="487680" y="6096000"/>
            <a:ext cx="11216640" cy="365760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609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endpoints are restricted to the ADMIN role via Spring Security role guards — no librarian or student access permitted.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0" y="6498336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7 — Admin User Management Service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37610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29056"/>
          </a:xfrm>
          <a:prstGeom prst="rect">
            <a:avLst/>
          </a:prstGeom>
          <a:solidFill>
            <a:srgbClr val="1B2E4B"/>
          </a:solidFill>
          <a:ln w="12700">
            <a:solidFill>
              <a:srgbClr val="1B2E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0"/>
            <a:ext cx="1109472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&amp; Dependencies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87680" y="1036320"/>
            <a:ext cx="256032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87680" y="1036320"/>
            <a:ext cx="2560320" cy="85344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7680" y="1158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733" dirty="0"/>
          </a:p>
        </p:txBody>
      </p:sp>
      <p:sp>
        <p:nvSpPr>
          <p:cNvPr id="7" name="Text 5"/>
          <p:cNvSpPr/>
          <p:nvPr/>
        </p:nvSpPr>
        <p:spPr>
          <a:xfrm>
            <a:off x="548640" y="1780032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8963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Security</a:t>
            </a:r>
            <a:endParaRPr lang="en-US" sz="1133" dirty="0"/>
          </a:p>
        </p:txBody>
      </p:sp>
      <p:sp>
        <p:nvSpPr>
          <p:cNvPr id="9" name="Text 7"/>
          <p:cNvSpPr/>
          <p:nvPr/>
        </p:nvSpPr>
        <p:spPr>
          <a:xfrm>
            <a:off x="3048000" y="14874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3352800" y="1036320"/>
            <a:ext cx="256032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52800" y="1036320"/>
            <a:ext cx="2560320" cy="85344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2800" y="1158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</a:t>
            </a:r>
            <a:endParaRPr lang="en-US" sz="3733" dirty="0"/>
          </a:p>
        </p:txBody>
      </p:sp>
      <p:sp>
        <p:nvSpPr>
          <p:cNvPr id="13" name="Text 11"/>
          <p:cNvSpPr/>
          <p:nvPr/>
        </p:nvSpPr>
        <p:spPr>
          <a:xfrm>
            <a:off x="3413760" y="1780032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2–3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Catalog/Books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13760" y="238963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entities</a:t>
            </a:r>
            <a:endParaRPr lang="en-US" sz="1133" dirty="0"/>
          </a:p>
        </p:txBody>
      </p:sp>
      <p:sp>
        <p:nvSpPr>
          <p:cNvPr id="15" name="Text 13"/>
          <p:cNvSpPr/>
          <p:nvPr/>
        </p:nvSpPr>
        <p:spPr>
          <a:xfrm>
            <a:off x="5913120" y="14874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67" dirty="0"/>
          </a:p>
        </p:txBody>
      </p:sp>
      <p:sp>
        <p:nvSpPr>
          <p:cNvPr id="16" name="Shape 14"/>
          <p:cNvSpPr/>
          <p:nvPr/>
        </p:nvSpPr>
        <p:spPr>
          <a:xfrm>
            <a:off x="6217920" y="1036320"/>
            <a:ext cx="2560320" cy="1889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36320"/>
            <a:ext cx="2560320" cy="85344"/>
          </a:xfrm>
          <a:prstGeom prst="rect">
            <a:avLst/>
          </a:prstGeom>
          <a:solidFill>
            <a:srgbClr val="8898AA"/>
          </a:solidFill>
          <a:ln w="12700">
            <a:solidFill>
              <a:srgbClr val="8898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58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</a:t>
            </a:r>
            <a:endParaRPr lang="en-US" sz="3733" dirty="0"/>
          </a:p>
        </p:txBody>
      </p:sp>
      <p:sp>
        <p:nvSpPr>
          <p:cNvPr id="19" name="Text 17"/>
          <p:cNvSpPr/>
          <p:nvPr/>
        </p:nvSpPr>
        <p:spPr>
          <a:xfrm>
            <a:off x="6278880" y="1780032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4–6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Borrow/Return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78880" y="238963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BorrowRecord</a:t>
            </a:r>
            <a:endParaRPr lang="en-US" sz="1133" dirty="0"/>
          </a:p>
        </p:txBody>
      </p:sp>
      <p:sp>
        <p:nvSpPr>
          <p:cNvPr id="21" name="Text 19"/>
          <p:cNvSpPr/>
          <p:nvPr/>
        </p:nvSpPr>
        <p:spPr>
          <a:xfrm>
            <a:off x="8778240" y="1487424"/>
            <a:ext cx="304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667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67" dirty="0"/>
          </a:p>
        </p:txBody>
      </p:sp>
      <p:sp>
        <p:nvSpPr>
          <p:cNvPr id="22" name="Shape 20"/>
          <p:cNvSpPr/>
          <p:nvPr/>
        </p:nvSpPr>
        <p:spPr>
          <a:xfrm>
            <a:off x="9083040" y="1036320"/>
            <a:ext cx="2560320" cy="1889760"/>
          </a:xfrm>
          <a:prstGeom prst="rect">
            <a:avLst/>
          </a:prstGeom>
          <a:solidFill>
            <a:srgbClr val="1B2E4B"/>
          </a:solidFill>
          <a:ln w="12700">
            <a:solidFill>
              <a:srgbClr val="C8A95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83040" y="1036320"/>
            <a:ext cx="2560320" cy="85344"/>
          </a:xfrm>
          <a:prstGeom prst="rect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83040" y="1158240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733" b="1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733" dirty="0"/>
          </a:p>
        </p:txBody>
      </p:sp>
      <p:sp>
        <p:nvSpPr>
          <p:cNvPr id="25" name="Text 23"/>
          <p:cNvSpPr/>
          <p:nvPr/>
        </p:nvSpPr>
        <p:spPr>
          <a:xfrm>
            <a:off x="9144000" y="1780032"/>
            <a:ext cx="2438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</a:t>
            </a:r>
            <a:endParaRPr lang="en-US" sz="1400" dirty="0"/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Service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0" y="2389632"/>
            <a:ext cx="2438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33" dirty="0">
                <a:solidFill>
                  <a:srgbClr val="C8A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1133" dirty="0"/>
          </a:p>
        </p:txBody>
      </p:sp>
      <p:sp>
        <p:nvSpPr>
          <p:cNvPr id="27" name="Shape 25"/>
          <p:cNvSpPr/>
          <p:nvPr/>
        </p:nvSpPr>
        <p:spPr>
          <a:xfrm>
            <a:off x="487680" y="3230880"/>
            <a:ext cx="11216640" cy="2987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92480" y="3377184"/>
            <a:ext cx="1060704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depends on: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92480" y="4059936"/>
            <a:ext cx="268224" cy="268224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19200" y="398678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(Auth Service)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4754880" y="3986784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JWT security config — all admin endpoints must validate an ADMIN role token.</a:t>
            </a:r>
            <a:endParaRPr lang="en-US" sz="1467" dirty="0"/>
          </a:p>
        </p:txBody>
      </p:sp>
      <p:sp>
        <p:nvSpPr>
          <p:cNvPr id="32" name="Shape 30"/>
          <p:cNvSpPr/>
          <p:nvPr/>
        </p:nvSpPr>
        <p:spPr>
          <a:xfrm>
            <a:off x="792480" y="4730496"/>
            <a:ext cx="268224" cy="268224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19200" y="465734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2–3 (Catalog Service)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4754880" y="4657344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User and Book data — reports reference both entities.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792480" y="5401056"/>
            <a:ext cx="268224" cy="268224"/>
          </a:xfrm>
          <a:prstGeom prst="ellipse">
            <a:avLst/>
          </a:prstGeom>
          <a:solidFill>
            <a:srgbClr val="C8A951"/>
          </a:solidFill>
          <a:ln w="12700">
            <a:solidFill>
              <a:srgbClr val="C8A9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19200" y="5327904"/>
            <a:ext cx="3657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B2E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4–6 (Borrow / Return)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4754880" y="5327904"/>
            <a:ext cx="670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BorrowRecord data — admin report summarises borrow and return activity.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0" y="6492240"/>
            <a:ext cx="12192000" cy="3657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0" y="6498336"/>
            <a:ext cx="121920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LibraryHub  ·  Member 7 — Admin User Management Service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A951"/>
          </a:solidFill>
        </p:spPr>
      </p:sp>
      <p:sp>
        <p:nvSpPr>
          <p:cNvPr id="3" name="Title"/>
          <p:cNvSpPr/>
          <p:nvPr/>
        </p:nvSpPr>
        <p:spPr>
          <a:xfrm>
            <a:off x="609600" y="160000"/>
            <a:ext cx="10972800" cy="53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733" b="1" dirty="0">
                <a:solidFill>
                  <a:srgbClr val="FFFFFF"/>
                </a:solidFill>
                <a:latin typeface="Calibri"/>
              </a:rPr>
              <a:t>Output — Admin Overview Dashboard</a:t>
            </a:r>
          </a:p>
        </p:txBody>
      </p:sp>
      <p:sp>
        <p:nvSpPr>
          <p:cNvPr id="4" name="Subtitle"/>
          <p:cNvSpPr/>
          <p:nvPr/>
        </p:nvSpPr>
        <p:spPr>
          <a:xfrm>
            <a:off x="609600" y="706667"/>
            <a:ext cx="10972800" cy="37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133" dirty="0">
                <a:solidFill>
                  <a:srgbClr val="C8A951"/>
                </a:solidFill>
                <a:latin typeface="Calibri"/>
              </a:rPr>
              <a:t>http://localhost:8081/admin  ·  Spring Boot (8080) + React (8081) + MySQL connected</a:t>
            </a:r>
          </a:p>
        </p:txBody>
      </p:sp>
      <p:pic>
        <p:nvPicPr>
          <p:cNvPr id="5" name="Screensho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0000"/>
            <a:ext cx="10972800" cy="6266667"/>
          </a:xfrm>
          <a:prstGeom prst="rect">
            <a:avLst/>
          </a:prstGeom>
        </p:spPr>
      </p:pic>
      <p:sp>
        <p:nvSpPr>
          <p:cNvPr id="6" name="Footer"/>
          <p:cNvSpPr/>
          <p:nvPr/>
        </p:nvSpPr>
        <p:spPr>
          <a:xfrm>
            <a:off x="609600" y="7666667"/>
            <a:ext cx="10972800" cy="37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>
                <a:solidFill>
                  <a:srgbClr val="6B7280"/>
                </a:solidFill>
                <a:latin typeface="Calibri"/>
              </a:rPr>
              <a:t>LibraryHub  ·  Member 7 — Admin User Management Service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8A951"/>
          </a:solidFill>
        </p:spPr>
      </p:sp>
      <p:sp>
        <p:nvSpPr>
          <p:cNvPr id="3" name="Title"/>
          <p:cNvSpPr/>
          <p:nvPr/>
        </p:nvSpPr>
        <p:spPr>
          <a:xfrm>
            <a:off x="609600" y="160000"/>
            <a:ext cx="10972800" cy="53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733" b="1" dirty="0">
                <a:solidFill>
                  <a:srgbClr val="FFFFFF"/>
                </a:solidFill>
                <a:latin typeface="Calibri"/>
              </a:rPr>
              <a:t>Output — Manage Users &amp; Librarians</a:t>
            </a:r>
          </a:p>
        </p:txBody>
      </p:sp>
      <p:sp>
        <p:nvSpPr>
          <p:cNvPr id="4" name="Subtitle"/>
          <p:cNvSpPr/>
          <p:nvPr/>
        </p:nvSpPr>
        <p:spPr>
          <a:xfrm>
            <a:off x="609600" y="706667"/>
            <a:ext cx="10972800" cy="37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133" dirty="0">
                <a:solidFill>
                  <a:srgbClr val="C8A951"/>
                </a:solidFill>
                <a:latin typeface="Calibri"/>
              </a:rPr>
              <a:t>8 Members listed  ·  Role management + Delete actions  ·  React frontend connected to Spring Boot</a:t>
            </a:r>
          </a:p>
        </p:txBody>
      </p:sp>
      <p:pic>
        <p:nvPicPr>
          <p:cNvPr id="5" name="Screenshot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0000"/>
            <a:ext cx="10972800" cy="6266667"/>
          </a:xfrm>
          <a:prstGeom prst="rect">
            <a:avLst/>
          </a:prstGeom>
        </p:spPr>
      </p:pic>
      <p:sp>
        <p:nvSpPr>
          <p:cNvPr id="6" name="Footer"/>
          <p:cNvSpPr/>
          <p:nvPr/>
        </p:nvSpPr>
        <p:spPr>
          <a:xfrm>
            <a:off x="609600" y="7666667"/>
            <a:ext cx="10972800" cy="373333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>
                <a:solidFill>
                  <a:srgbClr val="6B7280"/>
                </a:solidFill>
                <a:latin typeface="Calibri"/>
              </a:rPr>
              <a:t>LibraryHub  ·  Member 7 — Admin User Management Service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8B6F7B2-9242-DD3E-21F8-2A6056148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1663" y="1052513"/>
            <a:ext cx="8448675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547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4066</Words>
  <Application>Microsoft Office PowerPoint</Application>
  <PresentationFormat>Widescreen</PresentationFormat>
  <Paragraphs>891</Paragraphs>
  <Slides>54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Aptos</vt:lpstr>
      <vt:lpstr>Aptos Display</vt:lpstr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NIKHITHA BOLLAPU</dc:creator>
  <cp:lastModifiedBy>NIKHITHA BOLLAPU</cp:lastModifiedBy>
  <cp:revision>2</cp:revision>
  <dcterms:created xsi:type="dcterms:W3CDTF">2026-03-15T19:09:05Z</dcterms:created>
  <dcterms:modified xsi:type="dcterms:W3CDTF">2026-03-16T17:48:39Z</dcterms:modified>
</cp:coreProperties>
</file>