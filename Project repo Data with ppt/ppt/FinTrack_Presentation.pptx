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57" r:id="rId6"/>
    <p:sldId id="277" r:id="rId7"/>
    <p:sldId id="258" r:id="rId8"/>
    <p:sldId id="284" r:id="rId9"/>
    <p:sldId id="279" r:id="rId10"/>
    <p:sldId id="261" r:id="rId11"/>
    <p:sldId id="262" r:id="rId12"/>
    <p:sldId id="281" r:id="rId13"/>
    <p:sldId id="264" r:id="rId14"/>
    <p:sldId id="282" r:id="rId15"/>
    <p:sldId id="280" r:id="rId16"/>
    <p:sldId id="267" r:id="rId17"/>
    <p:sldId id="268" r:id="rId18"/>
    <p:sldId id="283" r:id="rId19"/>
    <p:sldId id="285" r:id="rId20"/>
    <p:sldId id="271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295804"/>
            <a:ext cx="8100000" cy="594000"/>
          </a:xfrm>
        </p:spPr>
        <p:txBody>
          <a:bodyPr/>
          <a:lstStyle>
            <a:lvl1pPr algn="ct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4" Type="http://schemas.openxmlformats.org/officeDocument/2006/relationships/notesSlide" Target="../notesSlides/notesSlide2.xml"/><Relationship Id="rId43" Type="http://schemas.openxmlformats.org/officeDocument/2006/relationships/slideLayout" Target="../slideLayouts/slideLayout1.xml"/><Relationship Id="rId42" Type="http://schemas.openxmlformats.org/officeDocument/2006/relationships/tags" Target="../tags/tag46.xml"/><Relationship Id="rId41" Type="http://schemas.openxmlformats.org/officeDocument/2006/relationships/tags" Target="../tags/tag45.xml"/><Relationship Id="rId40" Type="http://schemas.openxmlformats.org/officeDocument/2006/relationships/tags" Target="../tags/tag44.xml"/><Relationship Id="rId4" Type="http://schemas.openxmlformats.org/officeDocument/2006/relationships/tags" Target="../tags/tag8.xml"/><Relationship Id="rId39" Type="http://schemas.openxmlformats.org/officeDocument/2006/relationships/tags" Target="../tags/tag43.xml"/><Relationship Id="rId38" Type="http://schemas.openxmlformats.org/officeDocument/2006/relationships/tags" Target="../tags/tag42.xml"/><Relationship Id="rId37" Type="http://schemas.openxmlformats.org/officeDocument/2006/relationships/tags" Target="../tags/tag41.xml"/><Relationship Id="rId36" Type="http://schemas.openxmlformats.org/officeDocument/2006/relationships/tags" Target="../tags/tag40.xml"/><Relationship Id="rId35" Type="http://schemas.openxmlformats.org/officeDocument/2006/relationships/tags" Target="../tags/tag39.xml"/><Relationship Id="rId34" Type="http://schemas.openxmlformats.org/officeDocument/2006/relationships/tags" Target="../tags/tag38.xml"/><Relationship Id="rId33" Type="http://schemas.openxmlformats.org/officeDocument/2006/relationships/tags" Target="../tags/tag37.xml"/><Relationship Id="rId32" Type="http://schemas.openxmlformats.org/officeDocument/2006/relationships/tags" Target="../tags/tag36.xml"/><Relationship Id="rId31" Type="http://schemas.openxmlformats.org/officeDocument/2006/relationships/tags" Target="../tags/tag35.xml"/><Relationship Id="rId30" Type="http://schemas.openxmlformats.org/officeDocument/2006/relationships/tags" Target="../tags/tag34.xml"/><Relationship Id="rId3" Type="http://schemas.openxmlformats.org/officeDocument/2006/relationships/tags" Target="../tags/tag7.xml"/><Relationship Id="rId29" Type="http://schemas.openxmlformats.org/officeDocument/2006/relationships/tags" Target="../tags/tag33.xml"/><Relationship Id="rId28" Type="http://schemas.openxmlformats.org/officeDocument/2006/relationships/tags" Target="../tags/tag32.xml"/><Relationship Id="rId27" Type="http://schemas.openxmlformats.org/officeDocument/2006/relationships/tags" Target="../tags/tag31.xml"/><Relationship Id="rId26" Type="http://schemas.openxmlformats.org/officeDocument/2006/relationships/tags" Target="../tags/tag30.xml"/><Relationship Id="rId25" Type="http://schemas.openxmlformats.org/officeDocument/2006/relationships/tags" Target="../tags/tag29.xml"/><Relationship Id="rId24" Type="http://schemas.openxmlformats.org/officeDocument/2006/relationships/tags" Target="../tags/tag28.xml"/><Relationship Id="rId23" Type="http://schemas.openxmlformats.org/officeDocument/2006/relationships/tags" Target="../tags/tag2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12305C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777240"/>
            <a:ext cx="201168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💰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16459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 </a:t>
            </a:r>
            <a:r>
              <a:rPr lang="en-IN" altLang="en-US" sz="900" b="1" dirty="0">
                <a:solidFill>
                  <a:srgbClr val="FFFFFF"/>
                </a:solidFill>
              </a:rPr>
              <a:t>WEB APPLICATION PROJECT</a:t>
            </a:r>
            <a:endParaRPr lang="en-IN" altLang="en-US" sz="900" b="1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FinTrack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3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 Finance &amp;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A3B8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 Tracking System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3090672"/>
            <a:ext cx="502920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2004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A8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 •  Spring Boot  •  MySQL  •  Microservices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of 7 Members  |  7 Microservices  |  Academic Year 202</a:t>
            </a:r>
            <a:r>
              <a:rPr lang="en-IN" altLang="en-US" sz="1200" i="1" dirty="0">
                <a:solidFill>
                  <a:srgbClr val="5A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sz="1200" i="1" dirty="0">
                <a:solidFill>
                  <a:srgbClr val="5A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–2</a:t>
            </a:r>
            <a:r>
              <a:rPr lang="en-IN" altLang="en-US" sz="1200" i="1" dirty="0">
                <a:solidFill>
                  <a:srgbClr val="5A7A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IN" altLang="en-US" sz="1200" i="1" dirty="0">
              <a:solidFill>
                <a:srgbClr val="5A7A9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2305C"/>
          </a:solidFill>
          <a:ln w="12700">
            <a:solidFill>
              <a:srgbClr val="1230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1000" dirty="0">
                <a:solidFill>
                  <a:srgbClr val="7FA8C9"/>
                </a:solidFill>
              </a:rPr>
              <a:t>AIML  2025-2026</a:t>
            </a:r>
            <a:endParaRPr lang="en-IN" altLang="en-US" sz="1000" dirty="0">
              <a:solidFill>
                <a:srgbClr val="7FA8C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Team Members &amp; Microservice Assignments</a:t>
            </a:r>
            <a:endParaRPr lang="en-US" sz="24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274320" y="914400"/>
            <a:ext cx="41605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274320" y="914400"/>
            <a:ext cx="54864" cy="8961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3"/>
            </p:custDataLst>
          </p:nvPr>
        </p:nvSpPr>
        <p:spPr>
          <a:xfrm>
            <a:off x="384048" y="1097280"/>
            <a:ext cx="530352" cy="530352"/>
          </a:xfrm>
          <a:prstGeom prst="ellipse">
            <a:avLst/>
          </a:prstGeom>
          <a:solidFill>
            <a:srgbClr val="0B1F3A">
              <a:alpha val="8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05840" y="969264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K. SreeHarini</a:t>
            </a:r>
            <a:endParaRPr lang="en-US" sz="13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1005840" y="1252728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Roll: 239Y1A3932</a:t>
            </a:r>
            <a:endParaRPr lang="en-US" sz="9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005840" y="1463040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F3A"/>
                </a:solidFill>
              </a:rPr>
              <a:t>User Authentication &amp; Security</a:t>
            </a:r>
            <a:endParaRPr lang="en-US" sz="100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274320" y="1947672"/>
            <a:ext cx="41605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274320" y="1947672"/>
            <a:ext cx="54864" cy="89611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Shape 11"/>
          <p:cNvSpPr/>
          <p:nvPr>
            <p:custDataLst>
              <p:tags r:id="rId9"/>
            </p:custDataLst>
          </p:nvPr>
        </p:nvSpPr>
        <p:spPr>
          <a:xfrm>
            <a:off x="384048" y="2130552"/>
            <a:ext cx="530352" cy="530352"/>
          </a:xfrm>
          <a:prstGeom prst="ellipse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48840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1005840" y="2002536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Thanuja</a:t>
            </a:r>
            <a:endParaRPr lang="en-US" sz="13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1005840" y="2286000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Roll: 239Y1A3921</a:t>
            </a:r>
            <a:endParaRPr lang="en-US" sz="9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1005840" y="2496312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</a:rPr>
              <a:t>Category Management System</a:t>
            </a:r>
            <a:endParaRPr lang="en-US" sz="10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274320" y="2980944"/>
            <a:ext cx="41605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274320" y="2980944"/>
            <a:ext cx="54864" cy="8961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384048" y="3163824"/>
            <a:ext cx="530352" cy="530352"/>
          </a:xfrm>
          <a:prstGeom prst="ellipse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182112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22" name="Text 20"/>
          <p:cNvSpPr/>
          <p:nvPr>
            <p:custDataLst>
              <p:tags r:id="rId16"/>
            </p:custDataLst>
          </p:nvPr>
        </p:nvSpPr>
        <p:spPr>
          <a:xfrm>
            <a:off x="1005840" y="3035808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B. Shanker Narayana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1005840" y="331927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Roll: 239Y1A3903</a:t>
            </a:r>
            <a:endParaRPr lang="en-US" sz="900" dirty="0"/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1005840" y="3529584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Transaction Logging Service</a:t>
            </a:r>
            <a:endParaRPr lang="en-US" sz="1000" dirty="0"/>
          </a:p>
        </p:txBody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274320" y="4014216"/>
            <a:ext cx="41605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>
            <p:custDataLst>
              <p:tags r:id="rId20"/>
            </p:custDataLst>
          </p:nvPr>
        </p:nvSpPr>
        <p:spPr>
          <a:xfrm>
            <a:off x="274320" y="4014216"/>
            <a:ext cx="54864" cy="8961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>
            <p:custDataLst>
              <p:tags r:id="rId21"/>
            </p:custDataLst>
          </p:nvPr>
        </p:nvSpPr>
        <p:spPr>
          <a:xfrm>
            <a:off x="384048" y="4197096"/>
            <a:ext cx="530352" cy="530352"/>
          </a:xfrm>
          <a:prstGeom prst="ellipse">
            <a:avLst/>
          </a:prstGeom>
          <a:solidFill>
            <a:srgbClr val="B45309">
              <a:alpha val="8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15384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1005840" y="4069080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300" b="1" dirty="0">
                <a:solidFill>
                  <a:srgbClr val="0B1F3A"/>
                </a:solidFill>
              </a:rPr>
              <a:t>P.</a:t>
            </a:r>
            <a:r>
              <a:rPr lang="en-US" sz="1300" b="1" dirty="0">
                <a:solidFill>
                  <a:srgbClr val="0B1F3A"/>
                </a:solidFill>
              </a:rPr>
              <a:t>Nalini</a:t>
            </a:r>
            <a:endParaRPr lang="en-US" sz="130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1005840" y="4352544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Roll: 239Y1A3945</a:t>
            </a:r>
            <a:endParaRPr lang="en-US" sz="9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1005840" y="4562856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</a:rPr>
              <a:t>Budget Planning System</a:t>
            </a:r>
            <a:endParaRPr lang="en-US" sz="1000" dirty="0"/>
          </a:p>
        </p:txBody>
      </p:sp>
      <p:sp>
        <p:nvSpPr>
          <p:cNvPr id="32" name="Shape 30"/>
          <p:cNvSpPr/>
          <p:nvPr>
            <p:custDataLst>
              <p:tags r:id="rId25"/>
            </p:custDataLst>
          </p:nvPr>
        </p:nvSpPr>
        <p:spPr>
          <a:xfrm>
            <a:off x="4754880" y="914400"/>
            <a:ext cx="41605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>
            <p:custDataLst>
              <p:tags r:id="rId26"/>
            </p:custDataLst>
          </p:nvPr>
        </p:nvSpPr>
        <p:spPr>
          <a:xfrm>
            <a:off x="4754880" y="914400"/>
            <a:ext cx="54864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Shape 32"/>
          <p:cNvSpPr/>
          <p:nvPr>
            <p:custDataLst>
              <p:tags r:id="rId27"/>
            </p:custDataLst>
          </p:nvPr>
        </p:nvSpPr>
        <p:spPr>
          <a:xfrm>
            <a:off x="4864608" y="1097280"/>
            <a:ext cx="530352" cy="530352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1115568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6" name="Text 34"/>
          <p:cNvSpPr/>
          <p:nvPr>
            <p:custDataLst>
              <p:tags r:id="rId28"/>
            </p:custDataLst>
          </p:nvPr>
        </p:nvSpPr>
        <p:spPr>
          <a:xfrm>
            <a:off x="5486400" y="969264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 Ram Shiva Sai</a:t>
            </a:r>
            <a:endParaRPr lang="en-US" sz="1300" dirty="0"/>
          </a:p>
        </p:txBody>
      </p:sp>
      <p:sp>
        <p:nvSpPr>
          <p:cNvPr id="37" name="Text 35"/>
          <p:cNvSpPr/>
          <p:nvPr>
            <p:custDataLst>
              <p:tags r:id="rId29"/>
            </p:custDataLst>
          </p:nvPr>
        </p:nvSpPr>
        <p:spPr>
          <a:xfrm>
            <a:off x="5486400" y="1252728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Roll: 239Y1A3942</a:t>
            </a:r>
            <a:endParaRPr lang="en-US" sz="900" dirty="0"/>
          </a:p>
        </p:txBody>
      </p:sp>
      <p:sp>
        <p:nvSpPr>
          <p:cNvPr id="38" name="Text 36"/>
          <p:cNvSpPr/>
          <p:nvPr>
            <p:custDataLst>
              <p:tags r:id="rId30"/>
            </p:custDataLst>
          </p:nvPr>
        </p:nvSpPr>
        <p:spPr>
          <a:xfrm>
            <a:off x="5486400" y="1463040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Monthly Summary &amp; Reporting</a:t>
            </a:r>
            <a:endParaRPr lang="en-US" sz="1000" dirty="0"/>
          </a:p>
        </p:txBody>
      </p:sp>
      <p:sp>
        <p:nvSpPr>
          <p:cNvPr id="39" name="Shape 37"/>
          <p:cNvSpPr/>
          <p:nvPr>
            <p:custDataLst>
              <p:tags r:id="rId31"/>
            </p:custDataLst>
          </p:nvPr>
        </p:nvSpPr>
        <p:spPr>
          <a:xfrm>
            <a:off x="4754880" y="1947672"/>
            <a:ext cx="41605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>
            <p:custDataLst>
              <p:tags r:id="rId32"/>
            </p:custDataLst>
          </p:nvPr>
        </p:nvSpPr>
        <p:spPr>
          <a:xfrm>
            <a:off x="4754880" y="1947672"/>
            <a:ext cx="54864" cy="8961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1" name="Shape 39"/>
          <p:cNvSpPr/>
          <p:nvPr>
            <p:custDataLst>
              <p:tags r:id="rId33"/>
            </p:custDataLst>
          </p:nvPr>
        </p:nvSpPr>
        <p:spPr>
          <a:xfrm>
            <a:off x="4864608" y="2130552"/>
            <a:ext cx="530352" cy="530352"/>
          </a:xfrm>
          <a:prstGeom prst="ellipse">
            <a:avLst/>
          </a:prstGeom>
          <a:solidFill>
            <a:srgbClr val="0369A1">
              <a:alpha val="85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2148840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43" name="Text 41"/>
          <p:cNvSpPr/>
          <p:nvPr>
            <p:custDataLst>
              <p:tags r:id="rId34"/>
            </p:custDataLst>
          </p:nvPr>
        </p:nvSpPr>
        <p:spPr>
          <a:xfrm>
            <a:off x="5486400" y="2002536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Shaik Saba Fathima</a:t>
            </a:r>
            <a:endParaRPr lang="en-US" sz="1300" dirty="0"/>
          </a:p>
        </p:txBody>
      </p:sp>
      <p:sp>
        <p:nvSpPr>
          <p:cNvPr id="44" name="Text 42"/>
          <p:cNvSpPr/>
          <p:nvPr>
            <p:custDataLst>
              <p:tags r:id="rId35"/>
            </p:custDataLst>
          </p:nvPr>
        </p:nvSpPr>
        <p:spPr>
          <a:xfrm>
            <a:off x="5486400" y="2286000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Roll: 239Y1A3954</a:t>
            </a:r>
            <a:endParaRPr lang="en-US" sz="900" dirty="0"/>
          </a:p>
        </p:txBody>
      </p:sp>
      <p:sp>
        <p:nvSpPr>
          <p:cNvPr id="45" name="Text 43"/>
          <p:cNvSpPr/>
          <p:nvPr>
            <p:custDataLst>
              <p:tags r:id="rId36"/>
            </p:custDataLst>
          </p:nvPr>
        </p:nvSpPr>
        <p:spPr>
          <a:xfrm>
            <a:off x="5486400" y="2496312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Financial Advisor Service</a:t>
            </a:r>
            <a:endParaRPr lang="en-US" sz="1000" dirty="0"/>
          </a:p>
        </p:txBody>
      </p:sp>
      <p:sp>
        <p:nvSpPr>
          <p:cNvPr id="46" name="Shape 44"/>
          <p:cNvSpPr/>
          <p:nvPr>
            <p:custDataLst>
              <p:tags r:id="rId37"/>
            </p:custDataLst>
          </p:nvPr>
        </p:nvSpPr>
        <p:spPr>
          <a:xfrm>
            <a:off x="4754880" y="2980944"/>
            <a:ext cx="41605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>
            <p:custDataLst>
              <p:tags r:id="rId38"/>
            </p:custDataLst>
          </p:nvPr>
        </p:nvSpPr>
        <p:spPr>
          <a:xfrm>
            <a:off x="4754880" y="2980944"/>
            <a:ext cx="54864" cy="89611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8" name="Shape 46"/>
          <p:cNvSpPr/>
          <p:nvPr>
            <p:custDataLst>
              <p:tags r:id="rId39"/>
            </p:custDataLst>
          </p:nvPr>
        </p:nvSpPr>
        <p:spPr>
          <a:xfrm>
            <a:off x="4864608" y="3163824"/>
            <a:ext cx="530352" cy="530352"/>
          </a:xfrm>
          <a:prstGeom prst="ellipse">
            <a:avLst/>
          </a:prstGeom>
          <a:solidFill>
            <a:srgbClr val="991B1B">
              <a:alpha val="85000"/>
            </a:srgbClr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3182112"/>
            <a:ext cx="5303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50" name="Text 48"/>
          <p:cNvSpPr/>
          <p:nvPr>
            <p:custDataLst>
              <p:tags r:id="rId40"/>
            </p:custDataLst>
          </p:nvPr>
        </p:nvSpPr>
        <p:spPr>
          <a:xfrm>
            <a:off x="5486400" y="3035808"/>
            <a:ext cx="3246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 Naga Ravi Teja</a:t>
            </a:r>
            <a:endParaRPr lang="en-US" sz="1300" dirty="0"/>
          </a:p>
        </p:txBody>
      </p:sp>
      <p:sp>
        <p:nvSpPr>
          <p:cNvPr id="51" name="Text 49"/>
          <p:cNvSpPr/>
          <p:nvPr>
            <p:custDataLst>
              <p:tags r:id="rId41"/>
            </p:custDataLst>
          </p:nvPr>
        </p:nvSpPr>
        <p:spPr>
          <a:xfrm>
            <a:off x="5486400" y="3319272"/>
            <a:ext cx="3246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Roll: 249Y5A3904</a:t>
            </a:r>
            <a:endParaRPr lang="en-US" sz="900" dirty="0"/>
          </a:p>
        </p:txBody>
      </p:sp>
      <p:sp>
        <p:nvSpPr>
          <p:cNvPr id="52" name="Text 50"/>
          <p:cNvSpPr/>
          <p:nvPr>
            <p:custDataLst>
              <p:tags r:id="rId42"/>
            </p:custDataLst>
          </p:nvPr>
        </p:nvSpPr>
        <p:spPr>
          <a:xfrm>
            <a:off x="5486400" y="3529584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Admin Controller &amp; Platform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09728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</a:rPr>
              <a:t>Project Overview &amp;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1847088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200" dirty="0">
                <a:solidFill>
                  <a:srgbClr val="0B1F3A"/>
                </a:solidFill>
              </a:rPr>
              <a:t> </a:t>
            </a:r>
            <a:r>
              <a:rPr lang="en-US" sz="1200" dirty="0">
                <a:solidFill>
                  <a:srgbClr val="0B1F3A"/>
                </a:solidFill>
                <a:sym typeface="+mn-ea"/>
              </a:rPr>
              <a:t>Team Members &amp; Microservice Assignments</a:t>
            </a:r>
            <a:endParaRPr lang="en-IN" altLang="en-US" sz="1200" dirty="0">
              <a:solidFill>
                <a:srgbClr val="0B1F3A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96896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96896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596896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  <a:sym typeface="+mn-ea"/>
              </a:rPr>
              <a:t>System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46704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46704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3346704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</a:rPr>
              <a:t>Technology Stack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096512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96512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96512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096512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</a:rPr>
              <a:t>Microservice Deep Dives (7 Services)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97280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97280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109728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</a:rPr>
              <a:t>Frontend Architecture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847088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847088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847088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85232" y="1847088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</a:rPr>
              <a:t>Database Design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596896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596896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596896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85232" y="2596896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</a:rPr>
              <a:t>API Summary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346704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346704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346704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85232" y="3346704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</a:rPr>
              <a:t>Build Order &amp; Integration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4096512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4096512"/>
            <a:ext cx="4572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096512"/>
            <a:ext cx="457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85232" y="4096512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1F3A"/>
                </a:solidFill>
              </a:rPr>
              <a:t>Conclusion &amp;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you ever wondered where all your money went at the end of the month?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19659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E3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28800"/>
            <a:ext cx="196596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96596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😕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278892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E3E"/>
                </a:solidFill>
              </a:rPr>
              <a:t>No Record Keeping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218688"/>
            <a:ext cx="17830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People forget what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they spent &amp; where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828800"/>
            <a:ext cx="19659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6AD5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828800"/>
            <a:ext cx="1965960" cy="7315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96596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💸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60320" y="278892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6AD55"/>
                </a:solidFill>
              </a:rPr>
              <a:t>Budget Overrun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218688"/>
            <a:ext cx="17830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Spend more than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planned without knowing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19659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182C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828800"/>
            <a:ext cx="1965960" cy="73152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96596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📉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09160" y="278892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182CE"/>
                </a:solidFill>
              </a:rPr>
              <a:t>No Monthly Reports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3218688"/>
            <a:ext cx="17830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Can't see income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vs expenses clearly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828800"/>
            <a:ext cx="19659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8A16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828800"/>
            <a:ext cx="1965960" cy="7315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965960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🔒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58000" y="278892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A169"/>
                </a:solidFill>
              </a:rPr>
              <a:t>No Secure Access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3218688"/>
            <a:ext cx="17830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No role separation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for User/Advisor/Admin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06240" y="422452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D7377"/>
                </a:solidFill>
              </a:rPr>
              <a:t>⬇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20040" y="4617720"/>
            <a:ext cx="850392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4617720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FinTrack fixes all this — Track • Budget • Report • Secure Access, all in one app!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</a:rPr>
              <a:t>What is FinTrack?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FinTrack is a personal finance management application built using a microservices architecture. It empowers users to track income and expenses, plan monthly budgets, view financial summaries, and receive advisor insights — all from a unified React-powered dashboard.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</a:rPr>
              <a:t>Key Objectives: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Track all income &amp; expense transactions</a:t>
            </a:r>
            <a:endParaRPr lang="en-US" sz="1200" dirty="0">
              <a:solidFill>
                <a:srgbClr val="64748B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altLang="en-US" sz="1200" dirty="0">
                <a:solidFill>
                  <a:srgbClr val="64748B"/>
                </a:solidFill>
              </a:rPr>
              <a:t>Record their expenses in a strutured format.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Set monthly category-wise budgets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View budget-vs-actual summaries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Financial advisor portfolio review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</a:rPr>
              <a:t>Secure role-based access (User / Advisor / Admin)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5577840" y="1051560"/>
            <a:ext cx="146304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5577840" y="121615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IN" altLang="en-US" sz="3600" b="1" dirty="0">
                <a:solidFill>
                  <a:srgbClr val="FFFFFF"/>
                </a:solidFill>
              </a:rPr>
              <a:t>7</a:t>
            </a:r>
            <a:endParaRPr lang="en-IN" altLang="en-US" sz="3600" b="1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5577840" y="18745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B8CC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7269480" y="1051560"/>
            <a:ext cx="146304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7269480" y="121615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7</a:t>
            </a:r>
            <a:endParaRPr lang="en-US" sz="3600" dirty="0"/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7269480" y="187452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B8CC"/>
                </a:solidFill>
              </a:rPr>
              <a:t>Microservices</a:t>
            </a:r>
            <a:endParaRPr lang="en-US" sz="1000" dirty="0"/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5577840" y="2743200"/>
            <a:ext cx="146304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5577840" y="290779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15+</a:t>
            </a:r>
            <a:endParaRPr lang="en-US" sz="360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5577840" y="35661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B8CC"/>
                </a:solidFill>
              </a:rPr>
              <a:t>REST APIs</a:t>
            </a:r>
            <a:endParaRPr lang="en-US" sz="1000" dirty="0"/>
          </a:p>
        </p:txBody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7269480" y="2743200"/>
            <a:ext cx="146304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7269480" y="2907792"/>
            <a:ext cx="1463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7269480" y="35661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B8CC"/>
                </a:solidFill>
              </a:rPr>
              <a:t>User Roles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8046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" y="109728"/>
            <a:ext cx="566928" cy="566928"/>
          </a:xfrm>
          <a:prstGeom prst="ellipse">
            <a:avLst/>
          </a:prstGeom>
          <a:solidFill>
            <a:srgbClr val="38BDF8">
              <a:alpha val="8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" y="1097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0"/>
            <a:ext cx="8046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Modules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73152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8366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</a:rPr>
              <a:t>Our project FinTrack is divided into multiple modules — each module does one specific job in the system.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1417320"/>
            <a:ext cx="2029968" cy="3566160"/>
          </a:xfrm>
          <a:prstGeom prst="rect">
            <a:avLst/>
          </a:prstGeom>
          <a:solidFill>
            <a:srgbClr val="F0FDFA"/>
          </a:solidFill>
          <a:ln w="190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417320"/>
            <a:ext cx="2029968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563624"/>
            <a:ext cx="420624" cy="42062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636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15453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" y="207568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User Authentication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&amp; Security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642616"/>
            <a:ext cx="1828800" cy="274320"/>
          </a:xfrm>
          <a:prstGeom prst="rect">
            <a:avLst/>
          </a:prstGeom>
          <a:solidFill>
            <a:srgbClr val="0D7377">
              <a:alpha val="12000"/>
            </a:srgbClr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42616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D7377"/>
                </a:solidFill>
              </a:rPr>
              <a:t>Who are you? Prove it!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099816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026664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Register as User, Advisor or Admin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3666744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593592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Login and get a secu</a:t>
            </a:r>
            <a:r>
              <a:rPr lang="en-IN" altLang="en-US" sz="1100" dirty="0">
                <a:solidFill>
                  <a:srgbClr val="334155"/>
                </a:solidFill>
              </a:rPr>
              <a:t>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4233672"/>
            <a:ext cx="182880" cy="1828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160520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Only right people access right pages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32304" y="1417320"/>
            <a:ext cx="2029968" cy="356616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32304" y="1417320"/>
            <a:ext cx="2029968" cy="91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1563624"/>
            <a:ext cx="420624" cy="42062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15636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054096" y="15453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542032" y="207568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Expense Management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Service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542032" y="2642616"/>
            <a:ext cx="1828800" cy="274320"/>
          </a:xfrm>
          <a:prstGeom prst="rect">
            <a:avLst/>
          </a:prstGeom>
          <a:solidFill>
            <a:srgbClr val="1D4ED8">
              <a:alpha val="12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642616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1D4ED8"/>
                </a:solidFill>
              </a:rPr>
              <a:t>What did you spend money on?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0" y="3099816"/>
            <a:ext cx="182880" cy="1828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98064" y="3026664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Add income and expense entries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3666744"/>
            <a:ext cx="182880" cy="1828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98064" y="3593592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Tag each entry with a category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60320" y="4233672"/>
            <a:ext cx="182880" cy="1828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98064" y="4160520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View full transaction history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08576" y="1417320"/>
            <a:ext cx="2029968" cy="3566160"/>
          </a:xfrm>
          <a:prstGeom prst="rect">
            <a:avLst/>
          </a:prstGeom>
          <a:solidFill>
            <a:srgbClr val="FFFBEB"/>
          </a:solidFill>
          <a:ln w="1905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08576" y="1417320"/>
            <a:ext cx="2029968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6592" y="1563624"/>
            <a:ext cx="420624" cy="42062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15636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30368" y="15453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718304" y="207568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Transaction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Tracking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718304" y="2642616"/>
            <a:ext cx="1828800" cy="274320"/>
          </a:xfrm>
          <a:prstGeom prst="rect">
            <a:avLst/>
          </a:prstGeom>
          <a:solidFill>
            <a:srgbClr val="B45309">
              <a:alpha val="12000"/>
            </a:srgbClr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2642616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B45309"/>
                </a:solidFill>
              </a:rPr>
              <a:t>Keep a record of every rupee!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36592" y="3099816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74336" y="3026664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Set monthly spending limits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36592" y="3666744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74336" y="3593592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Track actual vs planned budget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36592" y="4233672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74336" y="4160520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Filter by month, year, category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84848" y="1417320"/>
            <a:ext cx="2029968" cy="35661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784848" y="1417320"/>
            <a:ext cx="2029968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12864" y="1563624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12864" y="156362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406640" y="15453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57" name="Text 55"/>
          <p:cNvSpPr/>
          <p:nvPr/>
        </p:nvSpPr>
        <p:spPr>
          <a:xfrm>
            <a:off x="6894576" y="207568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Reporting &amp;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Analytics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894576" y="2642616"/>
            <a:ext cx="1828800" cy="274320"/>
          </a:xfrm>
          <a:prstGeom prst="rect">
            <a:avLst/>
          </a:prstGeom>
          <a:solidFill>
            <a:srgbClr val="059669">
              <a:alpha val="12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12864" y="2642616"/>
            <a:ext cx="1810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059669"/>
                </a:solidFill>
              </a:rPr>
              <a:t>How did your month look?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12864" y="3099816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50608" y="3026664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Monthly income vs expense summary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912864" y="3666744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50608" y="3593592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Net balance — money saved or lost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912864" y="4233672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50608" y="4160520"/>
            <a:ext cx="15727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Flag categories that went over budget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5029200"/>
            <a:ext cx="8595360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5074920"/>
            <a:ext cx="8595360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4320" y="5074920"/>
            <a:ext cx="73152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" y="5074920"/>
            <a:ext cx="8366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</a:rPr>
              <a:t>Together these 4 modules form the complete FinTrack experience — from login to reports!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🏗  System Architecture — FinTrack Frontend Flow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931920" y="8686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A8C5B"/>
          </a:solidFill>
          <a:ln w="12700">
            <a:solidFill>
              <a:srgbClr val="1A8C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868680"/>
            <a:ext cx="1280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▶ Start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44568" y="1216152"/>
            <a:ext cx="54864" cy="201168"/>
          </a:xfrm>
          <a:prstGeom prst="rect">
            <a:avLst/>
          </a:prstGeom>
          <a:solidFill>
            <a:srgbClr val="1A8C5B"/>
          </a:solidFill>
          <a:ln w="12700">
            <a:solidFill>
              <a:srgbClr val="1A8C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362456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8C5B"/>
                </a:solidFill>
              </a:rPr>
              <a:t>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20440" y="1389888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524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389888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</a:rPr>
              <a:t>🌐  Open FinTrack Website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44568" y="1737360"/>
            <a:ext cx="54864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93852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93852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Login Page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81328" y="2130552"/>
            <a:ext cx="1901952" cy="54864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28600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FBF"/>
                </a:solidFill>
              </a:rPr>
              <a:t>▼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057400"/>
            <a:ext cx="6400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6FBF"/>
                </a:solidFill>
              </a:rPr>
              <a:t>USER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0720" y="2130552"/>
            <a:ext cx="190195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28600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26680" y="205740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ADMIN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44568" y="2322576"/>
            <a:ext cx="54864" cy="228600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3317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48C8"/>
                </a:solidFill>
              </a:rPr>
              <a:t>ADVISOR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" y="2487168"/>
            <a:ext cx="2633472" cy="2148840"/>
          </a:xfrm>
          <a:prstGeom prst="rect">
            <a:avLst/>
          </a:prstGeom>
          <a:solidFill>
            <a:srgbClr val="EBF4FF"/>
          </a:solidFill>
          <a:ln w="19050">
            <a:solidFill>
              <a:srgbClr val="1A6FBF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487168"/>
            <a:ext cx="2633472" cy="347472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487168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USER Dashboard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889504"/>
            <a:ext cx="239572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1A6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8950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</a:rPr>
              <a:t>📋  Transactions Page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63040" y="3108960"/>
            <a:ext cx="182880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FBF"/>
                </a:solidFill>
              </a:rPr>
              <a:t>↓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0040" y="3163824"/>
            <a:ext cx="239572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1A6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6382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</a:rPr>
              <a:t>➕  Add Income / Expense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63040" y="3383280"/>
            <a:ext cx="182880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FBF"/>
                </a:solidFill>
              </a:rPr>
              <a:t>↓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0040" y="3438144"/>
            <a:ext cx="239572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1A6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3814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</a:rPr>
              <a:t>💾  Save Transaction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463040" y="3657600"/>
            <a:ext cx="182880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FBF"/>
                </a:solidFill>
              </a:rPr>
              <a:t>↓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" y="3712464"/>
            <a:ext cx="239572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1A6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71246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</a:rPr>
              <a:t>📊  Monthly Summary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463040" y="3931920"/>
            <a:ext cx="182880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FBF"/>
                </a:solidFill>
              </a:rPr>
              <a:t>↓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20040" y="3986784"/>
            <a:ext cx="239572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1A6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98678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</a:rPr>
              <a:t>📈  View Income &amp; Expense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463040" y="4206240"/>
            <a:ext cx="182880" cy="54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FBF"/>
                </a:solidFill>
              </a:rPr>
              <a:t>↓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20040" y="4261104"/>
            <a:ext cx="239572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1A6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26110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A"/>
                </a:solidFill>
              </a:rPr>
              <a:t>🗂️  Category Breakdown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55264" y="2487168"/>
            <a:ext cx="2633472" cy="2148840"/>
          </a:xfrm>
          <a:prstGeom prst="rect">
            <a:avLst/>
          </a:prstGeom>
          <a:solidFill>
            <a:srgbClr val="F0EBFF"/>
          </a:solidFill>
          <a:ln w="19050">
            <a:solidFill>
              <a:srgbClr val="6B48C8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55264" y="2487168"/>
            <a:ext cx="2633472" cy="347472"/>
          </a:xfrm>
          <a:prstGeom prst="rect">
            <a:avLst/>
          </a:prstGeom>
          <a:solidFill>
            <a:srgbClr val="6B48C8"/>
          </a:solidFill>
          <a:ln w="12700">
            <a:solidFill>
              <a:srgbClr val="6B48C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2487168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🧑‍💼  ADVISOR Dashboard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383280" y="2889504"/>
            <a:ext cx="239572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6B48C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</a:rPr>
              <a:t>👥  My Clients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26280" y="3163824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48C8"/>
                </a:solidFill>
              </a:rPr>
              <a:t>↓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383280" y="3273552"/>
            <a:ext cx="239572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6B48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29000" y="32735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</a:rPr>
              <a:t>🔍  Select Client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26280" y="3547872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48C8"/>
                </a:solidFill>
              </a:rPr>
              <a:t>↓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383280" y="3657600"/>
            <a:ext cx="239572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6B48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29000" y="36576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</a:rPr>
              <a:t>📊  Client Summary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26280" y="3931920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48C8"/>
                </a:solidFill>
              </a:rPr>
              <a:t>↓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383280" y="4041648"/>
            <a:ext cx="239572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6B48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404164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</a:rPr>
              <a:t>📈  View Income / Expense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09360" y="2487168"/>
            <a:ext cx="2633472" cy="2148840"/>
          </a:xfrm>
          <a:prstGeom prst="rect">
            <a:avLst/>
          </a:prstGeom>
          <a:solidFill>
            <a:srgbClr val="FFF7E6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09360" y="2487168"/>
            <a:ext cx="263347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64224" y="2487168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🛠️  ADMIN Dashboard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37376" y="2889504"/>
            <a:ext cx="239572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83096" y="2889504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</a:rPr>
              <a:t>🗂️  Category Management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580376" y="3163824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</a:rPr>
              <a:t>↓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437376" y="3273552"/>
            <a:ext cx="239572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83096" y="32735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</a:rPr>
              <a:t>➕  Add Category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580376" y="3547872"/>
            <a:ext cx="182880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</a:rPr>
              <a:t>↓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437376" y="3657600"/>
            <a:ext cx="239572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83096" y="36576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A"/>
                </a:solidFill>
              </a:rPr>
              <a:t>👁️  View Categories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517904" y="4663440"/>
            <a:ext cx="1938528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517904" y="4663440"/>
            <a:ext cx="4572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87568" y="4663440"/>
            <a:ext cx="162763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9480" y="4663440"/>
            <a:ext cx="4572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56432" y="4709160"/>
            <a:ext cx="2231136" cy="320040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3456432" y="4709160"/>
            <a:ext cx="223113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🔓  Sign Out  →  End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822192" y="2331720"/>
            <a:ext cx="1499616" cy="219456"/>
          </a:xfrm>
          <a:prstGeom prst="roundRect">
            <a:avLst>
              <a:gd name="adj" fmla="val 25000"/>
            </a:avLst>
          </a:prstGeom>
          <a:solidFill>
            <a:srgbClr val="FFF0F0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822192" y="2331720"/>
            <a:ext cx="14996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</a:rPr>
              <a:t>⚠ Wrong login → Error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⚛  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React.js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257860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Component-based SPA with Axios HTTP client, JWT token handling, React Router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88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601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🍃  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270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Spring Boot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874520"/>
            <a:ext cx="257860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RESTful microservices with Spring Security, JPA/Hibernate, Maven build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788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96012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🔐  Security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52704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JWT + Spring 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36208" y="1874520"/>
            <a:ext cx="257860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JSON Web Tokens for stateless auth, role-based guards (USER / ADVISOR / ADMIN)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788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260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  Database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49300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MySQL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3840480"/>
            <a:ext cx="257860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Relational DBMS, JPA repositories, entity relationships per microservice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26080"/>
            <a:ext cx="278892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260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🧩  Architecture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49300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Microservices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840480"/>
            <a:ext cx="257860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7 independent Spring Boot services, each with own DB schema and REST boundary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278892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926080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Tools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493008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Maven / VS Code / Postman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36208" y="3840480"/>
            <a:ext cx="257860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Build automation, development environment, API testing and documentation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🔐  Member 1 — User Authentication &amp; Security Service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28600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K. SreeHarini  •  239Y1A3932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463040"/>
            <a:ext cx="53035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6002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377"/>
                </a:solidFill>
              </a:rPr>
              <a:t>Deliverables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5029200" cy="2651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User.java — id, username, email, password, role (USER/ADVISOR/ADMIN)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POST /api/user/register — Register any user role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POST /api/user/login — Login and issue JWT session token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JwtUtil.java — Token generation &amp; validation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JwtFilter.java — Intercepts every request to verify token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06440" y="960120"/>
            <a:ext cx="3108960" cy="3840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230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0515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</a:rPr>
              <a:t>📁 Folder 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417320"/>
            <a:ext cx="2926080" cy="320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auth-service/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└─ controller/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└─ AuthController.java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└─ entity/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└─ User.java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└─ repository/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└─ UserRepository.java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└─ service/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└─ AuthService.java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└─ security/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└─ JwtFilter.java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└─ JwtUtil.java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└─ d</a:t>
            </a:r>
            <a:r>
              <a:rPr lang="en-IN" alt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</a:t>
            </a: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└─ LoginRequest.java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3E4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└─ RegisterRequest.java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3132B"/>
          </a:solidFill>
          <a:ln w="12700">
            <a:solidFill>
              <a:srgbClr val="1313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7B2FBE">
              <a:alpha val="80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🗂️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365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Member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31089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Management Service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223760" y="146304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4630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Thanuja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239Y1A3921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" y="896112"/>
            <a:ext cx="4297680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89611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💬  What It Does — Simply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01168" y="1170432"/>
            <a:ext cx="4297680" cy="1051560"/>
          </a:xfrm>
          <a:prstGeom prst="rect">
            <a:avLst/>
          </a:prstGeom>
          <a:solidFill>
            <a:srgbClr val="13132B"/>
          </a:solidFill>
          <a:ln w="12700">
            <a:solidFill>
              <a:srgbClr val="7B2FB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1225296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🏷️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1225296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Creates labels like  Food, Rent, Salary  to sort money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1463040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146304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Each label is either  INCOME  or  EXPENSE  type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1700784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1700784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Every transaction &amp; budget in FinTrack uses these labels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1938528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193852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Only Admin can create or manage categories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2331720"/>
            <a:ext cx="4297680" cy="274320"/>
          </a:xfrm>
          <a:prstGeom prst="rect">
            <a:avLst/>
          </a:prstGeom>
          <a:solidFill>
            <a:srgbClr val="1C1C3A"/>
          </a:solidFill>
          <a:ln w="12700">
            <a:solidFill>
              <a:srgbClr val="1C1C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3172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</a:rPr>
              <a:t>⚙️  REST API Endpoints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01168" y="2606040"/>
            <a:ext cx="4297680" cy="1828800"/>
          </a:xfrm>
          <a:prstGeom prst="rect">
            <a:avLst/>
          </a:prstGeom>
          <a:solidFill>
            <a:srgbClr val="13132B"/>
          </a:solidFill>
          <a:ln w="12700">
            <a:solidFill>
              <a:srgbClr val="1C1C3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679192"/>
            <a:ext cx="4133088" cy="457200"/>
          </a:xfrm>
          <a:prstGeom prst="rect">
            <a:avLst/>
          </a:prstGeom>
          <a:solidFill>
            <a:srgbClr val="0A0A18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" y="2752344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22D3EE">
              <a:alpha val="8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2752344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271576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/api/admin/categories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" y="2916936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Admin views all categories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227832"/>
            <a:ext cx="4133088" cy="457200"/>
          </a:xfrm>
          <a:prstGeom prst="rect">
            <a:avLst/>
          </a:prstGeom>
          <a:solidFill>
            <a:srgbClr val="0A0A18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" y="3300984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8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3300984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" y="326440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/api/admin/category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8680" y="3465576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Admin creates a new category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776472"/>
            <a:ext cx="4133088" cy="457200"/>
          </a:xfrm>
          <a:prstGeom prst="rect">
            <a:avLst/>
          </a:prstGeom>
          <a:solidFill>
            <a:srgbClr val="0A0A18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0896" y="3849624"/>
            <a:ext cx="512064" cy="274320"/>
          </a:xfrm>
          <a:prstGeom prst="roundRect">
            <a:avLst>
              <a:gd name="adj" fmla="val 16667"/>
            </a:avLst>
          </a:prstGeom>
          <a:solidFill>
            <a:srgbClr val="22D3EE">
              <a:alpha val="8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" y="3849624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381304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/api/finance/categories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8680" y="4014216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</a:rPr>
              <a:t>Users fetch categories for tagging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4343400"/>
            <a:ext cx="4133088" cy="347472"/>
          </a:xfrm>
          <a:prstGeom prst="rect">
            <a:avLst/>
          </a:prstGeom>
          <a:solidFill>
            <a:srgbClr val="0A0A18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343400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855F7"/>
                </a:solidFill>
              </a:rPr>
              <a:t>📦  Category.java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83080" y="4343400"/>
            <a:ext cx="25420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  ·  name  ·  type (INCOME / EXPENSE)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896112"/>
            <a:ext cx="4187952" cy="274320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896112"/>
            <a:ext cx="4041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📈  INCOME Categories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1170432"/>
            <a:ext cx="4187952" cy="566928"/>
          </a:xfrm>
          <a:prstGeom prst="rect">
            <a:avLst/>
          </a:prstGeom>
          <a:solidFill>
            <a:srgbClr val="021A0E"/>
          </a:solidFill>
          <a:ln w="12700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45" name="Shape 43"/>
          <p:cNvSpPr/>
          <p:nvPr/>
        </p:nvSpPr>
        <p:spPr>
          <a:xfrm>
            <a:off x="4828032" y="1225296"/>
            <a:ext cx="749808" cy="420624"/>
          </a:xfrm>
          <a:prstGeom prst="roundRect">
            <a:avLst>
              <a:gd name="adj" fmla="val 13043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1225296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💼 Salary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50992" y="1243711"/>
            <a:ext cx="749808" cy="420624"/>
          </a:xfrm>
          <a:prstGeom prst="roundRect">
            <a:avLst>
              <a:gd name="adj" fmla="val 13043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8132" y="1225296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🧑‍💻 Freelance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66282" y="1225296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96912" y="1225296"/>
            <a:ext cx="749808" cy="420624"/>
          </a:xfrm>
          <a:prstGeom prst="roundRect">
            <a:avLst>
              <a:gd name="adj" fmla="val 13043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96912" y="1225296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📦 Business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19872" y="1225296"/>
            <a:ext cx="749808" cy="420624"/>
          </a:xfrm>
          <a:prstGeom prst="roundRect">
            <a:avLst>
              <a:gd name="adj" fmla="val 13043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19872" y="1225296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💹 Investment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1847088"/>
            <a:ext cx="4187952" cy="274320"/>
          </a:xfrm>
          <a:prstGeom prst="rect">
            <a:avLst/>
          </a:prstGeom>
          <a:solidFill>
            <a:srgbClr val="2A0A1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28032" y="1847088"/>
            <a:ext cx="4041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</a:rPr>
              <a:t>📉  EXPENSE Categories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754880" y="2121408"/>
            <a:ext cx="4187952" cy="566928"/>
          </a:xfrm>
          <a:prstGeom prst="rect">
            <a:avLst/>
          </a:prstGeom>
          <a:solidFill>
            <a:srgbClr val="1A0508"/>
          </a:solidFill>
          <a:ln w="12700">
            <a:solidFill>
              <a:srgbClr val="F43F5E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828032" y="2176272"/>
            <a:ext cx="749808" cy="420624"/>
          </a:xfrm>
          <a:prstGeom prst="roundRect">
            <a:avLst>
              <a:gd name="adj" fmla="val 13043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2176272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</a:rPr>
              <a:t>🍔 Food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50992" y="2176272"/>
            <a:ext cx="749808" cy="420624"/>
          </a:xfrm>
          <a:prstGeom prst="roundRect">
            <a:avLst>
              <a:gd name="adj" fmla="val 13043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50992" y="2176272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</a:rPr>
              <a:t>🏠 Rent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73952" y="2176272"/>
            <a:ext cx="749808" cy="420624"/>
          </a:xfrm>
          <a:prstGeom prst="roundRect">
            <a:avLst>
              <a:gd name="adj" fmla="val 13043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73952" y="2176272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</a:rPr>
              <a:t>🚌 Transport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296912" y="2176272"/>
            <a:ext cx="749808" cy="420624"/>
          </a:xfrm>
          <a:prstGeom prst="roundRect">
            <a:avLst>
              <a:gd name="adj" fmla="val 13043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96912" y="2176272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</a:rPr>
              <a:t>💡 Utilities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19872" y="2176272"/>
            <a:ext cx="749808" cy="420624"/>
          </a:xfrm>
          <a:prstGeom prst="roundRect">
            <a:avLst>
              <a:gd name="adj" fmla="val 13043"/>
            </a:avLst>
          </a:prstGeom>
          <a:solidFill>
            <a:srgbClr val="F43F5E">
              <a:alpha val="20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119872" y="2176272"/>
            <a:ext cx="74980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</a:rPr>
              <a:t>🎬 Fun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754880" y="2798064"/>
            <a:ext cx="4187952" cy="274320"/>
          </a:xfrm>
          <a:prstGeom prst="rect">
            <a:avLst/>
          </a:prstGeom>
          <a:solidFill>
            <a:srgbClr val="1C1C3A"/>
          </a:solidFill>
          <a:ln w="12700">
            <a:solidFill>
              <a:srgbClr val="1C1C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28032" y="279806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55F7"/>
                </a:solidFill>
              </a:rPr>
              <a:t>📁  Folder Structure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754880" y="3072384"/>
            <a:ext cx="4187952" cy="1920240"/>
          </a:xfrm>
          <a:prstGeom prst="rect">
            <a:avLst/>
          </a:prstGeom>
          <a:solidFill>
            <a:srgbClr val="080818"/>
          </a:solidFill>
          <a:ln w="12700">
            <a:solidFill>
              <a:srgbClr val="1C1C3A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864608" y="3127248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category-service/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4864608" y="3268980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 controller/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864608" y="3410712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└─ CategoryController.java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864608" y="3552444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 entity/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864608" y="3694176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└─ Category.java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864608" y="3835908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 repository/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864608" y="3977640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└─ CategoryRepository.java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864608" y="4119372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 service/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864608" y="4261104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└─ CategoryService.java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864608" y="4402836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2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└─ resources/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864608" y="4544568"/>
            <a:ext cx="4005072" cy="1417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└─ application.properties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01168" y="4754880"/>
            <a:ext cx="8759952" cy="292608"/>
          </a:xfrm>
          <a:prstGeom prst="rect">
            <a:avLst/>
          </a:prstGeom>
          <a:solidFill>
            <a:srgbClr val="1C1C3A"/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01168" y="4754880"/>
            <a:ext cx="73152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47472" y="475488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B5FD"/>
                </a:solidFill>
              </a:rPr>
              <a:t>🔗  Shared Taxonomy  —  Transaction Service  •  Budget Service  •  Summary Service  all depend on Category data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💸  Member 3 — Transaction Logging 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6517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B. Shanker Narayana  •  239Y1A3903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5448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Transaction Entity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id, User user, type (INCOME/EXPENSE),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amount, description, Category, 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32004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06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Repository Methods: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findByUser()  •  findByUserAndMonth()  •  findByCategory()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86200" y="1417320"/>
            <a:ext cx="5029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69080" y="15544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REST Endpoints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69080" y="1965960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POST  /api/finance/transaction?userId=   — Log new transaction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GET   /api/finance/transactions?userId=  — Full transaction history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GET   /api/finance/transactions?month=&amp;year=  — Monthly filter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GET   /api/finance/transactions?category=  — Category filter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3566160"/>
            <a:ext cx="8686800" cy="1325880"/>
          </a:xfrm>
          <a:prstGeom prst="rect">
            <a:avLst/>
          </a:prstGeom>
          <a:solidFill>
            <a:srgbClr val="0B1F3A"/>
          </a:solidFill>
          <a:ln w="12700">
            <a:solidFill>
              <a:srgbClr val="1230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Service Methods  (TransactionService.java)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005072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3E4FF"/>
                </a:solidFill>
              </a:rPr>
              <a:t>addTransaction()   •   getTransactionsByUser()   •   getByMonthAndYear()   •   Foundational data layer for summaries &amp; budget comparisons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80467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9728"/>
            <a:ext cx="566928" cy="566928"/>
          </a:xfrm>
          <a:prstGeom prst="ellipse">
            <a:avLst/>
          </a:prstGeom>
          <a:solidFill>
            <a:srgbClr val="C241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64008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4  —  Budget Planning Service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178040" y="164592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C241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164592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Nalini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239Y1A3945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896112"/>
            <a:ext cx="8686800" cy="438912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524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896112"/>
            <a:ext cx="8458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In Simple Words:  This service lets users decide  'How much can I spend on Food this month?'  — and saves that limit.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" y="1444752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📖  How It Works — Step by Step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1828800"/>
            <a:ext cx="4251960" cy="658368"/>
          </a:xfrm>
          <a:prstGeom prst="rect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1938528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19385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1938528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70432" y="19019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User picks a Category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2176272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e.g. Food, Transport, Rent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578608"/>
            <a:ext cx="4251960" cy="658368"/>
          </a:xfrm>
          <a:prstGeom prst="rect">
            <a:avLst/>
          </a:prstGeom>
          <a:solidFill>
            <a:srgbClr val="FFF7ED"/>
          </a:solidFill>
          <a:ln w="1524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92608" y="2688336"/>
            <a:ext cx="420624" cy="42062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68833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" y="2688336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0432" y="26517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User sets a Limit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29260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e.g. ₹5,000 for this month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328416"/>
            <a:ext cx="4251960" cy="658368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3438144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43814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" y="3438144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70432" y="340156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System saves the Budget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70432" y="367588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 budget per category per month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8600" y="4078224"/>
            <a:ext cx="4251960" cy="658368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92608" y="4187952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4187952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" y="4187952"/>
            <a:ext cx="34747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70432" y="415137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Summary uses this limit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70432" y="442569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Compares actual spend vs this limit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36592" y="1444752"/>
            <a:ext cx="4178808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1444752"/>
            <a:ext cx="404164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📅  Monthly Budget — March 2025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736592" y="1737360"/>
            <a:ext cx="4178808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173736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Category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64224" y="17373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Limit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61504" y="1737360"/>
            <a:ext cx="13898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Status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36592" y="2011680"/>
            <a:ext cx="41788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2011680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🍔 Food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18504" y="2011680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₹5,000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498080" y="2066544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2066544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✅ Active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36592" y="2395728"/>
            <a:ext cx="4178808" cy="347472"/>
          </a:xfrm>
          <a:prstGeom prst="rect">
            <a:avLst/>
          </a:prstGeom>
          <a:solidFill>
            <a:srgbClr val="F8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9744" y="2395728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🚌 Transport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18504" y="2395728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₹2,000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498080" y="2450592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2450592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✅ Active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36592" y="2779776"/>
            <a:ext cx="417880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2779776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💡 Utilities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18504" y="2779776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₹3,500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498080" y="2834640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0" y="283464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</a:rPr>
              <a:t>✅ Active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36592" y="3163824"/>
            <a:ext cx="4178808" cy="347472"/>
          </a:xfrm>
          <a:prstGeom prst="rect">
            <a:avLst/>
          </a:prstGeom>
          <a:solidFill>
            <a:srgbClr val="F8F9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9744" y="3163824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🎬 Entertainment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318504" y="3163824"/>
            <a:ext cx="1097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</a:rPr>
              <a:t>₹1,500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98080" y="3218688"/>
            <a:ext cx="1280160" cy="237744"/>
          </a:xfrm>
          <a:prstGeom prst="roundRect">
            <a:avLst>
              <a:gd name="adj" fmla="val 23077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321868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⚠ Over!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736592" y="3584448"/>
            <a:ext cx="4178808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9744" y="35844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🔌  API Quick Reference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736592" y="3877056"/>
            <a:ext cx="41788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91456" y="3931920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91456" y="3931920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321808" y="390448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/api/finance/budget?userId=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21808" y="4078224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Set a budget limit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736592" y="4315968"/>
            <a:ext cx="417880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91456" y="4370832"/>
            <a:ext cx="475488" cy="256032"/>
          </a:xfrm>
          <a:prstGeom prst="roundRect">
            <a:avLst>
              <a:gd name="adj" fmla="val 17857"/>
            </a:avLst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91456" y="4370832"/>
            <a:ext cx="4754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321808" y="43434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/api/finance/budgets?userId=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321808" y="4517136"/>
            <a:ext cx="228600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View all budgets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736592" y="4773168"/>
            <a:ext cx="4178808" cy="27432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09744" y="4773168"/>
            <a:ext cx="4041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A580C"/>
                </a:solidFill>
              </a:rPr>
              <a:t>⚡ Rule:  Only  1 budget  per  category  per  month  per  user  — no duplicates!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28600" y="4809744"/>
            <a:ext cx="42519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28600" y="4809744"/>
            <a:ext cx="73152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80974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📦  Budget.java  —  id  •  user  •  category  •  limitAmount  •  month  •  year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"/>
            <a:ext cx="594360" cy="594360"/>
          </a:xfrm>
          <a:prstGeom prst="ellipse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14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457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Member 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34747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Summary &amp; Reporting Service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132320" y="164592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64592"/>
            <a:ext cx="1828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 Ram Shiva Sai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239Y1A3942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914400"/>
            <a:ext cx="48920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91440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💬  What It Does — Simply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207008"/>
            <a:ext cx="4892040" cy="1170432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261872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1261872"/>
            <a:ext cx="4343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At end of month — shows total money IN and 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1517904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⚖️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1517904"/>
            <a:ext cx="4343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Calculates your net balance (saved money)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1773936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🏷️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" y="1773936"/>
            <a:ext cx="4343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Breaks down spending by category (Food, Rent...)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029968"/>
            <a:ext cx="29260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" y="2029968"/>
            <a:ext cx="4343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Alerts you if you spent MORE than your budget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487168"/>
            <a:ext cx="489204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487168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⚙️  Technical Deliverables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2779776"/>
            <a:ext cx="4892040" cy="2212848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2852928"/>
            <a:ext cx="4663440" cy="420624"/>
          </a:xfrm>
          <a:prstGeom prst="rect">
            <a:avLst/>
          </a:prstGeom>
          <a:solidFill>
            <a:srgbClr val="0A0A1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852928"/>
            <a:ext cx="43891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9536" y="2852928"/>
            <a:ext cx="404164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/api/finance/summary?userId=&amp;month=&amp;year=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" y="3364992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364992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Method: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53312" y="3364992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computeMonthlySummary()  in TransactionService.java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" y="3767328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📦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3767328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Returns: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53312" y="3767328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totalIncome, totalExpenses, netBalance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" y="4169664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📋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4169664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Compares: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53312" y="4169664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 limitAmount vs actual category spending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" y="4572000"/>
            <a:ext cx="2560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" y="4572000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Flags: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53312" y="4572000"/>
            <a:ext cx="3611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Over-budget categories where actual &gt; planned limit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914400"/>
            <a:ext cx="35661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13248" y="914400"/>
            <a:ext cx="3429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 Sample Monthly Report — March 2025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49240" y="1207008"/>
            <a:ext cx="3566160" cy="3785616"/>
          </a:xfrm>
          <a:prstGeom prst="rect">
            <a:avLst/>
          </a:prstGeom>
          <a:solidFill>
            <a:srgbClr val="16213E"/>
          </a:solidFill>
          <a:ln w="12700">
            <a:solidFill>
              <a:srgbClr val="0F3460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1298448"/>
            <a:ext cx="3337560" cy="786384"/>
          </a:xfrm>
          <a:prstGeom prst="rect">
            <a:avLst/>
          </a:prstGeom>
          <a:solidFill>
            <a:srgbClr val="0A0A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1335024"/>
            <a:ext cx="2926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70448" y="13533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Total Income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0" y="1335024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₹45,000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532120" y="1847088"/>
            <a:ext cx="3200400" cy="12801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32120" y="1847088"/>
            <a:ext cx="2880360" cy="12801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68112" y="2231136"/>
            <a:ext cx="3337560" cy="786384"/>
          </a:xfrm>
          <a:prstGeom prst="rect">
            <a:avLst/>
          </a:prstGeom>
          <a:solidFill>
            <a:srgbClr val="0A0A1A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2267712"/>
            <a:ext cx="2926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870448" y="2286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Total Expenses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2267712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F23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₹32,500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532120" y="2779776"/>
            <a:ext cx="3200400" cy="12801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32120" y="2779776"/>
            <a:ext cx="2304288" cy="128016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68112" y="3163824"/>
            <a:ext cx="3337560" cy="786384"/>
          </a:xfrm>
          <a:prstGeom prst="rect">
            <a:avLst/>
          </a:prstGeom>
          <a:solidFill>
            <a:srgbClr val="0A0A1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32120" y="3200400"/>
            <a:ext cx="29260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870448" y="32186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Net Balance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15200" y="320040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D1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₹12,500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5532120" y="3712464"/>
            <a:ext cx="3200400" cy="12801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32120" y="3712464"/>
            <a:ext cx="896112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68112" y="4114800"/>
            <a:ext cx="3337560" cy="530352"/>
          </a:xfrm>
          <a:prstGeom prst="rect">
            <a:avLst/>
          </a:prstGeom>
          <a:solidFill>
            <a:srgbClr val="2A0A0A"/>
          </a:solidFill>
          <a:ln w="19050">
            <a:solidFill>
              <a:srgbClr val="EF233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468112" y="4114800"/>
            <a:ext cx="73152" cy="530352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96128" y="4133088"/>
            <a:ext cx="3154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233C"/>
                </a:solidFill>
              </a:rPr>
              <a:t>⚠  OVER BUDGET ALERT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596128" y="4334256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</a:rPr>
              <a:t>Entertainment: spent ₹2,000 vs budget ₹1,500  (+₹500)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468112" y="4663440"/>
            <a:ext cx="3337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Spending by Category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559552" y="4873752"/>
            <a:ext cx="640080" cy="12801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59552" y="4873752"/>
            <a:ext cx="448056" cy="12801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13832" y="500176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A4"/>
                </a:solidFill>
              </a:rPr>
              <a:t>Food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419088" y="4873752"/>
            <a:ext cx="640080" cy="12801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19088" y="4873752"/>
            <a:ext cx="576072" cy="1280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73368" y="500176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A4"/>
                </a:solidFill>
              </a:rPr>
              <a:t>Rent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278624" y="4873752"/>
            <a:ext cx="640080" cy="12801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78624" y="4873752"/>
            <a:ext cx="640080" cy="128016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32904" y="500176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A4"/>
                </a:solidFill>
              </a:rPr>
              <a:t>Fun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138160" y="4873752"/>
            <a:ext cx="640080" cy="128016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138160" y="4873752"/>
            <a:ext cx="320040" cy="12801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92440" y="500176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2A4"/>
                </a:solidFill>
              </a:rPr>
              <a:t>Travel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📈  Member 6 — Financial Advisor Service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65176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Shaik Saba Fathima  •  239Y1A3954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5212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0020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</a:rPr>
              <a:t>Deliverables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AdvisorController.java — Advisor-specific REST controller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GET /api/advisor/clients — List all clients assigned to advisor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GET /api/advisor/client/{userId}/summary — Client monthly summary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Returns: totalIncome, totalExpenses, netBalance, category breakdown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Read-only access — advisors cannot modify client 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Only ADVISOR role can access (enforced by Spring Security)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1463040"/>
            <a:ext cx="3337560" cy="3383280"/>
          </a:xfrm>
          <a:prstGeom prst="rect">
            <a:avLst/>
          </a:prstGeom>
          <a:solidFill>
            <a:srgbClr val="0B1F3A"/>
          </a:solidFill>
          <a:ln w="12700">
            <a:solidFill>
              <a:srgbClr val="1230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1572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</a:rPr>
              <a:t>Advisor Portal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993392"/>
            <a:ext cx="3154680" cy="530352"/>
          </a:xfrm>
          <a:prstGeom prst="rect">
            <a:avLst/>
          </a:prstGeom>
          <a:solidFill>
            <a:srgbClr val="0369A1"/>
          </a:solidFill>
          <a:ln w="12700">
            <a:solidFill>
              <a:srgbClr val="1230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993392"/>
            <a:ext cx="10972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12280" y="1993392"/>
            <a:ext cx="914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Balance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26680" y="1993392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2651760"/>
            <a:ext cx="3154680" cy="530352"/>
          </a:xfrm>
          <a:prstGeom prst="rect">
            <a:avLst/>
          </a:prstGeom>
          <a:solidFill>
            <a:srgbClr val="12305C"/>
          </a:solidFill>
          <a:ln w="12700">
            <a:solidFill>
              <a:srgbClr val="1230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651760"/>
            <a:ext cx="10972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Nalini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12280" y="2651760"/>
            <a:ext cx="914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₹12.5K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26680" y="2651760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✅ Healthy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3310128"/>
            <a:ext cx="315468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230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3310128"/>
            <a:ext cx="10972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SreeHarini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3310128"/>
            <a:ext cx="914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₹-2.1K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26680" y="3310128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</a:rPr>
              <a:t>⚠ Review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0" y="3968496"/>
            <a:ext cx="3154680" cy="530352"/>
          </a:xfrm>
          <a:prstGeom prst="rect">
            <a:avLst/>
          </a:prstGeom>
          <a:solidFill>
            <a:srgbClr val="12305C"/>
          </a:solidFill>
          <a:ln w="12700">
            <a:solidFill>
              <a:srgbClr val="1230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968496"/>
            <a:ext cx="10972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Thanuja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3968496"/>
            <a:ext cx="9144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</a:rPr>
              <a:t>₹8.9K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3968496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</a:rPr>
              <a:t>✅ Healthy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🛠️  Member 7 — Admin Controller &amp; Platform Service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560320" cy="36576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 Naga Ravi Teja  •  249Y5A3904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463040"/>
            <a:ext cx="5212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00200"/>
            <a:ext cx="4754880" cy="775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1B1B"/>
                </a:solidFill>
              </a:rPr>
              <a:t>Deliverables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AdminController.java — All admin-facing endpoints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GET /api/admin/users — View all registered users with roles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GET /api/admin/activity — Platform-wide transaction stats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Wires CategoryService for category management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Only ADMIN role can access (enforced by Spring Security)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</a:rPr>
              <a:t>Provides platform monitoring and user oversight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1463040"/>
            <a:ext cx="3337560" cy="3383280"/>
          </a:xfrm>
          <a:prstGeom prst="rect">
            <a:avLst/>
          </a:prstGeom>
          <a:solidFill>
            <a:srgbClr val="0B1F3A"/>
          </a:solidFill>
          <a:ln w="12700">
            <a:solidFill>
              <a:srgbClr val="1230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157276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</a:rPr>
              <a:t>Admin Controls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993392"/>
            <a:ext cx="31546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993392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63640" y="204825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34086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B8CC"/>
                </a:solidFill>
              </a:rPr>
              <a:t>View all registered users &amp; roles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907792"/>
            <a:ext cx="31546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907792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296265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Category Config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25526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B8CC"/>
                </a:solidFill>
              </a:rPr>
              <a:t>Add / manage INCOME &amp; EXPENSE categories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822192"/>
            <a:ext cx="315468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3822192"/>
            <a:ext cx="548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387705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Activity Monitor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416966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B8CC"/>
                </a:solidFill>
              </a:rPr>
              <a:t>Platform-wide transaction volume stats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" y="91440"/>
            <a:ext cx="548640" cy="548640"/>
          </a:xfrm>
          <a:prstGeom prst="ellipse">
            <a:avLst/>
          </a:prstGeom>
          <a:solidFill>
            <a:srgbClr val="06B6D4">
              <a:alpha val="75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" y="914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4572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Architecture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577840" y="0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React SPA  •  3 Members  •  8 Components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" y="841248"/>
            <a:ext cx="8741664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841248"/>
            <a:ext cx="73152" cy="2926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41248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</a:rPr>
              <a:t>⚛  React SPA = One website where all 3 roles (User, Advisor, Admin) log in and see their own dashboard — no page reload needed.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1168" y="1225296"/>
            <a:ext cx="2816352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1225296"/>
            <a:ext cx="281635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122529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Member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" y="140817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Auth &amp; Shared Services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1168" y="1682496"/>
            <a:ext cx="2816352" cy="347472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168249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" y="2103120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" y="2103120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176272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" y="2157984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LoginPage.jsx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3232" y="2377440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Login form for all 3 roles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0896" y="2761488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0896" y="2761488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83464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3232" y="2816352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RegistrationPage.jsx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3232" y="3035808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Sign up with role selector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0896" y="3419856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3419856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3493008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" y="3474720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AuthService.js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3232" y="3694176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Handles login &amp; JWT storage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0896" y="4078224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0896" y="4078224"/>
            <a:ext cx="54864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" y="4151376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3232" y="4133088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HttpService.js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3232" y="4352544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Attaches JWT to every API call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82112" y="1225296"/>
            <a:ext cx="2816352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82112" y="1225296"/>
            <a:ext cx="2816352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122529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Member 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91840" y="140817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 Finance Dashboard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182112" y="1682496"/>
            <a:ext cx="2816352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168249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291840" y="1856232"/>
            <a:ext cx="2633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91840" y="2103120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91840" y="2103120"/>
            <a:ext cx="54864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83280" y="2176272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➕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694176" y="2157984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AddTransactionForm.jsx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94176" y="2377440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Log income or expense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91840" y="2761488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91840" y="2761488"/>
            <a:ext cx="54864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0" y="283464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694176" y="2816352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TransactionsPage.jsx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694176" y="3035808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View full transaction history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91840" y="3419856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91840" y="3419856"/>
            <a:ext cx="54864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83280" y="3493008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694176" y="3474720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BudgetSetupPage.jsx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3694176" y="3694176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Set monthly spending limits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91840" y="4078224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91840" y="4078224"/>
            <a:ext cx="54864" cy="5669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0" y="4151376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694176" y="4133088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MonthlySummaryPage.jsx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694176" y="4352544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See budget vs actual report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163056" y="1225296"/>
            <a:ext cx="2816352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163056" y="1225296"/>
            <a:ext cx="2816352" cy="4572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72784" y="122529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Member 10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272784" y="140817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Advisor &amp; Admin UI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163056" y="1682496"/>
            <a:ext cx="2816352" cy="347472"/>
          </a:xfrm>
          <a:prstGeom prst="rect">
            <a:avLst/>
          </a:prstGeom>
          <a:solidFill>
            <a:srgbClr val="FFE4E6"/>
          </a:solidFill>
          <a:ln w="6350">
            <a:solidFill>
              <a:srgbClr val="9F123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72784" y="168249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272784" y="1856232"/>
            <a:ext cx="2633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272784" y="2103120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272784" y="2103120"/>
            <a:ext cx="54864" cy="56692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64224" y="2176272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👁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675120" y="2157984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AdvisorClientPage.jsx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6675120" y="2377440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View one client's summary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272784" y="2761488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272784" y="2761488"/>
            <a:ext cx="54864" cy="56692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64224" y="2834640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675120" y="2816352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AdvisorClientListPage.jsx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6675120" y="3035808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View all assigned clients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272784" y="3419856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6272784" y="3419856"/>
            <a:ext cx="54864" cy="56692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64224" y="3493008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🗂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675120" y="3474720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AdminCategoriesPage.jsx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6675120" y="3694176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Manage INCOME/EXPENSE labels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272784" y="4078224"/>
            <a:ext cx="2596896" cy="56692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272784" y="4078224"/>
            <a:ext cx="54864" cy="56692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364224" y="4151376"/>
            <a:ext cx="2743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6675120" y="4133088"/>
            <a:ext cx="21214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41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AdminUsersPage.jsx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6675120" y="4352544"/>
            <a:ext cx="21214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View all users &amp; roles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017520" y="2697480"/>
            <a:ext cx="164592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99232" y="2633472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5998464" y="2697480"/>
            <a:ext cx="164592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980176" y="2633472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201168" y="4846320"/>
            <a:ext cx="8741664" cy="2560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01168" y="4846320"/>
            <a:ext cx="73152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47472" y="4846320"/>
            <a:ext cx="85222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🔗  All components share  HttpService.js  (Axios + JWT auto-attach)  built by Member 8  —  no component calls API directly without it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548640" cy="548640"/>
          </a:xfrm>
          <a:prstGeom prst="ellipse">
            <a:avLst/>
          </a:prstGeom>
          <a:solidFill>
            <a:srgbClr val="38BDF8">
              <a:alpha val="80000"/>
            </a:srgbClr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14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80467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 — MySQL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" y="841248"/>
            <a:ext cx="868680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41248"/>
            <a:ext cx="73152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41248"/>
            <a:ext cx="848563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💡  Think of each table like an Excel sheet — each row is one record, each column is one piece of information.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280160"/>
            <a:ext cx="2084832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316736"/>
            <a:ext cx="365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" y="131673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" y="153619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Who uses the app?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810512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" y="1865376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1828800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" y="1993392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Unique number for each user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212848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223113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username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6616" y="2395728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Name to login with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615184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" y="2633472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email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6616" y="2794889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Email address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017520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" y="303580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password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56616" y="3200400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Encrypted password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419856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" y="343814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56616" y="36027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USER / ADVISOR / ADMIN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23160" y="1280160"/>
            <a:ext cx="208483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1316736"/>
            <a:ext cx="365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916936" y="131673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CATEGORIES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916936" y="153619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Labels for money types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14600" y="1810512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80360" y="1828800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551176" y="1993392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Unique number for each label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514600" y="2212848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60904" y="223113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2551176" y="2395728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e.g. Food, Rent, Salary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514600" y="2615184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60904" y="2633472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551176" y="2798064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INCOME or EXPENSE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17720" y="1280160"/>
            <a:ext cx="2084832" cy="47548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1316736"/>
            <a:ext cx="365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111496" y="131673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TRANSACTIONS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111496" y="153619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Every money record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1810512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45736" y="1865376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PK</a:t>
            </a:r>
            <a:r>
              <a:rPr lang="en-IN" altLang="en-US" sz="800" b="1" dirty="0">
                <a:solidFill>
                  <a:srgbClr val="FFFFFF"/>
                </a:solidFill>
              </a:rPr>
              <a:t>pk</a:t>
            </a:r>
            <a:endParaRPr lang="en-IN" altLang="en-US" sz="800" b="1" dirty="0">
              <a:solidFill>
                <a:srgbClr val="FFFFFF"/>
              </a:solidFill>
            </a:endParaRPr>
          </a:p>
        </p:txBody>
      </p:sp>
      <p:sp>
        <p:nvSpPr>
          <p:cNvPr id="62" name="Text 60"/>
          <p:cNvSpPr/>
          <p:nvPr/>
        </p:nvSpPr>
        <p:spPr>
          <a:xfrm>
            <a:off x="5074920" y="1828800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745736" y="1993392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Unique ID for each record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09160" y="2212848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74920" y="2231136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user_id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745736" y="2395728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Links to USERS table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709160" y="2615184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74920" y="2633472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category_id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4745736" y="2798064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Links to CATEGORIES table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709160" y="3017520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855464" y="303580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amount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4745736" y="3200400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How much money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709160" y="3419856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55464" y="343814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type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4745736" y="36027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INCOME or EXPENSE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709160" y="3822192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55464" y="384048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date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4745736" y="4005072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When it happened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812280" y="1280160"/>
            <a:ext cx="2084832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03720" y="1316736"/>
            <a:ext cx="3657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7306056" y="1316736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BUDGETS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7306056" y="1536192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Monthly spending limits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903720" y="1810512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69480" y="1828800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id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6940296" y="1993392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Unique ID for each budget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6903720" y="2212848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269480" y="2231136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user_id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6940296" y="2395728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Links to USERS table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903720" y="2615184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269480" y="2633472"/>
            <a:ext cx="15179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category_id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6940296" y="2798064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Links to CATEGORIES table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6903720" y="3017520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050024" y="303580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limitAmount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6940296" y="3200400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Max spending allowed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6903720" y="3419856"/>
            <a:ext cx="190195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050024" y="343814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month / year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6940296" y="36027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Which month this budget is for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1480" y="4873752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11480" y="487375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PK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749808" y="4864608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= Primary Key (Unique ID)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3108960" y="4873752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108960" y="487375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FK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3447288" y="486460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= Foreign Key (Links to another table)</a:t>
            </a:r>
            <a:endParaRPr lang="en-US" sz="1000" dirty="0"/>
          </a:p>
        </p:txBody>
      </p:sp>
      <p:sp>
        <p:nvSpPr>
          <p:cNvPr id="121" name="Text 119"/>
          <p:cNvSpPr/>
          <p:nvPr/>
        </p:nvSpPr>
        <p:spPr>
          <a:xfrm>
            <a:off x="6492240" y="486460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🔗 Tables are connected through FK columns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🔌  REST API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8778240" cy="310896"/>
          </a:xfrm>
          <a:prstGeom prst="rect">
            <a:avLst/>
          </a:prstGeom>
          <a:solidFill>
            <a:srgbClr val="0B1F3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896112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89611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89611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Role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225296"/>
            <a:ext cx="877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25296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POST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22529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/api/user/register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22529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Auth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0" y="122529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Public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" y="1554480"/>
            <a:ext cx="87782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554480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155448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/api/user/login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Auth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155448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Public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1883664"/>
            <a:ext cx="877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883664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188366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/api/finance/categories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188366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Category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88366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USER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2212848"/>
            <a:ext cx="87782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212848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POST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221284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/api/finance/transaction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21284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Transaction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221284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USER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2880" y="2542032"/>
            <a:ext cx="877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542032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" y="2542032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/api/finance/transactions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54203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Transaction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54203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USER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2871216"/>
            <a:ext cx="87782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871216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POST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05840" y="287121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/api/finance/budget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287121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Budget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287121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USER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2880" y="3200400"/>
            <a:ext cx="877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200400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GET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5840" y="320040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/api/finance/summary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320040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Summary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320040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</a:rPr>
              <a:t>USER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2880" y="3529584"/>
            <a:ext cx="87782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529584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GET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5840" y="352958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/api/advisor/clients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37760" y="3529584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Advisor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0" y="352958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ADVISOR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82880" y="3858768"/>
            <a:ext cx="877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858768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GET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05840" y="385876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/api/advisor/client/{id}/summary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37760" y="385876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Advisor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58000" y="3858768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ADVISOR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82880" y="4187952"/>
            <a:ext cx="87782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187952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GET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05840" y="4187952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/api/admin/users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37760" y="4187952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Admin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58000" y="418795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ADMIN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82880" y="4517136"/>
            <a:ext cx="8778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517136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</a:rPr>
              <a:t>GET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05840" y="451713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/api/admin/categories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937760" y="4517136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Admin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58000" y="4517136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ADMIN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82880" y="4846320"/>
            <a:ext cx="87782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846320"/>
            <a:ext cx="685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POST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5840" y="484632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B1F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/api/admin/category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37760" y="484632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Admin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6858000" y="484632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1B1B"/>
                </a:solidFill>
              </a:rPr>
              <a:t>ADMIN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305C"/>
          </a:solidFill>
          <a:ln w="12700">
            <a:solidFill>
              <a:srgbClr val="1230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🎯  Conclusion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120640" cy="2926080"/>
          </a:xfrm>
          <a:prstGeom prst="rect">
            <a:avLst/>
          </a:prstGeom>
          <a:solidFill>
            <a:srgbClr val="12305C"/>
          </a:solidFill>
          <a:ln w="1905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4663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377"/>
                </a:solidFill>
              </a:rPr>
              <a:t>What We Built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4800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4F7"/>
                </a:solidFill>
              </a:rPr>
              <a:t>Full-stack personal finance tracker using microservices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4F7"/>
                </a:solidFill>
              </a:rPr>
              <a:t>7 independent Spring Boot services with dedicated MySQL schemas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4F7"/>
                </a:solidFill>
              </a:rPr>
              <a:t>React SPA with role-aware UI for User, Advisor &amp; Admin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4F7"/>
                </a:solidFill>
              </a:rPr>
              <a:t>JWT-secured REST APIs with Spring Security role guards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4F7"/>
                </a:solidFill>
              </a:rPr>
              <a:t>Complete budget-vs-actual reporting with over-budget alerts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4F7"/>
                </a:solidFill>
              </a:rPr>
              <a:t>Clean separation of concerns across all 7 team members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960120"/>
            <a:ext cx="3337560" cy="2926080"/>
          </a:xfrm>
          <a:prstGeom prst="rect">
            <a:avLst/>
          </a:prstGeom>
          <a:solidFill>
            <a:srgbClr val="12305C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09728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0" y="1508760"/>
            <a:ext cx="301752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0E4F7"/>
                </a:solidFill>
              </a:rPr>
              <a:t>Email/SMS notifications for over-budget alerts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0E4F7"/>
                </a:solidFill>
              </a:rPr>
              <a:t>AI-powered spending recommendations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0E4F7"/>
                </a:solidFill>
              </a:rPr>
              <a:t>Docker &amp; Kubernetes deployment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0E4F7"/>
                </a:solidFill>
              </a:rPr>
              <a:t>Mobile app (React Native)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0E4F7"/>
                </a:solidFill>
              </a:rPr>
              <a:t>API Gateway with rate limiting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0E4F7"/>
                </a:solidFill>
              </a:rPr>
              <a:t>CSV/PDF report export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18288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08736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4462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E4FF"/>
                </a:solidFill>
              </a:rPr>
              <a:t>Microservices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4069080"/>
            <a:ext cx="18288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0320" y="408736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15+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4462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E4FF"/>
                </a:solidFill>
              </a:rPr>
              <a:t>REST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4069080"/>
            <a:ext cx="18288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408736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4462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E4FF"/>
                </a:solidFill>
              </a:rPr>
              <a:t>React Modules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4069080"/>
            <a:ext cx="18288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408736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66560" y="4462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3E4FF"/>
                </a:solidFill>
              </a:rPr>
              <a:t>FRs Covered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51990"/>
            <a:ext cx="8229600" cy="1127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084830"/>
            <a:ext cx="8229600" cy="1133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FA8C9"/>
                </a:solidFill>
              </a:rPr>
              <a:t>FinTrack — Personal Finance &amp; Budget Tracking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260604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97180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333756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66344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377"/>
                </a:solidFill>
              </a:rPr>
              <a:t>React  •  Spring Boot  •  MySQL  •  Microservices  •  JWT</a:t>
            </a:r>
            <a:endParaRPr lang="en-US" sz="12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6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7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8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9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0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1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2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3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4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5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6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7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8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19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0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1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2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3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4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5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6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7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8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29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0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1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2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3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4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5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6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7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8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39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40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41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42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43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44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45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46.xml><?xml version="1.0" encoding="utf-8"?>
<p:tagLst xmlns:p="http://schemas.openxmlformats.org/presentationml/2006/main">
  <p:tag name="KSO_WM_DIAGRAM_VIRTUALLY_FRAME" val="{&quot;height&quot;:314.64,&quot;left&quot;:21.6,&quot;top&quot;:72,&quot;width&quot;:680.4}"/>
</p:tagLst>
</file>

<file path=ppt/tags/tag47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48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49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50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51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52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53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54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55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56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57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ags/tag58.xml><?xml version="1.0" encoding="utf-8"?>
<p:tagLst xmlns:p="http://schemas.openxmlformats.org/presentationml/2006/main">
  <p:tag name="KSO_WM_DIAGRAM_VIRTUALLY_FRAME" val="{&quot;height&quot;:244.8,&quot;left&quot;:439.2,&quot;top&quot;:82.8,&quot;width&quot;:24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12025</Words>
  <Application>WPS Presentation</Application>
  <PresentationFormat>On-screen Show (16:9)</PresentationFormat>
  <Paragraphs>1137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Calibri Light</vt:lpstr>
      <vt:lpstr>Consolas</vt:lpstr>
      <vt:lpstr>Consolas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FinTrack - Personal Finance &amp; Budget Tracking System</dc:title>
  <dc:creator>PptxGenJS</dc:creator>
  <dc:subject>PptxGenJS Presentation</dc:subject>
  <cp:lastModifiedBy>Chavan Naga Nikhil Rao</cp:lastModifiedBy>
  <cp:revision>10</cp:revision>
  <dcterms:created xsi:type="dcterms:W3CDTF">2026-03-16T16:30:00Z</dcterms:created>
  <dcterms:modified xsi:type="dcterms:W3CDTF">2026-03-17T07:58:55Z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EFC2F602D41940BEBC1DF11FD0552E5B_12</vt:lpwstr>
  </property>
  <property fmtid="{D5CDD505-2E9C-101B-9397-08002B2CF9AE}" pid="3" name="KSOProductBuildVer">
    <vt:lpwstr>2057-12.2.0.23196</vt:lpwstr>
  </property>
</Properties>
</file>