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3" d="100"/>
          <a:sy n="93" d="100"/>
        </p:scale>
        <p:origin x="520" y="-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000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097280"/>
            <a:ext cx="4572000" cy="4572000"/>
          </a:xfrm>
          <a:prstGeom prst="ellipse">
            <a:avLst/>
          </a:prstGeom>
          <a:solidFill>
            <a:srgbClr val="0077B6">
              <a:alpha val="12000"/>
            </a:srgbClr>
          </a:solidFill>
          <a:ln w="12700">
            <a:solidFill>
              <a:srgbClr val="0077B6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2286000"/>
            <a:ext cx="3200400" cy="32004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Portal &amp; Recruitment Management System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286000" y="2304288"/>
            <a:ext cx="4572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514600"/>
            <a:ext cx="1463040" cy="310896"/>
          </a:xfrm>
          <a:prstGeom prst="roundRect">
            <a:avLst>
              <a:gd name="adj" fmla="val 29412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514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39696" y="2514600"/>
            <a:ext cx="1463040" cy="310896"/>
          </a:xfrm>
          <a:prstGeom prst="roundRect">
            <a:avLst>
              <a:gd name="adj" fmla="val 29412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9696" y="2514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76472" y="2514600"/>
            <a:ext cx="1463040" cy="310896"/>
          </a:xfrm>
          <a:prstGeom prst="roundRect">
            <a:avLst>
              <a:gd name="adj" fmla="val 29412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2514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13248" y="2514600"/>
            <a:ext cx="1463040" cy="310896"/>
          </a:xfrm>
          <a:prstGeom prst="roundRect">
            <a:avLst>
              <a:gd name="adj" fmla="val 29412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13248" y="2514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Auth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50024" y="2514600"/>
            <a:ext cx="1463040" cy="310896"/>
          </a:xfrm>
          <a:prstGeom prst="roundRect">
            <a:avLst>
              <a:gd name="adj" fmla="val 29412"/>
            </a:avLst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50024" y="2514600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3611880"/>
            <a:ext cx="164592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6301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731520" y="4087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0" y="3611880"/>
            <a:ext cx="164592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743200" y="36301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2743200" y="4087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3611880"/>
            <a:ext cx="164592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54880" y="36301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4754880" y="4087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66560" y="3611880"/>
            <a:ext cx="1645920" cy="91440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766560" y="3630168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400" dirty="0"/>
          </a:p>
        </p:txBody>
      </p:sp>
      <p:sp>
        <p:nvSpPr>
          <p:cNvPr id="30" name="Text 28"/>
          <p:cNvSpPr/>
          <p:nvPr/>
        </p:nvSpPr>
        <p:spPr>
          <a:xfrm>
            <a:off x="6766560" y="408736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HireMe?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5029200" cy="35661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43000"/>
            <a:ext cx="46634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full-stack recruitment management system built using a
microservice architecture.
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connects three types of users — </a:t>
            </a: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Candidates, Employers, and Recruiters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 a single platform.
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browse jobs, apply, and track their application pipeline.
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post job listings and review incoming applications.
</a:t>
            </a: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Recruiters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manage the hiring pipeline and schedule interviews, all secured by JWT-based authentication.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715000" y="1143000"/>
            <a:ext cx="3063240" cy="1005840"/>
          </a:xfrm>
          <a:prstGeom prst="rect">
            <a:avLst/>
          </a:prstGeom>
          <a:solidFill>
            <a:srgbClr val="1A2E45"/>
          </a:solidFill>
          <a:ln w="1905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715000" y="1143000"/>
            <a:ext cx="73152" cy="1005840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97880" y="12527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👔  Employer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97880" y="16184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jobs, view applications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15000" y="2331720"/>
            <a:ext cx="3063240" cy="1005840"/>
          </a:xfrm>
          <a:prstGeom prst="rect">
            <a:avLst/>
          </a:prstGeom>
          <a:solidFill>
            <a:srgbClr val="1A2E4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0" y="2331720"/>
            <a:ext cx="73152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97880" y="24414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Candidate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97880" y="280720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Browse, apply &amp; track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715000" y="3520440"/>
            <a:ext cx="3063240" cy="1005840"/>
          </a:xfrm>
          <a:prstGeom prst="rect">
            <a:avLst/>
          </a:prstGeom>
          <a:solidFill>
            <a:srgbClr val="1A2E45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715000" y="3520440"/>
            <a:ext cx="73152" cy="100584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36301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Recruiter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897880" y="399592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pipeline &amp; interviews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modern, industry-standard tools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97280"/>
            <a:ext cx="73152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4300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⚛️  Frontend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743200" y="1243584"/>
            <a:ext cx="36576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1430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Axios + React Router v6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856232"/>
            <a:ext cx="841248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856232"/>
            <a:ext cx="73152" cy="658368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190195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Backend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743200" y="2002536"/>
            <a:ext cx="36576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0" y="1901952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— 11 Independent Microservices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615184"/>
            <a:ext cx="841248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615184"/>
            <a:ext cx="73152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66090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Database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743200" y="2761488"/>
            <a:ext cx="36576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0" y="2660904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Relational Data Storage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374136"/>
            <a:ext cx="841248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374136"/>
            <a:ext cx="73152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4198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743200" y="3520440"/>
            <a:ext cx="36576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0" y="3419856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Auth — Session-based Login (JWT planned as future improvement)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65760" y="4133088"/>
            <a:ext cx="8412480" cy="658368"/>
          </a:xfrm>
          <a:prstGeom prst="rect">
            <a:avLst/>
          </a:prstGeom>
          <a:solidFill>
            <a:srgbClr val="1A2E45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65760" y="4133088"/>
            <a:ext cx="73152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17880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Architecture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0" y="4279392"/>
            <a:ext cx="36576" cy="36576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26080" y="417880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 Pattern — REST APIs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Module Assignment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Members • 11 Microservices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823154"/>
              </p:ext>
            </p:extLst>
          </p:nvPr>
        </p:nvGraphicFramePr>
        <p:xfrm>
          <a:off x="1566855" y="1005840"/>
          <a:ext cx="4800600" cy="3730752"/>
        </p:xfrm>
        <a:graphic>
          <a:graphicData uri="http://schemas.openxmlformats.org/drawingml/2006/table">
            <a:tbl>
              <a:tblPr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&amp; 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 Post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Application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Employer App Viewing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Recruiter App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Interview Scheduling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Job Browser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Auth &amp; Shared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Candidate UI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Employer &amp; Recruiter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 11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Saved Jobs Service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77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— Part 1: Authentication &amp; Candidate Journey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arrows from login to application tracking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solidFill>
            <a:srgbClr val="0077B6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User Opens App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0" cy="3200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200400" y="1737360"/>
            <a:ext cx="2743200" cy="530352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0" y="1737360"/>
            <a:ext cx="2743200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Login / Register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029054"/>
            <a:ext cx="27432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8 — Frontend Auth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0" y="2267712"/>
            <a:ext cx="0" cy="31089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3200400" y="2578608"/>
            <a:ext cx="2743200" cy="502920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2578608"/>
            <a:ext cx="274320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Session Created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855214"/>
            <a:ext cx="27432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— Auth Service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3081528"/>
            <a:ext cx="0" cy="31089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3383280" y="3392424"/>
            <a:ext cx="2377440" cy="502920"/>
          </a:xfrm>
          <a:prstGeom prst="rect">
            <a:avLst/>
          </a:prstGeom>
          <a:solidFill>
            <a:srgbClr val="1E3A5F"/>
          </a:solidFill>
          <a:ln w="22860">
            <a:solidFill>
              <a:srgbClr val="FFB70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39242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3643884"/>
            <a:ext cx="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21" name="Text 19"/>
          <p:cNvSpPr/>
          <p:nvPr/>
        </p:nvSpPr>
        <p:spPr>
          <a:xfrm>
            <a:off x="2377440" y="34015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" y="3392424"/>
            <a:ext cx="1920240" cy="457200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0040" y="3392424"/>
            <a:ext cx="1920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Jobs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3643884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7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280160" y="3849624"/>
            <a:ext cx="0" cy="283464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320040" y="4133088"/>
            <a:ext cx="1920240" cy="457200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20040" y="4133088"/>
            <a:ext cx="1920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Job?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" y="438454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280160" y="4590288"/>
            <a:ext cx="0" cy="25603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30" name="Text 28"/>
          <p:cNvSpPr/>
          <p:nvPr/>
        </p:nvSpPr>
        <p:spPr>
          <a:xfrm>
            <a:off x="91440" y="466344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Apply (Member 3)  ▼  Track (Member 9)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760720" y="3643884"/>
            <a:ext cx="10972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32" name="Text 30"/>
          <p:cNvSpPr/>
          <p:nvPr/>
        </p:nvSpPr>
        <p:spPr>
          <a:xfrm>
            <a:off x="5806440" y="34015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/ RECRUITER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58000" y="3392424"/>
            <a:ext cx="1920240" cy="457200"/>
          </a:xfrm>
          <a:prstGeom prst="rect">
            <a:avLst/>
          </a:prstGeom>
          <a:solidFill>
            <a:srgbClr val="1E3A5F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58000" y="33924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Slide 6 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0" y="3794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&amp; Recruiter Flow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Flow — Part 2: Employer &amp; Recruiter Journey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Continuation from JWT Token → Role = Employer / Recruiter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743200" cy="475488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914400"/>
            <a:ext cx="2743200" cy="26151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Auth Verified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175918"/>
            <a:ext cx="2743200" cy="213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— Auth Service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389888"/>
            <a:ext cx="0" cy="310896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11" name="Shape 9"/>
          <p:cNvSpPr/>
          <p:nvPr/>
        </p:nvSpPr>
        <p:spPr>
          <a:xfrm>
            <a:off x="3383280" y="1700784"/>
            <a:ext cx="2377440" cy="475488"/>
          </a:xfrm>
          <a:prstGeom prst="rect">
            <a:avLst/>
          </a:prstGeom>
          <a:solidFill>
            <a:srgbClr val="1E3A5F"/>
          </a:solidFill>
          <a:ln w="22860">
            <a:solidFill>
              <a:srgbClr val="FFB70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7007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938528"/>
            <a:ext cx="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14" name="Text 12"/>
          <p:cNvSpPr/>
          <p:nvPr/>
        </p:nvSpPr>
        <p:spPr>
          <a:xfrm>
            <a:off x="1691640" y="1719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700784"/>
            <a:ext cx="1920240" cy="457200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1700784"/>
            <a:ext cx="1920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New Job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1952244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234440" y="2157984"/>
            <a:ext cx="0" cy="329184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74320" y="2487168"/>
            <a:ext cx="1920240" cy="457200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74320" y="2487168"/>
            <a:ext cx="1920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Applications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73862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292608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(per job listing)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760720" y="1938528"/>
            <a:ext cx="109728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24" name="Text 22"/>
          <p:cNvSpPr/>
          <p:nvPr/>
        </p:nvSpPr>
        <p:spPr>
          <a:xfrm>
            <a:off x="5943600" y="171907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49440" y="1700784"/>
            <a:ext cx="1920240" cy="457200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49440" y="1700784"/>
            <a:ext cx="1920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Applications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49440" y="1952244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09560" y="2157984"/>
            <a:ext cx="0" cy="329184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6949440" y="2487168"/>
            <a:ext cx="1920240" cy="457200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949440" y="2487168"/>
            <a:ext cx="192024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Status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49440" y="2738628"/>
            <a:ext cx="19202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74320" y="3246120"/>
            <a:ext cx="8595360" cy="411480"/>
          </a:xfrm>
          <a:prstGeom prst="rect">
            <a:avLst/>
          </a:prstGeom>
          <a:solidFill>
            <a:srgbClr val="132337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24612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Status Pipeline  (driven by Recruiter — Member 5)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02920" y="3447288"/>
            <a:ext cx="1645920" cy="347472"/>
          </a:xfrm>
          <a:prstGeom prst="rect">
            <a:avLst/>
          </a:prstGeom>
          <a:solidFill>
            <a:srgbClr val="3B82F6">
              <a:alpha val="75000"/>
            </a:srgbClr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" y="34472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148840" y="3621024"/>
            <a:ext cx="45720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2606040" y="3447288"/>
            <a:ext cx="1645920" cy="347472"/>
          </a:xfrm>
          <a:prstGeom prst="rect">
            <a:avLst/>
          </a:prstGeom>
          <a:solidFill>
            <a:srgbClr val="EAB308">
              <a:alpha val="75000"/>
            </a:srgbClr>
          </a:solidFill>
          <a:ln w="19050">
            <a:solidFill>
              <a:srgbClr val="EAB30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06040" y="34472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51960" y="3621024"/>
            <a:ext cx="45720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tailEnd type="arrow"/>
          </a:ln>
        </p:spPr>
      </p:sp>
      <p:sp>
        <p:nvSpPr>
          <p:cNvPr id="40" name="Shape 38"/>
          <p:cNvSpPr/>
          <p:nvPr/>
        </p:nvSpPr>
        <p:spPr>
          <a:xfrm>
            <a:off x="4709160" y="3447288"/>
            <a:ext cx="1645920" cy="347472"/>
          </a:xfrm>
          <a:prstGeom prst="rect">
            <a:avLst/>
          </a:prstGeom>
          <a:solidFill>
            <a:srgbClr val="F97316">
              <a:alpha val="75000"/>
            </a:srgbClr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4472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55080" y="3621024"/>
            <a:ext cx="45720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  <a:tailEnd type="arrow"/>
          </a:ln>
        </p:spPr>
      </p:sp>
      <p:sp>
        <p:nvSpPr>
          <p:cNvPr id="43" name="Shape 41"/>
          <p:cNvSpPr/>
          <p:nvPr/>
        </p:nvSpPr>
        <p:spPr>
          <a:xfrm>
            <a:off x="6812280" y="3447288"/>
            <a:ext cx="1645920" cy="347472"/>
          </a:xfrm>
          <a:prstGeom prst="rect">
            <a:avLst/>
          </a:prstGeom>
          <a:solidFill>
            <a:srgbClr val="22C55E">
              <a:alpha val="75000"/>
            </a:srgbClr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344728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371600" y="382219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↘ REJECTED (at any stage)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909560" y="2944368"/>
            <a:ext cx="0" cy="301752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47" name="Text 45"/>
          <p:cNvSpPr/>
          <p:nvPr/>
        </p:nvSpPr>
        <p:spPr>
          <a:xfrm>
            <a:off x="6949440" y="29443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SHORTLISTED ↓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675120" y="4160520"/>
            <a:ext cx="2194560" cy="502920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675120" y="4160520"/>
            <a:ext cx="2194560" cy="27660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Interview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75120" y="4437126"/>
            <a:ext cx="219456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772400" y="3822192"/>
            <a:ext cx="0" cy="338328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52" name="Text 50"/>
          <p:cNvSpPr/>
          <p:nvPr/>
        </p:nvSpPr>
        <p:spPr>
          <a:xfrm>
            <a:off x="6217920" y="46817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→ COMPLETED / CANCELLED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Status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hiring lifecycle — driven by Recruiter (Member 5)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1051560"/>
            <a:ext cx="1097280" cy="1097280"/>
          </a:xfrm>
          <a:prstGeom prst="ellipse">
            <a:avLst/>
          </a:prstGeom>
          <a:solidFill>
            <a:srgbClr val="3B82F6">
              <a:alpha val="80000"/>
            </a:srgbClr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515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submits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94560" y="1600200"/>
            <a:ext cx="3200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2880360" y="1051560"/>
            <a:ext cx="1097280" cy="1097280"/>
          </a:xfrm>
          <a:prstGeom prst="ellipse">
            <a:avLst/>
          </a:prstGeom>
          <a:solidFill>
            <a:srgbClr val="EAB308">
              <a:alpha val="80000"/>
            </a:srgbClr>
          </a:solidFill>
          <a:ln w="25400">
            <a:solidFill>
              <a:srgbClr val="EAB30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14600" y="10515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1460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shortlists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1460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343400" y="1600200"/>
            <a:ext cx="3200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5029200" y="1051560"/>
            <a:ext cx="1097280" cy="1097280"/>
          </a:xfrm>
          <a:prstGeom prst="ellipse">
            <a:avLst/>
          </a:prstGeom>
          <a:solidFill>
            <a:srgbClr val="F97316">
              <a:alpha val="80000"/>
            </a:srgbClr>
          </a:solidFill>
          <a:ln w="254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0515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scheduled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recruiter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5 &amp; 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92240" y="1600200"/>
            <a:ext cx="320040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7178040" y="1051560"/>
            <a:ext cx="1097280" cy="1097280"/>
          </a:xfrm>
          <a:prstGeom prst="ellipse">
            <a:avLst/>
          </a:prstGeom>
          <a:solidFill>
            <a:srgbClr val="22C55E">
              <a:alpha val="80000"/>
            </a:srgbClr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105156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12280" y="22860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is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hired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29077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46120" y="3337560"/>
            <a:ext cx="2651760" cy="530352"/>
          </a:xfrm>
          <a:prstGeom prst="rect">
            <a:avLst/>
          </a:prstGeom>
          <a:solidFill>
            <a:srgbClr val="EF4444">
              <a:alpha val="80000"/>
            </a:srgbClr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46120" y="33375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REJECTED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246120" y="359359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happen at any stage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0" y="2148840"/>
            <a:ext cx="0" cy="1188720"/>
          </a:xfrm>
          <a:prstGeom prst="line">
            <a:avLst/>
          </a:prstGeom>
          <a:noFill/>
          <a:ln w="15240">
            <a:solidFill>
              <a:srgbClr val="EF4444"/>
            </a:solidFill>
            <a:prstDash val="dash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365760" y="4069080"/>
            <a:ext cx="8412480" cy="594360"/>
          </a:xfrm>
          <a:prstGeom prst="rect">
            <a:avLst/>
          </a:prstGeom>
          <a:solidFill>
            <a:srgbClr val="132337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0873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Badge Colours  (Member 9 — MyApplicationsPage.jsx):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29768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3B82F6">
              <a:alpha val="7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148840" y="429768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AB308">
              <a:alpha val="75000"/>
            </a:srgbClr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14884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840480" y="429768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F97316">
              <a:alpha val="75000"/>
            </a:srgbClr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532120" y="429768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22C55E">
              <a:alpha val="7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3212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223760" y="4297680"/>
            <a:ext cx="1463040" cy="274320"/>
          </a:xfrm>
          <a:prstGeom prst="roundRect">
            <a:avLst>
              <a:gd name="adj" fmla="val 26667"/>
            </a:avLst>
          </a:prstGeom>
          <a:solidFill>
            <a:srgbClr val="EF4444">
              <a:alpha val="7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223760" y="42976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— Auth &amp; Security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206240" cy="3749040"/>
          </a:xfrm>
          <a:prstGeom prst="rect">
            <a:avLst/>
          </a:prstGeom>
          <a:solidFill>
            <a:srgbClr val="1A2E45"/>
          </a:solidFill>
          <a:ln w="1524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42062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What Was Built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User.java — id, username, password, email, role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login validation (username + password check)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routing after login (EMPLOYER / CANDIDATE / RECRUITER)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entity used by all other modules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69080" cy="2331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69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API Endpoints / Pages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/api/user/register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/api/user/login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4069080" cy="1280160"/>
          </a:xfrm>
          <a:prstGeom prst="rect">
            <a:avLst/>
          </a:prstGeom>
          <a:solidFill>
            <a:srgbClr val="1A2E45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474720"/>
            <a:ext cx="73152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Responsibility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78561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user registration and login with basic credential validation. No JWT implemented in current version — authentication is session-based. All other modules depend on the User entity defined here.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— Job Post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12715"/>
            <a:ext cx="4206240" cy="3749040"/>
          </a:xfrm>
          <a:prstGeom prst="rect">
            <a:avLst/>
          </a:prstGeom>
          <a:solidFill>
            <a:srgbClr val="1A2E45"/>
          </a:solidFill>
          <a:ln w="1524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42062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What Was Built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JobPost.java — id, title, description, location, salaryRange, status, employer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JobPostRepository.java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JobService.java — createJob(), getOpenJobs(), closeJob()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Candidate job board (Module 3)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69080" cy="2331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69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API Endpoints / Pages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/api/employer/job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/api/employer/jobs?employerId=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4069080" cy="1280160"/>
          </a:xfrm>
          <a:prstGeom prst="rect">
            <a:avLst/>
          </a:prstGeom>
          <a:solidFill>
            <a:srgbClr val="1A2E45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474720"/>
            <a:ext cx="73152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Responsibility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78561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JobPost entity. New postings default to OPEN status automatically. Only OPEN jobs appear on the candidate-facing job board — this module is the source of all job data.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— Candidate Application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206240" cy="3749040"/>
          </a:xfrm>
          <a:prstGeom prst="rect">
            <a:avLst/>
          </a:prstGeom>
          <a:solidFill>
            <a:srgbClr val="1A2E45"/>
          </a:solidFill>
          <a:ln w="1524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4206240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What Was Built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Application.java — id, candidate, job, coverLetter, applyDate, applicationStatus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ApplicationService.java — applyForJob(), getApplicationsByCandidate()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Prevention Logic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application at APPLIED status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69080" cy="2331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69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API Endpoints / Pages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/api/candidate/apply?jobId=&amp;candidateId=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/api/candidate/applications?candidateId=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4069080" cy="1280160"/>
          </a:xfrm>
          <a:prstGeom prst="rect">
            <a:avLst/>
          </a:prstGeom>
          <a:solidFill>
            <a:srgbClr val="1A2E45"/>
          </a:solidFill>
          <a:ln w="1905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474720"/>
            <a:ext cx="73152" cy="12801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Responsibility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78561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module with a real business rule: prevents duplicate applications. A candidate cannot apply twice to the same job. Applications always start at APPLIED status.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 — Employer Application Viewing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206240" cy="3749040"/>
          </a:xfrm>
          <a:prstGeom prst="rect">
            <a:avLst/>
          </a:prstGeom>
          <a:solidFill>
            <a:srgbClr val="1A2E45"/>
          </a:solidFill>
          <a:ln w="1524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4206240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What Was Built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EmployerController.java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getApplicationsByJob() in ApplicationService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validation logic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Returns: candidate name, applyDate, coverLetter snippet, status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69080" cy="2331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69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API Endpoints / Pages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/api/employer/applications?jobId=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4069080" cy="1280160"/>
          </a:xfrm>
          <a:prstGeom prst="rect">
            <a:avLst/>
          </a:prstGeom>
          <a:solidFill>
            <a:srgbClr val="1A2E45"/>
          </a:solidFill>
          <a:ln w="1905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474720"/>
            <a:ext cx="73152" cy="12801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Responsibility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78561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enforcement: an employer can only view applications for their own job postings. Attempting to view another employer's applications is blocked. Read-only endpoint — no modifications.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5 — Recruiter App Management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206240" cy="3749040"/>
          </a:xfrm>
          <a:prstGeom prst="rect">
            <a:avLst/>
          </a:prstGeom>
          <a:solidFill>
            <a:srgbClr val="1A2E45"/>
          </a:solidFill>
          <a:ln w="1524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420624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What Was Built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RecruiterController.java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updateApplicationStatus() in ApplicationService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flow enforcement logic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visibility across all applications platform-wide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69080" cy="2331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69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API Endpoints / Pages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/api/recruiter/applications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PUT /api/recruiter/application/{id}?status=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4069080" cy="1280160"/>
          </a:xfrm>
          <a:prstGeom prst="rect">
            <a:avLst/>
          </a:prstGeom>
          <a:solidFill>
            <a:srgbClr val="1A2E45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474720"/>
            <a:ext cx="73152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Responsibility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78561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the entire hiring pipeline. Enforces correct status order: APPLIED → SHORTLISTED → INTERVIEW → HIRED / REJECTED. Invalid status jumps are blocked by the service layer.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6 — Interview Scheduling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206240" cy="3749040"/>
          </a:xfrm>
          <a:prstGeom prst="rect">
            <a:avLst/>
          </a:prstGeom>
          <a:solidFill>
            <a:srgbClr val="1A2E45"/>
          </a:solidFill>
          <a:ln w="1524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4206240" cy="34747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What Was Built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Interview.java — id, application, scheduledDate, location, interviewStatus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lifecycle: SCHEDULED → COMPLETED / CANCELLED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applicationStatus before allowing creation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parallel status flows to manage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69080" cy="2331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69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API Endpoints / Pages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/api/recruiter/interview?applicationId=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/api/recruiter/interviews?applicationId=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4069080" cy="1280160"/>
          </a:xfrm>
          <a:prstGeom prst="rect">
            <a:avLst/>
          </a:prstGeom>
          <a:solidFill>
            <a:srgbClr val="1A2E45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474720"/>
            <a:ext cx="73152" cy="1280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Responsibility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78561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ONLY schedule an interview if the application is SHORTLISTED or above. Manages two independent lifecycles simultaneously: Application status and Interview status.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7 — Candidate Job Browser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206240" cy="3749040"/>
          </a:xfrm>
          <a:prstGeom prst="rect">
            <a:avLst/>
          </a:prstGeom>
          <a:solidFill>
            <a:srgbClr val="1A2E45"/>
          </a:solidFill>
          <a:ln w="1524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42062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What Was Built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CandidateController.java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getOpenJobs() with dynamic filters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OPEN jobs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employer name, salary, location per listing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69080" cy="2331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69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API Endpoints / Pages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/api/candidate/jobs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/api/candidate/jobs?title=Software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/api/candidate/jobs?location=Hyderabad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4069080" cy="1280160"/>
          </a:xfrm>
          <a:prstGeom prst="rect">
            <a:avLst/>
          </a:prstGeom>
          <a:solidFill>
            <a:srgbClr val="1A2E45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474720"/>
            <a:ext cx="73152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Responsibility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78561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Candidate-facing read-only job board. Dynamic filters by title and/or location. Only OPEN jobs are ever returned — closed jobs are completely hidden from candidates.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8 — Frontend Auth &amp; Shared Services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206240" cy="3749040"/>
          </a:xfrm>
          <a:prstGeom prst="rect">
            <a:avLst/>
          </a:prstGeom>
          <a:solidFill>
            <a:srgbClr val="1A2E45"/>
          </a:solidFill>
          <a:ln w="1524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4206240" cy="34747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What Was Built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LoginPage.jsx — Login form for all 3 roles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RegistrationPage.jsx — Registration with role selector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services/AuthService.js — login, register, session storage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services/HttpService.js — Axios wrapper used by ALL frontend modules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69080" cy="2331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69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API Endpoints / Pages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Login form (Employer / Candidate / Recruiter)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Registration with role dropdown (EMPLOYER / CANDIDATE / RECRUITER)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session stored in localStorage after login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HttpService auto-attaches user context to every API call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4069080" cy="1280160"/>
          </a:xfrm>
          <a:prstGeom prst="rect">
            <a:avLst/>
          </a:prstGeom>
          <a:solidFill>
            <a:srgbClr val="1A2E45"/>
          </a:solidFill>
          <a:ln w="1905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474720"/>
            <a:ext cx="73152" cy="128016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Responsibility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78561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foundation — every other frontend module uses HttpService. Role selector on registration routes users to the correct dashboard. If this module is broken, all frontend modules lose authentication.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9 — Frontend Candidate UI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206240" cy="3749040"/>
          </a:xfrm>
          <a:prstGeom prst="rect">
            <a:avLst/>
          </a:prstGeom>
          <a:solidFill>
            <a:srgbClr val="1A2E45"/>
          </a:solidFill>
          <a:ln w="1524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42062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What Was Built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JobListPage.jsx — filterable job board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ApplyJobPage.jsx — job detail + cover letter form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MyApplicationsPage.jsx — application tracker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Colour-coded status badges for pipeline visibility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69080" cy="2331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69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API Endpoints / Pages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 board with title &amp; location filters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Application form with cover letter textarea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 Applications tracker page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4069080" cy="1280160"/>
          </a:xfrm>
          <a:prstGeom prst="rect">
            <a:avLst/>
          </a:prstGeom>
          <a:solidFill>
            <a:srgbClr val="1A2E45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474720"/>
            <a:ext cx="73152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Responsibility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78561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all 3 candidate-facing React pages. Status badges: APPLIED 🔵 | SHORTLISTED 🟡 | INTERVIEW 🟠 | HIRED 🟢 | REJECTED 🔴. Uses useState + useEffect + Axios together.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10 — Frontend Employer &amp; Recruiter UI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206240" cy="3749040"/>
          </a:xfrm>
          <a:prstGeom prst="rect">
            <a:avLst/>
          </a:prstGeom>
          <a:solidFill>
            <a:srgbClr val="1A2E45"/>
          </a:solidFill>
          <a:ln w="1524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4206240" cy="34747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What Was Built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PostJobForm.jsx — job posting form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EmployerApplicationsPage.jsx — employer inbox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RecruiterDashboard.jsx — pipeline with status controls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InterviewSchedulePage.jsx — interview form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69080" cy="2331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69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API Endpoints / Pages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Job (title, description, location, salary)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Employer Applications per job listing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Recruiter Dashboard — all apps platform-wide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Interview Schedule form (date + location)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4069080" cy="1280160"/>
          </a:xfrm>
          <a:prstGeom prst="rect">
            <a:avLst/>
          </a:prstGeom>
          <a:solidFill>
            <a:srgbClr val="1A2E45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474720"/>
            <a:ext cx="73152" cy="1280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Responsibility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78561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pages of any single frontend module (4 pages). RecruiterDashboard has live status update controls. InterviewSchedulePage validates SHORTLISTED status before enabling submission.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11 — Saved Jobs 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992090"/>
            <a:ext cx="4206240" cy="3749040"/>
          </a:xfrm>
          <a:prstGeom prst="rect">
            <a:avLst/>
          </a:prstGeom>
          <a:solidFill>
            <a:srgbClr val="1A2E45"/>
          </a:solidFill>
          <a:ln w="1524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4206240" cy="34747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What Was Built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417320"/>
            <a:ext cx="3931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SavedJob.java — id, candidate (User), job (JobPost), savedDate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SavedJobRepository.java — findByCandidate(), deleteByCandidateAndJob()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SavedJobService.java — saveJob(), unsaveJob(), getSavedJobs()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CRUD — no status flows, no complex rules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069080" cy="23317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406908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058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API Endpoints / Pages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14173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/api/candidate/save?jobId=&amp;candidateId=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/api/candidate/unsave?jobId=&amp;candidateId=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/api/candidate/saved?candidateId=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3474720"/>
            <a:ext cx="4069080" cy="1280160"/>
          </a:xfrm>
          <a:prstGeom prst="rect">
            <a:avLst/>
          </a:prstGeom>
          <a:solidFill>
            <a:srgbClr val="1A2E45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3474720"/>
            <a:ext cx="73152" cy="1280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5021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Key Responsibility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785616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Cleanest module in the project. No status flows, no duplicate rules, no validations. Pure save / unsave / fetch. Teaches the complete Spring Boot pattern: Entity → Repository → Service → Controller.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Order &amp; Module Dependencies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order matters — each layer depends on the one above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658368"/>
          </a:xfrm>
          <a:prstGeom prst="rect">
            <a:avLst/>
          </a:prstGeom>
          <a:solidFill>
            <a:srgbClr val="1A2E45"/>
          </a:solidFill>
          <a:ln w="1905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91440" cy="6583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04241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Foundation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33502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Member 1 — Auth &amp; Security (JWT, Spring Security, User entity)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664208"/>
            <a:ext cx="0" cy="914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12" name="Shape 10"/>
          <p:cNvSpPr/>
          <p:nvPr/>
        </p:nvSpPr>
        <p:spPr>
          <a:xfrm>
            <a:off x="320040" y="1783080"/>
            <a:ext cx="8503920" cy="658368"/>
          </a:xfrm>
          <a:prstGeom prst="rect">
            <a:avLst/>
          </a:prstGeom>
          <a:solidFill>
            <a:srgbClr val="1A2E45"/>
          </a:solidFill>
          <a:ln w="1905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1783080"/>
            <a:ext cx="91440" cy="658368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181965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AB3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Core Entities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112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Member 2 — Job Post Management    |    👤 Member 3 — Candidate Application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2441448"/>
            <a:ext cx="0" cy="914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320040" y="2560320"/>
            <a:ext cx="8503920" cy="658368"/>
          </a:xfrm>
          <a:prstGeom prst="rect">
            <a:avLst/>
          </a:prstGeom>
          <a:solidFill>
            <a:srgbClr val="1A2E45"/>
          </a:solidFill>
          <a:ln w="1905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560320"/>
            <a:ext cx="91440" cy="65836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968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Business Logic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28895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Member 4 — Employer Viewing    |    🔍 Member 5 — Recruiter Mgmt    |    📅 Member 6 — Interview    |    🗂️ Member 7 — Job Browser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3218688"/>
            <a:ext cx="0" cy="914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320040" y="3337560"/>
            <a:ext cx="8503920" cy="658368"/>
          </a:xfrm>
          <a:prstGeom prst="rect">
            <a:avLst/>
          </a:prstGeom>
          <a:solidFill>
            <a:srgbClr val="1A2E45"/>
          </a:solidFill>
          <a:ln w="1905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3337560"/>
            <a:ext cx="91440" cy="65836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37413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4 — Extra Features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6667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Member 11 — Saved Jobs Service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0" y="3995928"/>
            <a:ext cx="0" cy="9144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320040" y="4114800"/>
            <a:ext cx="8503920" cy="658368"/>
          </a:xfrm>
          <a:prstGeom prst="rect">
            <a:avLst/>
          </a:prstGeom>
          <a:solidFill>
            <a:srgbClr val="1A2E45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4114800"/>
            <a:ext cx="9144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513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5 — Frontend (all backend must be complete)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4439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Member 8 — Auth Shared    |    🎯 Member 9 — Candidate UI    |    📱 Member 10 — Employer &amp; Recruiter UI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65836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to take HireMe to the next level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60520" cy="1170432"/>
          </a:xfrm>
          <a:prstGeom prst="rect">
            <a:avLst/>
          </a:prstGeom>
          <a:solidFill>
            <a:srgbClr val="1A2E45"/>
          </a:solidFill>
          <a:ln w="1524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73152" cy="11704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0698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JWT Authentication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4632" y="138988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current basic auth to full JWT + Spring Security with token expiry, refresh tokens, and role-based endpoint guards on all microservices.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60520" cy="1170432"/>
          </a:xfrm>
          <a:prstGeom prst="rect">
            <a:avLst/>
          </a:prstGeom>
          <a:solidFill>
            <a:srgbClr val="1A2E45"/>
          </a:solidFill>
          <a:ln w="1524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05840"/>
            <a:ext cx="73152" cy="11704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0698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Candidate Profile &amp; Resume Builder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19472" y="1389888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candidates to build a complete profile: bio, skills, education, work experience, and upload a resume (PDF) or add portfolio links.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2304288"/>
            <a:ext cx="4160520" cy="1170432"/>
          </a:xfrm>
          <a:prstGeom prst="rect">
            <a:avLst/>
          </a:prstGeom>
          <a:solidFill>
            <a:srgbClr val="1A2E45"/>
          </a:solidFill>
          <a:ln w="15240">
            <a:solidFill>
              <a:srgbClr val="FFB703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304288"/>
            <a:ext cx="73152" cy="1170432"/>
          </a:xfrm>
          <a:prstGeom prst="rect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23682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Employer Company Profile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4632" y="2688336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Employers can set up a company page with logo, description, industry type, website, and office location to attract quality candidates.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304288"/>
            <a:ext cx="4160520" cy="1170432"/>
          </a:xfrm>
          <a:prstGeom prst="rect">
            <a:avLst/>
          </a:prstGeom>
          <a:solidFill>
            <a:srgbClr val="1A2E45"/>
          </a:solidFill>
          <a:ln w="1524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04288"/>
            <a:ext cx="73152" cy="11704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23682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Recruiter Profile &amp; Dashboard Analytics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19472" y="2688336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Recruiter profiles with specialization tags, plus a dashboard showing hiring pipeline stats: total applications, shortlisted %, avg time-to-hire.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602736"/>
            <a:ext cx="4160520" cy="1170432"/>
          </a:xfrm>
          <a:prstGeom prst="rect">
            <a:avLst/>
          </a:prstGeom>
          <a:solidFill>
            <a:srgbClr val="1A2E45"/>
          </a:solidFill>
          <a:ln w="15240">
            <a:solidFill>
              <a:srgbClr val="22C55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602736"/>
            <a:ext cx="73152" cy="11704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36667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 Email &amp; In-App Notifications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" y="3986784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candidates when their application status changes. Alert employers on new applications. Remind recruiters of scheduled interviews.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602736"/>
            <a:ext cx="4160520" cy="1170432"/>
          </a:xfrm>
          <a:prstGeom prst="rect">
            <a:avLst/>
          </a:prstGeom>
          <a:solidFill>
            <a:srgbClr val="1A2E45"/>
          </a:solidFill>
          <a:ln w="1524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602736"/>
            <a:ext cx="73152" cy="11704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19472" y="3666744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 Advanced Search &amp; Recommendations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19472" y="3986784"/>
            <a:ext cx="38587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job recommendations for candidates based on profile &amp; past applications. Smart candidate ranking for recruiters using skill matching.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37744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0" y="914400"/>
            <a:ext cx="237744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0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00400" y="14813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914400"/>
            <a:ext cx="237744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960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035040" y="14813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057400"/>
            <a:ext cx="237744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2103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65760" y="26243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Modules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0" y="2057400"/>
            <a:ext cx="237744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0" y="2103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200400" y="26243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2057400"/>
            <a:ext cx="2377440" cy="960120"/>
          </a:xfrm>
          <a:prstGeom prst="rect">
            <a:avLst/>
          </a:prstGeom>
          <a:solidFill>
            <a:srgbClr val="1A2E45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035040" y="210312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035040" y="26243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291840"/>
            <a:ext cx="8412480" cy="594360"/>
          </a:xfrm>
          <a:prstGeom prst="rect">
            <a:avLst/>
          </a:prstGeom>
          <a:solidFill>
            <a:srgbClr val="1A2E45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918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React 18  •  Spring Boot  •  MySQL  •  Basic Session Auth  •  Microservice Architecture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Connecting Talent with Opportunity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57200" y="45262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983480"/>
            <a:ext cx="8595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HireMe — Job Portal &amp; Recruitment Management System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2184</Words>
  <Application>Microsoft Office PowerPoint</Application>
  <PresentationFormat>On-screen Show (16:9)</PresentationFormat>
  <Paragraphs>377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HireMe — Job Portal &amp; Recruitment Management System</dc:title>
  <dc:subject>PptxGenJS Presentation</dc:subject>
  <dc:creator>PptxGenJS</dc:creator>
  <cp:lastModifiedBy>239y1a05g6 Basha</cp:lastModifiedBy>
  <cp:revision>2</cp:revision>
  <dcterms:created xsi:type="dcterms:W3CDTF">2026-03-15T14:16:47Z</dcterms:created>
  <dcterms:modified xsi:type="dcterms:W3CDTF">2026-03-16T07:57:03Z</dcterms:modified>
</cp:coreProperties>
</file>