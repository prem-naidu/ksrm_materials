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A3A5C">
              <a:alpha val="70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57200"/>
            <a:ext cx="2011680" cy="2011680"/>
          </a:xfrm>
          <a:prstGeom prst="ellipse">
            <a:avLst/>
          </a:prstGeom>
          <a:solidFill>
            <a:srgbClr val="102840">
              <a:alpha val="80000"/>
            </a:srgbClr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457200"/>
            <a:ext cx="4389120" cy="47548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57200"/>
            <a:ext cx="43891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pPr indent="0" marL="0">
              <a:buNone/>
            </a:pPr>
            <a:r>
              <a:rPr lang="en-US" sz="18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pPr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6400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MedTrack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Equipment Management &amp; Tracking System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5029200" cy="36576"/>
          </a:xfrm>
          <a:prstGeom prst="rect">
            <a:avLst/>
          </a:prstGeom>
          <a:solidFill>
            <a:srgbClr val="A8B8C8">
              <a:alpha val="50000"/>
            </a:srgbClr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JS  ·  Spring Boot  ·  MySQL  ·  JWT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749040" cy="40690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374904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9601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691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Healthcare Equipment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Challenges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74320" y="2423160"/>
            <a:ext cx="3749040" cy="36576"/>
          </a:xfrm>
          <a:prstGeom prst="rect">
            <a:avLst/>
          </a:prstGeom>
          <a:solidFill>
            <a:srgbClr val="1A73E8">
              <a:alpha val="4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5603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Loss or misplacement of equipment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Delays in maintenance scheduling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Lack of real-time availability information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Inefficient communication between hospitals, technicians &amp; suppliers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Difficulty tracking equipment orders &amp; deliveries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Manual tracking leads to inefficiency and impacts patient care quality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777240"/>
            <a:ext cx="4572000" cy="40690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777240"/>
            <a:ext cx="4572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960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Digital Solution is Needed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48056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3776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937760" y="1920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equipment location and availability instantly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480560" y="2395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93776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Scheduling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37760" y="26700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maintenance scheduling and task management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480560" y="3145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937760" y="3145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37760" y="34198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 for all stakeholders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80560" y="38953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937760" y="38953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937760" y="41696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equipment ordering and delivery tracking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88920" cy="40690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788920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MedTrack?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2606040" cy="36576"/>
          </a:xfrm>
          <a:prstGeom prst="rect">
            <a:avLst/>
          </a:prstGeom>
          <a:solidFill>
            <a:srgbClr val="7C5CBF">
              <a:alpha val="6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19456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microservices-based application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help hospitals efficiently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medical equipment,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ordering.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88920" cy="40690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777240"/>
            <a:ext cx="2788920" cy="54864"/>
          </a:xfrm>
          <a:prstGeom prst="rect">
            <a:avLst/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46120" y="1600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46120" y="2057400"/>
            <a:ext cx="2606040" cy="36576"/>
          </a:xfrm>
          <a:prstGeom prst="rect">
            <a:avLst/>
          </a:prstGeom>
          <a:solidFill>
            <a:srgbClr val="0E8C84">
              <a:alpha val="60000"/>
            </a:srgbClr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19456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JS (Axios, Tailwind)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Spring Boot (REST)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Spring Security + JWT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777240"/>
            <a:ext cx="2788920" cy="40690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777240"/>
            <a:ext cx="2788920" cy="548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9144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72200" y="16002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2057400"/>
            <a:ext cx="2606040" cy="36576"/>
          </a:xfrm>
          <a:prstGeom prst="rect">
            <a:avLst/>
          </a:prstGeom>
          <a:solidFill>
            <a:srgbClr val="1A8754">
              <a:alpha val="60000"/>
            </a:srgbClr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19456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members in the group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Backend microservices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Frontend modules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 · Staff · Supplier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20116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JS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Axios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20116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868680"/>
            <a:ext cx="41148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Boot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Security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2651760" cy="173736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108960"/>
            <a:ext cx="2651760" cy="54864"/>
          </a:xfrm>
          <a:prstGeom prst="rect">
            <a:avLst/>
          </a:prstGeom>
          <a:solidFill>
            <a:srgbClr val="F4A118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MySQL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0" y="3108960"/>
            <a:ext cx="2651760" cy="173736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108960"/>
            <a:ext cx="2651760" cy="54864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36576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Microservices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3108960"/>
            <a:ext cx="2651760" cy="173736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3108960"/>
            <a:ext cx="2651760" cy="548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36576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Authentication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A118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MEDTRACK — MICROSERVICE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594360"/>
          </a:xfrm>
          <a:prstGeom prst="rect">
            <a:avLst/>
          </a:prstGeom>
          <a:solidFill>
            <a:srgbClr val="172A45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 GATEWAY  —  Spring Security validates token &amp; routes to correct microservice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78040" y="1024128"/>
            <a:ext cx="822960" cy="320040"/>
          </a:xfrm>
          <a:prstGeom prst="rect">
            <a:avLst/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1024128"/>
            <a:ext cx="822960" cy="320040"/>
          </a:xfrm>
          <a:prstGeom prst="rect">
            <a:avLst/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1024128"/>
            <a:ext cx="822960" cy="320040"/>
          </a:xfrm>
          <a:prstGeom prst="rect">
            <a:avLst/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0241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   STAFF →    SUPPLIER 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719072"/>
            <a:ext cx="1005840" cy="2743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01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993392"/>
            <a:ext cx="1005840" cy="26974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057400"/>
            <a:ext cx="594360" cy="594360"/>
          </a:xfrm>
          <a:prstGeom prst="ellipse">
            <a:avLst/>
          </a:prstGeom>
          <a:solidFill>
            <a:srgbClr val="7C5CBF">
              <a:alpha val="8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4572000"/>
            <a:ext cx="1005840" cy="274320"/>
          </a:xfrm>
          <a:prstGeom prst="rect">
            <a:avLst/>
          </a:prstGeom>
          <a:solidFill>
            <a:srgbClr val="7C5CBF">
              <a:alpha val="5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Ramu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25880" y="1719072"/>
            <a:ext cx="1005840" cy="274320"/>
          </a:xfrm>
          <a:prstGeom prst="rect">
            <a:avLst/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02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25880" y="1993392"/>
            <a:ext cx="1005840" cy="26974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08760" y="2057400"/>
            <a:ext cx="594360" cy="594360"/>
          </a:xfrm>
          <a:prstGeom prst="ellipse">
            <a:avLst/>
          </a:prstGeom>
          <a:solidFill>
            <a:srgbClr val="0E8C84">
              <a:alpha val="80000"/>
            </a:srgbClr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25880" y="4572000"/>
            <a:ext cx="1005840" cy="274320"/>
          </a:xfrm>
          <a:prstGeom prst="rect">
            <a:avLst/>
          </a:prstGeom>
          <a:solidFill>
            <a:srgbClr val="0E8C84">
              <a:alpha val="50000"/>
            </a:srgbClr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2588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23160" y="1719072"/>
            <a:ext cx="1005840" cy="2743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03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423160" y="1993392"/>
            <a:ext cx="1005840" cy="26974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2057400"/>
            <a:ext cx="594360" cy="594360"/>
          </a:xfrm>
          <a:prstGeom prst="ellipse">
            <a:avLst/>
          </a:prstGeom>
          <a:solidFill>
            <a:srgbClr val="1A8754">
              <a:alpha val="80000"/>
            </a:srgbClr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423160" y="4572000"/>
            <a:ext cx="1005840" cy="274320"/>
          </a:xfrm>
          <a:prstGeom prst="rect">
            <a:avLst/>
          </a:prstGeom>
          <a:solidFill>
            <a:srgbClr val="1A8754">
              <a:alpha val="50000"/>
            </a:srgbClr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Ravikumar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520440" y="1719072"/>
            <a:ext cx="1005840" cy="2743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04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20440" y="1993392"/>
            <a:ext cx="1005840" cy="26974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03320" y="2057400"/>
            <a:ext cx="594360" cy="594360"/>
          </a:xfrm>
          <a:prstGeom prst="ellipse">
            <a:avLst/>
          </a:prstGeom>
          <a:solidFill>
            <a:srgbClr val="C05621">
              <a:alpha val="80000"/>
            </a:srgbClr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520440" y="4572000"/>
            <a:ext cx="1005840" cy="274320"/>
          </a:xfrm>
          <a:prstGeom prst="rect">
            <a:avLst/>
          </a:prstGeom>
          <a:solidFill>
            <a:srgbClr val="C05621">
              <a:alpha val="50000"/>
            </a:srgbClr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17720" y="1719072"/>
            <a:ext cx="1005840" cy="274320"/>
          </a:xfrm>
          <a:prstGeom prst="rect">
            <a:avLst/>
          </a:prstGeom>
          <a:solidFill>
            <a:srgbClr val="9B1D3A"/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05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17720" y="1993392"/>
            <a:ext cx="1005840" cy="26974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0600" y="2057400"/>
            <a:ext cx="594360" cy="594360"/>
          </a:xfrm>
          <a:prstGeom prst="ellipse">
            <a:avLst/>
          </a:prstGeom>
          <a:solidFill>
            <a:srgbClr val="9B1D3A">
              <a:alpha val="80000"/>
            </a:srgbClr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617720" y="4572000"/>
            <a:ext cx="1005840" cy="274320"/>
          </a:xfrm>
          <a:prstGeom prst="rect">
            <a:avLst/>
          </a:prstGeom>
          <a:solidFill>
            <a:srgbClr val="9B1D3A">
              <a:alpha val="50000"/>
            </a:srgbClr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1772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Teja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715000" y="1719072"/>
            <a:ext cx="1005840" cy="27432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06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715000" y="1993392"/>
            <a:ext cx="1005840" cy="26974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97880" y="2057400"/>
            <a:ext cx="594360" cy="594360"/>
          </a:xfrm>
          <a:prstGeom prst="ellipse">
            <a:avLst/>
          </a:prstGeom>
          <a:solidFill>
            <a:srgbClr val="1565A8">
              <a:alpha val="80000"/>
            </a:srgbClr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9788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715000" y="4572000"/>
            <a:ext cx="1005840" cy="274320"/>
          </a:xfrm>
          <a:prstGeom prst="rect">
            <a:avLst/>
          </a:prstGeom>
          <a:solidFill>
            <a:srgbClr val="1565A8">
              <a:alpha val="50000"/>
            </a:srgbClr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1500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Chiru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812280" y="1719072"/>
            <a:ext cx="100584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1228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07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812280" y="1993392"/>
            <a:ext cx="1005840" cy="26974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5800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995160" y="2057400"/>
            <a:ext cx="594360" cy="594360"/>
          </a:xfrm>
          <a:prstGeom prst="ellipse">
            <a:avLst/>
          </a:prstGeom>
          <a:solidFill>
            <a:srgbClr val="6B3FA0">
              <a:alpha val="8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951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812280" y="4572000"/>
            <a:ext cx="1005840" cy="274320"/>
          </a:xfrm>
          <a:prstGeom prst="rect">
            <a:avLst/>
          </a:prstGeom>
          <a:solidFill>
            <a:srgbClr val="6B3FA0">
              <a:alpha val="5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1228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Prathap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909560" y="1719072"/>
            <a:ext cx="100584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909560" y="1719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 DB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909560" y="1993392"/>
            <a:ext cx="1005840" cy="26974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55280" y="2606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092440" y="2057400"/>
            <a:ext cx="594360" cy="594360"/>
          </a:xfrm>
          <a:prstGeom prst="ellipse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0924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909560" y="4572000"/>
            <a:ext cx="1005840" cy="274320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0956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0" y="1719072"/>
            <a:ext cx="201168" cy="3127248"/>
          </a:xfrm>
          <a:prstGeom prst="rect">
            <a:avLst/>
          </a:prstGeom>
          <a:solidFill>
            <a:srgbClr val="7C5CBF">
              <a:alpha val="7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2560320"/>
            <a:ext cx="201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0" y="960120"/>
            <a:ext cx="201168" cy="594360"/>
          </a:xfrm>
          <a:prstGeom prst="rect">
            <a:avLst/>
          </a:prstGeom>
          <a:solidFill>
            <a:srgbClr val="1A73E8">
              <a:alpha val="70000"/>
            </a:srgbClr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0" y="960120"/>
            <a:ext cx="201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Member 1 — User &amp; Authentication 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Ramu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user registration, login, and JWT-based authentication for Admin, Hospital Staff, and Supplier/Technician roles. Secures every endpoint using Spring Security role guards.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7C5CBF">
              <a:alpha val="4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auth-service/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7C5CBF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entity/User.java — userID, username, password, email, role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7C5CBF">
              <a:alpha val="4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/api/auth/register — Register any user role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7121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/api/auth/login — Login and issue JWT token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7C5CBF">
              <a:alpha val="40000"/>
            </a:srgbClr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Spring Security config + JWT filter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Role-based access control for all routes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Member 2 — Hospital Profile &amp; Management 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Ashok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hospital profile creation and information. Stores hospital data required for equipment management and provides data to other services.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0E8C84">
              <a:alpha val="40000"/>
            </a:srgbClr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hospital-service/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Ashok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0E8C84"/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entity/Hospital.java — hospitalID, name, address, contactInfo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0E8C84">
              <a:alpha val="40000"/>
            </a:srgbClr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/api/hospital/register — Register hospital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7121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/api/hospital/{id} — View hospital details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0E8C84">
              <a:alpha val="40000"/>
            </a:srgbClr>
          </a:solidFill>
          <a:ln w="12700">
            <a:solidFill>
              <a:srgbClr val="0E8C8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Hospital profile creation and management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Provides data to Equipment &amp; Order services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Member 3 — Equipment Inventory 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Ravikumar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and records all equipment data. Tracks available equipment in hospital inventory, updates equipment status, and provides data for maintenance and order services.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1A8754">
              <a:alpha val="40000"/>
            </a:srgbClr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equipment-service/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Ravikumar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entity/Equipment.java — equipmentID, name, type, status, hospitalID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1A8754">
              <a:alpha val="40000"/>
            </a:srgbClr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/api/equipment/add — Add new equipment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7121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/api/equipment/list — View all equipment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1A8754">
              <a:alpha val="40000"/>
            </a:srgbClr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 equipment availability and status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Provides data to Maintenance &amp; Order services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Member 4 — Maintenance Scheduling 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Hemanth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maintenance tasks, tracks and updates maintenance status, and records equipment maintenance workflows from pending through completion.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C05621">
              <a:alpha val="40000"/>
            </a:srgbClr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maintenance-service/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entity/Maintenance.java — taskID, equipmentID, scheduledDate, status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C05621">
              <a:alpha val="40000"/>
            </a:srgbClr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/api/maintenance/schedule — Schedule a task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7121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PUT /api/maintenance/update/{id} — Update 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C05621">
              <a:alpha val="40000"/>
            </a:srgbClr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lifecycle: PENDING → IN PROGRESS → COMPLETED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Links to Equipment and Technician services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9B1D3A"/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👨‍🔧  Member 5 — Technician Operations 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Ravi Teja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9B1D3A"/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technician-specific endpoints for viewing assigned maintenance tasks, updating service records, and recording completion details in real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9B1D3A">
              <a:alpha val="40000"/>
            </a:srgbClr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technician-service/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9B1D3A"/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Teja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9B1D3A"/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controller/TechnicianController.java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9B1D3A">
              <a:alpha val="40000"/>
            </a:srgbClr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/api/technician/tasks — View assigned tasks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7121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PUT /api/technician/update/{id} — Update task 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9B1D3A">
              <a:alpha val="40000"/>
            </a:srgbClr>
          </a:solidFill>
          <a:ln w="12700">
            <a:solidFill>
              <a:srgbClr val="9B1D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updateTaskStatus() in MaintenanceService.java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status changes by technician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Member 6 — Equipment Order 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Chiru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manages equipment orders, tracks order records and status, and links equipment orders with hospitals throughout the approval lifecycle.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1565A8">
              <a:alpha val="40000"/>
            </a:srgbClr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order-service/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Chiru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entity/Order.java — orderID, equipmentName, quantity, hospitalID, status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1565A8">
              <a:alpha val="40000"/>
            </a:srgbClr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 /api/order/create — Create equipment order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7121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/api/order/list/{hospitalId} — View orders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1565A8">
              <a:alpha val="40000"/>
            </a:srgbClr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 lifecycle: PENDING → APPROVED → ORDERED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Links hospital orders with supplier 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Member 7 — Supplier Operations Service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Prathap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supplier-side of order fulfilment. Suppliers can view hospital equipment requests, update shipping status, and manage the delivery workflow.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6B3FA0">
              <a:alpha val="4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supplier-service/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Prathap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controller/SupplierController.java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6B3FA0">
              <a:alpha val="4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GET /api/supplier/orders — View pending orders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7121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PUT /api/supplier/ship/{orderId} — Update delivery 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6B3FA0">
              <a:alpha val="40000"/>
            </a:srgbClr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Supplier workflow: PENDING → SHIPPED → DELIVERED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Read/update order data from Order 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Member 8 — Frontend Auth &amp; API Integration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Surendra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2C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React login and registration pages and the shared Axios service layer (AuthService + HttpService) used by all other frontend components.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1A6B7C">
              <a:alpha val="40000"/>
            </a:srgbClr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Surendra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1A6B7C"/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LoginPage.jsx — Login form for Admin, Staff, Supplier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1A6B7C">
              <a:alpha val="40000"/>
            </a:srgbClr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RegistrationPage.jsx — Registration with role selector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1A6B7C">
              <a:alpha val="40000"/>
            </a:srgbClr>
          </a:solidFill>
          <a:ln w="12700">
            <a:solidFill>
              <a:srgbClr val="1A6B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services/AuthService.js — Login, registration, JWT storage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services/HttpService.js — Axios wrapper with JWT on every call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A4A1E"/>
          </a:solidFill>
          <a:ln w="12700">
            <a:solidFill>
              <a:srgbClr val="7A4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Member 9 — Hospital Dashboard UI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Gnaneshwar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2C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FR-01, FR-06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7A4A1E"/>
          </a:solidFill>
          <a:ln w="12700">
            <a:solidFill>
              <a:srgbClr val="7A4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all hospital-facing React pages: hospital dashboard, equipment management interface, and inventory display with status updates.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7A4A1E">
              <a:alpha val="40000"/>
            </a:srgbClr>
          </a:solidFill>
          <a:ln w="12700">
            <a:solidFill>
              <a:srgbClr val="7A4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frontend/src/pages/hospital/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7A4A1E"/>
          </a:solidFill>
          <a:ln w="12700">
            <a:solidFill>
              <a:srgbClr val="7A4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Gnaneshwar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7A4A1E"/>
          </a:solidFill>
          <a:ln w="12700">
            <a:solidFill>
              <a:srgbClr val="7A4A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HospitalDashboard.jsx — Overview of equipment and orders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7A4A1E">
              <a:alpha val="40000"/>
            </a:srgbClr>
          </a:solidFill>
          <a:ln w="12700">
            <a:solidFill>
              <a:srgbClr val="7A4A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EquipmentListPage.jsx — View all equipment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7121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AddEquipmentForm.jsx — Add new equipment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7A4A1E">
              <a:alpha val="40000"/>
            </a:srgbClr>
          </a:solidFill>
          <a:ln w="12700">
            <a:solidFill>
              <a:srgbClr val="7A4A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UpdateEquipmentPage.jsx — Edit equipment records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Display equipment status and availability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Member 10 — Technician &amp; Supplier UI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solidFill>
            <a:srgbClr val="0D1B2A">
              <a:alpha val="7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Ravi &amp; Ashok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solidFill>
            <a:srgbClr val="1A3A2C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132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solidFill>
            <a:srgbClr val="2A2A10"/>
          </a:solidFill>
          <a:ln w="12700">
            <a:solidFill>
              <a:srgbClr val="F4A1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1323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FR: FR-02, FR-03, FR-04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143000"/>
            <a:ext cx="41148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43000"/>
            <a:ext cx="411480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What this member does: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6002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all maintenance, technician task, and equipment order management pages. Provides supplier order tracking interface as well.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657600" cy="36576"/>
          </a:xfrm>
          <a:prstGeom prst="rect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Service Folder: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frontend/src/pages/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640080" cy="6400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611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&amp; Ashok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343400" cy="374904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143000"/>
            <a:ext cx="4343400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34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Entity / Key Files: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1572768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MaintenancePage.jsx — Schedule &amp; track maintenance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057400"/>
            <a:ext cx="4069080" cy="36576"/>
          </a:xfrm>
          <a:prstGeom prst="rect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API Endpoints: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24871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TechnicianTaskPage.jsx — View &amp; update tasks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871216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OrderManagementPage.jsx — Create &amp; track orders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337560"/>
            <a:ext cx="4069080" cy="36576"/>
          </a:xfrm>
          <a:prstGeom prst="rect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4290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Additional Deliverables: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79476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SupplierOrderPage.jsx — Supplier delivery tracking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41788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Connects all order and maintenance APIs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Advantages &amp; Disadvantages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690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54864"/>
          </a:xfrm>
          <a:prstGeom prst="rect">
            <a:avLst/>
          </a:prstGeom>
          <a:solidFill>
            <a:srgbClr val="1A8754"/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3840480" cy="36576"/>
          </a:xfrm>
          <a:prstGeom prst="rect">
            <a:avLst/>
          </a:prstGeom>
          <a:solidFill>
            <a:srgbClr val="1A8754">
              <a:alpha val="40000"/>
            </a:srgbClr>
          </a:solidFill>
          <a:ln w="12700">
            <a:solidFill>
              <a:srgbClr val="1A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equipment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equipment tracking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1401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maintenance scheduling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88950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authentication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3649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microservices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840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communication between stakeholders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4114800" cy="4069080"/>
          </a:xfrm>
          <a:prstGeom prst="rect">
            <a:avLst/>
          </a:prstGeom>
          <a:solidFill>
            <a:srgbClr val="152338"/>
          </a:solidFill>
          <a:ln w="12700">
            <a:solidFill>
              <a:srgbClr val="1523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777240"/>
            <a:ext cx="4114800" cy="54864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868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DISADVANTAGES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92040" y="1325880"/>
            <a:ext cx="3840480" cy="36576"/>
          </a:xfrm>
          <a:prstGeom prst="rect">
            <a:avLst/>
          </a:prstGeom>
          <a:solidFill>
            <a:srgbClr val="C05621">
              <a:alpha val="40000"/>
            </a:srgbClr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4630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initial setup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011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good internet connection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560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proper server maintenance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MedTrack — A Modern Healthcare Solution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5486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microservices-based solution for managing medical equipment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5486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hospital productivity through proper tracking, maintenance &amp; ordering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54864" cy="457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automation, security, and scalability in healthcare equipment management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A3A5C">
              <a:alpha val="65000"/>
            </a:srgbClr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914400"/>
            <a:ext cx="2560320" cy="2560320"/>
          </a:xfrm>
          <a:prstGeom prst="ellipse">
            <a:avLst/>
          </a:prstGeom>
          <a:solidFill>
            <a:srgbClr val="102840">
              <a:alpha val="75000"/>
            </a:srgbClr>
          </a:solidFill>
          <a:ln w="12700">
            <a:solidFill>
              <a:srgbClr val="1028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🙏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5486400" cy="36576"/>
          </a:xfrm>
          <a:prstGeom prst="rect">
            <a:avLst/>
          </a:prstGeom>
          <a:solidFill>
            <a:srgbClr val="A8B8C8">
              <a:alpha val="40000"/>
            </a:srgbClr>
          </a:solidFill>
          <a:ln w="12700">
            <a:solidFill>
              <a:srgbClr val="A8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MedTrack – Medical Equipment Management &amp; Tracking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Web Tech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MedTrack</dc:title>
  <dc:subject>PptxGenJS Presentation</dc:subject>
  <dc:creator>PptxGenJS</dc:creator>
  <cp:lastModifiedBy>PptxGenJS</cp:lastModifiedBy>
  <cp:revision>1</cp:revision>
  <dcterms:created xsi:type="dcterms:W3CDTF">2026-03-16T04:09:08Z</dcterms:created>
  <dcterms:modified xsi:type="dcterms:W3CDTF">2026-03-16T04:09:08Z</dcterms:modified>
</cp:coreProperties>
</file>