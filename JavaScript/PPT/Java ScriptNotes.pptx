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90" r:id="rId32"/>
    <p:sldId id="291" r:id="rId33"/>
    <p:sldId id="292" r:id="rId34"/>
    <p:sldId id="293" r:id="rId35"/>
    <p:sldId id="294" r:id="rId36"/>
    <p:sldId id="295" r:id="rId37"/>
    <p:sldId id="296" r:id="rId38"/>
    <p:sldId id="297" r:id="rId39"/>
    <p:sldId id="319" r:id="rId40"/>
    <p:sldId id="299" r:id="rId41"/>
    <p:sldId id="300" r:id="rId42"/>
    <p:sldId id="302" r:id="rId43"/>
    <p:sldId id="303" r:id="rId44"/>
    <p:sldId id="304" r:id="rId45"/>
    <p:sldId id="305" r:id="rId46"/>
    <p:sldId id="306" r:id="rId47"/>
    <p:sldId id="307" r:id="rId48"/>
    <p:sldId id="308" r:id="rId49"/>
    <p:sldId id="312" r:id="rId50"/>
    <p:sldId id="313" r:id="rId51"/>
    <p:sldId id="314" r:id="rId52"/>
    <p:sldId id="315" r:id="rId53"/>
    <p:sldId id="316" r:id="rId54"/>
    <p:sldId id="317" r:id="rId55"/>
    <p:sldId id="335" r:id="rId56"/>
    <p:sldId id="257" r:id="rId57"/>
    <p:sldId id="340" r:id="rId58"/>
    <p:sldId id="341" r:id="rId59"/>
    <p:sldId id="342" r:id="rId60"/>
    <p:sldId id="343" r:id="rId61"/>
    <p:sldId id="322" r:id="rId62"/>
    <p:sldId id="326" r:id="rId63"/>
    <p:sldId id="325" r:id="rId64"/>
    <p:sldId id="275" r:id="rId65"/>
    <p:sldId id="327" r:id="rId66"/>
    <p:sldId id="328" r:id="rId67"/>
    <p:sldId id="329" r:id="rId68"/>
    <p:sldId id="330" r:id="rId69"/>
    <p:sldId id="331" r:id="rId70"/>
    <p:sldId id="332" r:id="rId71"/>
    <p:sldId id="333" r:id="rId72"/>
    <p:sldId id="344" r:id="rId73"/>
    <p:sldId id="345" r:id="rId74"/>
    <p:sldId id="334" r:id="rId75"/>
    <p:sldId id="346"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81" autoAdjust="0"/>
    <p:restoredTop sz="94660"/>
  </p:normalViewPr>
  <p:slideViewPr>
    <p:cSldViewPr snapToGrid="0">
      <p:cViewPr varScale="1">
        <p:scale>
          <a:sx n="87" d="100"/>
          <a:sy n="87" d="100"/>
        </p:scale>
        <p:origin x="54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1C7D7A-53C3-4B6B-9A5C-7FA38BDE5A5E}"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1003582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61C7D7A-53C3-4B6B-9A5C-7FA38BDE5A5E}"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174103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1C7D7A-53C3-4B6B-9A5C-7FA38BDE5A5E}"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3926174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1C7D7A-53C3-4B6B-9A5C-7FA38BDE5A5E}" type="datetimeFigureOut">
              <a:rPr lang="en-IN" smtClean="0"/>
              <a:t>14-12-2023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750623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1C7D7A-53C3-4B6B-9A5C-7FA38BDE5A5E}" type="datetimeFigureOut">
              <a:rPr lang="en-IN" smtClean="0"/>
              <a:t>14-12-2023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3825747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61C7D7A-53C3-4B6B-9A5C-7FA38BDE5A5E}" type="datetimeFigureOut">
              <a:rPr lang="en-IN" smtClean="0"/>
              <a:t>14-12-2023</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2089214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61C7D7A-53C3-4B6B-9A5C-7FA38BDE5A5E}" type="datetimeFigureOut">
              <a:rPr lang="en-IN" smtClean="0"/>
              <a:t>14-12-2023</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3633931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61C7D7A-53C3-4B6B-9A5C-7FA38BDE5A5E}" type="datetimeFigureOut">
              <a:rPr lang="en-IN" smtClean="0"/>
              <a:t>14-12-2023</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4051169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1C7D7A-53C3-4B6B-9A5C-7FA38BDE5A5E}" type="datetimeFigureOut">
              <a:rPr lang="en-IN" smtClean="0"/>
              <a:t>14-12-2023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2908139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1C7D7A-53C3-4B6B-9A5C-7FA38BDE5A5E}" type="datetimeFigureOut">
              <a:rPr lang="en-IN" smtClean="0"/>
              <a:t>14-12-2023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2511462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61C7D7A-53C3-4B6B-9A5C-7FA38BDE5A5E}"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3132991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61C7D7A-53C3-4B6B-9A5C-7FA38BDE5A5E}"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BFB1F9-740E-4411-B6AB-B1616B79E972}"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7190559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1C7D7A-53C3-4B6B-9A5C-7FA38BDE5A5E}"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12386474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61C7D7A-53C3-4B6B-9A5C-7FA38BDE5A5E}" type="datetimeFigureOut">
              <a:rPr lang="en-IN" smtClean="0"/>
              <a:t>14-12-2023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2089177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61C7D7A-53C3-4B6B-9A5C-7FA38BDE5A5E}" type="datetimeFigureOut">
              <a:rPr lang="en-IN" smtClean="0"/>
              <a:t>14-12-2023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3935655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1C7D7A-53C3-4B6B-9A5C-7FA38BDE5A5E}"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41187765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1C7D7A-53C3-4B6B-9A5C-7FA38BDE5A5E}" type="datetimeFigureOut">
              <a:rPr lang="en-IN" smtClean="0"/>
              <a:t>14-12-2023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BFB1F9-740E-4411-B6AB-B1616B79E972}" type="slidenum">
              <a:rPr lang="en-IN" smtClean="0"/>
              <a:t>‹#›</a:t>
            </a:fld>
            <a:endParaRPr lang="en-IN"/>
          </a:p>
        </p:txBody>
      </p:sp>
    </p:spTree>
    <p:extLst>
      <p:ext uri="{BB962C8B-B14F-4D97-AF65-F5344CB8AC3E}">
        <p14:creationId xmlns:p14="http://schemas.microsoft.com/office/powerpoint/2010/main" val="2871288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u="heavy">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57297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61C7D7A-53C3-4B6B-9A5C-7FA38BDE5A5E}" type="datetimeFigureOut">
              <a:rPr lang="en-IN" smtClean="0"/>
              <a:t>14-12-2023</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BBFB1F9-740E-4411-B6AB-B1616B79E972}" type="slidenum">
              <a:rPr lang="en-IN" smtClean="0"/>
              <a:t>‹#›</a:t>
            </a:fld>
            <a:endParaRPr lang="en-IN"/>
          </a:p>
        </p:txBody>
      </p:sp>
    </p:spTree>
    <p:extLst>
      <p:ext uri="{BB962C8B-B14F-4D97-AF65-F5344CB8AC3E}">
        <p14:creationId xmlns:p14="http://schemas.microsoft.com/office/powerpoint/2010/main" val="1240891922"/>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tutorialspoint.com/cprogramming/c_while_loop.ht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developer.mozilla.org/en-US/docs/Web/JavaScript/Reference/Global_Objects/String" TargetMode="Externa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www.w3schools.com/jsref/dom_obj_event.asp"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60E6C-2DC6-8052-4B88-C0849BB530EA}"/>
              </a:ext>
            </a:extLst>
          </p:cNvPr>
          <p:cNvSpPr>
            <a:spLocks noGrp="1"/>
          </p:cNvSpPr>
          <p:nvPr>
            <p:ph type="ctrTitle"/>
          </p:nvPr>
        </p:nvSpPr>
        <p:spPr>
          <a:xfrm>
            <a:off x="383430" y="1047750"/>
            <a:ext cx="8825658" cy="2853331"/>
          </a:xfrm>
        </p:spPr>
        <p:txBody>
          <a:bodyPr/>
          <a:lstStyle/>
          <a:p>
            <a:r>
              <a:rPr lang="en-US" dirty="0"/>
              <a:t>Java Script</a:t>
            </a:r>
            <a:endParaRPr lang="en-IN" dirty="0"/>
          </a:p>
        </p:txBody>
      </p:sp>
      <p:sp>
        <p:nvSpPr>
          <p:cNvPr id="3" name="Subtitle 2">
            <a:extLst>
              <a:ext uri="{FF2B5EF4-FFF2-40B4-BE49-F238E27FC236}">
                <a16:creationId xmlns:a16="http://schemas.microsoft.com/office/drawing/2014/main" id="{EFC280D6-54D0-4DC4-EA84-43CC0E5C9416}"/>
              </a:ext>
            </a:extLst>
          </p:cNvPr>
          <p:cNvSpPr>
            <a:spLocks noGrp="1"/>
          </p:cNvSpPr>
          <p:nvPr>
            <p:ph type="subTitle" idx="1"/>
          </p:nvPr>
        </p:nvSpPr>
        <p:spPr/>
        <p:txBody>
          <a:bodyPr/>
          <a:lstStyle/>
          <a:p>
            <a:r>
              <a:rPr lang="en-US" dirty="0"/>
              <a:t>// js</a:t>
            </a:r>
            <a:endParaRPr lang="en-IN" dirty="0"/>
          </a:p>
        </p:txBody>
      </p:sp>
    </p:spTree>
    <p:extLst>
      <p:ext uri="{BB962C8B-B14F-4D97-AF65-F5344CB8AC3E}">
        <p14:creationId xmlns:p14="http://schemas.microsoft.com/office/powerpoint/2010/main" val="583881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3049C-F595-EAAB-8204-52A1980EA458}"/>
              </a:ext>
            </a:extLst>
          </p:cNvPr>
          <p:cNvSpPr>
            <a:spLocks noGrp="1"/>
          </p:cNvSpPr>
          <p:nvPr>
            <p:ph type="title"/>
          </p:nvPr>
        </p:nvSpPr>
        <p:spPr>
          <a:xfrm>
            <a:off x="646111" y="452718"/>
            <a:ext cx="9404723" cy="928407"/>
          </a:xfrm>
        </p:spPr>
        <p:txBody>
          <a:bodyPr/>
          <a:lstStyle/>
          <a:p>
            <a:r>
              <a:rPr lang="en-US" dirty="0"/>
              <a:t>JavaScript</a:t>
            </a:r>
            <a:endParaRPr lang="en-IN" dirty="0"/>
          </a:p>
        </p:txBody>
      </p:sp>
      <p:sp>
        <p:nvSpPr>
          <p:cNvPr id="3" name="Content Placeholder 2">
            <a:extLst>
              <a:ext uri="{FF2B5EF4-FFF2-40B4-BE49-F238E27FC236}">
                <a16:creationId xmlns:a16="http://schemas.microsoft.com/office/drawing/2014/main" id="{CAD0DE83-61F6-CF8D-72F4-0341DA1E93E9}"/>
              </a:ext>
            </a:extLst>
          </p:cNvPr>
          <p:cNvSpPr>
            <a:spLocks noGrp="1"/>
          </p:cNvSpPr>
          <p:nvPr>
            <p:ph idx="1"/>
          </p:nvPr>
        </p:nvSpPr>
        <p:spPr>
          <a:xfrm>
            <a:off x="1103312" y="1381125"/>
            <a:ext cx="8946541" cy="4867275"/>
          </a:xfrm>
        </p:spPr>
        <p:txBody>
          <a:bodyPr/>
          <a:lstStyle/>
          <a:p>
            <a:r>
              <a:rPr lang="en-US" dirty="0"/>
              <a:t>JavaScript is the most popular programming language which is used to create interactive webpages</a:t>
            </a:r>
          </a:p>
          <a:p>
            <a:r>
              <a:rPr lang="en-US" dirty="0"/>
              <a:t>JavaScript is the client-server side scripting language which is used to create dynamic web pages</a:t>
            </a:r>
          </a:p>
          <a:p>
            <a:pPr algn="l"/>
            <a:r>
              <a:rPr lang="en-US" b="0" dirty="0">
                <a:solidFill>
                  <a:schemeClr val="tx2"/>
                </a:solidFill>
                <a:effectLst/>
                <a:latin typeface="Verdana" panose="020B0604030504040204" pitchFamily="34" charset="0"/>
              </a:rPr>
              <a:t>JavaScript was invented by Brendan Eich in 1995, and became an ECMA standard in 1997.</a:t>
            </a:r>
          </a:p>
          <a:p>
            <a:pPr algn="l"/>
            <a:r>
              <a:rPr lang="en-US" b="0" dirty="0">
                <a:solidFill>
                  <a:schemeClr val="tx2"/>
                </a:solidFill>
                <a:effectLst/>
                <a:latin typeface="Verdana" panose="020B0604030504040204" pitchFamily="34" charset="0"/>
              </a:rPr>
              <a:t>ECMA-262 is the official name of the standard. ECMAScript is the official name of the language.</a:t>
            </a:r>
          </a:p>
          <a:p>
            <a:pPr algn="l"/>
            <a:r>
              <a:rPr lang="en-US" b="0" dirty="0">
                <a:solidFill>
                  <a:schemeClr val="tx2"/>
                </a:solidFill>
                <a:effectLst/>
                <a:latin typeface="Verdana" panose="020B0604030504040204" pitchFamily="34" charset="0"/>
              </a:rPr>
              <a:t>C</a:t>
            </a:r>
            <a:r>
              <a:rPr lang="en-US" dirty="0">
                <a:solidFill>
                  <a:schemeClr val="tx2"/>
                </a:solidFill>
                <a:latin typeface="Verdana" panose="020B0604030504040204" pitchFamily="34" charset="0"/>
              </a:rPr>
              <a:t>urrent version of JS is ES6 (introduced after 2015)</a:t>
            </a:r>
          </a:p>
          <a:p>
            <a:pPr algn="l"/>
            <a:endParaRPr lang="en-US" b="0" dirty="0">
              <a:solidFill>
                <a:schemeClr val="tx2"/>
              </a:solidFill>
              <a:effectLst/>
              <a:latin typeface="Verdana" panose="020B0604030504040204" pitchFamily="34" charset="0"/>
            </a:endParaRPr>
          </a:p>
          <a:p>
            <a:pPr marL="0" indent="0">
              <a:buNone/>
            </a:pPr>
            <a:r>
              <a:rPr lang="en-US" dirty="0"/>
              <a:t/>
            </a:r>
            <a:br>
              <a:rPr lang="en-US" dirty="0"/>
            </a:br>
            <a:endParaRPr lang="en-IN" dirty="0"/>
          </a:p>
        </p:txBody>
      </p:sp>
    </p:spTree>
    <p:extLst>
      <p:ext uri="{BB962C8B-B14F-4D97-AF65-F5344CB8AC3E}">
        <p14:creationId xmlns:p14="http://schemas.microsoft.com/office/powerpoint/2010/main" val="2117359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37B8F-15F0-7C94-DE4A-D68AAD66E694}"/>
              </a:ext>
            </a:extLst>
          </p:cNvPr>
          <p:cNvSpPr>
            <a:spLocks noGrp="1"/>
          </p:cNvSpPr>
          <p:nvPr>
            <p:ph type="title"/>
          </p:nvPr>
        </p:nvSpPr>
        <p:spPr>
          <a:xfrm>
            <a:off x="646111" y="452718"/>
            <a:ext cx="9404723" cy="776007"/>
          </a:xfrm>
        </p:spPr>
        <p:txBody>
          <a:bodyPr/>
          <a:lstStyle/>
          <a:p>
            <a:r>
              <a:rPr lang="en-US" dirty="0"/>
              <a:t>Characteristics of JavaScript</a:t>
            </a:r>
            <a:endParaRPr lang="en-IN" dirty="0"/>
          </a:p>
        </p:txBody>
      </p:sp>
      <p:sp>
        <p:nvSpPr>
          <p:cNvPr id="3" name="Content Placeholder 2">
            <a:extLst>
              <a:ext uri="{FF2B5EF4-FFF2-40B4-BE49-F238E27FC236}">
                <a16:creationId xmlns:a16="http://schemas.microsoft.com/office/drawing/2014/main" id="{40643104-E189-56BD-9F56-1E1E89CC6511}"/>
              </a:ext>
            </a:extLst>
          </p:cNvPr>
          <p:cNvSpPr>
            <a:spLocks noGrp="1"/>
          </p:cNvSpPr>
          <p:nvPr>
            <p:ph idx="1"/>
          </p:nvPr>
        </p:nvSpPr>
        <p:spPr>
          <a:xfrm>
            <a:off x="1400492" y="1548766"/>
            <a:ext cx="8946541" cy="4676774"/>
          </a:xfrm>
        </p:spPr>
        <p:txBody>
          <a:bodyPr/>
          <a:lstStyle/>
          <a:p>
            <a:r>
              <a:rPr lang="en-US" b="1" dirty="0"/>
              <a:t>Client-side scripting language </a:t>
            </a:r>
            <a:r>
              <a:rPr lang="en-US" dirty="0"/>
              <a:t>: The code is readable analyzable and executable by browser itself</a:t>
            </a:r>
          </a:p>
          <a:p>
            <a:r>
              <a:rPr lang="en-US" b="1" dirty="0"/>
              <a:t>Interpreted Language </a:t>
            </a:r>
            <a:r>
              <a:rPr lang="en-US" dirty="0"/>
              <a:t>: </a:t>
            </a:r>
            <a:r>
              <a:rPr lang="en-US" dirty="0">
                <a:solidFill>
                  <a:schemeClr val="tx2"/>
                </a:solidFill>
              </a:rPr>
              <a:t>J</a:t>
            </a:r>
            <a:r>
              <a:rPr lang="en-US" b="0" i="0" dirty="0">
                <a:solidFill>
                  <a:schemeClr val="tx2"/>
                </a:solidFill>
                <a:effectLst/>
                <a:latin typeface="Söhne"/>
              </a:rPr>
              <a:t>avaScript is an interpreted language, meaning it is executed line by line at runtime.</a:t>
            </a:r>
          </a:p>
          <a:p>
            <a:r>
              <a:rPr lang="en-US" b="1" dirty="0">
                <a:solidFill>
                  <a:schemeClr val="tx2"/>
                </a:solidFill>
                <a:latin typeface="Söhne"/>
              </a:rPr>
              <a:t>Dynamically types Language </a:t>
            </a:r>
            <a:r>
              <a:rPr lang="en-US" dirty="0">
                <a:solidFill>
                  <a:schemeClr val="tx2"/>
                </a:solidFill>
                <a:latin typeface="Söhne"/>
              </a:rPr>
              <a:t>: </a:t>
            </a:r>
            <a:r>
              <a:rPr lang="en-US" b="0" i="0" dirty="0">
                <a:solidFill>
                  <a:schemeClr val="tx2"/>
                </a:solidFill>
                <a:effectLst/>
                <a:latin typeface="Söhne"/>
              </a:rPr>
              <a:t>JavaScript is dynamically-typed, which means you don't need to specify the data type of a variable when declaring it. The type is determined at runtime.</a:t>
            </a:r>
          </a:p>
          <a:p>
            <a:r>
              <a:rPr lang="en-US" b="1" dirty="0">
                <a:solidFill>
                  <a:schemeClr val="tx2"/>
                </a:solidFill>
                <a:latin typeface="Söhne"/>
              </a:rPr>
              <a:t>Weakly Typed Language </a:t>
            </a:r>
            <a:r>
              <a:rPr lang="en-US" dirty="0">
                <a:solidFill>
                  <a:schemeClr val="tx2"/>
                </a:solidFill>
                <a:latin typeface="Söhne"/>
              </a:rPr>
              <a:t>: Semicolon is not mandatory at all the time </a:t>
            </a:r>
          </a:p>
          <a:p>
            <a:r>
              <a:rPr lang="en-US" b="1" dirty="0">
                <a:solidFill>
                  <a:schemeClr val="tx2"/>
                </a:solidFill>
                <a:latin typeface="Söhne"/>
              </a:rPr>
              <a:t>Synchronous in nature </a:t>
            </a:r>
            <a:r>
              <a:rPr lang="en-US" dirty="0">
                <a:solidFill>
                  <a:schemeClr val="tx2"/>
                </a:solidFill>
                <a:latin typeface="Söhne"/>
              </a:rPr>
              <a:t>: It will executes line by line , we can make it as asynchronous</a:t>
            </a:r>
            <a:endParaRPr lang="en-IN" dirty="0">
              <a:solidFill>
                <a:schemeClr val="tx2"/>
              </a:solidFill>
            </a:endParaRPr>
          </a:p>
        </p:txBody>
      </p:sp>
    </p:spTree>
    <p:extLst>
      <p:ext uri="{BB962C8B-B14F-4D97-AF65-F5344CB8AC3E}">
        <p14:creationId xmlns:p14="http://schemas.microsoft.com/office/powerpoint/2010/main" val="393903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E42A4-6E95-5FA8-4D94-81972C16990D}"/>
              </a:ext>
            </a:extLst>
          </p:cNvPr>
          <p:cNvSpPr>
            <a:spLocks noGrp="1"/>
          </p:cNvSpPr>
          <p:nvPr>
            <p:ph type="title"/>
          </p:nvPr>
        </p:nvSpPr>
        <p:spPr/>
        <p:txBody>
          <a:bodyPr/>
          <a:lstStyle/>
          <a:p>
            <a:r>
              <a:rPr lang="en-US" dirty="0"/>
              <a:t>Advantages of JS</a:t>
            </a:r>
            <a:endParaRPr lang="en-IN" dirty="0"/>
          </a:p>
        </p:txBody>
      </p:sp>
      <p:sp>
        <p:nvSpPr>
          <p:cNvPr id="3" name="Content Placeholder 2">
            <a:extLst>
              <a:ext uri="{FF2B5EF4-FFF2-40B4-BE49-F238E27FC236}">
                <a16:creationId xmlns:a16="http://schemas.microsoft.com/office/drawing/2014/main" id="{7987F399-2D34-64C7-5783-A0FB75ECAB10}"/>
              </a:ext>
            </a:extLst>
          </p:cNvPr>
          <p:cNvSpPr>
            <a:spLocks noGrp="1"/>
          </p:cNvSpPr>
          <p:nvPr>
            <p:ph idx="1"/>
          </p:nvPr>
        </p:nvSpPr>
        <p:spPr/>
        <p:txBody>
          <a:bodyPr/>
          <a:lstStyle/>
          <a:p>
            <a:r>
              <a:rPr lang="en-US" dirty="0"/>
              <a:t>Easy to learn and implement</a:t>
            </a:r>
          </a:p>
          <a:p>
            <a:r>
              <a:rPr lang="en-US" dirty="0"/>
              <a:t>Reduces server load</a:t>
            </a:r>
          </a:p>
          <a:p>
            <a:r>
              <a:rPr lang="en-US" dirty="0"/>
              <a:t>Efficient performance</a:t>
            </a:r>
          </a:p>
          <a:p>
            <a:r>
              <a:rPr lang="en-US" dirty="0"/>
              <a:t>Regular updates</a:t>
            </a:r>
          </a:p>
          <a:p>
            <a:r>
              <a:rPr lang="en-US" dirty="0"/>
              <a:t>Platform independent</a:t>
            </a:r>
          </a:p>
          <a:p>
            <a:r>
              <a:rPr lang="en-US" dirty="0"/>
              <a:t>It has more frameworks and libraries</a:t>
            </a:r>
            <a:endParaRPr lang="en-IN" dirty="0"/>
          </a:p>
        </p:txBody>
      </p:sp>
    </p:spTree>
    <p:extLst>
      <p:ext uri="{BB962C8B-B14F-4D97-AF65-F5344CB8AC3E}">
        <p14:creationId xmlns:p14="http://schemas.microsoft.com/office/powerpoint/2010/main" val="3256405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0297F-25AF-21F1-F847-FBF092F0A237}"/>
              </a:ext>
            </a:extLst>
          </p:cNvPr>
          <p:cNvSpPr>
            <a:spLocks noGrp="1"/>
          </p:cNvSpPr>
          <p:nvPr>
            <p:ph type="title"/>
          </p:nvPr>
        </p:nvSpPr>
        <p:spPr>
          <a:xfrm>
            <a:off x="646111" y="452718"/>
            <a:ext cx="9404723" cy="966507"/>
          </a:xfrm>
        </p:spPr>
        <p:txBody>
          <a:bodyPr/>
          <a:lstStyle/>
          <a:p>
            <a:r>
              <a:rPr lang="en-US" dirty="0"/>
              <a:t>Environmental Setup</a:t>
            </a:r>
            <a:endParaRPr lang="en-IN" dirty="0"/>
          </a:p>
        </p:txBody>
      </p:sp>
      <p:sp>
        <p:nvSpPr>
          <p:cNvPr id="3" name="Content Placeholder 2">
            <a:extLst>
              <a:ext uri="{FF2B5EF4-FFF2-40B4-BE49-F238E27FC236}">
                <a16:creationId xmlns:a16="http://schemas.microsoft.com/office/drawing/2014/main" id="{300EDDC7-59F2-83E3-C0B2-6A0E681A22A5}"/>
              </a:ext>
            </a:extLst>
          </p:cNvPr>
          <p:cNvSpPr>
            <a:spLocks noGrp="1"/>
          </p:cNvSpPr>
          <p:nvPr>
            <p:ph idx="1"/>
          </p:nvPr>
        </p:nvSpPr>
        <p:spPr>
          <a:xfrm>
            <a:off x="1103312" y="1228726"/>
            <a:ext cx="8946541" cy="5019674"/>
          </a:xfrm>
        </p:spPr>
        <p:txBody>
          <a:bodyPr/>
          <a:lstStyle/>
          <a:p>
            <a:r>
              <a:rPr lang="en-US" dirty="0"/>
              <a:t>We can run JavaScript code in two environments.</a:t>
            </a:r>
          </a:p>
          <a:p>
            <a:pPr lvl="1"/>
            <a:r>
              <a:rPr lang="en-US" dirty="0"/>
              <a:t>Browser</a:t>
            </a:r>
          </a:p>
          <a:p>
            <a:pPr lvl="1"/>
            <a:r>
              <a:rPr lang="en-US" dirty="0"/>
              <a:t>Node.js</a:t>
            </a:r>
          </a:p>
          <a:p>
            <a:r>
              <a:rPr lang="en-US" dirty="0"/>
              <a:t>Browser understand the js through </a:t>
            </a:r>
            <a:r>
              <a:rPr lang="en-US"/>
              <a:t>JS engine and  </a:t>
            </a:r>
            <a:r>
              <a:rPr lang="en-US" dirty="0"/>
              <a:t>Every browser consists of JavaScript engine which helps to run JS code</a:t>
            </a:r>
          </a:p>
          <a:p>
            <a:endParaRPr lang="en-US" dirty="0"/>
          </a:p>
          <a:p>
            <a:endParaRPr lang="en-US" dirty="0"/>
          </a:p>
          <a:p>
            <a:endParaRPr lang="en-US" dirty="0"/>
          </a:p>
          <a:p>
            <a:endParaRPr lang="en-US" dirty="0"/>
          </a:p>
        </p:txBody>
      </p:sp>
      <p:graphicFrame>
        <p:nvGraphicFramePr>
          <p:cNvPr id="5" name="Table 5">
            <a:extLst>
              <a:ext uri="{FF2B5EF4-FFF2-40B4-BE49-F238E27FC236}">
                <a16:creationId xmlns:a16="http://schemas.microsoft.com/office/drawing/2014/main" id="{036FE938-8C86-4315-FB5B-B5A4775CCE2E}"/>
              </a:ext>
            </a:extLst>
          </p:cNvPr>
          <p:cNvGraphicFramePr>
            <a:graphicFrameLocks noGrp="1"/>
          </p:cNvGraphicFramePr>
          <p:nvPr>
            <p:extLst>
              <p:ext uri="{D42A27DB-BD31-4B8C-83A1-F6EECF244321}">
                <p14:modId xmlns:p14="http://schemas.microsoft.com/office/powerpoint/2010/main" val="283016331"/>
              </p:ext>
            </p:extLst>
          </p:nvPr>
        </p:nvGraphicFramePr>
        <p:xfrm>
          <a:off x="1412875" y="3367722"/>
          <a:ext cx="8128000" cy="1915320"/>
        </p:xfrm>
        <a:graphic>
          <a:graphicData uri="http://schemas.openxmlformats.org/drawingml/2006/table">
            <a:tbl>
              <a:tblPr firstRow="1" bandRow="1">
                <a:tableStyleId>{D27102A9-8310-4765-A935-A1911B00CA55}</a:tableStyleId>
              </a:tblPr>
              <a:tblGrid>
                <a:gridCol w="3282950">
                  <a:extLst>
                    <a:ext uri="{9D8B030D-6E8A-4147-A177-3AD203B41FA5}">
                      <a16:colId xmlns:a16="http://schemas.microsoft.com/office/drawing/2014/main" val="807836214"/>
                    </a:ext>
                  </a:extLst>
                </a:gridCol>
                <a:gridCol w="4845050">
                  <a:extLst>
                    <a:ext uri="{9D8B030D-6E8A-4147-A177-3AD203B41FA5}">
                      <a16:colId xmlns:a16="http://schemas.microsoft.com/office/drawing/2014/main" val="1619761820"/>
                    </a:ext>
                  </a:extLst>
                </a:gridCol>
              </a:tblGrid>
              <a:tr h="383064">
                <a:tc>
                  <a:txBody>
                    <a:bodyPr/>
                    <a:lstStyle/>
                    <a:p>
                      <a:r>
                        <a:rPr lang="en-US" u="sng" dirty="0"/>
                        <a:t>Browser</a:t>
                      </a:r>
                      <a:endParaRPr lang="en-IN" u="sng" dirty="0"/>
                    </a:p>
                  </a:txBody>
                  <a:tcPr/>
                </a:tc>
                <a:tc>
                  <a:txBody>
                    <a:bodyPr/>
                    <a:lstStyle/>
                    <a:p>
                      <a:r>
                        <a:rPr lang="en-US" u="sng" dirty="0"/>
                        <a:t>JS engine</a:t>
                      </a:r>
                      <a:endParaRPr lang="en-IN" u="sng" dirty="0"/>
                    </a:p>
                  </a:txBody>
                  <a:tcPr/>
                </a:tc>
                <a:extLst>
                  <a:ext uri="{0D108BD9-81ED-4DB2-BD59-A6C34878D82A}">
                    <a16:rowId xmlns:a16="http://schemas.microsoft.com/office/drawing/2014/main" val="2720001299"/>
                  </a:ext>
                </a:extLst>
              </a:tr>
              <a:tr h="383064">
                <a:tc>
                  <a:txBody>
                    <a:bodyPr/>
                    <a:lstStyle/>
                    <a:p>
                      <a:r>
                        <a:rPr lang="en-US" dirty="0"/>
                        <a:t>Chrome</a:t>
                      </a:r>
                      <a:endParaRPr lang="en-IN" dirty="0"/>
                    </a:p>
                  </a:txBody>
                  <a:tcPr/>
                </a:tc>
                <a:tc>
                  <a:txBody>
                    <a:bodyPr/>
                    <a:lstStyle/>
                    <a:p>
                      <a:r>
                        <a:rPr lang="en-US" dirty="0"/>
                        <a:t>V8</a:t>
                      </a:r>
                    </a:p>
                  </a:txBody>
                  <a:tcPr/>
                </a:tc>
                <a:extLst>
                  <a:ext uri="{0D108BD9-81ED-4DB2-BD59-A6C34878D82A}">
                    <a16:rowId xmlns:a16="http://schemas.microsoft.com/office/drawing/2014/main" val="1444851665"/>
                  </a:ext>
                </a:extLst>
              </a:tr>
              <a:tr h="383064">
                <a:tc>
                  <a:txBody>
                    <a:bodyPr/>
                    <a:lstStyle/>
                    <a:p>
                      <a:r>
                        <a:rPr lang="en-US" dirty="0"/>
                        <a:t>Mozilla Firefox</a:t>
                      </a:r>
                      <a:endParaRPr lang="en-IN" dirty="0"/>
                    </a:p>
                  </a:txBody>
                  <a:tcPr/>
                </a:tc>
                <a:tc>
                  <a:txBody>
                    <a:bodyPr/>
                    <a:lstStyle/>
                    <a:p>
                      <a:r>
                        <a:rPr lang="en-US" dirty="0"/>
                        <a:t>Spider monkey</a:t>
                      </a:r>
                    </a:p>
                  </a:txBody>
                  <a:tcPr/>
                </a:tc>
                <a:extLst>
                  <a:ext uri="{0D108BD9-81ED-4DB2-BD59-A6C34878D82A}">
                    <a16:rowId xmlns:a16="http://schemas.microsoft.com/office/drawing/2014/main" val="2460953120"/>
                  </a:ext>
                </a:extLst>
              </a:tr>
              <a:tr h="383064">
                <a:tc>
                  <a:txBody>
                    <a:bodyPr/>
                    <a:lstStyle/>
                    <a:p>
                      <a:r>
                        <a:rPr lang="en-US" dirty="0"/>
                        <a:t>Microsoft Edge</a:t>
                      </a:r>
                      <a:endParaRPr lang="en-IN" dirty="0"/>
                    </a:p>
                  </a:txBody>
                  <a:tcPr/>
                </a:tc>
                <a:tc>
                  <a:txBody>
                    <a:bodyPr/>
                    <a:lstStyle/>
                    <a:p>
                      <a:r>
                        <a:rPr lang="en-US" dirty="0"/>
                        <a:t>Chakra</a:t>
                      </a:r>
                    </a:p>
                  </a:txBody>
                  <a:tcPr/>
                </a:tc>
                <a:extLst>
                  <a:ext uri="{0D108BD9-81ED-4DB2-BD59-A6C34878D82A}">
                    <a16:rowId xmlns:a16="http://schemas.microsoft.com/office/drawing/2014/main" val="1786359675"/>
                  </a:ext>
                </a:extLst>
              </a:tr>
              <a:tr h="383064">
                <a:tc>
                  <a:txBody>
                    <a:bodyPr/>
                    <a:lstStyle/>
                    <a:p>
                      <a:r>
                        <a:rPr lang="en-US" dirty="0"/>
                        <a:t>Safari</a:t>
                      </a:r>
                      <a:endParaRPr lang="en-IN" dirty="0"/>
                    </a:p>
                  </a:txBody>
                  <a:tcPr/>
                </a:tc>
                <a:tc>
                  <a:txBody>
                    <a:bodyPr/>
                    <a:lstStyle/>
                    <a:p>
                      <a:r>
                        <a:rPr lang="en-IN" sz="1800" b="0" kern="1200" dirty="0">
                          <a:solidFill>
                            <a:schemeClr val="tx1"/>
                          </a:solidFill>
                          <a:effectLst/>
                        </a:rPr>
                        <a:t>JavaScript Core Webkit</a:t>
                      </a:r>
                      <a:endParaRPr lang="en-US" dirty="0"/>
                    </a:p>
                  </a:txBody>
                  <a:tcPr/>
                </a:tc>
                <a:extLst>
                  <a:ext uri="{0D108BD9-81ED-4DB2-BD59-A6C34878D82A}">
                    <a16:rowId xmlns:a16="http://schemas.microsoft.com/office/drawing/2014/main" val="1996777348"/>
                  </a:ext>
                </a:extLst>
              </a:tr>
            </a:tbl>
          </a:graphicData>
        </a:graphic>
      </p:graphicFrame>
    </p:spTree>
    <p:extLst>
      <p:ext uri="{BB962C8B-B14F-4D97-AF65-F5344CB8AC3E}">
        <p14:creationId xmlns:p14="http://schemas.microsoft.com/office/powerpoint/2010/main" val="3249862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C88C1-B0CD-0D4C-4792-C9EA5D1A61DA}"/>
              </a:ext>
            </a:extLst>
          </p:cNvPr>
          <p:cNvSpPr>
            <a:spLocks noGrp="1"/>
          </p:cNvSpPr>
          <p:nvPr>
            <p:ph type="title"/>
          </p:nvPr>
        </p:nvSpPr>
        <p:spPr>
          <a:xfrm>
            <a:off x="712786" y="319368"/>
            <a:ext cx="9404723" cy="823632"/>
          </a:xfrm>
        </p:spPr>
        <p:txBody>
          <a:bodyPr/>
          <a:lstStyle/>
          <a:p>
            <a:r>
              <a:rPr lang="en-US" dirty="0"/>
              <a:t>How to include JS in HTML</a:t>
            </a:r>
            <a:endParaRPr lang="en-IN" dirty="0"/>
          </a:p>
        </p:txBody>
      </p:sp>
      <p:sp>
        <p:nvSpPr>
          <p:cNvPr id="3" name="Content Placeholder 2">
            <a:extLst>
              <a:ext uri="{FF2B5EF4-FFF2-40B4-BE49-F238E27FC236}">
                <a16:creationId xmlns:a16="http://schemas.microsoft.com/office/drawing/2014/main" id="{24F57F3F-89C9-9D34-E2C3-72DDD63B42BC}"/>
              </a:ext>
            </a:extLst>
          </p:cNvPr>
          <p:cNvSpPr>
            <a:spLocks noGrp="1"/>
          </p:cNvSpPr>
          <p:nvPr>
            <p:ph idx="1"/>
          </p:nvPr>
        </p:nvSpPr>
        <p:spPr>
          <a:xfrm>
            <a:off x="1103312" y="2200276"/>
            <a:ext cx="8946541" cy="3067050"/>
          </a:xfrm>
        </p:spPr>
        <p:txBody>
          <a:bodyPr/>
          <a:lstStyle/>
          <a:p>
            <a:pPr>
              <a:buFont typeface="Wingdings" panose="05000000000000000000" pitchFamily="2" charset="2"/>
              <a:buChar char="q"/>
            </a:pPr>
            <a:r>
              <a:rPr lang="en-US" sz="3200" dirty="0"/>
              <a:t>We can insert JS code to HTML in two ways</a:t>
            </a:r>
          </a:p>
          <a:p>
            <a:pPr>
              <a:buFont typeface="Wingdings" panose="05000000000000000000" pitchFamily="2" charset="2"/>
              <a:buChar char="q"/>
            </a:pPr>
            <a:endParaRPr lang="en-US" sz="3200" dirty="0"/>
          </a:p>
          <a:p>
            <a:pPr marL="457200" lvl="1" indent="0">
              <a:buNone/>
            </a:pPr>
            <a:r>
              <a:rPr lang="en-US" sz="2400" dirty="0"/>
              <a:t>1.Internal JS	</a:t>
            </a:r>
            <a:r>
              <a:rPr lang="en-US" sz="2800" dirty="0"/>
              <a:t>				</a:t>
            </a:r>
          </a:p>
          <a:p>
            <a:pPr marL="457200" lvl="1" indent="0">
              <a:buNone/>
            </a:pPr>
            <a:r>
              <a:rPr lang="en-US" sz="2400" dirty="0"/>
              <a:t>2.External</a:t>
            </a:r>
            <a:r>
              <a:rPr lang="en-US" sz="2800" dirty="0"/>
              <a:t> JS</a:t>
            </a:r>
          </a:p>
          <a:p>
            <a:pPr marL="457200" lvl="1" indent="0">
              <a:buNone/>
            </a:pPr>
            <a:endParaRPr lang="en-US" sz="2800" dirty="0"/>
          </a:p>
          <a:p>
            <a:pPr marL="0" indent="0">
              <a:buNone/>
            </a:pPr>
            <a:endParaRPr lang="en-US" dirty="0"/>
          </a:p>
          <a:p>
            <a:pPr lvl="1"/>
            <a:endParaRPr lang="en-US" dirty="0"/>
          </a:p>
          <a:p>
            <a:pPr marL="0" indent="0">
              <a:buNone/>
            </a:pPr>
            <a:endParaRPr lang="en-US" dirty="0"/>
          </a:p>
          <a:p>
            <a:endParaRPr lang="en-US" dirty="0"/>
          </a:p>
        </p:txBody>
      </p:sp>
      <p:sp>
        <p:nvSpPr>
          <p:cNvPr id="4" name="Rectangle 1">
            <a:extLst>
              <a:ext uri="{FF2B5EF4-FFF2-40B4-BE49-F238E27FC236}">
                <a16:creationId xmlns:a16="http://schemas.microsoft.com/office/drawing/2014/main" id="{4F084A13-A816-9463-CA3D-F63AC129DD0A}"/>
              </a:ext>
            </a:extLst>
          </p:cNvPr>
          <p:cNvSpPr>
            <a:spLocks noChangeArrowheads="1"/>
          </p:cNvSpPr>
          <p:nvPr/>
        </p:nvSpPr>
        <p:spPr bwMode="auto">
          <a:xfrm>
            <a:off x="0" y="43934"/>
            <a:ext cx="184731" cy="369332"/>
          </a:xfrm>
          <a:prstGeom prst="rect">
            <a:avLst/>
          </a:prstGeom>
          <a:solidFill>
            <a:srgbClr val="1D2A3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7317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FF0DB-17F7-000D-4F90-9C5A55F200AA}"/>
              </a:ext>
            </a:extLst>
          </p:cNvPr>
          <p:cNvSpPr>
            <a:spLocks noGrp="1"/>
          </p:cNvSpPr>
          <p:nvPr>
            <p:ph type="title"/>
          </p:nvPr>
        </p:nvSpPr>
        <p:spPr>
          <a:xfrm>
            <a:off x="646111" y="452718"/>
            <a:ext cx="9404723" cy="814107"/>
          </a:xfrm>
        </p:spPr>
        <p:txBody>
          <a:bodyPr/>
          <a:lstStyle/>
          <a:p>
            <a:r>
              <a:rPr lang="en-US" sz="3600" dirty="0"/>
              <a:t>Output Methods</a:t>
            </a:r>
            <a:endParaRPr lang="en-IN" sz="3600" dirty="0"/>
          </a:p>
        </p:txBody>
      </p:sp>
      <p:sp>
        <p:nvSpPr>
          <p:cNvPr id="3" name="Content Placeholder 2">
            <a:extLst>
              <a:ext uri="{FF2B5EF4-FFF2-40B4-BE49-F238E27FC236}">
                <a16:creationId xmlns:a16="http://schemas.microsoft.com/office/drawing/2014/main" id="{417AF8AC-5D39-3F7E-EC51-B6EC67761270}"/>
              </a:ext>
            </a:extLst>
          </p:cNvPr>
          <p:cNvSpPr>
            <a:spLocks noGrp="1"/>
          </p:cNvSpPr>
          <p:nvPr>
            <p:ph idx="1"/>
          </p:nvPr>
        </p:nvSpPr>
        <p:spPr/>
        <p:txBody>
          <a:bodyPr/>
          <a:lstStyle/>
          <a:p>
            <a:r>
              <a:rPr lang="en-US" dirty="0"/>
              <a:t>Console.log(“hello”) </a:t>
            </a:r>
          </a:p>
          <a:p>
            <a:pPr lvl="1"/>
            <a:r>
              <a:rPr lang="en-US" dirty="0"/>
              <a:t>It will print the output in console window</a:t>
            </a:r>
          </a:p>
          <a:p>
            <a:r>
              <a:rPr lang="en-US" dirty="0"/>
              <a:t>Document.write(“Hello”)</a:t>
            </a:r>
          </a:p>
          <a:p>
            <a:pPr lvl="1"/>
            <a:r>
              <a:rPr lang="en-US" dirty="0"/>
              <a:t>It will print the output in user interface</a:t>
            </a:r>
          </a:p>
          <a:p>
            <a:r>
              <a:rPr lang="en-US" dirty="0"/>
              <a:t>Document.writeln(“Hello”)</a:t>
            </a:r>
          </a:p>
          <a:p>
            <a:pPr lvl="1"/>
            <a:r>
              <a:rPr lang="en-US" dirty="0"/>
              <a:t>It will print the output in user interface</a:t>
            </a:r>
          </a:p>
          <a:p>
            <a:pPr lvl="1"/>
            <a:endParaRPr lang="en-US" dirty="0"/>
          </a:p>
          <a:p>
            <a:pPr lvl="1"/>
            <a:endParaRPr lang="en-US" dirty="0"/>
          </a:p>
          <a:p>
            <a:pPr lvl="1"/>
            <a:endParaRPr lang="en-US" dirty="0"/>
          </a:p>
          <a:p>
            <a:pPr lvl="1"/>
            <a:endParaRPr lang="en-US" dirty="0"/>
          </a:p>
          <a:p>
            <a:pPr lvl="1"/>
            <a:endParaRPr lang="en-IN" dirty="0"/>
          </a:p>
        </p:txBody>
      </p:sp>
    </p:spTree>
    <p:extLst>
      <p:ext uri="{BB962C8B-B14F-4D97-AF65-F5344CB8AC3E}">
        <p14:creationId xmlns:p14="http://schemas.microsoft.com/office/powerpoint/2010/main" val="2580952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6F7A6-0270-5561-C3F8-84183732117F}"/>
              </a:ext>
            </a:extLst>
          </p:cNvPr>
          <p:cNvSpPr>
            <a:spLocks noGrp="1"/>
          </p:cNvSpPr>
          <p:nvPr>
            <p:ph type="title"/>
          </p:nvPr>
        </p:nvSpPr>
        <p:spPr>
          <a:xfrm>
            <a:off x="646111" y="452718"/>
            <a:ext cx="9404723" cy="842682"/>
          </a:xfrm>
        </p:spPr>
        <p:txBody>
          <a:bodyPr/>
          <a:lstStyle/>
          <a:p>
            <a:r>
              <a:rPr lang="en-US" dirty="0"/>
              <a:t>Tokens</a:t>
            </a:r>
            <a:endParaRPr lang="en-IN" dirty="0"/>
          </a:p>
        </p:txBody>
      </p:sp>
      <p:sp>
        <p:nvSpPr>
          <p:cNvPr id="3" name="Content Placeholder 2">
            <a:extLst>
              <a:ext uri="{FF2B5EF4-FFF2-40B4-BE49-F238E27FC236}">
                <a16:creationId xmlns:a16="http://schemas.microsoft.com/office/drawing/2014/main" id="{59784E7B-3031-B75C-AF17-DEFCBA8051C0}"/>
              </a:ext>
            </a:extLst>
          </p:cNvPr>
          <p:cNvSpPr>
            <a:spLocks noGrp="1"/>
          </p:cNvSpPr>
          <p:nvPr>
            <p:ph idx="1"/>
          </p:nvPr>
        </p:nvSpPr>
        <p:spPr>
          <a:xfrm>
            <a:off x="1103312" y="1933575"/>
            <a:ext cx="8946541" cy="4314824"/>
          </a:xfrm>
        </p:spPr>
        <p:txBody>
          <a:bodyPr/>
          <a:lstStyle/>
          <a:p>
            <a:r>
              <a:rPr lang="en-US" dirty="0"/>
              <a:t>Building blocks of every programming language</a:t>
            </a:r>
          </a:p>
          <a:p>
            <a:pPr marL="0" indent="0">
              <a:buNone/>
            </a:pPr>
            <a:endParaRPr lang="en-US" dirty="0"/>
          </a:p>
          <a:p>
            <a:pPr marL="457200" indent="-457200">
              <a:buFont typeface="+mj-lt"/>
              <a:buAutoNum type="arabicPeriod"/>
            </a:pPr>
            <a:r>
              <a:rPr lang="en-US" dirty="0"/>
              <a:t>Keywords : Predefined words whose task is already predefined                                                                           </a:t>
            </a:r>
          </a:p>
          <a:p>
            <a:pPr marL="457200" indent="-457200">
              <a:buFont typeface="+mj-lt"/>
              <a:buAutoNum type="arabicPeriod"/>
            </a:pPr>
            <a:r>
              <a:rPr lang="en-US" dirty="0"/>
              <a:t>Identifiers : The name given for the variables ,arrays , objects etc..</a:t>
            </a:r>
          </a:p>
          <a:p>
            <a:pPr marL="457200" indent="-457200">
              <a:buFont typeface="+mj-lt"/>
              <a:buAutoNum type="arabicPeriod"/>
            </a:pPr>
            <a:r>
              <a:rPr lang="en-US" dirty="0"/>
              <a:t>Literals : The values written by developer</a:t>
            </a:r>
          </a:p>
          <a:p>
            <a:endParaRPr lang="en-IN" dirty="0"/>
          </a:p>
        </p:txBody>
      </p:sp>
    </p:spTree>
    <p:extLst>
      <p:ext uri="{BB962C8B-B14F-4D97-AF65-F5344CB8AC3E}">
        <p14:creationId xmlns:p14="http://schemas.microsoft.com/office/powerpoint/2010/main" val="1432975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DA437-7326-4F7A-8BBF-39E40498B08A}"/>
              </a:ext>
            </a:extLst>
          </p:cNvPr>
          <p:cNvSpPr>
            <a:spLocks noGrp="1"/>
          </p:cNvSpPr>
          <p:nvPr>
            <p:ph type="title"/>
          </p:nvPr>
        </p:nvSpPr>
        <p:spPr>
          <a:xfrm>
            <a:off x="646111" y="452718"/>
            <a:ext cx="9404723" cy="785532"/>
          </a:xfrm>
        </p:spPr>
        <p:txBody>
          <a:bodyPr/>
          <a:lstStyle/>
          <a:p>
            <a:r>
              <a:rPr lang="en-US" dirty="0"/>
              <a:t>Variables</a:t>
            </a:r>
            <a:endParaRPr lang="en-IN" dirty="0"/>
          </a:p>
        </p:txBody>
      </p:sp>
      <p:sp>
        <p:nvSpPr>
          <p:cNvPr id="3" name="Content Placeholder 2">
            <a:extLst>
              <a:ext uri="{FF2B5EF4-FFF2-40B4-BE49-F238E27FC236}">
                <a16:creationId xmlns:a16="http://schemas.microsoft.com/office/drawing/2014/main" id="{D85C57CA-F4C1-530D-84A8-D4ADCDD99565}"/>
              </a:ext>
            </a:extLst>
          </p:cNvPr>
          <p:cNvSpPr>
            <a:spLocks noGrp="1"/>
          </p:cNvSpPr>
          <p:nvPr>
            <p:ph idx="1"/>
          </p:nvPr>
        </p:nvSpPr>
        <p:spPr>
          <a:xfrm>
            <a:off x="1103312" y="2219324"/>
            <a:ext cx="8946541" cy="4029075"/>
          </a:xfrm>
        </p:spPr>
        <p:txBody>
          <a:bodyPr/>
          <a:lstStyle/>
          <a:p>
            <a:r>
              <a:rPr lang="en-US" dirty="0"/>
              <a:t>In JavaScript We have 3 keywords to declare variables(var , let , const)</a:t>
            </a:r>
          </a:p>
          <a:p>
            <a:r>
              <a:rPr lang="en-US" dirty="0"/>
              <a:t>Syntax To declare variable:</a:t>
            </a:r>
          </a:p>
          <a:p>
            <a:pPr marL="0" indent="0">
              <a:buNone/>
            </a:pPr>
            <a:r>
              <a:rPr lang="en-US" dirty="0"/>
              <a:t>		var/let/const identifier;</a:t>
            </a:r>
          </a:p>
          <a:p>
            <a:pPr marL="0" indent="0">
              <a:buNone/>
            </a:pPr>
            <a:r>
              <a:rPr lang="en-US" dirty="0"/>
              <a:t>		var/let/const identifier=value;</a:t>
            </a:r>
          </a:p>
          <a:p>
            <a:pPr marL="0" indent="0">
              <a:buNone/>
            </a:pPr>
            <a:endParaRPr lang="en-US" dirty="0"/>
          </a:p>
          <a:p>
            <a:pPr marL="0" indent="0">
              <a:buNone/>
            </a:pPr>
            <a:r>
              <a:rPr lang="en-IN" dirty="0"/>
              <a:t>	</a:t>
            </a:r>
            <a:endParaRPr lang="en-US" dirty="0"/>
          </a:p>
        </p:txBody>
      </p:sp>
    </p:spTree>
    <p:extLst>
      <p:ext uri="{BB962C8B-B14F-4D97-AF65-F5344CB8AC3E}">
        <p14:creationId xmlns:p14="http://schemas.microsoft.com/office/powerpoint/2010/main" val="3113356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FC0D7-9837-F71E-1AB8-25985D7B962C}"/>
              </a:ext>
            </a:extLst>
          </p:cNvPr>
          <p:cNvSpPr>
            <a:spLocks noGrp="1"/>
          </p:cNvSpPr>
          <p:nvPr>
            <p:ph type="title"/>
          </p:nvPr>
        </p:nvSpPr>
        <p:spPr>
          <a:xfrm>
            <a:off x="646111" y="452718"/>
            <a:ext cx="9404723" cy="947457"/>
          </a:xfrm>
        </p:spPr>
        <p:txBody>
          <a:bodyPr/>
          <a:lstStyle/>
          <a:p>
            <a:r>
              <a:rPr lang="en-US" dirty="0"/>
              <a:t>Var , let and const </a:t>
            </a:r>
            <a:endParaRPr lang="en-IN" dirty="0"/>
          </a:p>
        </p:txBody>
      </p:sp>
      <p:graphicFrame>
        <p:nvGraphicFramePr>
          <p:cNvPr id="4" name="Table 4">
            <a:extLst>
              <a:ext uri="{FF2B5EF4-FFF2-40B4-BE49-F238E27FC236}">
                <a16:creationId xmlns:a16="http://schemas.microsoft.com/office/drawing/2014/main" id="{6FF6BBB9-573B-8F58-9B6D-836DFD0E4D6A}"/>
              </a:ext>
            </a:extLst>
          </p:cNvPr>
          <p:cNvGraphicFramePr>
            <a:graphicFrameLocks noGrp="1"/>
          </p:cNvGraphicFramePr>
          <p:nvPr>
            <p:ph idx="1"/>
            <p:extLst>
              <p:ext uri="{D42A27DB-BD31-4B8C-83A1-F6EECF244321}">
                <p14:modId xmlns:p14="http://schemas.microsoft.com/office/powerpoint/2010/main" val="381218429"/>
              </p:ext>
            </p:extLst>
          </p:nvPr>
        </p:nvGraphicFramePr>
        <p:xfrm>
          <a:off x="1103313" y="2052638"/>
          <a:ext cx="8947148" cy="3886458"/>
        </p:xfrm>
        <a:graphic>
          <a:graphicData uri="http://schemas.openxmlformats.org/drawingml/2006/table">
            <a:tbl>
              <a:tblPr firstRow="1" bandRow="1">
                <a:tableStyleId>{00A15C55-8517-42AA-B614-E9B94910E393}</a:tableStyleId>
              </a:tblPr>
              <a:tblGrid>
                <a:gridCol w="2236787">
                  <a:extLst>
                    <a:ext uri="{9D8B030D-6E8A-4147-A177-3AD203B41FA5}">
                      <a16:colId xmlns:a16="http://schemas.microsoft.com/office/drawing/2014/main" val="2037660546"/>
                    </a:ext>
                  </a:extLst>
                </a:gridCol>
                <a:gridCol w="2236787">
                  <a:extLst>
                    <a:ext uri="{9D8B030D-6E8A-4147-A177-3AD203B41FA5}">
                      <a16:colId xmlns:a16="http://schemas.microsoft.com/office/drawing/2014/main" val="2626335819"/>
                    </a:ext>
                  </a:extLst>
                </a:gridCol>
                <a:gridCol w="2236787">
                  <a:extLst>
                    <a:ext uri="{9D8B030D-6E8A-4147-A177-3AD203B41FA5}">
                      <a16:colId xmlns:a16="http://schemas.microsoft.com/office/drawing/2014/main" val="2667495466"/>
                    </a:ext>
                  </a:extLst>
                </a:gridCol>
                <a:gridCol w="2236787">
                  <a:extLst>
                    <a:ext uri="{9D8B030D-6E8A-4147-A177-3AD203B41FA5}">
                      <a16:colId xmlns:a16="http://schemas.microsoft.com/office/drawing/2014/main" val="2893087461"/>
                    </a:ext>
                  </a:extLst>
                </a:gridCol>
              </a:tblGrid>
              <a:tr h="482659">
                <a:tc>
                  <a:txBody>
                    <a:bodyPr/>
                    <a:lstStyle/>
                    <a:p>
                      <a:endParaRPr lang="en-IN"/>
                    </a:p>
                  </a:txBody>
                  <a:tcPr/>
                </a:tc>
                <a:tc>
                  <a:txBody>
                    <a:bodyPr/>
                    <a:lstStyle/>
                    <a:p>
                      <a:r>
                        <a:rPr lang="en-US" dirty="0"/>
                        <a:t>var</a:t>
                      </a:r>
                      <a:endParaRPr lang="en-IN" dirty="0"/>
                    </a:p>
                  </a:txBody>
                  <a:tcPr/>
                </a:tc>
                <a:tc>
                  <a:txBody>
                    <a:bodyPr/>
                    <a:lstStyle/>
                    <a:p>
                      <a:r>
                        <a:rPr lang="en-US" dirty="0"/>
                        <a:t>Let</a:t>
                      </a:r>
                      <a:endParaRPr lang="en-IN" dirty="0"/>
                    </a:p>
                  </a:txBody>
                  <a:tcPr/>
                </a:tc>
                <a:tc>
                  <a:txBody>
                    <a:bodyPr/>
                    <a:lstStyle/>
                    <a:p>
                      <a:r>
                        <a:rPr lang="en-US" dirty="0"/>
                        <a:t>Const</a:t>
                      </a:r>
                      <a:endParaRPr lang="en-IN" dirty="0"/>
                    </a:p>
                  </a:txBody>
                  <a:tcPr/>
                </a:tc>
                <a:extLst>
                  <a:ext uri="{0D108BD9-81ED-4DB2-BD59-A6C34878D82A}">
                    <a16:rowId xmlns:a16="http://schemas.microsoft.com/office/drawing/2014/main" val="150403149"/>
                  </a:ext>
                </a:extLst>
              </a:tr>
              <a:tr h="833083">
                <a:tc>
                  <a:txBody>
                    <a:bodyPr/>
                    <a:lstStyle/>
                    <a:p>
                      <a:r>
                        <a:rPr lang="en-US" dirty="0"/>
                        <a:t>Declaration</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Declaration with initialization</a:t>
                      </a:r>
                      <a:endParaRPr lang="en-IN" dirty="0"/>
                    </a:p>
                  </a:txBody>
                  <a:tcPr/>
                </a:tc>
                <a:extLst>
                  <a:ext uri="{0D108BD9-81ED-4DB2-BD59-A6C34878D82A}">
                    <a16:rowId xmlns:a16="http://schemas.microsoft.com/office/drawing/2014/main" val="2604537919"/>
                  </a:ext>
                </a:extLst>
              </a:tr>
              <a:tr h="482659">
                <a:tc>
                  <a:txBody>
                    <a:bodyPr/>
                    <a:lstStyle/>
                    <a:p>
                      <a:r>
                        <a:rPr lang="en-US" dirty="0"/>
                        <a:t>Initialization</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3505445964"/>
                  </a:ext>
                </a:extLst>
              </a:tr>
              <a:tr h="482659">
                <a:tc>
                  <a:txBody>
                    <a:bodyPr/>
                    <a:lstStyle/>
                    <a:p>
                      <a:r>
                        <a:rPr lang="en-US" dirty="0"/>
                        <a:t>Reinitialization</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3742944716"/>
                  </a:ext>
                </a:extLst>
              </a:tr>
              <a:tr h="482659">
                <a:tc>
                  <a:txBody>
                    <a:bodyPr/>
                    <a:lstStyle/>
                    <a:p>
                      <a:r>
                        <a:rPr lang="en-US" dirty="0"/>
                        <a:t>Redeclaration</a:t>
                      </a:r>
                      <a:endParaRPr lang="en-IN" dirty="0"/>
                    </a:p>
                  </a:txBody>
                  <a:tcPr/>
                </a:tc>
                <a:tc>
                  <a:txBody>
                    <a:bodyPr/>
                    <a:lstStyle/>
                    <a:p>
                      <a:r>
                        <a:rPr lang="en-US" dirty="0"/>
                        <a:t>Yes</a:t>
                      </a:r>
                      <a:endParaRPr lang="en-IN" dirty="0"/>
                    </a:p>
                  </a:txBody>
                  <a:tcPr/>
                </a:tc>
                <a:tc>
                  <a:txBody>
                    <a:bodyPr/>
                    <a:lstStyle/>
                    <a:p>
                      <a:r>
                        <a:rPr lang="en-US" dirty="0"/>
                        <a:t>No</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2333217074"/>
                  </a:ext>
                </a:extLst>
              </a:tr>
              <a:tr h="482659">
                <a:tc>
                  <a:txBody>
                    <a:bodyPr/>
                    <a:lstStyle/>
                    <a:p>
                      <a:r>
                        <a:rPr lang="en-US" dirty="0"/>
                        <a:t>Scope</a:t>
                      </a:r>
                      <a:endParaRPr lang="en-IN" dirty="0"/>
                    </a:p>
                  </a:txBody>
                  <a:tcPr/>
                </a:tc>
                <a:tc>
                  <a:txBody>
                    <a:bodyPr/>
                    <a:lstStyle/>
                    <a:p>
                      <a:r>
                        <a:rPr lang="en-US" dirty="0"/>
                        <a:t>Global scope</a:t>
                      </a:r>
                      <a:endParaRPr lang="en-IN" dirty="0"/>
                    </a:p>
                  </a:txBody>
                  <a:tcPr/>
                </a:tc>
                <a:tc>
                  <a:txBody>
                    <a:bodyPr/>
                    <a:lstStyle/>
                    <a:p>
                      <a:r>
                        <a:rPr lang="en-US" dirty="0"/>
                        <a:t>Script scope</a:t>
                      </a:r>
                      <a:endParaRPr lang="en-IN" dirty="0"/>
                    </a:p>
                  </a:txBody>
                  <a:tcPr/>
                </a:tc>
                <a:tc>
                  <a:txBody>
                    <a:bodyPr/>
                    <a:lstStyle/>
                    <a:p>
                      <a:r>
                        <a:rPr lang="en-US" dirty="0"/>
                        <a:t>Script scope</a:t>
                      </a:r>
                      <a:endParaRPr lang="en-IN" dirty="0"/>
                    </a:p>
                  </a:txBody>
                  <a:tcPr/>
                </a:tc>
                <a:extLst>
                  <a:ext uri="{0D108BD9-81ED-4DB2-BD59-A6C34878D82A}">
                    <a16:rowId xmlns:a16="http://schemas.microsoft.com/office/drawing/2014/main" val="1039385347"/>
                  </a:ext>
                </a:extLst>
              </a:tr>
              <a:tr h="482659">
                <a:tc>
                  <a:txBody>
                    <a:bodyPr/>
                    <a:lstStyle/>
                    <a:p>
                      <a:r>
                        <a:rPr lang="en-US" dirty="0"/>
                        <a:t>Hoisting</a:t>
                      </a:r>
                      <a:endParaRPr lang="en-IN" dirty="0"/>
                    </a:p>
                  </a:txBody>
                  <a:tcPr/>
                </a:tc>
                <a:tc>
                  <a:txBody>
                    <a:bodyPr/>
                    <a:lstStyle/>
                    <a:p>
                      <a:r>
                        <a:rPr lang="en-US" dirty="0"/>
                        <a:t>Yes</a:t>
                      </a:r>
                      <a:endParaRPr lang="en-IN" dirty="0"/>
                    </a:p>
                  </a:txBody>
                  <a:tcPr/>
                </a:tc>
                <a:tc>
                  <a:txBody>
                    <a:bodyPr/>
                    <a:lstStyle/>
                    <a:p>
                      <a:r>
                        <a:rPr lang="en-US" dirty="0"/>
                        <a:t>Yes(TDZ)</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Yes(TDZ)</a:t>
                      </a:r>
                      <a:endParaRPr lang="en-IN"/>
                    </a:p>
                    <a:p>
                      <a:endParaRPr lang="en-IN" dirty="0"/>
                    </a:p>
                  </a:txBody>
                  <a:tcPr/>
                </a:tc>
                <a:extLst>
                  <a:ext uri="{0D108BD9-81ED-4DB2-BD59-A6C34878D82A}">
                    <a16:rowId xmlns:a16="http://schemas.microsoft.com/office/drawing/2014/main" val="2577859923"/>
                  </a:ext>
                </a:extLst>
              </a:tr>
            </a:tbl>
          </a:graphicData>
        </a:graphic>
      </p:graphicFrame>
    </p:spTree>
    <p:extLst>
      <p:ext uri="{BB962C8B-B14F-4D97-AF65-F5344CB8AC3E}">
        <p14:creationId xmlns:p14="http://schemas.microsoft.com/office/powerpoint/2010/main" val="275895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D6CF5-F397-B750-ACBE-179B9E6A74CC}"/>
              </a:ext>
            </a:extLst>
          </p:cNvPr>
          <p:cNvSpPr>
            <a:spLocks noGrp="1"/>
          </p:cNvSpPr>
          <p:nvPr>
            <p:ph type="title"/>
          </p:nvPr>
        </p:nvSpPr>
        <p:spPr>
          <a:xfrm>
            <a:off x="646111" y="452718"/>
            <a:ext cx="9404723" cy="747432"/>
          </a:xfrm>
        </p:spPr>
        <p:txBody>
          <a:bodyPr/>
          <a:lstStyle/>
          <a:p>
            <a:r>
              <a:rPr lang="en-US" dirty="0"/>
              <a:t>Hoisting</a:t>
            </a:r>
            <a:endParaRPr lang="en-IN" dirty="0"/>
          </a:p>
        </p:txBody>
      </p:sp>
      <p:sp>
        <p:nvSpPr>
          <p:cNvPr id="3" name="Content Placeholder 2">
            <a:extLst>
              <a:ext uri="{FF2B5EF4-FFF2-40B4-BE49-F238E27FC236}">
                <a16:creationId xmlns:a16="http://schemas.microsoft.com/office/drawing/2014/main" id="{9BF16482-DC1C-AEE5-657B-112D1547F83A}"/>
              </a:ext>
            </a:extLst>
          </p:cNvPr>
          <p:cNvSpPr>
            <a:spLocks noGrp="1"/>
          </p:cNvSpPr>
          <p:nvPr>
            <p:ph idx="1"/>
          </p:nvPr>
        </p:nvSpPr>
        <p:spPr>
          <a:xfrm>
            <a:off x="1103312" y="1800225"/>
            <a:ext cx="8946541" cy="4448174"/>
          </a:xfrm>
        </p:spPr>
        <p:txBody>
          <a:bodyPr/>
          <a:lstStyle/>
          <a:p>
            <a:r>
              <a:rPr lang="en-US" b="0" i="0" dirty="0">
                <a:solidFill>
                  <a:srgbClr val="DDDDDD"/>
                </a:solidFill>
                <a:effectLst/>
                <a:latin typeface="Verdana" panose="020B0604030504040204" pitchFamily="34" charset="0"/>
              </a:rPr>
              <a:t>Hoisting is JavaScript's default behavior of moving all declarations to the top of the current scope (to the top of the current script or the current function).</a:t>
            </a:r>
          </a:p>
          <a:p>
            <a:r>
              <a:rPr lang="en-US" b="0" i="0" dirty="0">
                <a:solidFill>
                  <a:srgbClr val="DDDDDD"/>
                </a:solidFill>
                <a:effectLst/>
                <a:latin typeface="Verdana" panose="020B0604030504040204" pitchFamily="34" charset="0"/>
              </a:rPr>
              <a:t>In JavaScript, a variable can be declared after it has been used.</a:t>
            </a:r>
          </a:p>
          <a:p>
            <a:endParaRPr lang="en-US" b="0" i="0" dirty="0">
              <a:solidFill>
                <a:srgbClr val="DDDDDD"/>
              </a:solidFill>
              <a:effectLst/>
              <a:latin typeface="Verdana" panose="020B0604030504040204" pitchFamily="34" charset="0"/>
            </a:endParaRPr>
          </a:p>
          <a:p>
            <a:pPr marL="0" indent="0">
              <a:buNone/>
            </a:pPr>
            <a:r>
              <a:rPr lang="en-US" dirty="0">
                <a:solidFill>
                  <a:srgbClr val="DDDDDD"/>
                </a:solidFill>
                <a:latin typeface="Verdana" panose="020B0604030504040204" pitchFamily="34" charset="0"/>
              </a:rPr>
              <a:t>Example:</a:t>
            </a:r>
          </a:p>
          <a:p>
            <a:pPr marL="0" indent="0">
              <a:buNone/>
            </a:pPr>
            <a:endParaRPr lang="en-US" dirty="0">
              <a:solidFill>
                <a:srgbClr val="DDDDDD"/>
              </a:solidFill>
              <a:latin typeface="Verdana" panose="020B0604030504040204" pitchFamily="34" charset="0"/>
            </a:endParaRPr>
          </a:p>
          <a:p>
            <a:pPr marL="400050" lvl="1" indent="0">
              <a:buNone/>
            </a:pPr>
            <a:r>
              <a:rPr lang="en-IN" b="0" i="0" dirty="0">
                <a:solidFill>
                  <a:schemeClr val="tx2"/>
                </a:solidFill>
                <a:effectLst/>
                <a:latin typeface="Söhne Mono"/>
              </a:rPr>
              <a:t>console.log(</a:t>
            </a:r>
            <a:r>
              <a:rPr lang="en-IN" b="0" i="0" dirty="0" err="1">
                <a:solidFill>
                  <a:schemeClr val="tx2"/>
                </a:solidFill>
                <a:effectLst/>
                <a:latin typeface="Söhne Mono"/>
              </a:rPr>
              <a:t>myVar</a:t>
            </a:r>
            <a:r>
              <a:rPr lang="en-IN" b="0" i="0" dirty="0">
                <a:solidFill>
                  <a:schemeClr val="tx2"/>
                </a:solidFill>
                <a:effectLst/>
                <a:latin typeface="Söhne Mono"/>
              </a:rPr>
              <a:t>); // Outputs: undefined </a:t>
            </a:r>
          </a:p>
          <a:p>
            <a:pPr marL="400050" lvl="1" indent="0">
              <a:buNone/>
            </a:pPr>
            <a:r>
              <a:rPr lang="en-IN" b="0" i="0" dirty="0">
                <a:solidFill>
                  <a:schemeClr val="tx2"/>
                </a:solidFill>
                <a:effectLst/>
                <a:latin typeface="Söhne Mono"/>
              </a:rPr>
              <a:t>var </a:t>
            </a:r>
            <a:r>
              <a:rPr lang="en-IN" b="0" i="0" dirty="0" err="1">
                <a:solidFill>
                  <a:schemeClr val="tx2"/>
                </a:solidFill>
                <a:effectLst/>
                <a:latin typeface="Söhne Mono"/>
              </a:rPr>
              <a:t>myVar</a:t>
            </a:r>
            <a:r>
              <a:rPr lang="en-IN" b="0" i="0" dirty="0">
                <a:solidFill>
                  <a:schemeClr val="tx2"/>
                </a:solidFill>
                <a:effectLst/>
                <a:latin typeface="Söhne Mono"/>
              </a:rPr>
              <a:t> = 42;</a:t>
            </a:r>
            <a:endParaRPr lang="en-IN" dirty="0">
              <a:solidFill>
                <a:schemeClr val="tx2"/>
              </a:solidFill>
            </a:endParaRPr>
          </a:p>
        </p:txBody>
      </p:sp>
    </p:spTree>
    <p:extLst>
      <p:ext uri="{BB962C8B-B14F-4D97-AF65-F5344CB8AC3E}">
        <p14:creationId xmlns:p14="http://schemas.microsoft.com/office/powerpoint/2010/main" val="1257091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3EC6C-C536-0135-F3B5-AAD2A06C4412}"/>
              </a:ext>
            </a:extLst>
          </p:cNvPr>
          <p:cNvSpPr>
            <a:spLocks noGrp="1"/>
          </p:cNvSpPr>
          <p:nvPr>
            <p:ph type="title"/>
          </p:nvPr>
        </p:nvSpPr>
        <p:spPr>
          <a:xfrm>
            <a:off x="646111" y="441288"/>
            <a:ext cx="9404723" cy="1166532"/>
          </a:xfrm>
        </p:spPr>
        <p:txBody>
          <a:bodyPr/>
          <a:lstStyle/>
          <a:p>
            <a:r>
              <a:rPr lang="en-US" b="0" i="0" dirty="0">
                <a:solidFill>
                  <a:srgbClr val="DDDDDD"/>
                </a:solidFill>
                <a:effectLst/>
                <a:latin typeface="Segoe UI" panose="020B0502040204020203" pitchFamily="34" charset="0"/>
              </a:rPr>
              <a:t>The let and const Keywords</a:t>
            </a:r>
            <a:br>
              <a:rPr lang="en-US" b="0" i="0" dirty="0">
                <a:solidFill>
                  <a:srgbClr val="DDDDDD"/>
                </a:solidFill>
                <a:effectLst/>
                <a:latin typeface="Segoe UI" panose="020B0502040204020203" pitchFamily="34" charset="0"/>
              </a:rPr>
            </a:br>
            <a:endParaRPr lang="en-IN" dirty="0"/>
          </a:p>
        </p:txBody>
      </p:sp>
      <p:sp>
        <p:nvSpPr>
          <p:cNvPr id="5" name="Content Placeholder 4">
            <a:extLst>
              <a:ext uri="{FF2B5EF4-FFF2-40B4-BE49-F238E27FC236}">
                <a16:creationId xmlns:a16="http://schemas.microsoft.com/office/drawing/2014/main" id="{47D987B1-6C57-BD66-667B-85DD605622C2}"/>
              </a:ext>
            </a:extLst>
          </p:cNvPr>
          <p:cNvSpPr>
            <a:spLocks noGrp="1"/>
          </p:cNvSpPr>
          <p:nvPr>
            <p:ph idx="1"/>
          </p:nvPr>
        </p:nvSpPr>
        <p:spPr/>
        <p:txBody>
          <a:bodyPr/>
          <a:lstStyle/>
          <a:p>
            <a:pPr defTabSz="914400" eaLnBrk="0" fontAlgn="base" hangingPunct="0">
              <a:spcBef>
                <a:spcPct val="0"/>
              </a:spcBef>
              <a:spcAft>
                <a:spcPct val="0"/>
              </a:spcAft>
              <a:buClrTx/>
              <a:buSzTx/>
            </a:pPr>
            <a:r>
              <a:rPr kumimoji="0" lang="en-US" altLang="en-US" sz="2000" b="0" i="0" u="none" strike="noStrike" cap="none" normalizeH="0" baseline="0" dirty="0">
                <a:ln>
                  <a:noFill/>
                </a:ln>
                <a:solidFill>
                  <a:srgbClr val="DDDDDD"/>
                </a:solidFill>
                <a:effectLst/>
                <a:latin typeface="Verdana" panose="020B0604030504040204" pitchFamily="34" charset="0"/>
              </a:rPr>
              <a:t>Variables defined with </a:t>
            </a:r>
            <a:r>
              <a:rPr kumimoji="0" lang="en-US" altLang="en-US" sz="2000" b="0" i="0" u="none" strike="noStrike" cap="none" normalizeH="0" baseline="0" dirty="0">
                <a:ln>
                  <a:noFill/>
                </a:ln>
                <a:solidFill>
                  <a:srgbClr val="FF9999"/>
                </a:solidFill>
                <a:effectLst/>
                <a:latin typeface="Consolas" panose="020B0609020204030204" pitchFamily="49" charset="0"/>
              </a:rPr>
              <a:t>let</a:t>
            </a:r>
            <a:r>
              <a:rPr kumimoji="0" lang="en-US" altLang="en-US" sz="2000" b="0" i="0" u="none" strike="noStrike" cap="none" normalizeH="0" baseline="0" dirty="0">
                <a:ln>
                  <a:noFill/>
                </a:ln>
                <a:solidFill>
                  <a:srgbClr val="DDDDDD"/>
                </a:solidFill>
                <a:effectLst/>
                <a:latin typeface="Verdana" panose="020B0604030504040204" pitchFamily="34" charset="0"/>
              </a:rPr>
              <a:t> and </a:t>
            </a:r>
            <a:r>
              <a:rPr kumimoji="0" lang="en-US" altLang="en-US" sz="2000" b="0" i="0" u="none" strike="noStrike" cap="none" normalizeH="0" baseline="0" dirty="0">
                <a:ln>
                  <a:noFill/>
                </a:ln>
                <a:solidFill>
                  <a:srgbClr val="FF9999"/>
                </a:solidFill>
                <a:effectLst/>
                <a:latin typeface="Consolas" panose="020B0609020204030204" pitchFamily="49" charset="0"/>
              </a:rPr>
              <a:t>const</a:t>
            </a:r>
            <a:r>
              <a:rPr kumimoji="0" lang="en-US" altLang="en-US" sz="2000" b="0" i="0" u="none" strike="noStrike" cap="none" normalizeH="0" baseline="0" dirty="0">
                <a:ln>
                  <a:noFill/>
                </a:ln>
                <a:solidFill>
                  <a:srgbClr val="DDDDDD"/>
                </a:solidFill>
                <a:effectLst/>
                <a:latin typeface="Verdana" panose="020B0604030504040204" pitchFamily="34" charset="0"/>
              </a:rPr>
              <a:t> are hoisted to the top of the block, but not </a:t>
            </a:r>
            <a:r>
              <a:rPr kumimoji="0" lang="en-US" altLang="en-US" sz="2000" b="0" i="1" u="none" strike="noStrike" cap="none" normalizeH="0" baseline="0" dirty="0">
                <a:ln>
                  <a:noFill/>
                </a:ln>
                <a:solidFill>
                  <a:srgbClr val="DDDDDD"/>
                </a:solidFill>
                <a:effectLst/>
                <a:latin typeface="Verdana" panose="020B0604030504040204" pitchFamily="34" charset="0"/>
              </a:rPr>
              <a:t>initialized</a:t>
            </a:r>
            <a:r>
              <a:rPr kumimoji="0" lang="en-US" altLang="en-US" sz="2000" b="0" i="0" u="none" strike="noStrike" cap="none" normalizeH="0" baseline="0" dirty="0">
                <a:ln>
                  <a:noFill/>
                </a:ln>
                <a:solidFill>
                  <a:srgbClr val="DDDDDD"/>
                </a:solidFill>
                <a:effectLst/>
                <a:latin typeface="Verdana" panose="020B0604030504040204" pitchFamily="34" charset="0"/>
              </a:rPr>
              <a:t>.</a:t>
            </a:r>
            <a:endParaRPr kumimoji="0" lang="en-US" altLang="en-US" sz="1200" b="0" i="0" u="none" strike="noStrike" cap="none" normalizeH="0" baseline="0" dirty="0">
              <a:ln>
                <a:noFill/>
              </a:ln>
              <a:solidFill>
                <a:schemeClr val="tx1"/>
              </a:solidFill>
              <a:effectLst/>
            </a:endParaRPr>
          </a:p>
          <a:p>
            <a:pPr defTabSz="914400" eaLnBrk="0" fontAlgn="base" hangingPunct="0">
              <a:spcBef>
                <a:spcPct val="0"/>
              </a:spcBef>
              <a:spcAft>
                <a:spcPct val="0"/>
              </a:spcAft>
              <a:buClrTx/>
              <a:buSzTx/>
            </a:pPr>
            <a:r>
              <a:rPr kumimoji="0" lang="en-US" altLang="en-US" sz="2000" b="0" i="0" u="none" strike="noStrike" cap="none" normalizeH="0" baseline="0" dirty="0">
                <a:ln>
                  <a:noFill/>
                </a:ln>
                <a:solidFill>
                  <a:srgbClr val="DDDDDD"/>
                </a:solidFill>
                <a:effectLst/>
                <a:latin typeface="Verdana" panose="020B0604030504040204" pitchFamily="34" charset="0"/>
              </a:rPr>
              <a:t>Meaning: The block of code is aware of the variable, but it cannot be used until it has been declared.</a:t>
            </a:r>
            <a:endParaRPr kumimoji="0" lang="en-US" altLang="en-US" sz="1200" b="0" i="0" u="none" strike="noStrike" cap="none" normalizeH="0" baseline="0" dirty="0">
              <a:ln>
                <a:noFill/>
              </a:ln>
              <a:solidFill>
                <a:schemeClr val="tx1"/>
              </a:solidFill>
              <a:effectLst/>
            </a:endParaRPr>
          </a:p>
          <a:p>
            <a:pPr defTabSz="914400" eaLnBrk="0" fontAlgn="base" hangingPunct="0">
              <a:spcBef>
                <a:spcPct val="0"/>
              </a:spcBef>
              <a:spcAft>
                <a:spcPct val="0"/>
              </a:spcAft>
              <a:buClrTx/>
              <a:buSzTx/>
            </a:pPr>
            <a:r>
              <a:rPr kumimoji="0" lang="en-US" altLang="en-US" sz="2000" b="0" i="0" u="none" strike="noStrike" cap="none" normalizeH="0" baseline="0" dirty="0">
                <a:ln>
                  <a:noFill/>
                </a:ln>
                <a:solidFill>
                  <a:srgbClr val="DDDDDD"/>
                </a:solidFill>
                <a:effectLst/>
                <a:latin typeface="Verdana" panose="020B0604030504040204" pitchFamily="34" charset="0"/>
              </a:rPr>
              <a:t>Using a </a:t>
            </a:r>
            <a:r>
              <a:rPr kumimoji="0" lang="en-US" altLang="en-US" sz="2000" b="0" i="0" u="none" strike="noStrike" cap="none" normalizeH="0" baseline="0" dirty="0">
                <a:ln>
                  <a:noFill/>
                </a:ln>
                <a:solidFill>
                  <a:srgbClr val="FF9999"/>
                </a:solidFill>
                <a:effectLst/>
                <a:latin typeface="Consolas" panose="020B0609020204030204" pitchFamily="49" charset="0"/>
              </a:rPr>
              <a:t>let</a:t>
            </a:r>
            <a:r>
              <a:rPr kumimoji="0" lang="en-US" altLang="en-US" sz="2000" b="0" i="0" u="none" strike="noStrike" cap="none" normalizeH="0" baseline="0" dirty="0">
                <a:ln>
                  <a:noFill/>
                </a:ln>
                <a:solidFill>
                  <a:srgbClr val="DDDDDD"/>
                </a:solidFill>
                <a:effectLst/>
                <a:latin typeface="Verdana" panose="020B0604030504040204" pitchFamily="34" charset="0"/>
              </a:rPr>
              <a:t> variable before it is declared will result in a </a:t>
            </a:r>
            <a:r>
              <a:rPr kumimoji="0" lang="en-US" altLang="en-US" sz="2000" b="0" i="0" u="none" strike="noStrike" cap="none" normalizeH="0" baseline="0" dirty="0">
                <a:ln>
                  <a:noFill/>
                </a:ln>
                <a:solidFill>
                  <a:srgbClr val="FF9999"/>
                </a:solidFill>
                <a:effectLst/>
                <a:latin typeface="Consolas" panose="020B0609020204030204" pitchFamily="49" charset="0"/>
              </a:rPr>
              <a:t>ReferenceError</a:t>
            </a:r>
            <a:r>
              <a:rPr kumimoji="0" lang="en-US" altLang="en-US" sz="2000" b="0" i="0" u="none" strike="noStrike" cap="none" normalizeH="0" baseline="0" dirty="0">
                <a:ln>
                  <a:noFill/>
                </a:ln>
                <a:solidFill>
                  <a:srgbClr val="DDDDDD"/>
                </a:solidFill>
                <a:effectLst/>
                <a:latin typeface="Verdana" panose="020B0604030504040204" pitchFamily="34" charset="0"/>
              </a:rPr>
              <a:t>.</a:t>
            </a:r>
            <a:endParaRPr kumimoji="0" lang="en-US" altLang="en-US" sz="1200" b="0" i="0" u="none" strike="noStrike" cap="none" normalizeH="0" baseline="0" dirty="0">
              <a:ln>
                <a:noFill/>
              </a:ln>
              <a:solidFill>
                <a:schemeClr val="tx1"/>
              </a:solidFill>
              <a:effectLst/>
            </a:endParaRPr>
          </a:p>
          <a:p>
            <a:pPr defTabSz="914400" eaLnBrk="0" fontAlgn="base" hangingPunct="0">
              <a:spcBef>
                <a:spcPct val="0"/>
              </a:spcBef>
              <a:spcAft>
                <a:spcPct val="0"/>
              </a:spcAft>
              <a:buClrTx/>
              <a:buSzTx/>
            </a:pPr>
            <a:r>
              <a:rPr kumimoji="0" lang="en-US" altLang="en-US" sz="2000" b="0" i="0" u="none" strike="noStrike" cap="none" normalizeH="0" baseline="0" dirty="0">
                <a:ln>
                  <a:noFill/>
                </a:ln>
                <a:solidFill>
                  <a:srgbClr val="DDDDDD"/>
                </a:solidFill>
                <a:effectLst/>
                <a:latin typeface="Verdana" panose="020B0604030504040204" pitchFamily="34" charset="0"/>
              </a:rPr>
              <a:t>The variable is in a "temporal dead zone" from the start of the block until it is declared:</a:t>
            </a:r>
            <a:endParaRPr kumimoji="0" lang="en-US" altLang="en-US" sz="1200" b="0" i="0" u="none" strike="noStrike" cap="none" normalizeH="0" baseline="0" dirty="0">
              <a:ln>
                <a:noFill/>
              </a:ln>
              <a:solidFill>
                <a:schemeClr val="tx1"/>
              </a:solidFill>
              <a:effectLst/>
            </a:endParaRPr>
          </a:p>
          <a:p>
            <a:r>
              <a:rPr lang="en-US" b="0" i="0" dirty="0">
                <a:effectLst/>
                <a:latin typeface="Lato" panose="020F0502020204030204" pitchFamily="34" charset="0"/>
              </a:rPr>
              <a:t>A </a:t>
            </a:r>
            <a:r>
              <a:rPr lang="en-US" b="1" i="0" dirty="0">
                <a:effectLst/>
                <a:latin typeface="Lato" panose="020F0502020204030204" pitchFamily="34" charset="0"/>
              </a:rPr>
              <a:t>temporal dead zone (TDZ)</a:t>
            </a:r>
            <a:r>
              <a:rPr lang="en-US" b="0" i="0" dirty="0">
                <a:effectLst/>
                <a:latin typeface="Lato" panose="020F0502020204030204" pitchFamily="34" charset="0"/>
              </a:rPr>
              <a:t> is the area of a block where a variable is inaccessible until the moment the computer completely initializes it with a value.</a:t>
            </a:r>
            <a:endParaRPr lang="en-IN" dirty="0"/>
          </a:p>
        </p:txBody>
      </p:sp>
    </p:spTree>
    <p:extLst>
      <p:ext uri="{BB962C8B-B14F-4D97-AF65-F5344CB8AC3E}">
        <p14:creationId xmlns:p14="http://schemas.microsoft.com/office/powerpoint/2010/main" val="2904809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7AD3B-3257-E9E5-E31B-315FEA9F7710}"/>
              </a:ext>
            </a:extLst>
          </p:cNvPr>
          <p:cNvSpPr>
            <a:spLocks noGrp="1"/>
          </p:cNvSpPr>
          <p:nvPr>
            <p:ph type="title"/>
          </p:nvPr>
        </p:nvSpPr>
        <p:spPr>
          <a:xfrm>
            <a:off x="646111" y="452718"/>
            <a:ext cx="9404723" cy="747432"/>
          </a:xfrm>
        </p:spPr>
        <p:txBody>
          <a:bodyPr/>
          <a:lstStyle/>
          <a:p>
            <a:r>
              <a:rPr lang="en-US" dirty="0"/>
              <a:t>Datatypes in JS</a:t>
            </a:r>
            <a:endParaRPr lang="en-IN" dirty="0"/>
          </a:p>
        </p:txBody>
      </p:sp>
      <p:sp>
        <p:nvSpPr>
          <p:cNvPr id="3" name="Content Placeholder 2">
            <a:extLst>
              <a:ext uri="{FF2B5EF4-FFF2-40B4-BE49-F238E27FC236}">
                <a16:creationId xmlns:a16="http://schemas.microsoft.com/office/drawing/2014/main" id="{F98CEB0E-7C1F-73AC-D306-72A632FEF1EF}"/>
              </a:ext>
            </a:extLst>
          </p:cNvPr>
          <p:cNvSpPr>
            <a:spLocks noGrp="1"/>
          </p:cNvSpPr>
          <p:nvPr>
            <p:ph idx="1"/>
          </p:nvPr>
        </p:nvSpPr>
        <p:spPr>
          <a:xfrm>
            <a:off x="1103312" y="1405890"/>
            <a:ext cx="8946541" cy="4999392"/>
          </a:xfrm>
        </p:spPr>
        <p:txBody>
          <a:bodyPr>
            <a:normAutofit fontScale="62500" lnSpcReduction="20000"/>
          </a:bodyPr>
          <a:lstStyle/>
          <a:p>
            <a:r>
              <a:rPr lang="en-US" sz="3400" dirty="0"/>
              <a:t>Datatype defines the type of data to be stored in a particular memory allocation</a:t>
            </a:r>
          </a:p>
          <a:p>
            <a:pPr marL="0" indent="0" algn="l">
              <a:buNone/>
            </a:pPr>
            <a:r>
              <a:rPr lang="en-US" sz="4000" b="1" i="0" dirty="0">
                <a:solidFill>
                  <a:srgbClr val="DDDDDD"/>
                </a:solidFill>
                <a:effectLst/>
                <a:latin typeface="Segoe UI" panose="020B0502040204020203" pitchFamily="34" charset="0"/>
              </a:rPr>
              <a:t>JavaScript has </a:t>
            </a:r>
            <a:r>
              <a:rPr lang="en-US" sz="4000" b="1" dirty="0">
                <a:solidFill>
                  <a:srgbClr val="DDDDDD"/>
                </a:solidFill>
                <a:latin typeface="Segoe UI" panose="020B0502040204020203" pitchFamily="34" charset="0"/>
              </a:rPr>
              <a:t>7</a:t>
            </a:r>
            <a:r>
              <a:rPr lang="en-US" sz="4000" b="1" i="0" dirty="0" smtClean="0">
                <a:solidFill>
                  <a:srgbClr val="DDDDDD"/>
                </a:solidFill>
                <a:effectLst/>
                <a:latin typeface="Segoe UI" panose="020B0502040204020203" pitchFamily="34" charset="0"/>
              </a:rPr>
              <a:t> </a:t>
            </a:r>
            <a:r>
              <a:rPr lang="en-US" sz="4000" b="1" i="0" dirty="0">
                <a:solidFill>
                  <a:srgbClr val="DDDDDD"/>
                </a:solidFill>
                <a:effectLst/>
                <a:latin typeface="Segoe UI" panose="020B0502040204020203" pitchFamily="34" charset="0"/>
              </a:rPr>
              <a:t>Datatypes(primitive)</a:t>
            </a:r>
          </a:p>
          <a:p>
            <a:pPr marL="400050" lvl="1" indent="0">
              <a:buNone/>
            </a:pPr>
            <a:r>
              <a:rPr lang="en-US" sz="2900" b="0" i="0" dirty="0">
                <a:solidFill>
                  <a:srgbClr val="DDDDDD"/>
                </a:solidFill>
                <a:effectLst/>
                <a:latin typeface="Verdana" panose="020B0604030504040204" pitchFamily="34" charset="0"/>
              </a:rPr>
              <a:t>1. String</a:t>
            </a:r>
            <a:br>
              <a:rPr lang="en-US" sz="2900" b="0" i="0" dirty="0">
                <a:solidFill>
                  <a:srgbClr val="DDDDDD"/>
                </a:solidFill>
                <a:effectLst/>
                <a:latin typeface="Verdana" panose="020B0604030504040204" pitchFamily="34" charset="0"/>
              </a:rPr>
            </a:br>
            <a:r>
              <a:rPr lang="en-US" sz="2900" b="0" i="0" dirty="0">
                <a:solidFill>
                  <a:srgbClr val="DDDDDD"/>
                </a:solidFill>
                <a:effectLst/>
                <a:latin typeface="Verdana" panose="020B0604030504040204" pitchFamily="34" charset="0"/>
              </a:rPr>
              <a:t>2. Number</a:t>
            </a:r>
            <a:br>
              <a:rPr lang="en-US" sz="2900" b="0" i="0" dirty="0">
                <a:solidFill>
                  <a:srgbClr val="DDDDDD"/>
                </a:solidFill>
                <a:effectLst/>
                <a:latin typeface="Verdana" panose="020B0604030504040204" pitchFamily="34" charset="0"/>
              </a:rPr>
            </a:br>
            <a:r>
              <a:rPr lang="en-US" sz="2900" b="0" i="0" dirty="0">
                <a:solidFill>
                  <a:srgbClr val="DDDDDD"/>
                </a:solidFill>
                <a:effectLst/>
                <a:latin typeface="Verdana" panose="020B0604030504040204" pitchFamily="34" charset="0"/>
              </a:rPr>
              <a:t>3. Bigint</a:t>
            </a:r>
            <a:br>
              <a:rPr lang="en-US" sz="2900" b="0" i="0" dirty="0">
                <a:solidFill>
                  <a:srgbClr val="DDDDDD"/>
                </a:solidFill>
                <a:effectLst/>
                <a:latin typeface="Verdana" panose="020B0604030504040204" pitchFamily="34" charset="0"/>
              </a:rPr>
            </a:br>
            <a:r>
              <a:rPr lang="en-US" sz="2900" b="0" i="0" dirty="0">
                <a:solidFill>
                  <a:srgbClr val="DDDDDD"/>
                </a:solidFill>
                <a:effectLst/>
                <a:latin typeface="Verdana" panose="020B0604030504040204" pitchFamily="34" charset="0"/>
              </a:rPr>
              <a:t>4. Boolean</a:t>
            </a:r>
            <a:br>
              <a:rPr lang="en-US" sz="2900" b="0" i="0" dirty="0">
                <a:solidFill>
                  <a:srgbClr val="DDDDDD"/>
                </a:solidFill>
                <a:effectLst/>
                <a:latin typeface="Verdana" panose="020B0604030504040204" pitchFamily="34" charset="0"/>
              </a:rPr>
            </a:br>
            <a:r>
              <a:rPr lang="en-US" sz="2900" b="0" i="0" dirty="0">
                <a:solidFill>
                  <a:srgbClr val="DDDDDD"/>
                </a:solidFill>
                <a:effectLst/>
                <a:latin typeface="Verdana" panose="020B0604030504040204" pitchFamily="34" charset="0"/>
              </a:rPr>
              <a:t>5. Undefined</a:t>
            </a:r>
            <a:br>
              <a:rPr lang="en-US" sz="2900" b="0" i="0" dirty="0">
                <a:solidFill>
                  <a:srgbClr val="DDDDDD"/>
                </a:solidFill>
                <a:effectLst/>
                <a:latin typeface="Verdana" panose="020B0604030504040204" pitchFamily="34" charset="0"/>
              </a:rPr>
            </a:br>
            <a:r>
              <a:rPr lang="en-US" sz="2900" b="0" i="0" dirty="0">
                <a:solidFill>
                  <a:srgbClr val="DDDDDD"/>
                </a:solidFill>
                <a:effectLst/>
                <a:latin typeface="Verdana" panose="020B0604030504040204" pitchFamily="34" charset="0"/>
              </a:rPr>
              <a:t>6. Null</a:t>
            </a:r>
            <a:br>
              <a:rPr lang="en-US" sz="2900" b="0" i="0" dirty="0">
                <a:solidFill>
                  <a:srgbClr val="DDDDDD"/>
                </a:solidFill>
                <a:effectLst/>
                <a:latin typeface="Verdana" panose="020B0604030504040204" pitchFamily="34" charset="0"/>
              </a:rPr>
            </a:br>
            <a:r>
              <a:rPr lang="en-US" sz="2900" b="0" i="0" dirty="0">
                <a:solidFill>
                  <a:srgbClr val="DDDDDD"/>
                </a:solidFill>
                <a:effectLst/>
                <a:latin typeface="Verdana" panose="020B0604030504040204" pitchFamily="34" charset="0"/>
              </a:rPr>
              <a:t>7. Symbol</a:t>
            </a:r>
            <a:br>
              <a:rPr lang="en-US" sz="2900" b="0" i="0" dirty="0">
                <a:solidFill>
                  <a:srgbClr val="DDDDDD"/>
                </a:solidFill>
                <a:effectLst/>
                <a:latin typeface="Verdana" panose="020B0604030504040204" pitchFamily="34" charset="0"/>
              </a:rPr>
            </a:br>
            <a:endParaRPr lang="en-US" sz="2900" b="0" i="0" dirty="0">
              <a:solidFill>
                <a:srgbClr val="DDDDDD"/>
              </a:solidFill>
              <a:effectLst/>
              <a:latin typeface="Verdana" panose="020B0604030504040204" pitchFamily="34" charset="0"/>
            </a:endParaRPr>
          </a:p>
          <a:p>
            <a:r>
              <a:rPr lang="en-IN" sz="2600" b="1" dirty="0"/>
              <a:t>Non primitive </a:t>
            </a:r>
          </a:p>
          <a:p>
            <a:pPr marL="457200" lvl="1" indent="0">
              <a:buNone/>
            </a:pPr>
            <a:r>
              <a:rPr lang="en-US" sz="2600" dirty="0">
                <a:solidFill>
                  <a:srgbClr val="DDDDDD"/>
                </a:solidFill>
                <a:latin typeface="Verdana" panose="020B0604030504040204" pitchFamily="34" charset="0"/>
              </a:rPr>
              <a:t>A function</a:t>
            </a:r>
          </a:p>
          <a:p>
            <a:pPr marL="457200" lvl="1" indent="0">
              <a:buNone/>
            </a:pPr>
            <a:r>
              <a:rPr lang="en-US" sz="2600" b="0" i="0" dirty="0">
                <a:solidFill>
                  <a:srgbClr val="DDDDDD"/>
                </a:solidFill>
                <a:effectLst/>
                <a:latin typeface="Verdana" panose="020B0604030504040204" pitchFamily="34" charset="0"/>
              </a:rPr>
              <a:t>An object</a:t>
            </a:r>
          </a:p>
          <a:p>
            <a:pPr marL="457200" lvl="1" indent="0">
              <a:buNone/>
            </a:pPr>
            <a:r>
              <a:rPr lang="en-US" sz="2600" b="0" i="0" dirty="0">
                <a:solidFill>
                  <a:srgbClr val="DDDDDD"/>
                </a:solidFill>
                <a:effectLst/>
                <a:latin typeface="Verdana" panose="020B0604030504040204" pitchFamily="34" charset="0"/>
              </a:rPr>
              <a:t>An array</a:t>
            </a:r>
            <a:endParaRPr lang="en-IN" sz="2600" b="1" dirty="0"/>
          </a:p>
          <a:p>
            <a:pPr marL="457200" lvl="1" indent="0">
              <a:buNone/>
            </a:pPr>
            <a:endParaRPr lang="en-US" sz="1700" b="0" i="0" dirty="0">
              <a:solidFill>
                <a:srgbClr val="DDDDDD"/>
              </a:solidFill>
              <a:effectLst/>
              <a:latin typeface="Verdana" panose="020B0604030504040204" pitchFamily="34" charset="0"/>
            </a:endParaRPr>
          </a:p>
          <a:p>
            <a:pPr marL="457200" lvl="1" indent="0">
              <a:buNone/>
            </a:pPr>
            <a:r>
              <a:rPr lang="en-US" sz="1700" dirty="0"/>
              <a:t/>
            </a:r>
            <a:br>
              <a:rPr lang="en-US" sz="1700" dirty="0"/>
            </a:br>
            <a:r>
              <a:rPr lang="en-US" sz="1700" dirty="0"/>
              <a:t/>
            </a:r>
            <a:br>
              <a:rPr lang="en-US" sz="1700" dirty="0"/>
            </a:br>
            <a:endParaRPr lang="en-IN" sz="1700" b="1" dirty="0"/>
          </a:p>
        </p:txBody>
      </p:sp>
    </p:spTree>
    <p:extLst>
      <p:ext uri="{BB962C8B-B14F-4D97-AF65-F5344CB8AC3E}">
        <p14:creationId xmlns:p14="http://schemas.microsoft.com/office/powerpoint/2010/main" val="951709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717C5-0766-8D62-1034-CA308CABCAAC}"/>
              </a:ext>
            </a:extLst>
          </p:cNvPr>
          <p:cNvSpPr>
            <a:spLocks noGrp="1"/>
          </p:cNvSpPr>
          <p:nvPr>
            <p:ph type="title"/>
          </p:nvPr>
        </p:nvSpPr>
        <p:spPr>
          <a:xfrm>
            <a:off x="646111" y="452718"/>
            <a:ext cx="9404723" cy="918882"/>
          </a:xfrm>
        </p:spPr>
        <p:txBody>
          <a:bodyPr/>
          <a:lstStyle/>
          <a:p>
            <a:r>
              <a:rPr lang="en-US" dirty="0"/>
              <a:t>Datatypes</a:t>
            </a:r>
            <a:endParaRPr lang="en-IN" dirty="0"/>
          </a:p>
        </p:txBody>
      </p:sp>
      <p:sp>
        <p:nvSpPr>
          <p:cNvPr id="3" name="Content Placeholder 2">
            <a:extLst>
              <a:ext uri="{FF2B5EF4-FFF2-40B4-BE49-F238E27FC236}">
                <a16:creationId xmlns:a16="http://schemas.microsoft.com/office/drawing/2014/main" id="{9519478E-0B53-0843-92DE-BB4FD8485515}"/>
              </a:ext>
            </a:extLst>
          </p:cNvPr>
          <p:cNvSpPr>
            <a:spLocks noGrp="1"/>
          </p:cNvSpPr>
          <p:nvPr>
            <p:ph idx="1"/>
          </p:nvPr>
        </p:nvSpPr>
        <p:spPr>
          <a:xfrm>
            <a:off x="1103312" y="1783080"/>
            <a:ext cx="8946541" cy="4465319"/>
          </a:xfrm>
        </p:spPr>
        <p:txBody>
          <a:bodyPr/>
          <a:lstStyle/>
          <a:p>
            <a:r>
              <a:rPr lang="en-US" dirty="0"/>
              <a:t>String : We can declare the string in js in 3 ways</a:t>
            </a:r>
          </a:p>
          <a:p>
            <a:pPr lvl="1"/>
            <a:r>
              <a:rPr lang="en-US" dirty="0"/>
              <a:t>Example : ‘hello’ ,”hello” ,`Hello everyone`</a:t>
            </a:r>
          </a:p>
          <a:p>
            <a:r>
              <a:rPr lang="en-US" dirty="0"/>
              <a:t>Number : Integer and floating point numbers</a:t>
            </a:r>
          </a:p>
          <a:p>
            <a:r>
              <a:rPr lang="en-US" dirty="0"/>
              <a:t>Boolean : True or false</a:t>
            </a:r>
          </a:p>
          <a:p>
            <a:r>
              <a:rPr lang="en-US" dirty="0"/>
              <a:t>Bigint : large amount of data</a:t>
            </a:r>
          </a:p>
          <a:p>
            <a:r>
              <a:rPr lang="en-US" dirty="0"/>
              <a:t>Undefined : It represents the value of an uninitialized values</a:t>
            </a:r>
          </a:p>
          <a:p>
            <a:r>
              <a:rPr lang="en-US" dirty="0"/>
              <a:t>Null : It is empty variable and for future use</a:t>
            </a:r>
          </a:p>
          <a:p>
            <a:r>
              <a:rPr lang="en-US" dirty="0"/>
              <a:t>Symbol : It will create </a:t>
            </a:r>
            <a:r>
              <a:rPr lang="en-US" dirty="0" smtClean="0"/>
              <a:t>function (mostly used in MongoDB)</a:t>
            </a:r>
            <a:endParaRPr lang="en-US" dirty="0"/>
          </a:p>
          <a:p>
            <a:pPr marL="0" indent="0">
              <a:buNone/>
            </a:pPr>
            <a:endParaRPr lang="en-US" dirty="0"/>
          </a:p>
          <a:p>
            <a:endParaRPr lang="en-US" dirty="0"/>
          </a:p>
          <a:p>
            <a:endParaRPr lang="en-US" dirty="0"/>
          </a:p>
          <a:p>
            <a:endParaRPr lang="en-US" dirty="0"/>
          </a:p>
          <a:p>
            <a:endParaRPr lang="en-US" dirty="0"/>
          </a:p>
          <a:p>
            <a:pPr marL="457200" lvl="1" indent="0">
              <a:buNone/>
            </a:pPr>
            <a:endParaRPr lang="en-US" dirty="0"/>
          </a:p>
          <a:p>
            <a:pPr marL="457200" lvl="1" indent="0">
              <a:buNone/>
            </a:pPr>
            <a:endParaRPr lang="en-US" dirty="0"/>
          </a:p>
          <a:p>
            <a:pPr lvl="1"/>
            <a:endParaRPr lang="en-IN" dirty="0"/>
          </a:p>
        </p:txBody>
      </p:sp>
    </p:spTree>
    <p:extLst>
      <p:ext uri="{BB962C8B-B14F-4D97-AF65-F5344CB8AC3E}">
        <p14:creationId xmlns:p14="http://schemas.microsoft.com/office/powerpoint/2010/main" val="336246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6AE1D-0BD3-F57E-73E5-808B3319511B}"/>
              </a:ext>
            </a:extLst>
          </p:cNvPr>
          <p:cNvSpPr>
            <a:spLocks noGrp="1"/>
          </p:cNvSpPr>
          <p:nvPr>
            <p:ph type="title"/>
          </p:nvPr>
        </p:nvSpPr>
        <p:spPr>
          <a:xfrm>
            <a:off x="646111" y="452718"/>
            <a:ext cx="9404723" cy="987462"/>
          </a:xfrm>
        </p:spPr>
        <p:txBody>
          <a:bodyPr/>
          <a:lstStyle/>
          <a:p>
            <a:r>
              <a:rPr lang="en-US" dirty="0"/>
              <a:t>Operators in JS</a:t>
            </a:r>
            <a:endParaRPr lang="en-IN" dirty="0"/>
          </a:p>
        </p:txBody>
      </p:sp>
      <p:sp>
        <p:nvSpPr>
          <p:cNvPr id="3" name="Content Placeholder 2">
            <a:extLst>
              <a:ext uri="{FF2B5EF4-FFF2-40B4-BE49-F238E27FC236}">
                <a16:creationId xmlns:a16="http://schemas.microsoft.com/office/drawing/2014/main" id="{911E55BA-6B61-A5B2-9F8E-8E295A7CCFBF}"/>
              </a:ext>
            </a:extLst>
          </p:cNvPr>
          <p:cNvSpPr>
            <a:spLocks noGrp="1"/>
          </p:cNvSpPr>
          <p:nvPr>
            <p:ph idx="1"/>
          </p:nvPr>
        </p:nvSpPr>
        <p:spPr>
          <a:xfrm>
            <a:off x="909002" y="1600200"/>
            <a:ext cx="8946541" cy="4671059"/>
          </a:xfrm>
        </p:spPr>
        <p:txBody>
          <a:bodyPr/>
          <a:lstStyle/>
          <a:p>
            <a:r>
              <a:rPr lang="en-US" dirty="0"/>
              <a:t>Predefined symbols used to perform particular task</a:t>
            </a:r>
          </a:p>
          <a:p>
            <a:r>
              <a:rPr lang="en-US" dirty="0"/>
              <a:t>Types of operators</a:t>
            </a:r>
          </a:p>
          <a:p>
            <a:pPr algn="l">
              <a:buFont typeface="Arial" panose="020B0604020202020204" pitchFamily="34" charset="0"/>
              <a:buChar char="•"/>
            </a:pPr>
            <a:r>
              <a:rPr lang="en-US" b="0" i="0" dirty="0">
                <a:solidFill>
                  <a:srgbClr val="DDDDDD"/>
                </a:solidFill>
                <a:effectLst/>
                <a:latin typeface="Verdana" panose="020B0604030504040204" pitchFamily="34" charset="0"/>
              </a:rPr>
              <a:t>Arithmetic Operators : </a:t>
            </a:r>
            <a:r>
              <a:rPr lang="en-US" b="0" i="0" dirty="0" smtClean="0">
                <a:solidFill>
                  <a:srgbClr val="DDDDDD"/>
                </a:solidFill>
                <a:effectLst/>
                <a:latin typeface="Verdana" panose="020B0604030504040204" pitchFamily="34" charset="0"/>
              </a:rPr>
              <a:t>+,-,*,/,%,++,--</a:t>
            </a:r>
            <a:endParaRPr lang="en-US" b="0" i="0" dirty="0">
              <a:solidFill>
                <a:srgbClr val="DDDDDD"/>
              </a:solidFill>
              <a:effectLst/>
              <a:latin typeface="Verdana" panose="020B0604030504040204" pitchFamily="34" charset="0"/>
            </a:endParaRPr>
          </a:p>
          <a:p>
            <a:pPr algn="l">
              <a:buFont typeface="Arial" panose="020B0604020202020204" pitchFamily="34" charset="0"/>
              <a:buChar char="•"/>
            </a:pPr>
            <a:r>
              <a:rPr lang="en-US" b="0" i="0" dirty="0">
                <a:solidFill>
                  <a:srgbClr val="DDDDDD"/>
                </a:solidFill>
                <a:effectLst/>
                <a:latin typeface="Verdana" panose="020B0604030504040204" pitchFamily="34" charset="0"/>
              </a:rPr>
              <a:t>Assignment Operators : +=,-=,*=,/=,%=,=</a:t>
            </a:r>
          </a:p>
          <a:p>
            <a:pPr algn="l">
              <a:buFont typeface="Arial" panose="020B0604020202020204" pitchFamily="34" charset="0"/>
              <a:buChar char="•"/>
            </a:pPr>
            <a:r>
              <a:rPr lang="en-US" b="0" i="0" dirty="0">
                <a:solidFill>
                  <a:srgbClr val="DDDDDD"/>
                </a:solidFill>
                <a:effectLst/>
                <a:latin typeface="Verdana" panose="020B0604030504040204" pitchFamily="34" charset="0"/>
              </a:rPr>
              <a:t>Comparison Operators : &gt;,&lt;, !=,&gt;=,&lt;=,==,===</a:t>
            </a:r>
          </a:p>
          <a:p>
            <a:pPr algn="l">
              <a:buFont typeface="Arial" panose="020B0604020202020204" pitchFamily="34" charset="0"/>
              <a:buChar char="•"/>
            </a:pPr>
            <a:r>
              <a:rPr lang="en-US" b="0" i="0" dirty="0">
                <a:solidFill>
                  <a:srgbClr val="DDDDDD"/>
                </a:solidFill>
                <a:effectLst/>
                <a:latin typeface="Verdana" panose="020B0604030504040204" pitchFamily="34" charset="0"/>
              </a:rPr>
              <a:t>Logical Operators : &amp;&amp; , || , !</a:t>
            </a:r>
          </a:p>
          <a:p>
            <a:pPr>
              <a:buFont typeface="Arial" panose="020B0604020202020204" pitchFamily="34" charset="0"/>
              <a:buChar char="•"/>
            </a:pPr>
            <a:r>
              <a:rPr lang="en-US" b="0" i="0" dirty="0">
                <a:solidFill>
                  <a:srgbClr val="DDDDDD"/>
                </a:solidFill>
                <a:effectLst/>
                <a:latin typeface="Verdana" panose="020B0604030504040204" pitchFamily="34" charset="0"/>
              </a:rPr>
              <a:t>Ternary Operators : ( condition ) ? True stmt : false stmt</a:t>
            </a:r>
          </a:p>
          <a:p>
            <a:endParaRPr lang="en-IN" dirty="0"/>
          </a:p>
        </p:txBody>
      </p:sp>
    </p:spTree>
    <p:extLst>
      <p:ext uri="{BB962C8B-B14F-4D97-AF65-F5344CB8AC3E}">
        <p14:creationId xmlns:p14="http://schemas.microsoft.com/office/powerpoint/2010/main" val="3333235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08131-801F-7936-A30F-705BEF03DB2B}"/>
              </a:ext>
            </a:extLst>
          </p:cNvPr>
          <p:cNvSpPr>
            <a:spLocks noGrp="1"/>
          </p:cNvSpPr>
          <p:nvPr>
            <p:ph type="title"/>
          </p:nvPr>
        </p:nvSpPr>
        <p:spPr>
          <a:xfrm>
            <a:off x="646111" y="452718"/>
            <a:ext cx="9404723" cy="873162"/>
          </a:xfrm>
        </p:spPr>
        <p:txBody>
          <a:bodyPr/>
          <a:lstStyle/>
          <a:p>
            <a:r>
              <a:rPr lang="en-US" dirty="0"/>
              <a:t>Conditional Statements</a:t>
            </a:r>
            <a:endParaRPr lang="en-IN" dirty="0"/>
          </a:p>
        </p:txBody>
      </p:sp>
      <p:sp>
        <p:nvSpPr>
          <p:cNvPr id="3" name="Content Placeholder 2">
            <a:extLst>
              <a:ext uri="{FF2B5EF4-FFF2-40B4-BE49-F238E27FC236}">
                <a16:creationId xmlns:a16="http://schemas.microsoft.com/office/drawing/2014/main" id="{37365A42-F315-8C99-C549-0268F93B5B77}"/>
              </a:ext>
            </a:extLst>
          </p:cNvPr>
          <p:cNvSpPr>
            <a:spLocks noGrp="1"/>
          </p:cNvSpPr>
          <p:nvPr>
            <p:ph idx="1"/>
          </p:nvPr>
        </p:nvSpPr>
        <p:spPr>
          <a:xfrm>
            <a:off x="1103312" y="1588770"/>
            <a:ext cx="8946541" cy="4659629"/>
          </a:xfrm>
        </p:spPr>
        <p:txBody>
          <a:bodyPr>
            <a:normAutofit lnSpcReduction="10000"/>
          </a:bodyPr>
          <a:lstStyle/>
          <a:p>
            <a:pPr>
              <a:lnSpc>
                <a:spcPct val="150000"/>
              </a:lnSpc>
            </a:pPr>
            <a:r>
              <a:rPr lang="en-US" b="0" i="0" dirty="0">
                <a:solidFill>
                  <a:srgbClr val="DDDDDD"/>
                </a:solidFill>
                <a:effectLst/>
                <a:latin typeface="Verdana" panose="020B0604030504040204" pitchFamily="34" charset="0"/>
              </a:rPr>
              <a:t>Conditional statements are used to perform different actions based on different conditions.</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rgbClr val="DDDDDD"/>
                </a:solidFill>
                <a:effectLst/>
                <a:latin typeface="Verdana" panose="020B0604030504040204" pitchFamily="34" charset="0"/>
              </a:rPr>
              <a:t>Use </a:t>
            </a:r>
            <a:r>
              <a:rPr kumimoji="0" lang="en-US" altLang="en-US" sz="2000" b="0" i="0" u="none" strike="noStrike" cap="none" normalizeH="0" baseline="0" dirty="0">
                <a:ln>
                  <a:noFill/>
                </a:ln>
                <a:solidFill>
                  <a:srgbClr val="FF9999"/>
                </a:solidFill>
                <a:effectLst/>
                <a:latin typeface="Consolas" panose="020B0609020204030204" pitchFamily="49" charset="0"/>
              </a:rPr>
              <a:t>if</a:t>
            </a:r>
            <a:r>
              <a:rPr kumimoji="0" lang="en-US" altLang="en-US" sz="2000" b="0" i="0" u="none" strike="noStrike" cap="none" normalizeH="0" baseline="0" dirty="0">
                <a:ln>
                  <a:noFill/>
                </a:ln>
                <a:solidFill>
                  <a:srgbClr val="DDDDDD"/>
                </a:solidFill>
                <a:effectLst/>
                <a:latin typeface="Verdana" panose="020B0604030504040204" pitchFamily="34" charset="0"/>
              </a:rPr>
              <a:t> to specify a block of code to be executed, if a specified condition is true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rgbClr val="DDDDDD"/>
                </a:solidFill>
                <a:effectLst/>
                <a:latin typeface="Verdana" panose="020B0604030504040204" pitchFamily="34" charset="0"/>
              </a:rPr>
              <a:t>Use </a:t>
            </a:r>
            <a:r>
              <a:rPr kumimoji="0" lang="en-US" altLang="en-US" sz="2000" b="0" i="0" u="none" strike="noStrike" cap="none" normalizeH="0" baseline="0" dirty="0">
                <a:ln>
                  <a:noFill/>
                </a:ln>
                <a:solidFill>
                  <a:srgbClr val="FF9999"/>
                </a:solidFill>
                <a:effectLst/>
                <a:latin typeface="Consolas" panose="020B0609020204030204" pitchFamily="49" charset="0"/>
              </a:rPr>
              <a:t>else</a:t>
            </a:r>
            <a:r>
              <a:rPr kumimoji="0" lang="en-US" altLang="en-US" sz="2000" b="0" i="0" u="none" strike="noStrike" cap="none" normalizeH="0" baseline="0" dirty="0">
                <a:ln>
                  <a:noFill/>
                </a:ln>
                <a:solidFill>
                  <a:srgbClr val="DDDDDD"/>
                </a:solidFill>
                <a:effectLst/>
                <a:latin typeface="Verdana" panose="020B0604030504040204" pitchFamily="34" charset="0"/>
              </a:rPr>
              <a:t> to specify a block of code to be executed, if the same condition is false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rgbClr val="DDDDDD"/>
                </a:solidFill>
                <a:effectLst/>
                <a:latin typeface="Verdana" panose="020B0604030504040204" pitchFamily="34" charset="0"/>
              </a:rPr>
              <a:t>Use </a:t>
            </a:r>
            <a:r>
              <a:rPr kumimoji="0" lang="en-US" altLang="en-US" sz="2000" b="0" i="0" u="none" strike="noStrike" cap="none" normalizeH="0" baseline="0" dirty="0">
                <a:ln>
                  <a:noFill/>
                </a:ln>
                <a:solidFill>
                  <a:srgbClr val="FF9999"/>
                </a:solidFill>
                <a:effectLst/>
                <a:latin typeface="Consolas" panose="020B0609020204030204" pitchFamily="49" charset="0"/>
              </a:rPr>
              <a:t>else if</a:t>
            </a:r>
            <a:r>
              <a:rPr kumimoji="0" lang="en-US" altLang="en-US" sz="2000" b="0" i="0" u="none" strike="noStrike" cap="none" normalizeH="0" baseline="0" dirty="0">
                <a:ln>
                  <a:noFill/>
                </a:ln>
                <a:solidFill>
                  <a:srgbClr val="DDDDDD"/>
                </a:solidFill>
                <a:effectLst/>
                <a:latin typeface="Verdana" panose="020B0604030504040204" pitchFamily="34" charset="0"/>
              </a:rPr>
              <a:t> to specify a new condition to test, if the first condition is false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rgbClr val="DDDDDD"/>
                </a:solidFill>
                <a:effectLst/>
                <a:latin typeface="Verdana" panose="020B0604030504040204" pitchFamily="34" charset="0"/>
              </a:rPr>
              <a:t>Use </a:t>
            </a:r>
            <a:r>
              <a:rPr kumimoji="0" lang="en-US" altLang="en-US" sz="2000" b="0" i="0" u="none" strike="noStrike" cap="none" normalizeH="0" baseline="0" dirty="0">
                <a:ln>
                  <a:noFill/>
                </a:ln>
                <a:solidFill>
                  <a:srgbClr val="FF9999"/>
                </a:solidFill>
                <a:effectLst/>
                <a:latin typeface="Consolas" panose="020B0609020204030204" pitchFamily="49" charset="0"/>
              </a:rPr>
              <a:t>switch</a:t>
            </a:r>
            <a:r>
              <a:rPr kumimoji="0" lang="en-US" altLang="en-US" sz="2000" b="0" i="0" u="none" strike="noStrike" cap="none" normalizeH="0" baseline="0" dirty="0">
                <a:ln>
                  <a:noFill/>
                </a:ln>
                <a:solidFill>
                  <a:srgbClr val="DDDDDD"/>
                </a:solidFill>
                <a:effectLst/>
                <a:latin typeface="Verdana" panose="020B0604030504040204" pitchFamily="34" charset="0"/>
              </a:rPr>
              <a:t> to specify many alternative blocks of code to be executed</a:t>
            </a:r>
          </a:p>
          <a:p>
            <a:endParaRPr lang="en-US" b="0" i="0" dirty="0">
              <a:solidFill>
                <a:srgbClr val="DDDDDD"/>
              </a:solidFill>
              <a:effectLst/>
              <a:latin typeface="Verdana" panose="020B0604030504040204" pitchFamily="34" charset="0"/>
            </a:endParaRPr>
          </a:p>
          <a:p>
            <a:endParaRPr lang="en-IN" dirty="0"/>
          </a:p>
        </p:txBody>
      </p:sp>
    </p:spTree>
    <p:extLst>
      <p:ext uri="{BB962C8B-B14F-4D97-AF65-F5344CB8AC3E}">
        <p14:creationId xmlns:p14="http://schemas.microsoft.com/office/powerpoint/2010/main" val="202058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C632-AE8A-F205-CFE9-8E31427468AB}"/>
              </a:ext>
            </a:extLst>
          </p:cNvPr>
          <p:cNvSpPr>
            <a:spLocks noGrp="1"/>
          </p:cNvSpPr>
          <p:nvPr>
            <p:ph type="title"/>
          </p:nvPr>
        </p:nvSpPr>
        <p:spPr>
          <a:xfrm>
            <a:off x="646111" y="452718"/>
            <a:ext cx="9404723" cy="1067472"/>
          </a:xfrm>
        </p:spPr>
        <p:txBody>
          <a:bodyPr/>
          <a:lstStyle/>
          <a:p>
            <a:r>
              <a:rPr lang="en-US" dirty="0"/>
              <a:t>Loops in JS</a:t>
            </a:r>
            <a:endParaRPr lang="en-IN" dirty="0"/>
          </a:p>
        </p:txBody>
      </p:sp>
      <p:sp>
        <p:nvSpPr>
          <p:cNvPr id="3" name="Content Placeholder 2">
            <a:extLst>
              <a:ext uri="{FF2B5EF4-FFF2-40B4-BE49-F238E27FC236}">
                <a16:creationId xmlns:a16="http://schemas.microsoft.com/office/drawing/2014/main" id="{39289D78-17BA-22BB-6966-241C7557A11C}"/>
              </a:ext>
            </a:extLst>
          </p:cNvPr>
          <p:cNvSpPr>
            <a:spLocks noGrp="1"/>
          </p:cNvSpPr>
          <p:nvPr>
            <p:ph idx="1"/>
          </p:nvPr>
        </p:nvSpPr>
        <p:spPr/>
        <p:txBody>
          <a:bodyPr/>
          <a:lstStyle/>
          <a:p>
            <a:r>
              <a:rPr lang="en-US" sz="2400" b="0" i="0" dirty="0">
                <a:solidFill>
                  <a:srgbClr val="DDDDDD"/>
                </a:solidFill>
                <a:effectLst/>
                <a:latin typeface="Verdana" panose="020B0604030504040204" pitchFamily="34" charset="0"/>
              </a:rPr>
              <a:t>Loops can execute a block of code a number of times</a:t>
            </a:r>
          </a:p>
          <a:p>
            <a:pPr marL="0" indent="0">
              <a:buNone/>
            </a:pPr>
            <a:endParaRPr lang="en-US" b="0" i="0" dirty="0">
              <a:solidFill>
                <a:srgbClr val="DDDDDD"/>
              </a:solidFill>
              <a:effectLst/>
              <a:latin typeface="Verdana" panose="020B0604030504040204" pitchFamily="34" charset="0"/>
            </a:endParaRPr>
          </a:p>
          <a:p>
            <a:pPr marL="0" indent="0" defTabSz="914400" eaLnBrk="0" fontAlgn="base" hangingPunct="0">
              <a:spcBef>
                <a:spcPct val="0"/>
              </a:spcBef>
              <a:spcAft>
                <a:spcPct val="0"/>
              </a:spcAft>
              <a:buClrTx/>
              <a:buSzTx/>
              <a:buNone/>
            </a:pPr>
            <a:r>
              <a:rPr lang="en-US" b="1" i="0" u="none" strike="noStrike" dirty="0">
                <a:solidFill>
                  <a:srgbClr val="008000"/>
                </a:solidFill>
                <a:effectLst/>
                <a:latin typeface="Verdana" panose="020B0604030504040204" pitchFamily="34" charset="0"/>
                <a:hlinkClick r:id="rId2"/>
              </a:rPr>
              <a:t>while loop</a:t>
            </a:r>
            <a:r>
              <a:rPr lang="en-US" b="1" i="0" u="none" strike="noStrike" dirty="0">
                <a:solidFill>
                  <a:srgbClr val="008000"/>
                </a:solidFill>
                <a:effectLst/>
                <a:latin typeface="Verdana" panose="020B0604030504040204" pitchFamily="34" charset="0"/>
              </a:rPr>
              <a:t> : </a:t>
            </a:r>
            <a:r>
              <a:rPr lang="en-US" b="0" i="0" dirty="0">
                <a:effectLst/>
                <a:latin typeface="Verdana" panose="020B0604030504040204" pitchFamily="34" charset="0"/>
              </a:rPr>
              <a:t>Repeats a statement or group of statements while a given condition is true. It tests the condition before executing the loop body</a:t>
            </a:r>
          </a:p>
          <a:p>
            <a:pPr marL="0" indent="0" defTabSz="914400" eaLnBrk="0" fontAlgn="base" hangingPunct="0">
              <a:spcBef>
                <a:spcPct val="0"/>
              </a:spcBef>
              <a:spcAft>
                <a:spcPct val="0"/>
              </a:spcAft>
              <a:buClrTx/>
              <a:buSzTx/>
              <a:buNone/>
            </a:pPr>
            <a:endParaRPr lang="en-US" dirty="0">
              <a:solidFill>
                <a:srgbClr val="000000"/>
              </a:solidFill>
              <a:latin typeface="Verdana" panose="020B0604030504040204" pitchFamily="34" charset="0"/>
            </a:endParaRPr>
          </a:p>
          <a:p>
            <a:pPr marL="0" indent="0" defTabSz="914400" eaLnBrk="0" fontAlgn="base" hangingPunct="0">
              <a:spcBef>
                <a:spcPct val="0"/>
              </a:spcBef>
              <a:spcAft>
                <a:spcPct val="0"/>
              </a:spcAft>
              <a:buClrTx/>
              <a:buSzTx/>
              <a:buNone/>
            </a:pPr>
            <a:r>
              <a:rPr lang="en-US" b="1" i="0" u="none" strike="noStrike" dirty="0">
                <a:solidFill>
                  <a:srgbClr val="008000"/>
                </a:solidFill>
                <a:effectLst/>
                <a:latin typeface="Verdana" panose="020B0604030504040204" pitchFamily="34" charset="0"/>
                <a:hlinkClick r:id="rId2"/>
              </a:rPr>
              <a:t>Do while loop</a:t>
            </a:r>
            <a:r>
              <a:rPr lang="en-US" b="1" i="0" u="none" strike="noStrike" dirty="0">
                <a:solidFill>
                  <a:srgbClr val="008000"/>
                </a:solidFill>
                <a:effectLst/>
                <a:latin typeface="Verdana" panose="020B0604030504040204" pitchFamily="34" charset="0"/>
              </a:rPr>
              <a:t> </a:t>
            </a:r>
            <a:r>
              <a:rPr lang="en-US" dirty="0">
                <a:solidFill>
                  <a:srgbClr val="000000"/>
                </a:solidFill>
                <a:latin typeface="Verdana" panose="020B0604030504040204" pitchFamily="34" charset="0"/>
              </a:rPr>
              <a:t>: </a:t>
            </a:r>
            <a:r>
              <a:rPr lang="en-US" b="0" i="0" dirty="0">
                <a:effectLst/>
                <a:latin typeface="Verdana" panose="020B0604030504040204" pitchFamily="34" charset="0"/>
              </a:rPr>
              <a:t>It is more like a while statement, except that it tests the condition at the end of the loop body.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effectLst/>
              <a:latin typeface="Verdana" panose="020B0604030504040204" pitchFamily="34" charset="0"/>
            </a:endParaRPr>
          </a:p>
          <a:p>
            <a:pPr marL="0" indent="0">
              <a:buNone/>
            </a:pPr>
            <a:r>
              <a:rPr lang="en-US" b="1" i="0" u="none" strike="noStrike" dirty="0">
                <a:solidFill>
                  <a:srgbClr val="008000"/>
                </a:solidFill>
                <a:effectLst/>
                <a:latin typeface="Verdana" panose="020B0604030504040204" pitchFamily="34" charset="0"/>
                <a:hlinkClick r:id="rId2"/>
              </a:rPr>
              <a:t>For loop</a:t>
            </a:r>
            <a:r>
              <a:rPr lang="en-US" b="1" i="0" u="none" strike="noStrike" dirty="0">
                <a:solidFill>
                  <a:srgbClr val="008000"/>
                </a:solidFill>
                <a:effectLst/>
                <a:latin typeface="Verdana" panose="020B0604030504040204" pitchFamily="34" charset="0"/>
              </a:rPr>
              <a:t> : </a:t>
            </a:r>
            <a:r>
              <a:rPr lang="en-US" b="0" i="0" dirty="0">
                <a:effectLst/>
                <a:latin typeface="Verdana" panose="020B0604030504040204" pitchFamily="34" charset="0"/>
              </a:rPr>
              <a:t>Executes a sequence of statements multiple times and abbreviates the code that manages the loop variable</a:t>
            </a:r>
          </a:p>
          <a:p>
            <a:endParaRPr lang="en-IN" dirty="0"/>
          </a:p>
        </p:txBody>
      </p:sp>
    </p:spTree>
    <p:extLst>
      <p:ext uri="{BB962C8B-B14F-4D97-AF65-F5344CB8AC3E}">
        <p14:creationId xmlns:p14="http://schemas.microsoft.com/office/powerpoint/2010/main" val="1344268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E5A66-CC8A-FBBD-B50D-04D5CD9A0B43}"/>
              </a:ext>
            </a:extLst>
          </p:cNvPr>
          <p:cNvSpPr>
            <a:spLocks noGrp="1"/>
          </p:cNvSpPr>
          <p:nvPr>
            <p:ph type="title"/>
          </p:nvPr>
        </p:nvSpPr>
        <p:spPr>
          <a:xfrm>
            <a:off x="646111" y="452718"/>
            <a:ext cx="9404723" cy="896022"/>
          </a:xfrm>
        </p:spPr>
        <p:txBody>
          <a:bodyPr/>
          <a:lstStyle/>
          <a:p>
            <a:r>
              <a:rPr lang="en-US" dirty="0"/>
              <a:t>Functions In JS</a:t>
            </a:r>
            <a:endParaRPr lang="en-IN" dirty="0"/>
          </a:p>
        </p:txBody>
      </p:sp>
      <p:sp>
        <p:nvSpPr>
          <p:cNvPr id="3" name="Content Placeholder 2">
            <a:extLst>
              <a:ext uri="{FF2B5EF4-FFF2-40B4-BE49-F238E27FC236}">
                <a16:creationId xmlns:a16="http://schemas.microsoft.com/office/drawing/2014/main" id="{57B46152-47D5-207C-5E2B-B39A1D0A07E2}"/>
              </a:ext>
            </a:extLst>
          </p:cNvPr>
          <p:cNvSpPr>
            <a:spLocks noGrp="1"/>
          </p:cNvSpPr>
          <p:nvPr>
            <p:ph idx="1"/>
          </p:nvPr>
        </p:nvSpPr>
        <p:spPr>
          <a:xfrm>
            <a:off x="1103312" y="1634490"/>
            <a:ext cx="8946541" cy="4613909"/>
          </a:xfrm>
        </p:spPr>
        <p:txBody>
          <a:bodyPr>
            <a:normAutofit fontScale="92500" lnSpcReduction="20000"/>
          </a:bodyPr>
          <a:lstStyle/>
          <a:p>
            <a:pPr algn="l"/>
            <a:r>
              <a:rPr lang="en-US" b="0" i="0" dirty="0">
                <a:solidFill>
                  <a:srgbClr val="DDDDDD"/>
                </a:solidFill>
                <a:effectLst/>
                <a:latin typeface="Verdana" panose="020B0604030504040204" pitchFamily="34" charset="0"/>
              </a:rPr>
              <a:t>A JavaScript function is a block of code designed to perform a particular task.</a:t>
            </a:r>
          </a:p>
          <a:p>
            <a:pPr algn="l"/>
            <a:r>
              <a:rPr lang="en-US" b="0" i="0" dirty="0">
                <a:solidFill>
                  <a:srgbClr val="DDDDDD"/>
                </a:solidFill>
                <a:effectLst/>
                <a:latin typeface="Verdana" panose="020B0604030504040204" pitchFamily="34" charset="0"/>
              </a:rPr>
              <a:t>A JavaScript function is executed when "something" invokes it (calls it).</a:t>
            </a:r>
          </a:p>
          <a:p>
            <a:pPr algn="l"/>
            <a:r>
              <a:rPr lang="en-US" b="0" i="0" dirty="0">
                <a:effectLst/>
                <a:latin typeface="Verdana" panose="020B0604030504040204" pitchFamily="34" charset="0"/>
              </a:rPr>
              <a:t>With functions you can reuse code</a:t>
            </a:r>
          </a:p>
          <a:p>
            <a:pPr algn="l"/>
            <a:r>
              <a:rPr lang="en-US" b="0" i="0" dirty="0">
                <a:effectLst/>
                <a:latin typeface="Verdana" panose="020B0604030504040204" pitchFamily="34" charset="0"/>
              </a:rPr>
              <a:t>You can write code that can be used many times.</a:t>
            </a:r>
          </a:p>
          <a:p>
            <a:pPr algn="l"/>
            <a:r>
              <a:rPr lang="en-US" b="0" i="0" dirty="0">
                <a:effectLst/>
                <a:latin typeface="Verdana" panose="020B0604030504040204" pitchFamily="34" charset="0"/>
              </a:rPr>
              <a:t>You can use the same code with different arguments, to produce different results.</a:t>
            </a:r>
            <a:endParaRPr lang="en-US" b="0" i="0" dirty="0">
              <a:solidFill>
                <a:srgbClr val="DDDDDD"/>
              </a:solidFill>
              <a:effectLst/>
              <a:latin typeface="Verdana" panose="020B0604030504040204" pitchFamily="34" charset="0"/>
            </a:endParaRPr>
          </a:p>
          <a:p>
            <a:endParaRPr lang="en-IN" dirty="0"/>
          </a:p>
          <a:p>
            <a:r>
              <a:rPr lang="en-IN" b="1" u="sng" dirty="0"/>
              <a:t>Syntax : </a:t>
            </a:r>
          </a:p>
          <a:p>
            <a:pPr lvl="1"/>
            <a:r>
              <a:rPr lang="en-US" sz="2800" b="0" i="0" dirty="0">
                <a:effectLst/>
                <a:latin typeface="Consolas" panose="020B0609020204030204" pitchFamily="49" charset="0"/>
              </a:rPr>
              <a:t>function myFunction(p1, p2) {</a:t>
            </a:r>
            <a:r>
              <a:rPr lang="en-US" sz="2800" dirty="0"/>
              <a:t/>
            </a:r>
            <a:br>
              <a:rPr lang="en-US" sz="2800" dirty="0"/>
            </a:br>
            <a:r>
              <a:rPr lang="en-US" sz="2800" b="0" i="0" dirty="0">
                <a:effectLst/>
                <a:latin typeface="Consolas" panose="020B0609020204030204" pitchFamily="49" charset="0"/>
              </a:rPr>
              <a:t>  return p1 * p2;</a:t>
            </a:r>
            <a:r>
              <a:rPr lang="en-US" sz="2800" dirty="0"/>
              <a:t/>
            </a:r>
            <a:br>
              <a:rPr lang="en-US" sz="2800" dirty="0"/>
            </a:br>
            <a:r>
              <a:rPr lang="en-US" sz="2800" b="0" i="0" dirty="0">
                <a:effectLst/>
                <a:latin typeface="Consolas" panose="020B0609020204030204" pitchFamily="49" charset="0"/>
              </a:rPr>
              <a:t>}</a:t>
            </a:r>
            <a:endParaRPr lang="en-IN" sz="2800" dirty="0"/>
          </a:p>
          <a:p>
            <a:endParaRPr lang="en-IN" dirty="0"/>
          </a:p>
        </p:txBody>
      </p:sp>
    </p:spTree>
    <p:extLst>
      <p:ext uri="{BB962C8B-B14F-4D97-AF65-F5344CB8AC3E}">
        <p14:creationId xmlns:p14="http://schemas.microsoft.com/office/powerpoint/2010/main" val="2086013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183E-72E4-76D2-9C6A-322AB3C9B9EC}"/>
              </a:ext>
            </a:extLst>
          </p:cNvPr>
          <p:cNvSpPr>
            <a:spLocks noGrp="1"/>
          </p:cNvSpPr>
          <p:nvPr>
            <p:ph type="title"/>
          </p:nvPr>
        </p:nvSpPr>
        <p:spPr/>
        <p:txBody>
          <a:bodyPr/>
          <a:lstStyle/>
          <a:p>
            <a:r>
              <a:rPr lang="en-IN" b="0" i="0" dirty="0">
                <a:solidFill>
                  <a:srgbClr val="DDDDDD"/>
                </a:solidFill>
                <a:effectLst/>
                <a:latin typeface="Segoe UI" panose="020B0502040204020203" pitchFamily="34" charset="0"/>
              </a:rPr>
              <a:t>JavaScript Function Syntax</a:t>
            </a:r>
            <a:br>
              <a:rPr lang="en-IN" b="0" i="0" dirty="0">
                <a:solidFill>
                  <a:srgbClr val="DDDDDD"/>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CC158356-4908-5F04-33C4-B208F8078297}"/>
              </a:ext>
            </a:extLst>
          </p:cNvPr>
          <p:cNvSpPr>
            <a:spLocks noGrp="1"/>
          </p:cNvSpPr>
          <p:nvPr>
            <p:ph idx="1"/>
          </p:nvPr>
        </p:nvSpPr>
        <p:spPr/>
        <p:txBody>
          <a:bodyPr>
            <a:normAutofit lnSpcReduction="10000"/>
          </a:bodyPr>
          <a:lstStyle/>
          <a:p>
            <a:pPr defTabSz="91440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rgbClr val="DDDDDD"/>
                </a:solidFill>
                <a:effectLst/>
                <a:latin typeface="Verdana" panose="020B0604030504040204" pitchFamily="34" charset="0"/>
              </a:rPr>
              <a:t>A JavaScript function is defined with the </a:t>
            </a:r>
            <a:r>
              <a:rPr kumimoji="0" lang="en-US" altLang="en-US" sz="2000" b="0" i="0" u="none" strike="noStrike" cap="none" normalizeH="0" baseline="0" dirty="0">
                <a:ln>
                  <a:noFill/>
                </a:ln>
                <a:solidFill>
                  <a:srgbClr val="FF9999"/>
                </a:solidFill>
                <a:effectLst/>
                <a:latin typeface="Consolas" panose="020B0609020204030204" pitchFamily="49" charset="0"/>
              </a:rPr>
              <a:t>function</a:t>
            </a:r>
            <a:r>
              <a:rPr kumimoji="0" lang="en-US" altLang="en-US" sz="2000" b="0" i="0" u="none" strike="noStrike" cap="none" normalizeH="0" baseline="0" dirty="0">
                <a:ln>
                  <a:noFill/>
                </a:ln>
                <a:solidFill>
                  <a:srgbClr val="DDDDDD"/>
                </a:solidFill>
                <a:effectLst/>
                <a:latin typeface="Verdana" panose="020B0604030504040204" pitchFamily="34" charset="0"/>
              </a:rPr>
              <a:t> keyword, followed by a </a:t>
            </a:r>
            <a:r>
              <a:rPr kumimoji="0" lang="en-US" altLang="en-US" sz="2000" b="1" i="0" u="none" strike="noStrike" cap="none" normalizeH="0" baseline="0" dirty="0">
                <a:ln>
                  <a:noFill/>
                </a:ln>
                <a:solidFill>
                  <a:srgbClr val="DDDDDD"/>
                </a:solidFill>
                <a:effectLst/>
                <a:latin typeface="Verdana" panose="020B0604030504040204" pitchFamily="34" charset="0"/>
              </a:rPr>
              <a:t>name</a:t>
            </a:r>
            <a:r>
              <a:rPr kumimoji="0" lang="en-US" altLang="en-US" sz="2000" b="0" i="0" u="none" strike="noStrike" cap="none" normalizeH="0" baseline="0" dirty="0">
                <a:ln>
                  <a:noFill/>
                </a:ln>
                <a:solidFill>
                  <a:srgbClr val="DDDDDD"/>
                </a:solidFill>
                <a:effectLst/>
                <a:latin typeface="Verdana" panose="020B0604030504040204" pitchFamily="34" charset="0"/>
              </a:rPr>
              <a:t>, followed by parentheses </a:t>
            </a:r>
            <a:r>
              <a:rPr kumimoji="0" lang="en-US" altLang="en-US" sz="2000" b="1" i="0" u="none" strike="noStrike" cap="none" normalizeH="0" baseline="0" dirty="0">
                <a:ln>
                  <a:noFill/>
                </a:ln>
                <a:solidFill>
                  <a:srgbClr val="DDDDDD"/>
                </a:solidFill>
                <a:effectLst/>
                <a:latin typeface="Verdana" panose="020B0604030504040204" pitchFamily="34" charset="0"/>
              </a:rPr>
              <a:t>()</a:t>
            </a:r>
            <a:r>
              <a:rPr kumimoji="0" lang="en-US" altLang="en-US" sz="2000" b="0" i="0" u="none" strike="noStrike" cap="none" normalizeH="0" baseline="0" dirty="0">
                <a:ln>
                  <a:noFill/>
                </a:ln>
                <a:solidFill>
                  <a:srgbClr val="DDDDDD"/>
                </a:solidFill>
                <a:effectLst/>
                <a:latin typeface="Verdana" panose="020B0604030504040204" pitchFamily="34" charset="0"/>
              </a:rPr>
              <a:t>.</a:t>
            </a:r>
            <a:endParaRPr kumimoji="0" lang="en-US" altLang="en-US" sz="1200" b="0" i="0" u="none" strike="noStrike" cap="none" normalizeH="0" baseline="0" dirty="0">
              <a:ln>
                <a:noFill/>
              </a:ln>
              <a:solidFill>
                <a:schemeClr val="tx1"/>
              </a:solidFill>
              <a:effectLst/>
            </a:endParaRPr>
          </a:p>
          <a:p>
            <a:pPr defTabSz="91440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rgbClr val="DDDDDD"/>
                </a:solidFill>
                <a:effectLst/>
                <a:latin typeface="Verdana" panose="020B0604030504040204" pitchFamily="34" charset="0"/>
              </a:rPr>
              <a:t>Function names can contain letters, digits, underscores, and dollar signs (same rules as variables).</a:t>
            </a:r>
            <a:endParaRPr kumimoji="0" lang="en-US" altLang="en-US" sz="1200" b="0" i="0" u="none" strike="noStrike" cap="none" normalizeH="0" baseline="0" dirty="0">
              <a:ln>
                <a:noFill/>
              </a:ln>
              <a:solidFill>
                <a:schemeClr val="tx1"/>
              </a:solidFill>
              <a:effectLst/>
            </a:endParaRPr>
          </a:p>
          <a:p>
            <a:pPr defTabSz="91440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rgbClr val="DDDDDD"/>
                </a:solidFill>
                <a:effectLst/>
                <a:latin typeface="Verdana" panose="020B0604030504040204" pitchFamily="34" charset="0"/>
              </a:rPr>
              <a:t>The parentheses may include parameter names separated by commas:</a:t>
            </a:r>
            <a:br>
              <a:rPr kumimoji="0" lang="en-US" altLang="en-US" sz="2000" b="0" i="0" u="none" strike="noStrike" cap="none" normalizeH="0" baseline="0" dirty="0">
                <a:ln>
                  <a:noFill/>
                </a:ln>
                <a:solidFill>
                  <a:srgbClr val="DDDDDD"/>
                </a:solidFill>
                <a:effectLst/>
                <a:latin typeface="Verdana" panose="020B0604030504040204" pitchFamily="34" charset="0"/>
              </a:rPr>
            </a:br>
            <a:r>
              <a:rPr kumimoji="0" lang="en-US" altLang="en-US" sz="2000" b="1" i="0" u="none" strike="noStrike" cap="none" normalizeH="0" baseline="0" dirty="0">
                <a:ln>
                  <a:noFill/>
                </a:ln>
                <a:solidFill>
                  <a:srgbClr val="DDDDDD"/>
                </a:solidFill>
                <a:effectLst/>
                <a:latin typeface="Verdana" panose="020B0604030504040204" pitchFamily="34" charset="0"/>
              </a:rPr>
              <a:t>(</a:t>
            </a:r>
            <a:r>
              <a:rPr kumimoji="0" lang="en-US" altLang="en-US" sz="2000" b="1" i="1" u="none" strike="noStrike" cap="none" normalizeH="0" baseline="0" dirty="0">
                <a:ln>
                  <a:noFill/>
                </a:ln>
                <a:solidFill>
                  <a:srgbClr val="DDDDDD"/>
                </a:solidFill>
                <a:effectLst/>
                <a:latin typeface="Verdana" panose="020B0604030504040204" pitchFamily="34" charset="0"/>
              </a:rPr>
              <a:t>parameter1, parameter2, ...</a:t>
            </a:r>
            <a:r>
              <a:rPr kumimoji="0" lang="en-US" altLang="en-US" sz="2000" b="1" i="0" u="none" strike="noStrike" cap="none" normalizeH="0" baseline="0" dirty="0">
                <a:ln>
                  <a:noFill/>
                </a:ln>
                <a:solidFill>
                  <a:srgbClr val="DDDDDD"/>
                </a:solidFill>
                <a:effectLst/>
                <a:latin typeface="Verdana" panose="020B0604030504040204" pitchFamily="34" charset="0"/>
              </a:rPr>
              <a:t>)</a:t>
            </a:r>
            <a:endParaRPr kumimoji="0" lang="en-US" altLang="en-US" sz="1200" b="0" i="0" u="none" strike="noStrike" cap="none" normalizeH="0" baseline="0" dirty="0">
              <a:ln>
                <a:noFill/>
              </a:ln>
              <a:solidFill>
                <a:schemeClr val="tx1"/>
              </a:solidFill>
              <a:effectLst/>
            </a:endParaRPr>
          </a:p>
          <a:p>
            <a:pPr defTabSz="91440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rgbClr val="DDDDDD"/>
                </a:solidFill>
                <a:effectLst/>
                <a:latin typeface="Verdana" panose="020B0604030504040204" pitchFamily="34" charset="0"/>
              </a:rPr>
              <a:t>The code to be executed, by the function, is placed inside curly brackets: </a:t>
            </a:r>
            <a:r>
              <a:rPr kumimoji="0" lang="en-US" altLang="en-US" sz="2000" b="1" i="0" u="none" strike="noStrike" cap="none" normalizeH="0" baseline="0" dirty="0">
                <a:ln>
                  <a:noFill/>
                </a:ln>
                <a:solidFill>
                  <a:srgbClr val="DDDDDD"/>
                </a:solidFill>
                <a:effectLst/>
                <a:latin typeface="Verdana" panose="020B0604030504040204" pitchFamily="34"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572799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2C8D8-E67A-DF5E-EF27-6EA0977B49DD}"/>
              </a:ext>
            </a:extLst>
          </p:cNvPr>
          <p:cNvSpPr>
            <a:spLocks noGrp="1"/>
          </p:cNvSpPr>
          <p:nvPr>
            <p:ph type="title"/>
          </p:nvPr>
        </p:nvSpPr>
        <p:spPr>
          <a:xfrm>
            <a:off x="646111" y="452718"/>
            <a:ext cx="9404723" cy="1136052"/>
          </a:xfrm>
        </p:spPr>
        <p:txBody>
          <a:bodyPr/>
          <a:lstStyle/>
          <a:p>
            <a:r>
              <a:rPr lang="en-US" dirty="0"/>
              <a:t>Types of Functions in JS</a:t>
            </a:r>
            <a:endParaRPr lang="en-IN" dirty="0"/>
          </a:p>
        </p:txBody>
      </p:sp>
      <p:sp>
        <p:nvSpPr>
          <p:cNvPr id="3" name="Content Placeholder 2">
            <a:extLst>
              <a:ext uri="{FF2B5EF4-FFF2-40B4-BE49-F238E27FC236}">
                <a16:creationId xmlns:a16="http://schemas.microsoft.com/office/drawing/2014/main" id="{746931B6-423E-12C3-5629-E99A7F7E12B8}"/>
              </a:ext>
            </a:extLst>
          </p:cNvPr>
          <p:cNvSpPr>
            <a:spLocks noGrp="1"/>
          </p:cNvSpPr>
          <p:nvPr>
            <p:ph idx="1"/>
          </p:nvPr>
        </p:nvSpPr>
        <p:spPr/>
        <p:txBody>
          <a:bodyPr/>
          <a:lstStyle/>
          <a:p>
            <a:pPr marL="457200" indent="-457200">
              <a:buFont typeface="+mj-lt"/>
              <a:buAutoNum type="arabicPeriod"/>
            </a:pPr>
            <a:r>
              <a:rPr lang="en-US" dirty="0"/>
              <a:t>Anonymous function</a:t>
            </a:r>
          </a:p>
          <a:p>
            <a:pPr marL="457200" indent="-457200">
              <a:buFont typeface="+mj-lt"/>
              <a:buAutoNum type="arabicPeriod"/>
            </a:pPr>
            <a:r>
              <a:rPr lang="en-US" dirty="0"/>
              <a:t>Named function</a:t>
            </a:r>
          </a:p>
          <a:p>
            <a:pPr marL="457200" indent="-457200">
              <a:buFont typeface="+mj-lt"/>
              <a:buAutoNum type="arabicPeriod"/>
            </a:pPr>
            <a:r>
              <a:rPr lang="en-US" dirty="0"/>
              <a:t>Function with expression</a:t>
            </a:r>
          </a:p>
          <a:p>
            <a:pPr marL="457200" indent="-457200">
              <a:buFont typeface="+mj-lt"/>
              <a:buAutoNum type="arabicPeriod"/>
            </a:pPr>
            <a:r>
              <a:rPr lang="en-IN" dirty="0"/>
              <a:t>Nested function</a:t>
            </a:r>
            <a:endParaRPr lang="en-US" dirty="0"/>
          </a:p>
          <a:p>
            <a:pPr marL="457200" indent="-457200">
              <a:buFont typeface="+mj-lt"/>
              <a:buAutoNum type="arabicPeriod"/>
            </a:pPr>
            <a:r>
              <a:rPr lang="en-IN" dirty="0"/>
              <a:t>Immediate invoking function</a:t>
            </a:r>
          </a:p>
          <a:p>
            <a:pPr marL="457200" indent="-457200">
              <a:buFont typeface="+mj-lt"/>
              <a:buAutoNum type="arabicPeriod"/>
            </a:pPr>
            <a:r>
              <a:rPr lang="en-IN" dirty="0"/>
              <a:t>Arrow function</a:t>
            </a:r>
          </a:p>
          <a:p>
            <a:pPr marL="457200" indent="-457200">
              <a:buFont typeface="+mj-lt"/>
              <a:buAutoNum type="arabicPeriod"/>
            </a:pPr>
            <a:r>
              <a:rPr lang="en-IN" dirty="0"/>
              <a:t>Higher order function</a:t>
            </a:r>
          </a:p>
          <a:p>
            <a:pPr marL="457200" indent="-457200">
              <a:buFont typeface="+mj-lt"/>
              <a:buAutoNum type="arabicPeriod"/>
            </a:pPr>
            <a:r>
              <a:rPr lang="en-IN" dirty="0"/>
              <a:t>Callback </a:t>
            </a:r>
            <a:r>
              <a:rPr lang="en-IN" dirty="0" smtClean="0"/>
              <a:t>function</a:t>
            </a:r>
            <a:endParaRPr lang="en-IN" dirty="0"/>
          </a:p>
          <a:p>
            <a:pPr marL="0" indent="0">
              <a:buNone/>
            </a:pPr>
            <a:endParaRPr lang="en-IN" dirty="0"/>
          </a:p>
        </p:txBody>
      </p:sp>
    </p:spTree>
    <p:extLst>
      <p:ext uri="{BB962C8B-B14F-4D97-AF65-F5344CB8AC3E}">
        <p14:creationId xmlns:p14="http://schemas.microsoft.com/office/powerpoint/2010/main" val="1101676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4B1D6-14CD-5C8B-34AF-A87F14F535F0}"/>
              </a:ext>
            </a:extLst>
          </p:cNvPr>
          <p:cNvSpPr>
            <a:spLocks noGrp="1"/>
          </p:cNvSpPr>
          <p:nvPr>
            <p:ph type="title"/>
          </p:nvPr>
        </p:nvSpPr>
        <p:spPr>
          <a:xfrm>
            <a:off x="646111" y="452718"/>
            <a:ext cx="9404723" cy="918882"/>
          </a:xfrm>
        </p:spPr>
        <p:txBody>
          <a:bodyPr/>
          <a:lstStyle/>
          <a:p>
            <a:r>
              <a:rPr lang="en-US" dirty="0"/>
              <a:t>1.Anonymous function</a:t>
            </a:r>
            <a:endParaRPr lang="en-IN" dirty="0"/>
          </a:p>
        </p:txBody>
      </p:sp>
      <p:sp>
        <p:nvSpPr>
          <p:cNvPr id="3" name="Content Placeholder 2">
            <a:extLst>
              <a:ext uri="{FF2B5EF4-FFF2-40B4-BE49-F238E27FC236}">
                <a16:creationId xmlns:a16="http://schemas.microsoft.com/office/drawing/2014/main" id="{6B236A93-CF23-6F61-EDD4-1EFB4D60F5E3}"/>
              </a:ext>
            </a:extLst>
          </p:cNvPr>
          <p:cNvSpPr>
            <a:spLocks noGrp="1"/>
          </p:cNvSpPr>
          <p:nvPr>
            <p:ph idx="1"/>
          </p:nvPr>
        </p:nvSpPr>
        <p:spPr/>
        <p:txBody>
          <a:bodyPr/>
          <a:lstStyle/>
          <a:p>
            <a:r>
              <a:rPr lang="en-US" dirty="0"/>
              <a:t>A function without name is known as Anonymous function</a:t>
            </a:r>
          </a:p>
          <a:p>
            <a:endParaRPr lang="en-US" dirty="0"/>
          </a:p>
          <a:p>
            <a:r>
              <a:rPr lang="en-US" dirty="0"/>
              <a:t>Syntax :</a:t>
            </a:r>
          </a:p>
          <a:p>
            <a:pPr lvl="1"/>
            <a:r>
              <a:rPr lang="en-IN" sz="2400" b="0" i="0" dirty="0">
                <a:effectLst/>
                <a:latin typeface="Menlo"/>
              </a:rPr>
              <a:t>function(parameters) {</a:t>
            </a:r>
          </a:p>
          <a:p>
            <a:pPr marL="457200" lvl="1" indent="0">
              <a:buNone/>
            </a:pPr>
            <a:r>
              <a:rPr lang="en-IN" sz="2400" dirty="0">
                <a:latin typeface="Menlo"/>
              </a:rPr>
              <a:t>							</a:t>
            </a:r>
            <a:r>
              <a:rPr lang="en-IN" sz="2400" b="0" i="0" dirty="0">
                <a:effectLst/>
                <a:latin typeface="Menlo"/>
              </a:rPr>
              <a:t> // function body </a:t>
            </a:r>
          </a:p>
          <a:p>
            <a:pPr marL="457200" lvl="1" indent="0">
              <a:buNone/>
            </a:pPr>
            <a:r>
              <a:rPr lang="en-IN" sz="2400" dirty="0">
                <a:latin typeface="Menlo"/>
              </a:rPr>
              <a:t>						</a:t>
            </a:r>
            <a:r>
              <a:rPr lang="en-IN" sz="2400" b="0" i="0" dirty="0">
                <a:effectLst/>
                <a:latin typeface="Menlo"/>
              </a:rPr>
              <a:t>}</a:t>
            </a:r>
            <a:endParaRPr lang="en-IN" sz="2400" dirty="0"/>
          </a:p>
        </p:txBody>
      </p:sp>
    </p:spTree>
    <p:extLst>
      <p:ext uri="{BB962C8B-B14F-4D97-AF65-F5344CB8AC3E}">
        <p14:creationId xmlns:p14="http://schemas.microsoft.com/office/powerpoint/2010/main" val="981713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C3499-7EC1-B729-4505-0A725C4A1B9A}"/>
              </a:ext>
            </a:extLst>
          </p:cNvPr>
          <p:cNvSpPr>
            <a:spLocks noGrp="1"/>
          </p:cNvSpPr>
          <p:nvPr>
            <p:ph type="title"/>
          </p:nvPr>
        </p:nvSpPr>
        <p:spPr/>
        <p:txBody>
          <a:bodyPr/>
          <a:lstStyle/>
          <a:p>
            <a:r>
              <a:rPr lang="en-US" dirty="0"/>
              <a:t>2. Named Function</a:t>
            </a:r>
            <a:endParaRPr lang="en-IN" dirty="0"/>
          </a:p>
        </p:txBody>
      </p:sp>
      <p:sp>
        <p:nvSpPr>
          <p:cNvPr id="3" name="Content Placeholder 2">
            <a:extLst>
              <a:ext uri="{FF2B5EF4-FFF2-40B4-BE49-F238E27FC236}">
                <a16:creationId xmlns:a16="http://schemas.microsoft.com/office/drawing/2014/main" id="{7E325CC9-7B2B-EF30-FBB2-25C3269B888B}"/>
              </a:ext>
            </a:extLst>
          </p:cNvPr>
          <p:cNvSpPr>
            <a:spLocks noGrp="1"/>
          </p:cNvSpPr>
          <p:nvPr>
            <p:ph idx="1"/>
          </p:nvPr>
        </p:nvSpPr>
        <p:spPr/>
        <p:txBody>
          <a:bodyPr/>
          <a:lstStyle/>
          <a:p>
            <a:r>
              <a:rPr lang="en-US" dirty="0"/>
              <a:t>A function with name is called as named function</a:t>
            </a:r>
          </a:p>
          <a:p>
            <a:endParaRPr lang="en-US" dirty="0"/>
          </a:p>
          <a:p>
            <a:r>
              <a:rPr lang="en-US" dirty="0"/>
              <a:t>Syntax  :</a:t>
            </a:r>
          </a:p>
          <a:p>
            <a:r>
              <a:rPr lang="en-US" sz="2800" b="0" i="0" dirty="0">
                <a:effectLst/>
                <a:latin typeface="Menlo"/>
              </a:rPr>
              <a:t>function functionName(parameters) {</a:t>
            </a:r>
          </a:p>
          <a:p>
            <a:pPr marL="457200" lvl="1" indent="0">
              <a:buNone/>
            </a:pPr>
            <a:r>
              <a:rPr lang="en-US" sz="2800" dirty="0">
                <a:latin typeface="Menlo"/>
              </a:rPr>
              <a:t>										</a:t>
            </a:r>
            <a:r>
              <a:rPr lang="en-US" sz="2800" b="0" i="0" dirty="0">
                <a:effectLst/>
                <a:latin typeface="Menlo"/>
              </a:rPr>
              <a:t> // function body</a:t>
            </a:r>
          </a:p>
          <a:p>
            <a:pPr marL="457200" lvl="1" indent="0">
              <a:buNone/>
            </a:pPr>
            <a:r>
              <a:rPr lang="en-US" sz="2800" dirty="0">
                <a:latin typeface="Menlo"/>
              </a:rPr>
              <a:t>											</a:t>
            </a:r>
            <a:r>
              <a:rPr lang="en-US" sz="2800" b="0" i="0" dirty="0">
                <a:effectLst/>
                <a:latin typeface="Menlo"/>
              </a:rPr>
              <a:t> }</a:t>
            </a:r>
            <a:endParaRPr lang="en-IN" dirty="0"/>
          </a:p>
        </p:txBody>
      </p:sp>
    </p:spTree>
    <p:extLst>
      <p:ext uri="{BB962C8B-B14F-4D97-AF65-F5344CB8AC3E}">
        <p14:creationId xmlns:p14="http://schemas.microsoft.com/office/powerpoint/2010/main" val="2215568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38E6D-A648-7169-29E1-90F785DF302D}"/>
              </a:ext>
            </a:extLst>
          </p:cNvPr>
          <p:cNvSpPr>
            <a:spLocks noGrp="1"/>
          </p:cNvSpPr>
          <p:nvPr>
            <p:ph type="title"/>
          </p:nvPr>
        </p:nvSpPr>
        <p:spPr/>
        <p:txBody>
          <a:bodyPr/>
          <a:lstStyle/>
          <a:p>
            <a:r>
              <a:rPr lang="en-US" dirty="0"/>
              <a:t>3 . Function with expression</a:t>
            </a:r>
            <a:endParaRPr lang="en-IN" dirty="0"/>
          </a:p>
        </p:txBody>
      </p:sp>
      <p:sp>
        <p:nvSpPr>
          <p:cNvPr id="3" name="Content Placeholder 2">
            <a:extLst>
              <a:ext uri="{FF2B5EF4-FFF2-40B4-BE49-F238E27FC236}">
                <a16:creationId xmlns:a16="http://schemas.microsoft.com/office/drawing/2014/main" id="{6352A0AC-7F99-47BD-DED4-1838CBEC9374}"/>
              </a:ext>
            </a:extLst>
          </p:cNvPr>
          <p:cNvSpPr>
            <a:spLocks noGrp="1"/>
          </p:cNvSpPr>
          <p:nvPr>
            <p:ph idx="1"/>
          </p:nvPr>
        </p:nvSpPr>
        <p:spPr/>
        <p:txBody>
          <a:bodyPr/>
          <a:lstStyle/>
          <a:p>
            <a:r>
              <a:rPr lang="en-US" dirty="0"/>
              <a:t>It is the way to execute the anonymous function</a:t>
            </a:r>
          </a:p>
          <a:p>
            <a:r>
              <a:rPr lang="en-US" dirty="0"/>
              <a:t>Passing whole anonymous function as a value to a variable is known as </a:t>
            </a:r>
            <a:r>
              <a:rPr lang="en-US" b="1" dirty="0"/>
              <a:t>function with expression.</a:t>
            </a:r>
          </a:p>
          <a:p>
            <a:r>
              <a:rPr lang="en-US" dirty="0"/>
              <a:t>The function which is passed as a value is known as </a:t>
            </a:r>
            <a:r>
              <a:rPr lang="en-US" b="1" dirty="0"/>
              <a:t>first class function</a:t>
            </a:r>
          </a:p>
          <a:p>
            <a:pPr marL="800100" lvl="2" indent="0">
              <a:buNone/>
            </a:pPr>
            <a:r>
              <a:rPr lang="en-US" sz="2000" b="1" dirty="0"/>
              <a:t>EX </a:t>
            </a:r>
            <a:r>
              <a:rPr lang="en-US" sz="2800" b="1" dirty="0"/>
              <a:t>: </a:t>
            </a:r>
            <a:r>
              <a:rPr lang="en-US" sz="2800" dirty="0"/>
              <a:t>let x=function(){</a:t>
            </a:r>
          </a:p>
          <a:p>
            <a:pPr marL="800100" lvl="2" indent="0">
              <a:buNone/>
            </a:pPr>
            <a:r>
              <a:rPr lang="en-US" sz="2800" dirty="0"/>
              <a:t>//block of code</a:t>
            </a:r>
          </a:p>
          <a:p>
            <a:pPr marL="800100" lvl="2" indent="0">
              <a:buNone/>
            </a:pPr>
            <a:r>
              <a:rPr lang="en-US" sz="2800" dirty="0"/>
              <a:t>}</a:t>
            </a:r>
          </a:p>
          <a:p>
            <a:pPr marL="800100" lvl="2" indent="0">
              <a:buNone/>
            </a:pPr>
            <a:r>
              <a:rPr lang="en-US" sz="2800" dirty="0"/>
              <a:t>x();</a:t>
            </a:r>
            <a:endParaRPr lang="en-IN" sz="2000" dirty="0"/>
          </a:p>
        </p:txBody>
      </p:sp>
    </p:spTree>
    <p:extLst>
      <p:ext uri="{BB962C8B-B14F-4D97-AF65-F5344CB8AC3E}">
        <p14:creationId xmlns:p14="http://schemas.microsoft.com/office/powerpoint/2010/main" val="3368861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1822E-F771-5D80-11CB-761F5070CA72}"/>
              </a:ext>
            </a:extLst>
          </p:cNvPr>
          <p:cNvSpPr>
            <a:spLocks noGrp="1"/>
          </p:cNvSpPr>
          <p:nvPr>
            <p:ph type="title"/>
          </p:nvPr>
        </p:nvSpPr>
        <p:spPr/>
        <p:txBody>
          <a:bodyPr/>
          <a:lstStyle/>
          <a:p>
            <a:r>
              <a:rPr lang="en-US" dirty="0"/>
              <a:t>Nested function</a:t>
            </a:r>
            <a:endParaRPr lang="en-IN" dirty="0"/>
          </a:p>
        </p:txBody>
      </p:sp>
      <p:sp>
        <p:nvSpPr>
          <p:cNvPr id="3" name="Content Placeholder 2">
            <a:extLst>
              <a:ext uri="{FF2B5EF4-FFF2-40B4-BE49-F238E27FC236}">
                <a16:creationId xmlns:a16="http://schemas.microsoft.com/office/drawing/2014/main" id="{3389CA95-CDAB-6246-92A2-4ED5DA803430}"/>
              </a:ext>
            </a:extLst>
          </p:cNvPr>
          <p:cNvSpPr>
            <a:spLocks noGrp="1"/>
          </p:cNvSpPr>
          <p:nvPr>
            <p:ph idx="1"/>
          </p:nvPr>
        </p:nvSpPr>
        <p:spPr>
          <a:xfrm>
            <a:off x="1103312" y="1531620"/>
            <a:ext cx="8946541" cy="4716779"/>
          </a:xfrm>
        </p:spPr>
        <p:txBody>
          <a:bodyPr>
            <a:normAutofit/>
          </a:bodyPr>
          <a:lstStyle/>
          <a:p>
            <a:r>
              <a:rPr lang="en-US" dirty="0"/>
              <a:t>A function which is declared inside another function is known as nested function.</a:t>
            </a:r>
          </a:p>
          <a:p>
            <a:r>
              <a:rPr lang="en-US" dirty="0"/>
              <a:t>Nested functions are unidirectional i.e., We can access parent function properties in child function but vice-versa is not possible.</a:t>
            </a:r>
          </a:p>
          <a:p>
            <a:r>
              <a:rPr lang="en-US" dirty="0"/>
              <a:t>The ability of js engine to search a variable in the outer scope when it is not available in the local scope is known </a:t>
            </a:r>
            <a:r>
              <a:rPr lang="en-US" b="1" dirty="0"/>
              <a:t>as lexical scoping or scope chaining.</a:t>
            </a:r>
          </a:p>
          <a:p>
            <a:r>
              <a:rPr lang="en-US" dirty="0"/>
              <a:t>Whenever the child function needs a property from parent function the </a:t>
            </a:r>
            <a:r>
              <a:rPr lang="en-US" b="1" dirty="0"/>
              <a:t>closure</a:t>
            </a:r>
            <a:r>
              <a:rPr lang="en-US" dirty="0"/>
              <a:t> will be formed and it consists of only required data.</a:t>
            </a:r>
          </a:p>
          <a:p>
            <a:r>
              <a:rPr lang="en-US" b="0" i="0" dirty="0">
                <a:effectLst/>
                <a:latin typeface="Nunito" pitchFamily="2" charset="0"/>
              </a:rPr>
              <a:t>A closure is a feature of JavaScript that allows inner functions to access the outer scope of a function. Closure helps in binding a function to its outer boundary and is created automatically whenever a function is </a:t>
            </a:r>
            <a:r>
              <a:rPr lang="en-US" b="0" i="0" dirty="0" smtClean="0">
                <a:effectLst/>
                <a:latin typeface="Nunito" pitchFamily="2" charset="0"/>
              </a:rPr>
              <a:t>created.</a:t>
            </a:r>
            <a:endParaRPr lang="en-IN" dirty="0"/>
          </a:p>
        </p:txBody>
      </p:sp>
    </p:spTree>
    <p:extLst>
      <p:ext uri="{BB962C8B-B14F-4D97-AF65-F5344CB8AC3E}">
        <p14:creationId xmlns:p14="http://schemas.microsoft.com/office/powerpoint/2010/main" val="28089360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2909C-B005-923C-9DFA-3C3076EAD35B}"/>
              </a:ext>
            </a:extLst>
          </p:cNvPr>
          <p:cNvSpPr>
            <a:spLocks noGrp="1"/>
          </p:cNvSpPr>
          <p:nvPr>
            <p:ph type="title"/>
          </p:nvPr>
        </p:nvSpPr>
        <p:spPr/>
        <p:txBody>
          <a:bodyPr/>
          <a:lstStyle/>
          <a:p>
            <a:r>
              <a:rPr lang="en-US" dirty="0"/>
              <a:t>Nested function</a:t>
            </a:r>
            <a:endParaRPr lang="en-IN" dirty="0"/>
          </a:p>
        </p:txBody>
      </p:sp>
      <p:sp>
        <p:nvSpPr>
          <p:cNvPr id="3" name="Content Placeholder 2">
            <a:extLst>
              <a:ext uri="{FF2B5EF4-FFF2-40B4-BE49-F238E27FC236}">
                <a16:creationId xmlns:a16="http://schemas.microsoft.com/office/drawing/2014/main" id="{6F01B8BC-5B67-1A62-A6A9-34A5F8A2B4EA}"/>
              </a:ext>
            </a:extLst>
          </p:cNvPr>
          <p:cNvSpPr>
            <a:spLocks noGrp="1"/>
          </p:cNvSpPr>
          <p:nvPr>
            <p:ph idx="1"/>
          </p:nvPr>
        </p:nvSpPr>
        <p:spPr>
          <a:xfrm>
            <a:off x="1103312" y="1520190"/>
            <a:ext cx="8946541" cy="4728209"/>
          </a:xfrm>
        </p:spPr>
        <p:txBody>
          <a:bodyPr>
            <a:normAutofit/>
          </a:bodyPr>
          <a:lstStyle/>
          <a:p>
            <a:pPr marL="0" indent="0">
              <a:buNone/>
            </a:pPr>
            <a:r>
              <a:rPr lang="en-US" dirty="0"/>
              <a:t>Function parent(){</a:t>
            </a:r>
          </a:p>
          <a:p>
            <a:pPr marL="0" indent="0">
              <a:buNone/>
            </a:pPr>
            <a:r>
              <a:rPr lang="en-US" dirty="0"/>
              <a:t>	let a=10;</a:t>
            </a:r>
          </a:p>
          <a:p>
            <a:pPr marL="0" indent="0">
              <a:buNone/>
            </a:pPr>
            <a:r>
              <a:rPr lang="en-US" dirty="0"/>
              <a:t>	function child(){</a:t>
            </a:r>
          </a:p>
          <a:p>
            <a:pPr marL="0" indent="0">
              <a:buNone/>
            </a:pPr>
            <a:r>
              <a:rPr lang="en-US" dirty="0"/>
              <a:t>	let b=20;</a:t>
            </a:r>
          </a:p>
          <a:p>
            <a:pPr marL="0" indent="0">
              <a:buNone/>
            </a:pPr>
            <a:r>
              <a:rPr lang="en-US" dirty="0"/>
              <a:t>	console.log(a+b);</a:t>
            </a:r>
          </a:p>
          <a:p>
            <a:pPr marL="0" indent="0">
              <a:buNone/>
            </a:pPr>
            <a:r>
              <a:rPr lang="en-US" dirty="0"/>
              <a:t>}</a:t>
            </a:r>
          </a:p>
          <a:p>
            <a:pPr marL="0" indent="0">
              <a:buNone/>
            </a:pPr>
            <a:r>
              <a:rPr lang="en-US" dirty="0"/>
              <a:t>Child();</a:t>
            </a:r>
          </a:p>
          <a:p>
            <a:pPr marL="0" indent="0">
              <a:buNone/>
            </a:pPr>
            <a:r>
              <a:rPr lang="en-US" dirty="0"/>
              <a:t>}</a:t>
            </a:r>
          </a:p>
          <a:p>
            <a:pPr marL="0" indent="0">
              <a:buNone/>
            </a:pPr>
            <a:r>
              <a:rPr lang="en-US" dirty="0"/>
              <a:t>Parent();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64559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9B6A8-98C5-9588-9B22-DAF4E631F003}"/>
              </a:ext>
            </a:extLst>
          </p:cNvPr>
          <p:cNvSpPr>
            <a:spLocks noGrp="1"/>
          </p:cNvSpPr>
          <p:nvPr>
            <p:ph type="title"/>
          </p:nvPr>
        </p:nvSpPr>
        <p:spPr/>
        <p:txBody>
          <a:bodyPr/>
          <a:lstStyle/>
          <a:p>
            <a:r>
              <a:rPr lang="en-US" dirty="0"/>
              <a:t>JavaScript currying</a:t>
            </a:r>
            <a:endParaRPr lang="en-IN" dirty="0"/>
          </a:p>
        </p:txBody>
      </p:sp>
      <p:sp>
        <p:nvSpPr>
          <p:cNvPr id="3" name="Content Placeholder 2">
            <a:extLst>
              <a:ext uri="{FF2B5EF4-FFF2-40B4-BE49-F238E27FC236}">
                <a16:creationId xmlns:a16="http://schemas.microsoft.com/office/drawing/2014/main" id="{6D68CB2C-15B1-ACA9-36B8-93C30805DDFD}"/>
              </a:ext>
            </a:extLst>
          </p:cNvPr>
          <p:cNvSpPr>
            <a:spLocks noGrp="1"/>
          </p:cNvSpPr>
          <p:nvPr>
            <p:ph idx="1"/>
          </p:nvPr>
        </p:nvSpPr>
        <p:spPr>
          <a:xfrm>
            <a:off x="1103312" y="1577340"/>
            <a:ext cx="8946541" cy="4671059"/>
          </a:xfrm>
        </p:spPr>
        <p:txBody>
          <a:bodyPr>
            <a:normAutofit lnSpcReduction="10000"/>
          </a:bodyPr>
          <a:lstStyle/>
          <a:p>
            <a:r>
              <a:rPr lang="en-US" dirty="0"/>
              <a:t>Calling a child function along with parent by using one more parenthesis is known as java script currying</a:t>
            </a:r>
          </a:p>
          <a:p>
            <a:r>
              <a:rPr lang="en-US" dirty="0"/>
              <a:t>Example:</a:t>
            </a:r>
          </a:p>
          <a:p>
            <a:pPr marL="400050" lvl="1" indent="0">
              <a:buNone/>
            </a:pPr>
            <a:r>
              <a:rPr lang="en-US" sz="2000" dirty="0"/>
              <a:t>Function parent(){</a:t>
            </a:r>
          </a:p>
          <a:p>
            <a:pPr marL="400050" lvl="1" indent="0">
              <a:buNone/>
            </a:pPr>
            <a:r>
              <a:rPr lang="en-US" sz="2000" dirty="0"/>
              <a:t>	let a=10;</a:t>
            </a:r>
          </a:p>
          <a:p>
            <a:pPr marL="400050" lvl="1" indent="0">
              <a:buNone/>
            </a:pPr>
            <a:r>
              <a:rPr lang="en-US" sz="2000" dirty="0"/>
              <a:t>	function child(){</a:t>
            </a:r>
          </a:p>
          <a:p>
            <a:pPr marL="400050" lvl="1" indent="0">
              <a:buNone/>
            </a:pPr>
            <a:r>
              <a:rPr lang="en-US" sz="2000" dirty="0"/>
              <a:t>	let b=20;</a:t>
            </a:r>
          </a:p>
          <a:p>
            <a:pPr marL="400050" lvl="1" indent="0">
              <a:buNone/>
            </a:pPr>
            <a:r>
              <a:rPr lang="en-US" sz="2000" dirty="0"/>
              <a:t>	console.log(a+b);</a:t>
            </a:r>
          </a:p>
          <a:p>
            <a:pPr marL="400050" lvl="1" indent="0">
              <a:buNone/>
            </a:pPr>
            <a:r>
              <a:rPr lang="en-US" sz="2000" dirty="0"/>
              <a:t>}</a:t>
            </a:r>
          </a:p>
          <a:p>
            <a:pPr marL="400050" lvl="1" indent="0">
              <a:buNone/>
            </a:pPr>
            <a:r>
              <a:rPr lang="en-US" sz="2000" dirty="0"/>
              <a:t>return child;</a:t>
            </a:r>
          </a:p>
          <a:p>
            <a:pPr marL="400050" lvl="1" indent="0">
              <a:buNone/>
            </a:pPr>
            <a:r>
              <a:rPr lang="en-US" sz="2000" dirty="0"/>
              <a:t>}</a:t>
            </a:r>
          </a:p>
          <a:p>
            <a:pPr marL="400050" lvl="1" indent="0">
              <a:buNone/>
            </a:pPr>
            <a:r>
              <a:rPr lang="en-US" sz="2000" dirty="0"/>
              <a:t>parent()();     ==</a:t>
            </a:r>
            <a:r>
              <a:rPr lang="en-US" sz="2000" dirty="0">
                <a:sym typeface="Wingdings" panose="05000000000000000000" pitchFamily="2" charset="2"/>
              </a:rPr>
              <a:t>JavaScript currying</a:t>
            </a:r>
            <a:endParaRPr lang="en-US" sz="2000" dirty="0"/>
          </a:p>
          <a:p>
            <a:endParaRPr lang="en-IN" dirty="0"/>
          </a:p>
        </p:txBody>
      </p:sp>
    </p:spTree>
    <p:extLst>
      <p:ext uri="{BB962C8B-B14F-4D97-AF65-F5344CB8AC3E}">
        <p14:creationId xmlns:p14="http://schemas.microsoft.com/office/powerpoint/2010/main" val="213725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188BA-0288-92FF-565C-46D12C2BC7D3}"/>
              </a:ext>
            </a:extLst>
          </p:cNvPr>
          <p:cNvSpPr>
            <a:spLocks noGrp="1"/>
          </p:cNvSpPr>
          <p:nvPr>
            <p:ph type="title"/>
          </p:nvPr>
        </p:nvSpPr>
        <p:spPr/>
        <p:txBody>
          <a:bodyPr/>
          <a:lstStyle/>
          <a:p>
            <a:r>
              <a:rPr lang="en-IN" dirty="0"/>
              <a:t>Immediate invoking </a:t>
            </a:r>
            <a:r>
              <a:rPr lang="en-IN" dirty="0" smtClean="0"/>
              <a:t>function expression (IIFE)</a:t>
            </a:r>
            <a:r>
              <a:rPr lang="en-IN" dirty="0"/>
              <a:t/>
            </a:r>
            <a:br>
              <a:rPr lang="en-IN" dirty="0"/>
            </a:br>
            <a:endParaRPr lang="en-IN" dirty="0"/>
          </a:p>
        </p:txBody>
      </p:sp>
      <p:sp>
        <p:nvSpPr>
          <p:cNvPr id="3" name="Content Placeholder 2">
            <a:extLst>
              <a:ext uri="{FF2B5EF4-FFF2-40B4-BE49-F238E27FC236}">
                <a16:creationId xmlns:a16="http://schemas.microsoft.com/office/drawing/2014/main" id="{896D7798-F69A-A70A-2041-EECD00F92735}"/>
              </a:ext>
            </a:extLst>
          </p:cNvPr>
          <p:cNvSpPr>
            <a:spLocks noGrp="1"/>
          </p:cNvSpPr>
          <p:nvPr>
            <p:ph idx="1"/>
          </p:nvPr>
        </p:nvSpPr>
        <p:spPr/>
        <p:txBody>
          <a:bodyPr/>
          <a:lstStyle/>
          <a:p>
            <a:r>
              <a:rPr lang="en-US" dirty="0"/>
              <a:t>A function which is called immediately as soon as the function </a:t>
            </a:r>
            <a:r>
              <a:rPr lang="en-US" dirty="0" smtClean="0"/>
              <a:t>declared </a:t>
            </a:r>
            <a:r>
              <a:rPr lang="en-US" dirty="0"/>
              <a:t>is known as </a:t>
            </a:r>
            <a:r>
              <a:rPr lang="en-US" dirty="0" smtClean="0"/>
              <a:t>IIFE</a:t>
            </a:r>
            <a:endParaRPr lang="en-US" dirty="0"/>
          </a:p>
          <a:p>
            <a:r>
              <a:rPr lang="en-US" dirty="0"/>
              <a:t>We can invoke anonymous function by using </a:t>
            </a:r>
            <a:r>
              <a:rPr lang="en-US" dirty="0" smtClean="0"/>
              <a:t>IIFE</a:t>
            </a:r>
            <a:endParaRPr lang="en-US" dirty="0"/>
          </a:p>
          <a:p>
            <a:r>
              <a:rPr lang="en-US" dirty="0"/>
              <a:t>Example:</a:t>
            </a:r>
          </a:p>
          <a:p>
            <a:pPr marL="0" indent="0">
              <a:buNone/>
            </a:pPr>
            <a:r>
              <a:rPr lang="en-US" dirty="0"/>
              <a:t>		</a:t>
            </a:r>
            <a:r>
              <a:rPr lang="en-US" sz="3200" dirty="0"/>
              <a:t>(function(){</a:t>
            </a:r>
          </a:p>
          <a:p>
            <a:pPr marL="0" indent="0">
              <a:buNone/>
            </a:pPr>
            <a:r>
              <a:rPr lang="en-US" sz="3200" dirty="0"/>
              <a:t>				console.log(“Hello”);</a:t>
            </a:r>
          </a:p>
          <a:p>
            <a:pPr marL="0" indent="0">
              <a:buNone/>
            </a:pPr>
            <a:r>
              <a:rPr lang="en-US" sz="3200" dirty="0"/>
              <a:t>				})</a:t>
            </a:r>
            <a:r>
              <a:rPr lang="en-US" sz="3200" b="1" dirty="0"/>
              <a:t>()</a:t>
            </a:r>
            <a:r>
              <a:rPr lang="en-US" sz="3200" dirty="0"/>
              <a:t>;</a:t>
            </a:r>
            <a:endParaRPr lang="en-IN" sz="3200" dirty="0"/>
          </a:p>
        </p:txBody>
      </p:sp>
    </p:spTree>
    <p:extLst>
      <p:ext uri="{BB962C8B-B14F-4D97-AF65-F5344CB8AC3E}">
        <p14:creationId xmlns:p14="http://schemas.microsoft.com/office/powerpoint/2010/main" val="1445142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7AD35-BBD9-B128-5BC4-0935809698CB}"/>
              </a:ext>
            </a:extLst>
          </p:cNvPr>
          <p:cNvSpPr>
            <a:spLocks noGrp="1"/>
          </p:cNvSpPr>
          <p:nvPr>
            <p:ph type="title"/>
          </p:nvPr>
        </p:nvSpPr>
        <p:spPr/>
        <p:txBody>
          <a:bodyPr/>
          <a:lstStyle/>
          <a:p>
            <a:r>
              <a:rPr lang="en-IN" dirty="0"/>
              <a:t>Arrow function</a:t>
            </a:r>
            <a:br>
              <a:rPr lang="en-IN" dirty="0"/>
            </a:br>
            <a:endParaRPr lang="en-IN" dirty="0"/>
          </a:p>
        </p:txBody>
      </p:sp>
      <p:sp>
        <p:nvSpPr>
          <p:cNvPr id="3" name="Content Placeholder 2">
            <a:extLst>
              <a:ext uri="{FF2B5EF4-FFF2-40B4-BE49-F238E27FC236}">
                <a16:creationId xmlns:a16="http://schemas.microsoft.com/office/drawing/2014/main" id="{5D2C9CEE-2BF0-3766-4897-53C2CB1740EF}"/>
              </a:ext>
            </a:extLst>
          </p:cNvPr>
          <p:cNvSpPr>
            <a:spLocks noGrp="1"/>
          </p:cNvSpPr>
          <p:nvPr>
            <p:ph idx="1"/>
          </p:nvPr>
        </p:nvSpPr>
        <p:spPr/>
        <p:txBody>
          <a:bodyPr/>
          <a:lstStyle/>
          <a:p>
            <a:r>
              <a:rPr lang="en-US" dirty="0"/>
              <a:t>It was introduced in ES6 version of JS.</a:t>
            </a:r>
          </a:p>
          <a:p>
            <a:r>
              <a:rPr lang="en-US" dirty="0"/>
              <a:t>The main purpose of using arrow function is to reduce the syntax.</a:t>
            </a:r>
          </a:p>
          <a:p>
            <a:r>
              <a:rPr lang="en-US" dirty="0"/>
              <a:t>If function has only one statement then block is optional.</a:t>
            </a:r>
          </a:p>
          <a:p>
            <a:r>
              <a:rPr lang="en-US" dirty="0"/>
              <a:t>It is mandatory to use block if function consists of multiple lines of code or if we use return keyword in function.</a:t>
            </a:r>
          </a:p>
          <a:p>
            <a:r>
              <a:rPr lang="en-US" dirty="0"/>
              <a:t>Example:</a:t>
            </a:r>
          </a:p>
          <a:p>
            <a:pPr marL="400050" lvl="1" indent="0">
              <a:buNone/>
            </a:pPr>
            <a:r>
              <a:rPr lang="en-US" sz="2400" dirty="0"/>
              <a:t>Let x=(a,b)=&gt;console.log(a+b);</a:t>
            </a:r>
          </a:p>
          <a:p>
            <a:pPr marL="400050" lvl="1" indent="0">
              <a:buNone/>
            </a:pPr>
            <a:r>
              <a:rPr lang="en-IN" sz="2400" dirty="0"/>
              <a:t>Let y=(a,b)=&gt;{return a + b };</a:t>
            </a:r>
          </a:p>
        </p:txBody>
      </p:sp>
    </p:spTree>
    <p:extLst>
      <p:ext uri="{BB962C8B-B14F-4D97-AF65-F5344CB8AC3E}">
        <p14:creationId xmlns:p14="http://schemas.microsoft.com/office/powerpoint/2010/main" val="453875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EB436-DFE5-F9A8-388A-AD930FFDD6EC}"/>
              </a:ext>
            </a:extLst>
          </p:cNvPr>
          <p:cNvSpPr>
            <a:spLocks noGrp="1"/>
          </p:cNvSpPr>
          <p:nvPr>
            <p:ph type="title"/>
          </p:nvPr>
        </p:nvSpPr>
        <p:spPr>
          <a:xfrm>
            <a:off x="645130" y="218740"/>
            <a:ext cx="9404723" cy="781722"/>
          </a:xfrm>
        </p:spPr>
        <p:txBody>
          <a:bodyPr/>
          <a:lstStyle/>
          <a:p>
            <a:r>
              <a:rPr lang="en-IN" dirty="0"/>
              <a:t>Higher order function(HOF)</a:t>
            </a:r>
            <a:br>
              <a:rPr lang="en-IN" dirty="0"/>
            </a:br>
            <a:endParaRPr lang="en-IN" dirty="0"/>
          </a:p>
        </p:txBody>
      </p:sp>
      <p:sp>
        <p:nvSpPr>
          <p:cNvPr id="3" name="Content Placeholder 2">
            <a:extLst>
              <a:ext uri="{FF2B5EF4-FFF2-40B4-BE49-F238E27FC236}">
                <a16:creationId xmlns:a16="http://schemas.microsoft.com/office/drawing/2014/main" id="{2AF761EB-8862-60DE-E82F-C985C3162D90}"/>
              </a:ext>
            </a:extLst>
          </p:cNvPr>
          <p:cNvSpPr>
            <a:spLocks noGrp="1"/>
          </p:cNvSpPr>
          <p:nvPr>
            <p:ph idx="1"/>
          </p:nvPr>
        </p:nvSpPr>
        <p:spPr>
          <a:xfrm>
            <a:off x="645130" y="1131570"/>
            <a:ext cx="9404723" cy="5116829"/>
          </a:xfrm>
        </p:spPr>
        <p:txBody>
          <a:bodyPr>
            <a:normAutofit fontScale="92500" lnSpcReduction="20000"/>
          </a:bodyPr>
          <a:lstStyle/>
          <a:p>
            <a:r>
              <a:rPr lang="en-US" dirty="0"/>
              <a:t>A function which accepts a function as a </a:t>
            </a:r>
            <a:r>
              <a:rPr lang="en-US" dirty="0" err="1" smtClean="0"/>
              <a:t>arguement</a:t>
            </a:r>
            <a:r>
              <a:rPr lang="en-US" dirty="0" smtClean="0"/>
              <a:t> </a:t>
            </a:r>
            <a:r>
              <a:rPr lang="en-US" dirty="0"/>
              <a:t>is known as HOF</a:t>
            </a:r>
          </a:p>
          <a:p>
            <a:r>
              <a:rPr lang="en-US" dirty="0"/>
              <a:t>It is used to perform multiple operations with different values.</a:t>
            </a:r>
          </a:p>
          <a:p>
            <a:r>
              <a:rPr lang="en-US" dirty="0"/>
              <a:t>Example:</a:t>
            </a:r>
          </a:p>
          <a:p>
            <a:pPr marL="457200" lvl="1" indent="0">
              <a:buNone/>
            </a:pPr>
            <a:r>
              <a:rPr lang="en-US" dirty="0"/>
              <a:t>Function hof(a , b , task ){</a:t>
            </a:r>
          </a:p>
          <a:p>
            <a:pPr marL="457200" lvl="1" indent="0">
              <a:buNone/>
            </a:pPr>
            <a:r>
              <a:rPr lang="en-US" dirty="0"/>
              <a:t>Let res=task(a,b);</a:t>
            </a:r>
          </a:p>
          <a:p>
            <a:pPr marL="457200" lvl="1" indent="0">
              <a:buNone/>
            </a:pPr>
            <a:r>
              <a:rPr lang="en-US" dirty="0"/>
              <a:t>return res;</a:t>
            </a:r>
          </a:p>
          <a:p>
            <a:pPr marL="457200" lvl="1" indent="0">
              <a:buNone/>
            </a:pPr>
            <a:r>
              <a:rPr lang="en-US" dirty="0"/>
              <a:t>};</a:t>
            </a:r>
          </a:p>
          <a:p>
            <a:pPr marL="457200" lvl="1" indent="0">
              <a:buNone/>
            </a:pPr>
            <a:r>
              <a:rPr lang="en-US" dirty="0"/>
              <a:t>Let add=hof(10,20,function(x , y){</a:t>
            </a:r>
          </a:p>
          <a:p>
            <a:pPr marL="457200" lvl="1" indent="0">
              <a:buNone/>
            </a:pPr>
            <a:r>
              <a:rPr lang="en-US" dirty="0"/>
              <a:t>return x + y;</a:t>
            </a:r>
          </a:p>
          <a:p>
            <a:pPr marL="457200" lvl="1" indent="0">
              <a:buNone/>
            </a:pPr>
            <a:r>
              <a:rPr lang="en-US" dirty="0"/>
              <a:t>}</a:t>
            </a:r>
          </a:p>
          <a:p>
            <a:pPr marL="457200" lvl="1" indent="0">
              <a:buNone/>
            </a:pPr>
            <a:r>
              <a:rPr lang="en-US" dirty="0"/>
              <a:t>Let mul = hof(10,20,function(x , y){</a:t>
            </a:r>
          </a:p>
          <a:p>
            <a:pPr marL="457200" lvl="1" indent="0">
              <a:buNone/>
            </a:pPr>
            <a:r>
              <a:rPr lang="en-US" dirty="0"/>
              <a:t>return x*y;</a:t>
            </a:r>
          </a:p>
          <a:p>
            <a:pPr marL="457200" lvl="1" indent="0">
              <a:buNone/>
            </a:pPr>
            <a:r>
              <a:rPr lang="en-US" dirty="0"/>
              <a:t>}</a:t>
            </a:r>
          </a:p>
          <a:p>
            <a:pPr marL="457200" lvl="1" indent="0">
              <a:buNone/>
            </a:pPr>
            <a:r>
              <a:rPr lang="en-US" dirty="0"/>
              <a:t>Console.log(add());</a:t>
            </a:r>
          </a:p>
          <a:p>
            <a:pPr marL="457200" lvl="1" indent="0">
              <a:buNone/>
            </a:pPr>
            <a:r>
              <a:rPr lang="en-US" dirty="0"/>
              <a:t>Console.log(mul());</a:t>
            </a:r>
          </a:p>
          <a:p>
            <a:pPr marL="457200" lvl="1" indent="0">
              <a:buNone/>
            </a:pPr>
            <a:endParaRPr lang="en-US" dirty="0"/>
          </a:p>
          <a:p>
            <a:pPr marL="457200" lvl="1" indent="0">
              <a:buNone/>
            </a:pPr>
            <a:endParaRPr lang="en-US" dirty="0"/>
          </a:p>
          <a:p>
            <a:pPr marL="457200" lvl="1" indent="0">
              <a:buNone/>
            </a:pPr>
            <a:endParaRPr lang="en-IN" dirty="0"/>
          </a:p>
        </p:txBody>
      </p:sp>
    </p:spTree>
    <p:extLst>
      <p:ext uri="{BB962C8B-B14F-4D97-AF65-F5344CB8AC3E}">
        <p14:creationId xmlns:p14="http://schemas.microsoft.com/office/powerpoint/2010/main" val="4208448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3BA9E-596B-027D-E2B2-4E637D0C00C6}"/>
              </a:ext>
            </a:extLst>
          </p:cNvPr>
          <p:cNvSpPr>
            <a:spLocks noGrp="1"/>
          </p:cNvSpPr>
          <p:nvPr>
            <p:ph type="title"/>
          </p:nvPr>
        </p:nvSpPr>
        <p:spPr>
          <a:xfrm>
            <a:off x="646111" y="452718"/>
            <a:ext cx="9404723" cy="781722"/>
          </a:xfrm>
        </p:spPr>
        <p:txBody>
          <a:bodyPr/>
          <a:lstStyle/>
          <a:p>
            <a:r>
              <a:rPr lang="en-US" dirty="0"/>
              <a:t>Callback function</a:t>
            </a:r>
            <a:endParaRPr lang="en-IN" dirty="0"/>
          </a:p>
        </p:txBody>
      </p:sp>
      <p:sp>
        <p:nvSpPr>
          <p:cNvPr id="3" name="Content Placeholder 2">
            <a:extLst>
              <a:ext uri="{FF2B5EF4-FFF2-40B4-BE49-F238E27FC236}">
                <a16:creationId xmlns:a16="http://schemas.microsoft.com/office/drawing/2014/main" id="{AA7AA436-5AE9-9525-AFF2-EF8486922C34}"/>
              </a:ext>
            </a:extLst>
          </p:cNvPr>
          <p:cNvSpPr>
            <a:spLocks noGrp="1"/>
          </p:cNvSpPr>
          <p:nvPr>
            <p:ph idx="1"/>
          </p:nvPr>
        </p:nvSpPr>
        <p:spPr>
          <a:xfrm>
            <a:off x="646111" y="1371600"/>
            <a:ext cx="10783889" cy="5406390"/>
          </a:xfrm>
        </p:spPr>
        <p:txBody>
          <a:bodyPr>
            <a:normAutofit fontScale="25000" lnSpcReduction="20000"/>
          </a:bodyPr>
          <a:lstStyle/>
          <a:p>
            <a:r>
              <a:rPr lang="en-US" sz="7200" dirty="0"/>
              <a:t>A function which is passed as an argument to another function is known as callback function.</a:t>
            </a:r>
          </a:p>
          <a:p>
            <a:r>
              <a:rPr lang="en-US" sz="7200" dirty="0"/>
              <a:t>The function is invoked in the outer function to complete an action</a:t>
            </a:r>
          </a:p>
          <a:p>
            <a:r>
              <a:rPr lang="en-US" sz="7200" dirty="0"/>
              <a:t>Example : </a:t>
            </a:r>
          </a:p>
          <a:p>
            <a:pPr marL="457200" lvl="1" indent="0">
              <a:buNone/>
            </a:pPr>
            <a:r>
              <a:rPr lang="en-US" sz="7200" dirty="0"/>
              <a:t>function first(){</a:t>
            </a:r>
          </a:p>
          <a:p>
            <a:pPr marL="457200" lvl="1" indent="0">
              <a:buNone/>
            </a:pPr>
            <a:r>
              <a:rPr lang="en-US" sz="7200" dirty="0"/>
              <a:t>Console.log(“first”);</a:t>
            </a:r>
          </a:p>
          <a:p>
            <a:pPr marL="457200" lvl="1" indent="0">
              <a:buNone/>
            </a:pPr>
            <a:r>
              <a:rPr lang="en-US" sz="7200" dirty="0"/>
              <a:t>}</a:t>
            </a:r>
          </a:p>
          <a:p>
            <a:pPr marL="457200" lvl="1" indent="0">
              <a:buNone/>
            </a:pPr>
            <a:r>
              <a:rPr lang="en-US" sz="7200" dirty="0"/>
              <a:t>function second(){</a:t>
            </a:r>
          </a:p>
          <a:p>
            <a:pPr marL="457200" lvl="1" indent="0">
              <a:buNone/>
            </a:pPr>
            <a:r>
              <a:rPr lang="en-US" sz="7200" dirty="0"/>
              <a:t>Console.log(“third”);</a:t>
            </a:r>
          </a:p>
          <a:p>
            <a:pPr marL="457200" lvl="1" indent="0">
              <a:buNone/>
            </a:pPr>
            <a:r>
              <a:rPr lang="en-US" sz="7200" dirty="0"/>
              <a:t>}</a:t>
            </a:r>
          </a:p>
          <a:p>
            <a:pPr marL="457200" lvl="1" indent="0">
              <a:buNone/>
            </a:pPr>
            <a:r>
              <a:rPr lang="en-US" sz="7200" dirty="0"/>
              <a:t>function third(callback){</a:t>
            </a:r>
          </a:p>
          <a:p>
            <a:pPr marL="457200" lvl="1" indent="0">
              <a:buNone/>
            </a:pPr>
            <a:r>
              <a:rPr lang="en-US" sz="7200" dirty="0"/>
              <a:t>Console.log(“second”);</a:t>
            </a:r>
          </a:p>
          <a:p>
            <a:pPr marL="457200" lvl="1" indent="0">
              <a:buNone/>
            </a:pPr>
            <a:r>
              <a:rPr lang="en-US" sz="7200" dirty="0"/>
              <a:t>Callback()</a:t>
            </a:r>
          </a:p>
          <a:p>
            <a:pPr marL="457200" lvl="1" indent="0">
              <a:buNone/>
            </a:pPr>
            <a:r>
              <a:rPr lang="en-US" sz="7200" dirty="0"/>
              <a:t>}</a:t>
            </a:r>
          </a:p>
          <a:p>
            <a:pPr marL="457200" lvl="1" indent="0">
              <a:buNone/>
            </a:pPr>
            <a:r>
              <a:rPr lang="en-US" sz="7200" dirty="0"/>
              <a:t>first();</a:t>
            </a:r>
          </a:p>
          <a:p>
            <a:pPr marL="457200" lvl="1" indent="0">
              <a:buNone/>
            </a:pPr>
            <a:r>
              <a:rPr lang="en-US" sz="7200" dirty="0"/>
              <a:t>third(second);</a:t>
            </a:r>
          </a:p>
          <a:p>
            <a:pPr lvl="1"/>
            <a:endParaRPr lang="en-IN" dirty="0"/>
          </a:p>
        </p:txBody>
      </p:sp>
    </p:spTree>
    <p:extLst>
      <p:ext uri="{BB962C8B-B14F-4D97-AF65-F5344CB8AC3E}">
        <p14:creationId xmlns:p14="http://schemas.microsoft.com/office/powerpoint/2010/main" val="31784156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1816" y="651383"/>
            <a:ext cx="10622484" cy="3886319"/>
          </a:xfrm>
          <a:prstGeom prst="rect">
            <a:avLst/>
          </a:prstGeom>
        </p:spPr>
        <p:txBody>
          <a:bodyPr vert="horz" wrap="square" lIns="0" tIns="107314" rIns="0" bIns="0" rtlCol="0">
            <a:spAutoFit/>
          </a:bodyPr>
          <a:lstStyle/>
          <a:p>
            <a:pPr marL="3510915">
              <a:lnSpc>
                <a:spcPct val="100000"/>
              </a:lnSpc>
              <a:spcBef>
                <a:spcPts val="844"/>
              </a:spcBef>
            </a:pPr>
            <a:r>
              <a:rPr sz="2000" b="1" u="sng" spc="-100" dirty="0">
                <a:uFill>
                  <a:solidFill>
                    <a:srgbClr val="000000"/>
                  </a:solidFill>
                </a:uFill>
                <a:latin typeface="Times New Roman"/>
                <a:cs typeface="Times New Roman"/>
              </a:rPr>
              <a:t>JAVASCRIPT</a:t>
            </a:r>
            <a:r>
              <a:rPr sz="2000" b="1" u="sng" spc="400" dirty="0">
                <a:uFill>
                  <a:solidFill>
                    <a:srgbClr val="000000"/>
                  </a:solidFill>
                </a:uFill>
                <a:latin typeface="Times New Roman"/>
                <a:cs typeface="Times New Roman"/>
              </a:rPr>
              <a:t> </a:t>
            </a:r>
            <a:r>
              <a:rPr sz="2000" b="1" u="sng" spc="-90" dirty="0">
                <a:uFill>
                  <a:solidFill>
                    <a:srgbClr val="000000"/>
                  </a:solidFill>
                </a:uFill>
                <a:latin typeface="Times New Roman"/>
                <a:cs typeface="Times New Roman"/>
              </a:rPr>
              <a:t>ARRAYS</a:t>
            </a:r>
            <a:endParaRPr sz="2000" dirty="0">
              <a:latin typeface="Times New Roman"/>
              <a:cs typeface="Times New Roman"/>
            </a:endParaRPr>
          </a:p>
          <a:p>
            <a:pPr marL="12700">
              <a:lnSpc>
                <a:spcPct val="100000"/>
              </a:lnSpc>
              <a:spcBef>
                <a:spcPts val="750"/>
              </a:spcBef>
            </a:pPr>
            <a:r>
              <a:rPr sz="2000" spc="-105" dirty="0">
                <a:latin typeface="Times New Roman"/>
                <a:cs typeface="Times New Roman"/>
              </a:rPr>
              <a:t>ARRAYS:-</a:t>
            </a:r>
            <a:r>
              <a:rPr sz="2000" spc="10" dirty="0">
                <a:latin typeface="Times New Roman"/>
                <a:cs typeface="Times New Roman"/>
              </a:rPr>
              <a:t> </a:t>
            </a:r>
            <a:r>
              <a:rPr sz="2000" spc="-60" dirty="0">
                <a:latin typeface="Times New Roman"/>
                <a:cs typeface="Times New Roman"/>
              </a:rPr>
              <a:t>Array</a:t>
            </a:r>
            <a:r>
              <a:rPr sz="2000" dirty="0">
                <a:latin typeface="Times New Roman"/>
                <a:cs typeface="Times New Roman"/>
              </a:rPr>
              <a:t> </a:t>
            </a:r>
            <a:r>
              <a:rPr sz="2000" spc="-70" dirty="0">
                <a:latin typeface="Times New Roman"/>
                <a:cs typeface="Times New Roman"/>
              </a:rPr>
              <a:t>is</a:t>
            </a:r>
            <a:r>
              <a:rPr sz="2000" spc="10" dirty="0">
                <a:latin typeface="Times New Roman"/>
                <a:cs typeface="Times New Roman"/>
              </a:rPr>
              <a:t> </a:t>
            </a:r>
            <a:r>
              <a:rPr sz="2000" spc="-40" dirty="0">
                <a:latin typeface="Times New Roman"/>
                <a:cs typeface="Times New Roman"/>
              </a:rPr>
              <a:t>collection</a:t>
            </a:r>
            <a:r>
              <a:rPr sz="2000" spc="5" dirty="0">
                <a:latin typeface="Times New Roman"/>
                <a:cs typeface="Times New Roman"/>
              </a:rPr>
              <a:t> </a:t>
            </a:r>
            <a:r>
              <a:rPr sz="2000" dirty="0">
                <a:latin typeface="Times New Roman"/>
                <a:cs typeface="Times New Roman"/>
              </a:rPr>
              <a:t>of</a:t>
            </a:r>
            <a:r>
              <a:rPr sz="2000" spc="225" dirty="0">
                <a:latin typeface="Times New Roman"/>
                <a:cs typeface="Times New Roman"/>
              </a:rPr>
              <a:t> </a:t>
            </a:r>
            <a:r>
              <a:rPr sz="2000" spc="-25" dirty="0">
                <a:latin typeface="Times New Roman"/>
                <a:cs typeface="Times New Roman"/>
              </a:rPr>
              <a:t>different</a:t>
            </a:r>
            <a:r>
              <a:rPr sz="2000" spc="10" dirty="0">
                <a:latin typeface="Times New Roman"/>
                <a:cs typeface="Times New Roman"/>
              </a:rPr>
              <a:t> </a:t>
            </a:r>
            <a:r>
              <a:rPr sz="2000" spc="-50" dirty="0">
                <a:latin typeface="Times New Roman"/>
                <a:cs typeface="Times New Roman"/>
              </a:rPr>
              <a:t>elements.Array</a:t>
            </a:r>
            <a:r>
              <a:rPr sz="2000" spc="10" dirty="0">
                <a:latin typeface="Times New Roman"/>
                <a:cs typeface="Times New Roman"/>
              </a:rPr>
              <a:t> </a:t>
            </a:r>
            <a:r>
              <a:rPr sz="2000" spc="-70" dirty="0">
                <a:latin typeface="Times New Roman"/>
                <a:cs typeface="Times New Roman"/>
              </a:rPr>
              <a:t>is</a:t>
            </a:r>
            <a:r>
              <a:rPr sz="2000" spc="10" dirty="0">
                <a:latin typeface="Times New Roman"/>
                <a:cs typeface="Times New Roman"/>
              </a:rPr>
              <a:t> </a:t>
            </a:r>
            <a:r>
              <a:rPr sz="2000" spc="-10" dirty="0">
                <a:latin typeface="Times New Roman"/>
                <a:cs typeface="Times New Roman"/>
              </a:rPr>
              <a:t>heterogrnous</a:t>
            </a:r>
            <a:r>
              <a:rPr sz="2000" spc="-25" dirty="0">
                <a:latin typeface="Times New Roman"/>
                <a:cs typeface="Times New Roman"/>
              </a:rPr>
              <a:t> </a:t>
            </a:r>
            <a:r>
              <a:rPr sz="2000" spc="-35" dirty="0">
                <a:latin typeface="Times New Roman"/>
                <a:cs typeface="Times New Roman"/>
              </a:rPr>
              <a:t>in</a:t>
            </a:r>
            <a:r>
              <a:rPr sz="2000" spc="10" dirty="0">
                <a:latin typeface="Times New Roman"/>
                <a:cs typeface="Times New Roman"/>
              </a:rPr>
              <a:t> </a:t>
            </a:r>
            <a:r>
              <a:rPr sz="2000" spc="-35" dirty="0">
                <a:latin typeface="Times New Roman"/>
                <a:cs typeface="Times New Roman"/>
              </a:rPr>
              <a:t>nature.</a:t>
            </a:r>
            <a:endParaRPr sz="2000" dirty="0">
              <a:latin typeface="Times New Roman"/>
              <a:cs typeface="Times New Roman"/>
            </a:endParaRPr>
          </a:p>
          <a:p>
            <a:pPr>
              <a:lnSpc>
                <a:spcPct val="100000"/>
              </a:lnSpc>
              <a:spcBef>
                <a:spcPts val="35"/>
              </a:spcBef>
            </a:pPr>
            <a:endParaRPr sz="2000" dirty="0">
              <a:latin typeface="Times New Roman"/>
              <a:cs typeface="Times New Roman"/>
            </a:endParaRPr>
          </a:p>
          <a:p>
            <a:pPr marL="299085" indent="-287020">
              <a:lnSpc>
                <a:spcPct val="100000"/>
              </a:lnSpc>
              <a:buFont typeface="Arial MT"/>
              <a:buChar char="•"/>
              <a:tabLst>
                <a:tab pos="299085" algn="l"/>
                <a:tab pos="299720" algn="l"/>
              </a:tabLst>
            </a:pPr>
            <a:r>
              <a:rPr sz="2000" spc="25" dirty="0">
                <a:latin typeface="Times New Roman"/>
                <a:cs typeface="Times New Roman"/>
              </a:rPr>
              <a:t>In</a:t>
            </a:r>
            <a:r>
              <a:rPr sz="2000" spc="-5" dirty="0">
                <a:latin typeface="Times New Roman"/>
                <a:cs typeface="Times New Roman"/>
              </a:rPr>
              <a:t> </a:t>
            </a:r>
            <a:r>
              <a:rPr sz="2000" spc="-55" dirty="0">
                <a:latin typeface="Times New Roman"/>
                <a:cs typeface="Times New Roman"/>
              </a:rPr>
              <a:t>javascript</a:t>
            </a:r>
            <a:r>
              <a:rPr sz="2000" spc="10" dirty="0">
                <a:latin typeface="Times New Roman"/>
                <a:cs typeface="Times New Roman"/>
              </a:rPr>
              <a:t> </a:t>
            </a:r>
            <a:r>
              <a:rPr sz="2000" spc="-90" dirty="0">
                <a:latin typeface="Times New Roman"/>
                <a:cs typeface="Times New Roman"/>
              </a:rPr>
              <a:t>we</a:t>
            </a:r>
            <a:r>
              <a:rPr sz="2000" spc="-5" dirty="0">
                <a:latin typeface="Times New Roman"/>
                <a:cs typeface="Times New Roman"/>
              </a:rPr>
              <a:t> </a:t>
            </a:r>
            <a:r>
              <a:rPr sz="2000" spc="-40" dirty="0">
                <a:latin typeface="Times New Roman"/>
                <a:cs typeface="Times New Roman"/>
              </a:rPr>
              <a:t>can</a:t>
            </a:r>
            <a:r>
              <a:rPr sz="2000" dirty="0">
                <a:latin typeface="Times New Roman"/>
                <a:cs typeface="Times New Roman"/>
              </a:rPr>
              <a:t> </a:t>
            </a:r>
            <a:r>
              <a:rPr sz="2000" spc="-40" dirty="0">
                <a:latin typeface="Times New Roman"/>
                <a:cs typeface="Times New Roman"/>
              </a:rPr>
              <a:t>create</a:t>
            </a:r>
            <a:r>
              <a:rPr sz="2000" spc="10" dirty="0">
                <a:latin typeface="Times New Roman"/>
                <a:cs typeface="Times New Roman"/>
              </a:rPr>
              <a:t> </a:t>
            </a:r>
            <a:r>
              <a:rPr sz="2000" spc="-55" dirty="0">
                <a:latin typeface="Times New Roman"/>
                <a:cs typeface="Times New Roman"/>
              </a:rPr>
              <a:t>array</a:t>
            </a:r>
            <a:r>
              <a:rPr sz="2000" dirty="0">
                <a:latin typeface="Times New Roman"/>
                <a:cs typeface="Times New Roman"/>
              </a:rPr>
              <a:t> </a:t>
            </a:r>
            <a:r>
              <a:rPr sz="2000" spc="-35" dirty="0">
                <a:latin typeface="Times New Roman"/>
                <a:cs typeface="Times New Roman"/>
              </a:rPr>
              <a:t>in</a:t>
            </a:r>
            <a:r>
              <a:rPr sz="2000" dirty="0">
                <a:latin typeface="Times New Roman"/>
                <a:cs typeface="Times New Roman"/>
              </a:rPr>
              <a:t> </a:t>
            </a:r>
            <a:r>
              <a:rPr lang="en-US" sz="2000" spc="-60" dirty="0">
                <a:latin typeface="Times New Roman"/>
                <a:cs typeface="Times New Roman"/>
              </a:rPr>
              <a:t>2</a:t>
            </a:r>
            <a:r>
              <a:rPr sz="2000" spc="-10" dirty="0" smtClean="0">
                <a:latin typeface="Times New Roman"/>
                <a:cs typeface="Times New Roman"/>
              </a:rPr>
              <a:t> </a:t>
            </a:r>
            <a:r>
              <a:rPr sz="2000" spc="-110" dirty="0">
                <a:latin typeface="Times New Roman"/>
                <a:cs typeface="Times New Roman"/>
              </a:rPr>
              <a:t>ways.</a:t>
            </a:r>
            <a:endParaRPr sz="2000" dirty="0">
              <a:latin typeface="Times New Roman"/>
              <a:cs typeface="Times New Roman"/>
            </a:endParaRPr>
          </a:p>
          <a:p>
            <a:pPr>
              <a:lnSpc>
                <a:spcPct val="100000"/>
              </a:lnSpc>
              <a:spcBef>
                <a:spcPts val="55"/>
              </a:spcBef>
              <a:buFont typeface="Arial MT"/>
              <a:buChar char="•"/>
            </a:pPr>
            <a:endParaRPr sz="2000" dirty="0">
              <a:latin typeface="Times New Roman"/>
              <a:cs typeface="Times New Roman"/>
            </a:endParaRPr>
          </a:p>
          <a:p>
            <a:pPr marL="695325" lvl="1" indent="-226695">
              <a:lnSpc>
                <a:spcPct val="100000"/>
              </a:lnSpc>
              <a:buAutoNum type="arabicPeriod"/>
              <a:tabLst>
                <a:tab pos="695960" algn="l"/>
              </a:tabLst>
            </a:pPr>
            <a:r>
              <a:rPr sz="2000" spc="-5" dirty="0">
                <a:latin typeface="Calibri"/>
                <a:cs typeface="Calibri"/>
              </a:rPr>
              <a:t>By</a:t>
            </a:r>
            <a:r>
              <a:rPr sz="2000" spc="-30" dirty="0">
                <a:latin typeface="Calibri"/>
                <a:cs typeface="Calibri"/>
              </a:rPr>
              <a:t> </a:t>
            </a:r>
            <a:r>
              <a:rPr sz="2000" spc="-20" dirty="0">
                <a:latin typeface="Calibri"/>
                <a:cs typeface="Calibri"/>
              </a:rPr>
              <a:t>array</a:t>
            </a:r>
            <a:r>
              <a:rPr sz="2000" spc="-15" dirty="0">
                <a:latin typeface="Calibri"/>
                <a:cs typeface="Calibri"/>
              </a:rPr>
              <a:t> literal</a:t>
            </a:r>
            <a:endParaRPr sz="2000" dirty="0">
              <a:latin typeface="Calibri"/>
              <a:cs typeface="Calibri"/>
            </a:endParaRPr>
          </a:p>
          <a:p>
            <a:pPr marL="483234" marR="2710815" lvl="1">
              <a:lnSpc>
                <a:spcPct val="100000"/>
              </a:lnSpc>
              <a:spcBef>
                <a:spcPts val="5"/>
              </a:spcBef>
              <a:tabLst>
                <a:tab pos="657860" algn="l"/>
              </a:tabLst>
            </a:pPr>
            <a:r>
              <a:rPr lang="en-US" sz="2000" spc="-5" dirty="0">
                <a:latin typeface="Calibri"/>
                <a:cs typeface="Calibri"/>
              </a:rPr>
              <a:t>2</a:t>
            </a:r>
            <a:r>
              <a:rPr sz="2000" spc="-5" dirty="0">
                <a:latin typeface="Calibri"/>
                <a:cs typeface="Calibri"/>
              </a:rPr>
              <a:t>.By</a:t>
            </a:r>
            <a:r>
              <a:rPr sz="2000" spc="-15" dirty="0">
                <a:latin typeface="Calibri"/>
                <a:cs typeface="Calibri"/>
              </a:rPr>
              <a:t> </a:t>
            </a:r>
            <a:r>
              <a:rPr sz="2000" spc="-5" dirty="0">
                <a:latin typeface="Calibri"/>
                <a:cs typeface="Calibri"/>
              </a:rPr>
              <a:t>using</a:t>
            </a:r>
            <a:r>
              <a:rPr sz="2000" spc="10" dirty="0">
                <a:latin typeface="Calibri"/>
                <a:cs typeface="Calibri"/>
              </a:rPr>
              <a:t> </a:t>
            </a:r>
            <a:r>
              <a:rPr sz="2000" dirty="0">
                <a:latin typeface="Calibri"/>
                <a:cs typeface="Calibri"/>
              </a:rPr>
              <a:t>an </a:t>
            </a:r>
            <a:r>
              <a:rPr sz="2000" spc="-20" dirty="0">
                <a:latin typeface="Calibri"/>
                <a:cs typeface="Calibri"/>
              </a:rPr>
              <a:t>Array</a:t>
            </a:r>
            <a:r>
              <a:rPr sz="2000" spc="5" dirty="0">
                <a:latin typeface="Calibri"/>
                <a:cs typeface="Calibri"/>
              </a:rPr>
              <a:t> </a:t>
            </a:r>
            <a:r>
              <a:rPr sz="2000" spc="-10" dirty="0">
                <a:latin typeface="Calibri"/>
                <a:cs typeface="Calibri"/>
              </a:rPr>
              <a:t>constructor</a:t>
            </a:r>
            <a:r>
              <a:rPr sz="2000" spc="10" dirty="0">
                <a:latin typeface="Calibri"/>
                <a:cs typeface="Calibri"/>
              </a:rPr>
              <a:t> </a:t>
            </a:r>
            <a:r>
              <a:rPr sz="2000" spc="-5" dirty="0">
                <a:latin typeface="Calibri"/>
                <a:cs typeface="Calibri"/>
              </a:rPr>
              <a:t>(using</a:t>
            </a:r>
            <a:r>
              <a:rPr sz="2000" spc="25" dirty="0">
                <a:latin typeface="Calibri"/>
                <a:cs typeface="Calibri"/>
              </a:rPr>
              <a:t> </a:t>
            </a:r>
            <a:r>
              <a:rPr sz="2000" spc="-5" dirty="0">
                <a:latin typeface="Calibri"/>
                <a:cs typeface="Calibri"/>
              </a:rPr>
              <a:t>new</a:t>
            </a:r>
            <a:r>
              <a:rPr sz="2000" spc="10" dirty="0">
                <a:latin typeface="Calibri"/>
                <a:cs typeface="Calibri"/>
              </a:rPr>
              <a:t> </a:t>
            </a:r>
            <a:r>
              <a:rPr sz="2000" spc="-20" dirty="0">
                <a:latin typeface="Calibri"/>
                <a:cs typeface="Calibri"/>
              </a:rPr>
              <a:t>keyword)</a:t>
            </a:r>
            <a:endParaRPr sz="2000" dirty="0">
              <a:latin typeface="Calibri"/>
              <a:cs typeface="Calibri"/>
            </a:endParaRPr>
          </a:p>
          <a:p>
            <a:pPr>
              <a:lnSpc>
                <a:spcPct val="100000"/>
              </a:lnSpc>
              <a:spcBef>
                <a:spcPts val="20"/>
              </a:spcBef>
            </a:pPr>
            <a:endParaRPr dirty="0">
              <a:latin typeface="Calibri"/>
              <a:cs typeface="Calibri"/>
            </a:endParaRPr>
          </a:p>
          <a:p>
            <a:pPr marL="12700">
              <a:lnSpc>
                <a:spcPct val="100000"/>
              </a:lnSpc>
              <a:spcBef>
                <a:spcPts val="5"/>
              </a:spcBef>
              <a:tabLst>
                <a:tab pos="354965" algn="l"/>
              </a:tabLst>
            </a:pPr>
            <a:r>
              <a:rPr sz="2000" spc="-5" dirty="0">
                <a:latin typeface="Calibri"/>
                <a:cs typeface="Calibri"/>
              </a:rPr>
              <a:t>1)	</a:t>
            </a:r>
            <a:r>
              <a:rPr sz="2000" spc="-10" dirty="0">
                <a:latin typeface="Calibri"/>
                <a:cs typeface="Calibri"/>
              </a:rPr>
              <a:t>JavaScript</a:t>
            </a:r>
            <a:r>
              <a:rPr sz="2000" spc="-20" dirty="0">
                <a:latin typeface="Calibri"/>
                <a:cs typeface="Calibri"/>
              </a:rPr>
              <a:t> array</a:t>
            </a:r>
            <a:r>
              <a:rPr sz="2000" spc="-15" dirty="0">
                <a:latin typeface="Calibri"/>
                <a:cs typeface="Calibri"/>
              </a:rPr>
              <a:t> </a:t>
            </a:r>
            <a:r>
              <a:rPr sz="2000" spc="-10" dirty="0">
                <a:latin typeface="Calibri"/>
                <a:cs typeface="Calibri"/>
              </a:rPr>
              <a:t>literal:-</a:t>
            </a:r>
            <a:endParaRPr sz="2000" dirty="0">
              <a:latin typeface="Calibri"/>
              <a:cs typeface="Calibri"/>
            </a:endParaRPr>
          </a:p>
          <a:p>
            <a:pPr marL="299085" indent="-287020">
              <a:lnSpc>
                <a:spcPct val="100000"/>
              </a:lnSpc>
              <a:buFont typeface="Arial MT"/>
              <a:buChar char="•"/>
              <a:tabLst>
                <a:tab pos="299085" algn="l"/>
                <a:tab pos="299720" algn="l"/>
              </a:tabLst>
            </a:pPr>
            <a:r>
              <a:rPr sz="2000" spc="-5" dirty="0">
                <a:latin typeface="Calibri"/>
                <a:cs typeface="Calibri"/>
              </a:rPr>
              <a:t>The</a:t>
            </a:r>
            <a:r>
              <a:rPr sz="2000" spc="15" dirty="0">
                <a:latin typeface="Calibri"/>
                <a:cs typeface="Calibri"/>
              </a:rPr>
              <a:t> </a:t>
            </a:r>
            <a:r>
              <a:rPr sz="2000" spc="-15" dirty="0">
                <a:latin typeface="Calibri"/>
                <a:cs typeface="Calibri"/>
              </a:rPr>
              <a:t>syntax</a:t>
            </a:r>
            <a:r>
              <a:rPr sz="2000" dirty="0">
                <a:latin typeface="Calibri"/>
                <a:cs typeface="Calibri"/>
              </a:rPr>
              <a:t> </a:t>
            </a:r>
            <a:r>
              <a:rPr sz="2000" spc="-5" dirty="0">
                <a:latin typeface="Calibri"/>
                <a:cs typeface="Calibri"/>
              </a:rPr>
              <a:t>of</a:t>
            </a:r>
            <a:r>
              <a:rPr sz="2000" spc="25" dirty="0">
                <a:latin typeface="Calibri"/>
                <a:cs typeface="Calibri"/>
              </a:rPr>
              <a:t> </a:t>
            </a:r>
            <a:r>
              <a:rPr sz="2000" spc="-10" dirty="0">
                <a:latin typeface="Calibri"/>
                <a:cs typeface="Calibri"/>
              </a:rPr>
              <a:t>creating</a:t>
            </a:r>
            <a:r>
              <a:rPr sz="2000" spc="40" dirty="0">
                <a:latin typeface="Calibri"/>
                <a:cs typeface="Calibri"/>
              </a:rPr>
              <a:t> </a:t>
            </a:r>
            <a:r>
              <a:rPr sz="2000" spc="-20" dirty="0">
                <a:latin typeface="Calibri"/>
                <a:cs typeface="Calibri"/>
              </a:rPr>
              <a:t>array</a:t>
            </a:r>
            <a:r>
              <a:rPr sz="2000" spc="10" dirty="0">
                <a:latin typeface="Calibri"/>
                <a:cs typeface="Calibri"/>
              </a:rPr>
              <a:t> </a:t>
            </a:r>
            <a:r>
              <a:rPr sz="2000" spc="-5" dirty="0">
                <a:latin typeface="Calibri"/>
                <a:cs typeface="Calibri"/>
              </a:rPr>
              <a:t>using</a:t>
            </a:r>
            <a:r>
              <a:rPr sz="2000" spc="25" dirty="0">
                <a:latin typeface="Calibri"/>
                <a:cs typeface="Calibri"/>
              </a:rPr>
              <a:t> </a:t>
            </a:r>
            <a:r>
              <a:rPr sz="2000" spc="-20" dirty="0">
                <a:latin typeface="Calibri"/>
                <a:cs typeface="Calibri"/>
              </a:rPr>
              <a:t>array</a:t>
            </a:r>
            <a:r>
              <a:rPr sz="2000" spc="15" dirty="0">
                <a:latin typeface="Calibri"/>
                <a:cs typeface="Calibri"/>
              </a:rPr>
              <a:t> </a:t>
            </a:r>
            <a:r>
              <a:rPr sz="2000" spc="-15" dirty="0">
                <a:latin typeface="Calibri"/>
                <a:cs typeface="Calibri"/>
              </a:rPr>
              <a:t>literal</a:t>
            </a:r>
            <a:r>
              <a:rPr sz="2000" spc="30" dirty="0">
                <a:latin typeface="Calibri"/>
                <a:cs typeface="Calibri"/>
              </a:rPr>
              <a:t> </a:t>
            </a:r>
            <a:r>
              <a:rPr sz="2000" spc="-5" dirty="0">
                <a:latin typeface="Calibri"/>
                <a:cs typeface="Calibri"/>
              </a:rPr>
              <a:t>is:</a:t>
            </a:r>
            <a:r>
              <a:rPr sz="2000" spc="445" dirty="0">
                <a:latin typeface="Calibri"/>
                <a:cs typeface="Calibri"/>
              </a:rPr>
              <a:t> </a:t>
            </a:r>
            <a:r>
              <a:rPr sz="2000" spc="-10" dirty="0">
                <a:latin typeface="Calibri"/>
                <a:cs typeface="Calibri"/>
              </a:rPr>
              <a:t>var</a:t>
            </a:r>
            <a:r>
              <a:rPr sz="2000" spc="5" dirty="0">
                <a:latin typeface="Calibri"/>
                <a:cs typeface="Calibri"/>
              </a:rPr>
              <a:t> </a:t>
            </a:r>
            <a:r>
              <a:rPr sz="2000" spc="-10" dirty="0">
                <a:latin typeface="Calibri"/>
                <a:cs typeface="Calibri"/>
              </a:rPr>
              <a:t>arrayname=[value1,value2.....valueN];</a:t>
            </a:r>
            <a:endParaRPr sz="2000" dirty="0">
              <a:latin typeface="Calibri"/>
              <a:cs typeface="Calibri"/>
            </a:endParaRPr>
          </a:p>
          <a:p>
            <a:pPr marL="299085" indent="-287020">
              <a:lnSpc>
                <a:spcPct val="100000"/>
              </a:lnSpc>
              <a:buFont typeface="Arial MT"/>
              <a:buChar char="•"/>
              <a:tabLst>
                <a:tab pos="299085" algn="l"/>
                <a:tab pos="299720" algn="l"/>
              </a:tabLst>
            </a:pPr>
            <a:r>
              <a:rPr sz="2000" dirty="0">
                <a:latin typeface="Calibri"/>
                <a:cs typeface="Calibri"/>
              </a:rPr>
              <a:t>As</a:t>
            </a:r>
            <a:r>
              <a:rPr sz="2000" spc="-10" dirty="0">
                <a:latin typeface="Calibri"/>
                <a:cs typeface="Calibri"/>
              </a:rPr>
              <a:t> you</a:t>
            </a:r>
            <a:r>
              <a:rPr sz="2000" spc="10" dirty="0">
                <a:latin typeface="Calibri"/>
                <a:cs typeface="Calibri"/>
              </a:rPr>
              <a:t> </a:t>
            </a:r>
            <a:r>
              <a:rPr sz="2000" spc="-10" dirty="0">
                <a:latin typeface="Calibri"/>
                <a:cs typeface="Calibri"/>
              </a:rPr>
              <a:t>can</a:t>
            </a:r>
            <a:r>
              <a:rPr sz="2000" spc="10" dirty="0">
                <a:latin typeface="Calibri"/>
                <a:cs typeface="Calibri"/>
              </a:rPr>
              <a:t> </a:t>
            </a:r>
            <a:r>
              <a:rPr sz="2000" dirty="0">
                <a:latin typeface="Calibri"/>
                <a:cs typeface="Calibri"/>
              </a:rPr>
              <a:t>see,</a:t>
            </a:r>
            <a:r>
              <a:rPr sz="2000" spc="-5" dirty="0">
                <a:latin typeface="Calibri"/>
                <a:cs typeface="Calibri"/>
              </a:rPr>
              <a:t> </a:t>
            </a:r>
            <a:r>
              <a:rPr sz="2000" spc="-10" dirty="0">
                <a:latin typeface="Calibri"/>
                <a:cs typeface="Calibri"/>
              </a:rPr>
              <a:t>values</a:t>
            </a:r>
            <a:r>
              <a:rPr sz="2000" dirty="0">
                <a:latin typeface="Calibri"/>
                <a:cs typeface="Calibri"/>
              </a:rPr>
              <a:t> </a:t>
            </a:r>
            <a:r>
              <a:rPr sz="2000" spc="-10" dirty="0">
                <a:latin typeface="Calibri"/>
                <a:cs typeface="Calibri"/>
              </a:rPr>
              <a:t>are</a:t>
            </a:r>
            <a:r>
              <a:rPr sz="2000" spc="15" dirty="0">
                <a:latin typeface="Calibri"/>
                <a:cs typeface="Calibri"/>
              </a:rPr>
              <a:t> </a:t>
            </a:r>
            <a:r>
              <a:rPr sz="2000" spc="-10" dirty="0">
                <a:latin typeface="Calibri"/>
                <a:cs typeface="Calibri"/>
              </a:rPr>
              <a:t>contained</a:t>
            </a:r>
            <a:r>
              <a:rPr sz="2000" spc="15" dirty="0">
                <a:latin typeface="Calibri"/>
                <a:cs typeface="Calibri"/>
              </a:rPr>
              <a:t> </a:t>
            </a:r>
            <a:r>
              <a:rPr sz="2000" spc="-5" dirty="0">
                <a:latin typeface="Calibri"/>
                <a:cs typeface="Calibri"/>
              </a:rPr>
              <a:t>inside</a:t>
            </a:r>
            <a:r>
              <a:rPr sz="2000" spc="20" dirty="0">
                <a:latin typeface="Calibri"/>
                <a:cs typeface="Calibri"/>
              </a:rPr>
              <a:t> </a:t>
            </a:r>
            <a:r>
              <a:rPr sz="2000" dirty="0">
                <a:latin typeface="Calibri"/>
                <a:cs typeface="Calibri"/>
              </a:rPr>
              <a:t>[ ] and</a:t>
            </a:r>
            <a:r>
              <a:rPr sz="2000" spc="15" dirty="0">
                <a:latin typeface="Calibri"/>
                <a:cs typeface="Calibri"/>
              </a:rPr>
              <a:t> </a:t>
            </a:r>
            <a:r>
              <a:rPr sz="2000" spc="-10" dirty="0">
                <a:latin typeface="Calibri"/>
                <a:cs typeface="Calibri"/>
              </a:rPr>
              <a:t>separated</a:t>
            </a:r>
            <a:r>
              <a:rPr sz="2000" spc="5" dirty="0">
                <a:latin typeface="Calibri"/>
                <a:cs typeface="Calibri"/>
              </a:rPr>
              <a:t> </a:t>
            </a:r>
            <a:r>
              <a:rPr sz="2000" spc="-10" dirty="0">
                <a:latin typeface="Calibri"/>
                <a:cs typeface="Calibri"/>
              </a:rPr>
              <a:t>by</a:t>
            </a:r>
            <a:r>
              <a:rPr sz="2000" dirty="0">
                <a:latin typeface="Calibri"/>
                <a:cs typeface="Calibri"/>
              </a:rPr>
              <a:t> ,</a:t>
            </a:r>
            <a:r>
              <a:rPr sz="2000" spc="5" dirty="0">
                <a:latin typeface="Calibri"/>
                <a:cs typeface="Calibri"/>
              </a:rPr>
              <a:t> </a:t>
            </a:r>
            <a:r>
              <a:rPr sz="2000" spc="-10" dirty="0">
                <a:latin typeface="Calibri"/>
                <a:cs typeface="Calibri"/>
              </a:rPr>
              <a:t>(comma).</a:t>
            </a:r>
            <a:endParaRPr sz="2000" dirty="0">
              <a:latin typeface="Calibri"/>
              <a:cs typeface="Calibri"/>
            </a:endParaRPr>
          </a:p>
          <a:p>
            <a:pPr marL="299085" indent="-287020">
              <a:lnSpc>
                <a:spcPct val="100000"/>
              </a:lnSpc>
              <a:buFont typeface="Arial MT"/>
              <a:buChar char="•"/>
              <a:tabLst>
                <a:tab pos="299085" algn="l"/>
                <a:tab pos="299720" algn="l"/>
              </a:tabLst>
            </a:pPr>
            <a:r>
              <a:rPr sz="2000" spc="-5" dirty="0">
                <a:latin typeface="Calibri"/>
                <a:cs typeface="Calibri"/>
              </a:rPr>
              <a:t>The</a:t>
            </a:r>
            <a:r>
              <a:rPr sz="2000" spc="5" dirty="0">
                <a:latin typeface="Calibri"/>
                <a:cs typeface="Calibri"/>
              </a:rPr>
              <a:t> </a:t>
            </a:r>
            <a:r>
              <a:rPr sz="2000" spc="-5" dirty="0">
                <a:latin typeface="Calibri"/>
                <a:cs typeface="Calibri"/>
              </a:rPr>
              <a:t>.length</a:t>
            </a:r>
            <a:r>
              <a:rPr sz="2000" spc="10" dirty="0">
                <a:latin typeface="Calibri"/>
                <a:cs typeface="Calibri"/>
              </a:rPr>
              <a:t> </a:t>
            </a:r>
            <a:r>
              <a:rPr sz="2000" spc="-10" dirty="0">
                <a:latin typeface="Calibri"/>
                <a:cs typeface="Calibri"/>
              </a:rPr>
              <a:t>property</a:t>
            </a:r>
            <a:r>
              <a:rPr sz="2000" spc="5" dirty="0">
                <a:latin typeface="Calibri"/>
                <a:cs typeface="Calibri"/>
              </a:rPr>
              <a:t> </a:t>
            </a:r>
            <a:r>
              <a:rPr sz="2000" spc="-10" dirty="0">
                <a:latin typeface="Calibri"/>
                <a:cs typeface="Calibri"/>
              </a:rPr>
              <a:t>returns</a:t>
            </a:r>
            <a:r>
              <a:rPr sz="2000" dirty="0">
                <a:latin typeface="Calibri"/>
                <a:cs typeface="Calibri"/>
              </a:rPr>
              <a:t> the</a:t>
            </a:r>
            <a:r>
              <a:rPr sz="2000" spc="15" dirty="0">
                <a:latin typeface="Calibri"/>
                <a:cs typeface="Calibri"/>
              </a:rPr>
              <a:t> </a:t>
            </a:r>
            <a:r>
              <a:rPr sz="2000" spc="-5" dirty="0">
                <a:latin typeface="Calibri"/>
                <a:cs typeface="Calibri"/>
              </a:rPr>
              <a:t>length</a:t>
            </a:r>
            <a:r>
              <a:rPr sz="2000" spc="10" dirty="0">
                <a:latin typeface="Calibri"/>
                <a:cs typeface="Calibri"/>
              </a:rPr>
              <a:t> </a:t>
            </a:r>
            <a:r>
              <a:rPr sz="2000" spc="-5" dirty="0">
                <a:latin typeface="Calibri"/>
                <a:cs typeface="Calibri"/>
              </a:rPr>
              <a:t>of</a:t>
            </a:r>
            <a:r>
              <a:rPr sz="2000" dirty="0">
                <a:latin typeface="Calibri"/>
                <a:cs typeface="Calibri"/>
              </a:rPr>
              <a:t> an</a:t>
            </a:r>
            <a:r>
              <a:rPr sz="2000" spc="5" dirty="0">
                <a:latin typeface="Calibri"/>
                <a:cs typeface="Calibri"/>
              </a:rPr>
              <a:t> </a:t>
            </a:r>
            <a:r>
              <a:rPr sz="2000" spc="-35" dirty="0">
                <a:latin typeface="Calibri"/>
                <a:cs typeface="Calibri"/>
              </a:rPr>
              <a:t>array.</a:t>
            </a:r>
            <a:endParaRPr sz="2000" dirty="0">
              <a:latin typeface="Calibri"/>
              <a:cs typeface="Calibri"/>
            </a:endParaRPr>
          </a:p>
        </p:txBody>
      </p:sp>
      <p:sp>
        <p:nvSpPr>
          <p:cNvPr id="3" name="object 3"/>
          <p:cNvSpPr txBox="1"/>
          <p:nvPr/>
        </p:nvSpPr>
        <p:spPr>
          <a:xfrm>
            <a:off x="921816" y="4628641"/>
            <a:ext cx="4313124" cy="1859483"/>
          </a:xfrm>
          <a:prstGeom prst="rect">
            <a:avLst/>
          </a:prstGeom>
        </p:spPr>
        <p:txBody>
          <a:bodyPr vert="horz" wrap="square" lIns="0" tIns="12700" rIns="0" bIns="0" rtlCol="0">
            <a:spAutoFit/>
          </a:bodyPr>
          <a:lstStyle/>
          <a:p>
            <a:pPr marL="12700">
              <a:lnSpc>
                <a:spcPct val="100000"/>
              </a:lnSpc>
              <a:spcBef>
                <a:spcPts val="100"/>
              </a:spcBef>
            </a:pPr>
            <a:r>
              <a:rPr sz="2000" spc="-5" dirty="0">
                <a:latin typeface="Calibri"/>
                <a:cs typeface="Calibri"/>
              </a:rPr>
              <a:t>Ex:-</a:t>
            </a:r>
            <a:r>
              <a:rPr sz="2000" b="1" spc="-5" dirty="0">
                <a:latin typeface="Calibri"/>
                <a:cs typeface="Calibri"/>
              </a:rPr>
              <a:t>&lt;script&gt;</a:t>
            </a:r>
            <a:endParaRPr sz="2000" dirty="0">
              <a:latin typeface="Calibri"/>
              <a:cs typeface="Calibri"/>
            </a:endParaRPr>
          </a:p>
          <a:p>
            <a:pPr marL="379730" marR="5080">
              <a:lnSpc>
                <a:spcPct val="100000"/>
              </a:lnSpc>
            </a:pPr>
            <a:r>
              <a:rPr sz="2000" spc="-10" dirty="0">
                <a:latin typeface="Calibri"/>
                <a:cs typeface="Calibri"/>
              </a:rPr>
              <a:t>var </a:t>
            </a:r>
            <a:r>
              <a:rPr sz="2000" spc="-5" dirty="0">
                <a:latin typeface="Calibri"/>
                <a:cs typeface="Calibri"/>
              </a:rPr>
              <a:t>emp=["Sonoo","Vimal","Ratan"]; </a:t>
            </a:r>
            <a:r>
              <a:rPr sz="2000" spc="-395" dirty="0">
                <a:latin typeface="Calibri"/>
                <a:cs typeface="Calibri"/>
              </a:rPr>
              <a:t> </a:t>
            </a:r>
            <a:r>
              <a:rPr sz="2000" spc="-15" dirty="0">
                <a:latin typeface="Calibri"/>
                <a:cs typeface="Calibri"/>
              </a:rPr>
              <a:t>for</a:t>
            </a:r>
            <a:r>
              <a:rPr sz="2000" spc="-10" dirty="0">
                <a:latin typeface="Calibri"/>
                <a:cs typeface="Calibri"/>
              </a:rPr>
              <a:t> </a:t>
            </a:r>
            <a:r>
              <a:rPr sz="2000" spc="-5" dirty="0">
                <a:latin typeface="Calibri"/>
                <a:cs typeface="Calibri"/>
              </a:rPr>
              <a:t>(i=0;i</a:t>
            </a:r>
            <a:r>
              <a:rPr sz="2000" b="1" spc="-5" dirty="0">
                <a:latin typeface="Calibri"/>
                <a:cs typeface="Calibri"/>
              </a:rPr>
              <a:t>&lt;emp.length</a:t>
            </a:r>
            <a:r>
              <a:rPr sz="2000" spc="-5" dirty="0">
                <a:latin typeface="Calibri"/>
                <a:cs typeface="Calibri"/>
              </a:rPr>
              <a:t>;i++){ </a:t>
            </a:r>
            <a:r>
              <a:rPr sz="2000" dirty="0">
                <a:latin typeface="Calibri"/>
                <a:cs typeface="Calibri"/>
              </a:rPr>
              <a:t> </a:t>
            </a:r>
            <a:r>
              <a:rPr sz="2000" spc="-10" dirty="0">
                <a:latin typeface="Calibri"/>
                <a:cs typeface="Calibri"/>
              </a:rPr>
              <a:t>document.write(emp[i]</a:t>
            </a:r>
            <a:r>
              <a:rPr sz="2000" spc="20" dirty="0">
                <a:latin typeface="Calibri"/>
                <a:cs typeface="Calibri"/>
              </a:rPr>
              <a:t> </a:t>
            </a:r>
            <a:r>
              <a:rPr sz="2000" dirty="0">
                <a:latin typeface="Calibri"/>
                <a:cs typeface="Calibri"/>
              </a:rPr>
              <a:t>+</a:t>
            </a:r>
            <a:r>
              <a:rPr sz="2000" spc="-5" dirty="0">
                <a:latin typeface="Calibri"/>
                <a:cs typeface="Calibri"/>
              </a:rPr>
              <a:t> "</a:t>
            </a:r>
            <a:r>
              <a:rPr sz="2000" b="1" spc="-5" dirty="0">
                <a:latin typeface="Calibri"/>
                <a:cs typeface="Calibri"/>
              </a:rPr>
              <a:t>&lt;br/&gt;</a:t>
            </a:r>
            <a:r>
              <a:rPr sz="2000" spc="-5" dirty="0">
                <a:latin typeface="Calibri"/>
                <a:cs typeface="Calibri"/>
              </a:rPr>
              <a:t>");</a:t>
            </a:r>
            <a:endParaRPr sz="2000" dirty="0">
              <a:latin typeface="Calibri"/>
              <a:cs typeface="Calibri"/>
            </a:endParaRPr>
          </a:p>
          <a:p>
            <a:pPr marL="12700">
              <a:lnSpc>
                <a:spcPct val="100000"/>
              </a:lnSpc>
            </a:pPr>
            <a:r>
              <a:rPr sz="2000" dirty="0">
                <a:latin typeface="Calibri"/>
                <a:cs typeface="Calibri"/>
              </a:rPr>
              <a:t>}</a:t>
            </a:r>
          </a:p>
          <a:p>
            <a:pPr marL="12700">
              <a:lnSpc>
                <a:spcPct val="100000"/>
              </a:lnSpc>
            </a:pPr>
            <a:r>
              <a:rPr sz="2000" b="1" spc="-10" dirty="0">
                <a:latin typeface="Calibri"/>
                <a:cs typeface="Calibri"/>
              </a:rPr>
              <a:t>&lt;/script&gt;</a:t>
            </a:r>
            <a:endParaRPr sz="2000" dirty="0">
              <a:latin typeface="Calibri"/>
              <a:cs typeface="Calibri"/>
            </a:endParaRPr>
          </a:p>
        </p:txBody>
      </p:sp>
      <p:sp>
        <p:nvSpPr>
          <p:cNvPr id="4" name="object 4"/>
          <p:cNvSpPr txBox="1"/>
          <p:nvPr/>
        </p:nvSpPr>
        <p:spPr>
          <a:xfrm>
            <a:off x="7284085" y="5032121"/>
            <a:ext cx="821055" cy="1233736"/>
          </a:xfrm>
          <a:prstGeom prst="rect">
            <a:avLst/>
          </a:prstGeom>
        </p:spPr>
        <p:txBody>
          <a:bodyPr vert="horz" wrap="square" lIns="0" tIns="9525" rIns="0" bIns="0" rtlCol="0">
            <a:spAutoFit/>
          </a:bodyPr>
          <a:lstStyle/>
          <a:p>
            <a:pPr marL="12700" marR="5080">
              <a:lnSpc>
                <a:spcPct val="101099"/>
              </a:lnSpc>
              <a:spcBef>
                <a:spcPts val="75"/>
              </a:spcBef>
            </a:pPr>
            <a:r>
              <a:rPr sz="2000" spc="-5" dirty="0">
                <a:latin typeface="Calibri"/>
                <a:cs typeface="Calibri"/>
              </a:rPr>
              <a:t>Output</a:t>
            </a:r>
            <a:r>
              <a:rPr sz="2000" dirty="0">
                <a:latin typeface="Calibri"/>
                <a:cs typeface="Calibri"/>
              </a:rPr>
              <a:t> </a:t>
            </a:r>
            <a:r>
              <a:rPr sz="2000" spc="-5" dirty="0">
                <a:latin typeface="Arial MT"/>
                <a:cs typeface="Arial MT"/>
              </a:rPr>
              <a:t>Sonoo </a:t>
            </a:r>
            <a:r>
              <a:rPr sz="2000" dirty="0">
                <a:latin typeface="Arial MT"/>
                <a:cs typeface="Arial MT"/>
              </a:rPr>
              <a:t> </a:t>
            </a:r>
            <a:r>
              <a:rPr sz="2000" spc="-15" dirty="0">
                <a:latin typeface="Arial MT"/>
                <a:cs typeface="Arial MT"/>
              </a:rPr>
              <a:t>Vimal </a:t>
            </a:r>
            <a:r>
              <a:rPr sz="2000" spc="-10" dirty="0">
                <a:latin typeface="Arial MT"/>
                <a:cs typeface="Arial MT"/>
              </a:rPr>
              <a:t> </a:t>
            </a:r>
            <a:r>
              <a:rPr sz="2000" spc="-5" dirty="0">
                <a:latin typeface="Arial MT"/>
                <a:cs typeface="Arial MT"/>
              </a:rPr>
              <a:t>Ratan</a:t>
            </a:r>
            <a:endParaRPr sz="2000" dirty="0">
              <a:latin typeface="Arial MT"/>
              <a:cs typeface="Arial M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8888" y="430022"/>
            <a:ext cx="10038182" cy="6168355"/>
          </a:xfrm>
          <a:prstGeom prst="rect">
            <a:avLst/>
          </a:prstGeom>
        </p:spPr>
        <p:txBody>
          <a:bodyPr vert="horz" wrap="square" lIns="0" tIns="12700" rIns="0" bIns="0" rtlCol="0" anchor="ctr">
            <a:spAutoFit/>
          </a:bodyPr>
          <a:lstStyle/>
          <a:p>
            <a:pPr marL="12700">
              <a:lnSpc>
                <a:spcPct val="100000"/>
              </a:lnSpc>
              <a:spcBef>
                <a:spcPts val="100"/>
              </a:spcBef>
            </a:pPr>
            <a:r>
              <a:rPr lang="en-US" sz="2000" spc="5" dirty="0">
                <a:latin typeface="Calibri"/>
                <a:cs typeface="Calibri"/>
              </a:rPr>
              <a:t>2)</a:t>
            </a:r>
            <a:r>
              <a:rPr sz="2000" spc="5" dirty="0">
                <a:latin typeface="Calibri"/>
                <a:cs typeface="Calibri"/>
              </a:rPr>
              <a:t> </a:t>
            </a:r>
            <a:r>
              <a:rPr sz="2400" spc="-10" dirty="0">
                <a:latin typeface="Calibri"/>
                <a:cs typeface="Calibri"/>
              </a:rPr>
              <a:t>JavaScript</a:t>
            </a:r>
            <a:r>
              <a:rPr sz="2400" spc="10" dirty="0">
                <a:latin typeface="Calibri"/>
                <a:cs typeface="Calibri"/>
              </a:rPr>
              <a:t> </a:t>
            </a:r>
            <a:r>
              <a:rPr sz="2400" spc="-20" dirty="0">
                <a:latin typeface="Calibri"/>
                <a:cs typeface="Calibri"/>
              </a:rPr>
              <a:t>array</a:t>
            </a:r>
            <a:r>
              <a:rPr sz="2400" spc="5" dirty="0">
                <a:latin typeface="Calibri"/>
                <a:cs typeface="Calibri"/>
              </a:rPr>
              <a:t> </a:t>
            </a:r>
            <a:r>
              <a:rPr sz="2400" spc="-10" dirty="0">
                <a:latin typeface="Calibri"/>
                <a:cs typeface="Calibri"/>
              </a:rPr>
              <a:t>constructor</a:t>
            </a:r>
            <a:r>
              <a:rPr sz="2400" spc="10" dirty="0">
                <a:latin typeface="Calibri"/>
                <a:cs typeface="Calibri"/>
              </a:rPr>
              <a:t> </a:t>
            </a:r>
            <a:r>
              <a:rPr sz="2400" spc="-10" dirty="0">
                <a:latin typeface="Calibri"/>
                <a:cs typeface="Calibri"/>
              </a:rPr>
              <a:t>(new</a:t>
            </a:r>
            <a:r>
              <a:rPr sz="2400" spc="25" dirty="0">
                <a:latin typeface="Calibri"/>
                <a:cs typeface="Calibri"/>
              </a:rPr>
              <a:t> </a:t>
            </a:r>
            <a:r>
              <a:rPr sz="2400" spc="-15" dirty="0">
                <a:latin typeface="Calibri"/>
                <a:cs typeface="Calibri"/>
              </a:rPr>
              <a:t>keyword):-</a:t>
            </a:r>
            <a:endParaRPr sz="2400" dirty="0">
              <a:latin typeface="Calibri"/>
              <a:cs typeface="Calibri"/>
            </a:endParaRPr>
          </a:p>
          <a:p>
            <a:pPr marL="12700" marR="5080">
              <a:lnSpc>
                <a:spcPct val="100000"/>
              </a:lnSpc>
            </a:pPr>
            <a:r>
              <a:rPr sz="2400" spc="-10" dirty="0">
                <a:latin typeface="Calibri"/>
                <a:cs typeface="Calibri"/>
              </a:rPr>
              <a:t>Here,</a:t>
            </a:r>
            <a:r>
              <a:rPr sz="2400" spc="20" dirty="0">
                <a:latin typeface="Calibri"/>
                <a:cs typeface="Calibri"/>
              </a:rPr>
              <a:t> </a:t>
            </a:r>
            <a:r>
              <a:rPr sz="2400" spc="-10" dirty="0">
                <a:latin typeface="Calibri"/>
                <a:cs typeface="Calibri"/>
              </a:rPr>
              <a:t>you</a:t>
            </a:r>
            <a:r>
              <a:rPr sz="2400" dirty="0">
                <a:latin typeface="Calibri"/>
                <a:cs typeface="Calibri"/>
              </a:rPr>
              <a:t> need</a:t>
            </a:r>
            <a:r>
              <a:rPr sz="2400" spc="10" dirty="0">
                <a:latin typeface="Calibri"/>
                <a:cs typeface="Calibri"/>
              </a:rPr>
              <a:t> </a:t>
            </a:r>
            <a:r>
              <a:rPr sz="2400" spc="-10" dirty="0">
                <a:latin typeface="Calibri"/>
                <a:cs typeface="Calibri"/>
              </a:rPr>
              <a:t>to</a:t>
            </a:r>
            <a:r>
              <a:rPr sz="2400" dirty="0">
                <a:latin typeface="Calibri"/>
                <a:cs typeface="Calibri"/>
              </a:rPr>
              <a:t> </a:t>
            </a:r>
            <a:r>
              <a:rPr sz="2400" spc="-15" dirty="0">
                <a:latin typeface="Calibri"/>
                <a:cs typeface="Calibri"/>
              </a:rPr>
              <a:t>create</a:t>
            </a:r>
            <a:r>
              <a:rPr sz="2400" spc="20" dirty="0">
                <a:latin typeface="Calibri"/>
                <a:cs typeface="Calibri"/>
              </a:rPr>
              <a:t> </a:t>
            </a:r>
            <a:r>
              <a:rPr sz="2400" spc="-10" dirty="0">
                <a:latin typeface="Calibri"/>
                <a:cs typeface="Calibri"/>
              </a:rPr>
              <a:t>instance</a:t>
            </a:r>
            <a:r>
              <a:rPr sz="2400" spc="10" dirty="0">
                <a:latin typeface="Calibri"/>
                <a:cs typeface="Calibri"/>
              </a:rPr>
              <a:t> </a:t>
            </a:r>
            <a:r>
              <a:rPr sz="2400" spc="-5" dirty="0">
                <a:latin typeface="Calibri"/>
                <a:cs typeface="Calibri"/>
              </a:rPr>
              <a:t>of</a:t>
            </a:r>
            <a:r>
              <a:rPr sz="2400" spc="15" dirty="0">
                <a:latin typeface="Calibri"/>
                <a:cs typeface="Calibri"/>
              </a:rPr>
              <a:t> </a:t>
            </a:r>
            <a:r>
              <a:rPr sz="2400" spc="-20" dirty="0">
                <a:latin typeface="Calibri"/>
                <a:cs typeface="Calibri"/>
              </a:rPr>
              <a:t>array</a:t>
            </a:r>
            <a:r>
              <a:rPr sz="2400" spc="5" dirty="0">
                <a:latin typeface="Calibri"/>
                <a:cs typeface="Calibri"/>
              </a:rPr>
              <a:t> </a:t>
            </a:r>
            <a:r>
              <a:rPr sz="2400" spc="-5" dirty="0">
                <a:latin typeface="Calibri"/>
                <a:cs typeface="Calibri"/>
              </a:rPr>
              <a:t>by</a:t>
            </a:r>
            <a:r>
              <a:rPr sz="2400" dirty="0">
                <a:latin typeface="Calibri"/>
                <a:cs typeface="Calibri"/>
              </a:rPr>
              <a:t> </a:t>
            </a:r>
            <a:r>
              <a:rPr sz="2400" spc="-5" dirty="0">
                <a:latin typeface="Calibri"/>
                <a:cs typeface="Calibri"/>
              </a:rPr>
              <a:t>passing</a:t>
            </a:r>
            <a:r>
              <a:rPr sz="2400" spc="5" dirty="0">
                <a:latin typeface="Calibri"/>
                <a:cs typeface="Calibri"/>
              </a:rPr>
              <a:t> </a:t>
            </a:r>
            <a:r>
              <a:rPr sz="2400" spc="-5" dirty="0">
                <a:latin typeface="Calibri"/>
                <a:cs typeface="Calibri"/>
              </a:rPr>
              <a:t>arguments in</a:t>
            </a:r>
            <a:r>
              <a:rPr sz="2400" spc="10" dirty="0">
                <a:latin typeface="Calibri"/>
                <a:cs typeface="Calibri"/>
              </a:rPr>
              <a:t> </a:t>
            </a:r>
            <a:r>
              <a:rPr sz="2400" spc="-10" dirty="0">
                <a:latin typeface="Calibri"/>
                <a:cs typeface="Calibri"/>
              </a:rPr>
              <a:t>constructor</a:t>
            </a:r>
            <a:r>
              <a:rPr sz="2400" spc="10" dirty="0">
                <a:latin typeface="Calibri"/>
                <a:cs typeface="Calibri"/>
              </a:rPr>
              <a:t> </a:t>
            </a:r>
            <a:r>
              <a:rPr sz="2400" spc="-5" dirty="0">
                <a:latin typeface="Calibri"/>
                <a:cs typeface="Calibri"/>
              </a:rPr>
              <a:t>so</a:t>
            </a:r>
            <a:r>
              <a:rPr sz="2400" dirty="0">
                <a:latin typeface="Calibri"/>
                <a:cs typeface="Calibri"/>
              </a:rPr>
              <a:t> </a:t>
            </a:r>
            <a:r>
              <a:rPr sz="2400" spc="-5" dirty="0">
                <a:latin typeface="Calibri"/>
                <a:cs typeface="Calibri"/>
              </a:rPr>
              <a:t>that</a:t>
            </a:r>
            <a:r>
              <a:rPr sz="2400" dirty="0">
                <a:latin typeface="Calibri"/>
                <a:cs typeface="Calibri"/>
              </a:rPr>
              <a:t> </a:t>
            </a:r>
            <a:r>
              <a:rPr sz="2400" spc="-10" dirty="0">
                <a:latin typeface="Calibri"/>
                <a:cs typeface="Calibri"/>
              </a:rPr>
              <a:t>we</a:t>
            </a:r>
            <a:r>
              <a:rPr sz="2400" spc="20" dirty="0">
                <a:latin typeface="Calibri"/>
                <a:cs typeface="Calibri"/>
              </a:rPr>
              <a:t> </a:t>
            </a:r>
            <a:r>
              <a:rPr sz="2400" spc="-5" dirty="0">
                <a:latin typeface="Calibri"/>
                <a:cs typeface="Calibri"/>
              </a:rPr>
              <a:t>don't</a:t>
            </a:r>
            <a:r>
              <a:rPr sz="2400" spc="15" dirty="0">
                <a:latin typeface="Calibri"/>
                <a:cs typeface="Calibri"/>
              </a:rPr>
              <a:t> </a:t>
            </a:r>
            <a:r>
              <a:rPr sz="2400" spc="-10" dirty="0">
                <a:latin typeface="Calibri"/>
                <a:cs typeface="Calibri"/>
              </a:rPr>
              <a:t>have to </a:t>
            </a:r>
            <a:r>
              <a:rPr sz="2400" spc="-390" dirty="0">
                <a:latin typeface="Calibri"/>
                <a:cs typeface="Calibri"/>
              </a:rPr>
              <a:t> </a:t>
            </a:r>
            <a:r>
              <a:rPr sz="2400" spc="-10" dirty="0">
                <a:latin typeface="Calibri"/>
                <a:cs typeface="Calibri"/>
              </a:rPr>
              <a:t>provide</a:t>
            </a:r>
            <a:r>
              <a:rPr sz="2400" spc="10" dirty="0">
                <a:latin typeface="Calibri"/>
                <a:cs typeface="Calibri"/>
              </a:rPr>
              <a:t> </a:t>
            </a:r>
            <a:r>
              <a:rPr sz="2400" spc="-5" dirty="0">
                <a:latin typeface="Calibri"/>
                <a:cs typeface="Calibri"/>
              </a:rPr>
              <a:t>value </a:t>
            </a:r>
            <a:r>
              <a:rPr sz="2400" spc="-20" dirty="0">
                <a:latin typeface="Calibri"/>
                <a:cs typeface="Calibri"/>
              </a:rPr>
              <a:t>explicitly.</a:t>
            </a:r>
            <a:endParaRPr sz="2400" dirty="0">
              <a:latin typeface="Calibri"/>
              <a:cs typeface="Calibri"/>
            </a:endParaRPr>
          </a:p>
          <a:p>
            <a:pPr>
              <a:lnSpc>
                <a:spcPct val="100000"/>
              </a:lnSpc>
              <a:spcBef>
                <a:spcPts val="25"/>
              </a:spcBef>
            </a:pPr>
            <a:endParaRPr sz="2000" dirty="0">
              <a:latin typeface="Calibri"/>
              <a:cs typeface="Calibri"/>
            </a:endParaRPr>
          </a:p>
          <a:p>
            <a:pPr marL="12700">
              <a:lnSpc>
                <a:spcPct val="100000"/>
              </a:lnSpc>
            </a:pPr>
            <a:r>
              <a:rPr sz="2400" spc="-5" dirty="0" smtClean="0">
                <a:latin typeface="Calibri"/>
                <a:cs typeface="Calibri"/>
              </a:rPr>
              <a:t>Ex:-</a:t>
            </a:r>
            <a:endParaRPr sz="2400" dirty="0" smtClean="0">
              <a:latin typeface="Calibri"/>
              <a:cs typeface="Calibri"/>
            </a:endParaRPr>
          </a:p>
          <a:p>
            <a:pPr marL="12700">
              <a:lnSpc>
                <a:spcPct val="100000"/>
              </a:lnSpc>
            </a:pPr>
            <a:r>
              <a:rPr sz="2400" b="1" spc="-5" dirty="0" smtClean="0">
                <a:latin typeface="Calibri"/>
                <a:cs typeface="Calibri"/>
              </a:rPr>
              <a:t>&lt;script&gt;</a:t>
            </a:r>
            <a:endParaRPr sz="2400" dirty="0" smtClean="0">
              <a:latin typeface="Calibri"/>
              <a:cs typeface="Calibri"/>
            </a:endParaRPr>
          </a:p>
          <a:p>
            <a:pPr marL="12700" marR="5720715">
              <a:lnSpc>
                <a:spcPct val="100000"/>
              </a:lnSpc>
            </a:pPr>
            <a:r>
              <a:rPr sz="2400" spc="-10" dirty="0" err="1" smtClean="0">
                <a:latin typeface="Calibri"/>
                <a:cs typeface="Calibri"/>
              </a:rPr>
              <a:t>var</a:t>
            </a:r>
            <a:r>
              <a:rPr sz="2400" spc="5" dirty="0" smtClean="0">
                <a:latin typeface="Calibri"/>
                <a:cs typeface="Calibri"/>
              </a:rPr>
              <a:t> </a:t>
            </a:r>
            <a:r>
              <a:rPr sz="2400" spc="-5" dirty="0" err="1" smtClean="0">
                <a:latin typeface="Calibri"/>
                <a:cs typeface="Calibri"/>
              </a:rPr>
              <a:t>emp</a:t>
            </a:r>
            <a:r>
              <a:rPr sz="2400" spc="-5" dirty="0" smtClean="0">
                <a:latin typeface="Calibri"/>
                <a:cs typeface="Calibri"/>
              </a:rPr>
              <a:t>=new</a:t>
            </a:r>
            <a:r>
              <a:rPr lang="en-US" sz="2400" spc="25" dirty="0" smtClean="0">
                <a:latin typeface="Calibri"/>
                <a:cs typeface="Calibri"/>
              </a:rPr>
              <a:t> </a:t>
            </a:r>
            <a:r>
              <a:rPr sz="2400" spc="-10" dirty="0" smtClean="0">
                <a:latin typeface="Calibri"/>
                <a:cs typeface="Calibri"/>
              </a:rPr>
              <a:t>Array("</a:t>
            </a:r>
            <a:r>
              <a:rPr sz="2400" spc="-10" dirty="0" err="1" smtClean="0">
                <a:latin typeface="Calibri"/>
                <a:cs typeface="Calibri"/>
              </a:rPr>
              <a:t>Jai","Vijay","Smith</a:t>
            </a:r>
            <a:r>
              <a:rPr sz="2400" spc="-10" dirty="0" smtClean="0">
                <a:latin typeface="Calibri"/>
                <a:cs typeface="Calibri"/>
              </a:rPr>
              <a:t>");</a:t>
            </a:r>
            <a:endParaRPr lang="en-US" sz="2400" spc="-10" dirty="0" smtClean="0">
              <a:latin typeface="Calibri"/>
              <a:cs typeface="Calibri"/>
            </a:endParaRPr>
          </a:p>
          <a:p>
            <a:pPr marL="12700" marR="5720715">
              <a:lnSpc>
                <a:spcPct val="100000"/>
              </a:lnSpc>
            </a:pPr>
            <a:r>
              <a:rPr sz="2400" spc="-10" dirty="0" smtClean="0">
                <a:latin typeface="Calibri"/>
                <a:cs typeface="Calibri"/>
              </a:rPr>
              <a:t> </a:t>
            </a:r>
            <a:r>
              <a:rPr sz="2400" spc="-390" dirty="0" smtClean="0">
                <a:latin typeface="Calibri"/>
                <a:cs typeface="Calibri"/>
              </a:rPr>
              <a:t> </a:t>
            </a:r>
            <a:r>
              <a:rPr sz="2400" spc="-15" dirty="0" smtClean="0">
                <a:latin typeface="Calibri"/>
                <a:cs typeface="Calibri"/>
              </a:rPr>
              <a:t>for</a:t>
            </a:r>
            <a:r>
              <a:rPr sz="2400" spc="-10" dirty="0" smtClean="0">
                <a:latin typeface="Calibri"/>
                <a:cs typeface="Calibri"/>
              </a:rPr>
              <a:t> </a:t>
            </a:r>
            <a:r>
              <a:rPr sz="2400" spc="-5" dirty="0" smtClean="0">
                <a:latin typeface="Calibri"/>
                <a:cs typeface="Calibri"/>
              </a:rPr>
              <a:t>(</a:t>
            </a:r>
            <a:r>
              <a:rPr sz="2400" spc="-5" dirty="0" err="1" smtClean="0">
                <a:latin typeface="Calibri"/>
                <a:cs typeface="Calibri"/>
              </a:rPr>
              <a:t>i</a:t>
            </a:r>
            <a:r>
              <a:rPr sz="2400" spc="-5" dirty="0" smtClean="0">
                <a:latin typeface="Calibri"/>
                <a:cs typeface="Calibri"/>
              </a:rPr>
              <a:t>=0;i</a:t>
            </a:r>
            <a:r>
              <a:rPr sz="2400" b="1" spc="-5" dirty="0" smtClean="0">
                <a:latin typeface="Calibri"/>
                <a:cs typeface="Calibri"/>
              </a:rPr>
              <a:t>&lt;</a:t>
            </a:r>
            <a:r>
              <a:rPr sz="2400" b="1" spc="-5" dirty="0" err="1" smtClean="0">
                <a:latin typeface="Calibri"/>
                <a:cs typeface="Calibri"/>
              </a:rPr>
              <a:t>emp.length</a:t>
            </a:r>
            <a:r>
              <a:rPr sz="2400" spc="-5" dirty="0" err="1" smtClean="0">
                <a:latin typeface="Calibri"/>
                <a:cs typeface="Calibri"/>
              </a:rPr>
              <a:t>;i</a:t>
            </a:r>
            <a:r>
              <a:rPr sz="2400" spc="-5" dirty="0" smtClean="0">
                <a:latin typeface="Calibri"/>
                <a:cs typeface="Calibri"/>
              </a:rPr>
              <a:t>++){ </a:t>
            </a:r>
            <a:r>
              <a:rPr sz="2400" dirty="0" smtClean="0">
                <a:latin typeface="Calibri"/>
                <a:cs typeface="Calibri"/>
              </a:rPr>
              <a:t> </a:t>
            </a:r>
            <a:r>
              <a:rPr sz="2400" spc="-10" dirty="0" err="1" smtClean="0">
                <a:latin typeface="Calibri"/>
                <a:cs typeface="Calibri"/>
              </a:rPr>
              <a:t>document.write</a:t>
            </a:r>
            <a:r>
              <a:rPr sz="2400" spc="-10" dirty="0" smtClean="0">
                <a:latin typeface="Calibri"/>
                <a:cs typeface="Calibri"/>
              </a:rPr>
              <a:t>(</a:t>
            </a:r>
            <a:r>
              <a:rPr sz="2400" spc="-10" dirty="0" err="1" smtClean="0">
                <a:latin typeface="Calibri"/>
                <a:cs typeface="Calibri"/>
              </a:rPr>
              <a:t>emp</a:t>
            </a:r>
            <a:r>
              <a:rPr sz="2400" spc="-10" dirty="0" smtClean="0">
                <a:latin typeface="Calibri"/>
                <a:cs typeface="Calibri"/>
              </a:rPr>
              <a:t>[</a:t>
            </a:r>
            <a:r>
              <a:rPr sz="2400" spc="-10" dirty="0" err="1" smtClean="0">
                <a:latin typeface="Calibri"/>
                <a:cs typeface="Calibri"/>
              </a:rPr>
              <a:t>i</a:t>
            </a:r>
            <a:r>
              <a:rPr sz="2400" spc="-10" dirty="0" smtClean="0">
                <a:latin typeface="Calibri"/>
                <a:cs typeface="Calibri"/>
              </a:rPr>
              <a:t>]</a:t>
            </a:r>
            <a:r>
              <a:rPr sz="2400" spc="20" dirty="0" smtClean="0">
                <a:latin typeface="Calibri"/>
                <a:cs typeface="Calibri"/>
              </a:rPr>
              <a:t> </a:t>
            </a:r>
            <a:r>
              <a:rPr sz="2400" dirty="0" smtClean="0">
                <a:latin typeface="Calibri"/>
                <a:cs typeface="Calibri"/>
              </a:rPr>
              <a:t>+</a:t>
            </a:r>
            <a:r>
              <a:rPr sz="2400" spc="15" dirty="0" smtClean="0">
                <a:latin typeface="Calibri"/>
                <a:cs typeface="Calibri"/>
              </a:rPr>
              <a:t> </a:t>
            </a:r>
            <a:r>
              <a:rPr sz="2400" spc="-5" dirty="0" smtClean="0">
                <a:latin typeface="Calibri"/>
                <a:cs typeface="Calibri"/>
              </a:rPr>
              <a:t>"</a:t>
            </a:r>
            <a:r>
              <a:rPr sz="2400" b="1" spc="-5" dirty="0" smtClean="0">
                <a:latin typeface="Calibri"/>
                <a:cs typeface="Calibri"/>
              </a:rPr>
              <a:t>&lt;br&gt;</a:t>
            </a:r>
            <a:r>
              <a:rPr sz="2400" spc="-5" dirty="0" smtClean="0">
                <a:latin typeface="Calibri"/>
                <a:cs typeface="Calibri"/>
              </a:rPr>
              <a:t>");</a:t>
            </a:r>
            <a:endParaRPr sz="2400" dirty="0" smtClean="0">
              <a:latin typeface="Calibri"/>
              <a:cs typeface="Calibri"/>
            </a:endParaRPr>
          </a:p>
          <a:p>
            <a:pPr marL="12700">
              <a:lnSpc>
                <a:spcPct val="100000"/>
              </a:lnSpc>
            </a:pPr>
            <a:r>
              <a:rPr sz="2400" dirty="0" smtClean="0">
                <a:latin typeface="Calibri"/>
                <a:cs typeface="Calibri"/>
              </a:rPr>
              <a:t>}</a:t>
            </a:r>
          </a:p>
          <a:p>
            <a:pPr marL="12700">
              <a:lnSpc>
                <a:spcPct val="100000"/>
              </a:lnSpc>
            </a:pPr>
            <a:r>
              <a:rPr sz="2400" b="1" spc="-10" dirty="0" smtClean="0">
                <a:latin typeface="Calibri"/>
                <a:cs typeface="Calibri"/>
              </a:rPr>
              <a:t>&lt;/script&gt;</a:t>
            </a:r>
            <a:endParaRPr sz="2400" dirty="0" smtClean="0">
              <a:latin typeface="Calibri"/>
              <a:cs typeface="Calibri"/>
            </a:endParaRPr>
          </a:p>
          <a:p>
            <a:pPr>
              <a:lnSpc>
                <a:spcPct val="100000"/>
              </a:lnSpc>
              <a:spcBef>
                <a:spcPts val="25"/>
              </a:spcBef>
            </a:pPr>
            <a:endParaRPr sz="2000" dirty="0">
              <a:latin typeface="Calibri"/>
              <a:cs typeface="Calibri"/>
            </a:endParaRPr>
          </a:p>
          <a:p>
            <a:pPr marL="12700" marR="8819515">
              <a:lnSpc>
                <a:spcPct val="100000"/>
              </a:lnSpc>
            </a:pPr>
            <a:r>
              <a:rPr sz="2400" spc="-5" dirty="0">
                <a:latin typeface="Calibri"/>
                <a:cs typeface="Calibri"/>
              </a:rPr>
              <a:t>Output:</a:t>
            </a:r>
            <a:r>
              <a:rPr sz="2400" dirty="0">
                <a:latin typeface="Calibri"/>
                <a:cs typeface="Calibri"/>
              </a:rPr>
              <a:t>-  Jai</a:t>
            </a:r>
          </a:p>
          <a:p>
            <a:pPr marL="12700" marR="9079230">
              <a:lnSpc>
                <a:spcPct val="100000"/>
              </a:lnSpc>
            </a:pPr>
            <a:r>
              <a:rPr sz="2400" spc="-15" dirty="0">
                <a:latin typeface="Calibri"/>
                <a:cs typeface="Calibri"/>
              </a:rPr>
              <a:t>Vijay </a:t>
            </a:r>
            <a:r>
              <a:rPr sz="2400" spc="-10" dirty="0">
                <a:latin typeface="Calibri"/>
                <a:cs typeface="Calibri"/>
              </a:rPr>
              <a:t> </a:t>
            </a:r>
            <a:r>
              <a:rPr sz="2400" spc="-5" dirty="0">
                <a:latin typeface="Calibri"/>
                <a:cs typeface="Calibri"/>
              </a:rPr>
              <a:t>Smi</a:t>
            </a:r>
            <a:r>
              <a:rPr sz="2400" spc="-10" dirty="0">
                <a:latin typeface="Calibri"/>
                <a:cs typeface="Calibri"/>
              </a:rPr>
              <a:t>t</a:t>
            </a:r>
            <a:r>
              <a:rPr sz="2400" dirty="0">
                <a:latin typeface="Calibri"/>
                <a:cs typeface="Calibri"/>
              </a:rPr>
              <a:t>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14C62-5860-6324-06A4-67601E8A1B3A}"/>
              </a:ext>
            </a:extLst>
          </p:cNvPr>
          <p:cNvSpPr>
            <a:spLocks noGrp="1"/>
          </p:cNvSpPr>
          <p:nvPr>
            <p:ph type="title"/>
          </p:nvPr>
        </p:nvSpPr>
        <p:spPr>
          <a:xfrm>
            <a:off x="646111" y="452718"/>
            <a:ext cx="9404723" cy="1216062"/>
          </a:xfrm>
        </p:spPr>
        <p:txBody>
          <a:bodyPr/>
          <a:lstStyle/>
          <a:p>
            <a:r>
              <a:rPr lang="en-US" dirty="0"/>
              <a:t>Java script Array methods</a:t>
            </a:r>
            <a:endParaRPr lang="en-IN" dirty="0"/>
          </a:p>
        </p:txBody>
      </p:sp>
      <p:sp>
        <p:nvSpPr>
          <p:cNvPr id="3" name="Content Placeholder 2">
            <a:extLst>
              <a:ext uri="{FF2B5EF4-FFF2-40B4-BE49-F238E27FC236}">
                <a16:creationId xmlns:a16="http://schemas.microsoft.com/office/drawing/2014/main" id="{12D2A774-0DF3-FD19-D55B-811FC1D9B2BD}"/>
              </a:ext>
            </a:extLst>
          </p:cNvPr>
          <p:cNvSpPr>
            <a:spLocks noGrp="1"/>
          </p:cNvSpPr>
          <p:nvPr>
            <p:ph idx="1"/>
          </p:nvPr>
        </p:nvSpPr>
        <p:spPr>
          <a:xfrm>
            <a:off x="1103312" y="1485900"/>
            <a:ext cx="8946541" cy="4762499"/>
          </a:xfrm>
        </p:spPr>
        <p:txBody>
          <a:bodyPr>
            <a:normAutofit/>
          </a:bodyPr>
          <a:lstStyle/>
          <a:p>
            <a:r>
              <a:rPr lang="en-US" dirty="0"/>
              <a:t>push</a:t>
            </a:r>
            <a:r>
              <a:rPr lang="en-US" dirty="0">
                <a:sym typeface="Wingdings" panose="05000000000000000000" pitchFamily="2" charset="2"/>
              </a:rPr>
              <a:t>() : It will insert an element of an array at the end</a:t>
            </a:r>
          </a:p>
          <a:p>
            <a:r>
              <a:rPr lang="en-US" dirty="0"/>
              <a:t>unshift</a:t>
            </a:r>
            <a:r>
              <a:rPr lang="en-US" dirty="0">
                <a:sym typeface="Wingdings" panose="05000000000000000000" pitchFamily="2" charset="2"/>
              </a:rPr>
              <a:t>() : It will insert an element of an array at the first</a:t>
            </a:r>
            <a:endParaRPr lang="en-IN" dirty="0"/>
          </a:p>
          <a:p>
            <a:r>
              <a:rPr lang="en-US" dirty="0"/>
              <a:t>pop</a:t>
            </a:r>
            <a:r>
              <a:rPr lang="en-US" dirty="0">
                <a:sym typeface="Wingdings" panose="05000000000000000000" pitchFamily="2" charset="2"/>
              </a:rPr>
              <a:t>() : It will remove elements of array from the end</a:t>
            </a:r>
            <a:endParaRPr lang="en-IN" dirty="0"/>
          </a:p>
          <a:p>
            <a:r>
              <a:rPr lang="en-US" dirty="0"/>
              <a:t>shift</a:t>
            </a:r>
            <a:r>
              <a:rPr lang="en-US" dirty="0">
                <a:sym typeface="Wingdings" panose="05000000000000000000" pitchFamily="2" charset="2"/>
              </a:rPr>
              <a:t>() : It will remove elements of array from the start</a:t>
            </a:r>
          </a:p>
          <a:p>
            <a:r>
              <a:rPr lang="en-IN" dirty="0"/>
              <a:t>indexOf() :It will return a index of particular element</a:t>
            </a:r>
          </a:p>
          <a:p>
            <a:r>
              <a:rPr lang="en-IN" dirty="0"/>
              <a:t>Includes() : It will check whether the particular element is present in array or not.</a:t>
            </a:r>
          </a:p>
          <a:p>
            <a:r>
              <a:rPr lang="en-IN" dirty="0"/>
              <a:t>At() : It will return the element which is present in particular index.</a:t>
            </a:r>
          </a:p>
          <a:p>
            <a:r>
              <a:rPr lang="en-IN" dirty="0"/>
              <a:t>Slice() : It will give slice of an array and it will not affect the original array.</a:t>
            </a:r>
          </a:p>
          <a:p>
            <a:r>
              <a:rPr lang="en-US" dirty="0"/>
              <a:t>Splice() : It is used to </a:t>
            </a:r>
            <a:r>
              <a:rPr lang="en-US" b="0" i="0" dirty="0">
                <a:effectLst/>
              </a:rPr>
              <a:t>add or remove elements from an array</a:t>
            </a:r>
            <a:endParaRPr lang="en-US" dirty="0"/>
          </a:p>
          <a:p>
            <a:endParaRPr lang="en-IN" dirty="0"/>
          </a:p>
          <a:p>
            <a:endParaRPr lang="en-IN" dirty="0"/>
          </a:p>
        </p:txBody>
      </p:sp>
    </p:spTree>
    <p:extLst>
      <p:ext uri="{BB962C8B-B14F-4D97-AF65-F5344CB8AC3E}">
        <p14:creationId xmlns:p14="http://schemas.microsoft.com/office/powerpoint/2010/main" val="599762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6D6E3-A2F7-3481-844A-B789D8523023}"/>
              </a:ext>
            </a:extLst>
          </p:cNvPr>
          <p:cNvSpPr>
            <a:spLocks noGrp="1"/>
          </p:cNvSpPr>
          <p:nvPr>
            <p:ph type="title"/>
          </p:nvPr>
        </p:nvSpPr>
        <p:spPr/>
        <p:txBody>
          <a:bodyPr/>
          <a:lstStyle/>
          <a:p>
            <a:r>
              <a:rPr lang="en-US" dirty="0"/>
              <a:t>Java script Array methods</a:t>
            </a:r>
            <a:endParaRPr lang="en-IN" dirty="0"/>
          </a:p>
        </p:txBody>
      </p:sp>
      <p:sp>
        <p:nvSpPr>
          <p:cNvPr id="3" name="Content Placeholder 2">
            <a:extLst>
              <a:ext uri="{FF2B5EF4-FFF2-40B4-BE49-F238E27FC236}">
                <a16:creationId xmlns:a16="http://schemas.microsoft.com/office/drawing/2014/main" id="{C2759D2B-E94C-9DB6-3193-39225F42A8B4}"/>
              </a:ext>
            </a:extLst>
          </p:cNvPr>
          <p:cNvSpPr>
            <a:spLocks noGrp="1"/>
          </p:cNvSpPr>
          <p:nvPr>
            <p:ph idx="1"/>
          </p:nvPr>
        </p:nvSpPr>
        <p:spPr/>
        <p:txBody>
          <a:bodyPr/>
          <a:lstStyle/>
          <a:p>
            <a:r>
              <a:rPr lang="en-US" dirty="0"/>
              <a:t>Join() : It is </a:t>
            </a:r>
            <a:r>
              <a:rPr lang="en-US" b="0" i="0" dirty="0">
                <a:effectLst/>
              </a:rPr>
              <a:t>used to join all elements of an array into a string.</a:t>
            </a:r>
          </a:p>
          <a:p>
            <a:r>
              <a:rPr lang="en-US" dirty="0"/>
              <a:t>Concat() : It is used to join/concat two or more arrays.</a:t>
            </a:r>
          </a:p>
          <a:p>
            <a:r>
              <a:rPr lang="en-US" dirty="0"/>
              <a:t>toString() : </a:t>
            </a:r>
            <a:r>
              <a:rPr lang="en-US" b="0" i="0" dirty="0">
                <a:effectLst/>
              </a:rPr>
              <a:t>It converts all the elements in an array into a single string and returns that string.</a:t>
            </a:r>
          </a:p>
          <a:p>
            <a:r>
              <a:rPr lang="en-US" dirty="0"/>
              <a:t>Split() : It </a:t>
            </a:r>
            <a:r>
              <a:rPr lang="en-US" b="0" i="0" dirty="0">
                <a:effectLst/>
              </a:rPr>
              <a:t>is used to split a string into an array.</a:t>
            </a:r>
          </a:p>
          <a:p>
            <a:r>
              <a:rPr lang="en-US" dirty="0"/>
              <a:t>Reverse() : It is used to reverse an array.</a:t>
            </a:r>
          </a:p>
          <a:p>
            <a:r>
              <a:rPr lang="en-US" dirty="0"/>
              <a:t>Array.from() : It will convert string into an array</a:t>
            </a:r>
            <a:endParaRPr lang="en-IN" dirty="0"/>
          </a:p>
        </p:txBody>
      </p:sp>
    </p:spTree>
    <p:extLst>
      <p:ext uri="{BB962C8B-B14F-4D97-AF65-F5344CB8AC3E}">
        <p14:creationId xmlns:p14="http://schemas.microsoft.com/office/powerpoint/2010/main" val="27767854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B28B9-995C-DB11-6E4E-13EA094A52AF}"/>
              </a:ext>
            </a:extLst>
          </p:cNvPr>
          <p:cNvSpPr>
            <a:spLocks noGrp="1"/>
          </p:cNvSpPr>
          <p:nvPr>
            <p:ph type="title"/>
          </p:nvPr>
        </p:nvSpPr>
        <p:spPr>
          <a:xfrm>
            <a:off x="566101" y="315558"/>
            <a:ext cx="9404723" cy="804582"/>
          </a:xfrm>
        </p:spPr>
        <p:txBody>
          <a:bodyPr/>
          <a:lstStyle/>
          <a:p>
            <a:r>
              <a:rPr lang="en-US" dirty="0"/>
              <a:t>Filter() , map() , reduce()</a:t>
            </a:r>
            <a:endParaRPr lang="en-IN" dirty="0"/>
          </a:p>
        </p:txBody>
      </p:sp>
      <p:sp>
        <p:nvSpPr>
          <p:cNvPr id="3" name="Content Placeholder 2">
            <a:extLst>
              <a:ext uri="{FF2B5EF4-FFF2-40B4-BE49-F238E27FC236}">
                <a16:creationId xmlns:a16="http://schemas.microsoft.com/office/drawing/2014/main" id="{45A29EF6-929F-3436-C300-15010707B253}"/>
              </a:ext>
            </a:extLst>
          </p:cNvPr>
          <p:cNvSpPr>
            <a:spLocks noGrp="1"/>
          </p:cNvSpPr>
          <p:nvPr>
            <p:ph idx="1"/>
          </p:nvPr>
        </p:nvSpPr>
        <p:spPr>
          <a:xfrm>
            <a:off x="365760" y="1257300"/>
            <a:ext cx="11349990" cy="5143500"/>
          </a:xfrm>
        </p:spPr>
        <p:txBody>
          <a:bodyPr>
            <a:normAutofit fontScale="92500" lnSpcReduction="20000"/>
          </a:bodyPr>
          <a:lstStyle/>
          <a:p>
            <a:r>
              <a:rPr lang="en-US" b="1" u="sng" dirty="0"/>
              <a:t>Filter() :</a:t>
            </a:r>
          </a:p>
          <a:p>
            <a:r>
              <a:rPr lang="en-US" dirty="0"/>
              <a:t>filter() is a HOF which will check a particular condition for each element in the original array. If the element satisfy the condition the element will be pushed to the new array.</a:t>
            </a:r>
          </a:p>
          <a:p>
            <a:r>
              <a:rPr lang="en-US" b="1" u="sng" dirty="0" smtClean="0"/>
              <a:t>Syntax :</a:t>
            </a:r>
            <a:endParaRPr lang="en-IN" dirty="0"/>
          </a:p>
          <a:p>
            <a:pPr marL="0" indent="0">
              <a:buNone/>
            </a:pPr>
            <a:r>
              <a:rPr lang="en-IN" dirty="0" smtClean="0"/>
              <a:t>	</a:t>
            </a:r>
            <a:r>
              <a:rPr lang="en-IN" dirty="0" err="1" smtClean="0"/>
              <a:t>arr.filter</a:t>
            </a:r>
            <a:r>
              <a:rPr lang="en-IN" dirty="0"/>
              <a:t>((</a:t>
            </a:r>
            <a:r>
              <a:rPr lang="en-IN" dirty="0" err="1"/>
              <a:t>ele,index,arr</a:t>
            </a:r>
            <a:r>
              <a:rPr lang="en-IN" dirty="0"/>
              <a:t>)=&gt;{</a:t>
            </a:r>
          </a:p>
          <a:p>
            <a:pPr marL="0" indent="0">
              <a:buNone/>
            </a:pPr>
            <a:r>
              <a:rPr lang="en-IN" dirty="0"/>
              <a:t>	</a:t>
            </a:r>
            <a:r>
              <a:rPr lang="en-IN" dirty="0" smtClean="0"/>
              <a:t>return </a:t>
            </a:r>
            <a:r>
              <a:rPr lang="en-IN" dirty="0"/>
              <a:t>condition</a:t>
            </a:r>
          </a:p>
          <a:p>
            <a:pPr marL="0" indent="0">
              <a:buNone/>
            </a:pPr>
            <a:r>
              <a:rPr lang="en-IN" dirty="0" smtClean="0"/>
              <a:t>	})</a:t>
            </a:r>
            <a:endParaRPr lang="en-IN" dirty="0"/>
          </a:p>
          <a:p>
            <a:r>
              <a:rPr lang="en-US" b="1" u="sng" dirty="0"/>
              <a:t>Example :</a:t>
            </a:r>
            <a:endParaRPr lang="en-IN" dirty="0"/>
          </a:p>
          <a:p>
            <a:pPr marL="0" indent="0">
              <a:buNone/>
            </a:pPr>
            <a:r>
              <a:rPr lang="en-IN" dirty="0" smtClean="0"/>
              <a:t>	let </a:t>
            </a:r>
            <a:r>
              <a:rPr lang="en-IN" dirty="0"/>
              <a:t>numbers = [1, 2, 3, 4, 5];</a:t>
            </a:r>
          </a:p>
          <a:p>
            <a:pPr marL="0" indent="0">
              <a:buNone/>
            </a:pPr>
            <a:r>
              <a:rPr lang="en-IN" dirty="0" smtClean="0"/>
              <a:t>	let </a:t>
            </a:r>
            <a:r>
              <a:rPr lang="en-IN" dirty="0" err="1"/>
              <a:t>evenNo</a:t>
            </a:r>
            <a:r>
              <a:rPr lang="en-IN" dirty="0"/>
              <a:t> = </a:t>
            </a:r>
            <a:r>
              <a:rPr lang="en-IN" dirty="0" err="1"/>
              <a:t>numbers.filter</a:t>
            </a:r>
            <a:r>
              <a:rPr lang="en-IN" dirty="0"/>
              <a:t>((x) =&gt; x % 2 === 0);</a:t>
            </a:r>
          </a:p>
          <a:p>
            <a:pPr marL="0" indent="0">
              <a:buNone/>
            </a:pPr>
            <a:r>
              <a:rPr lang="en-IN" dirty="0" smtClean="0"/>
              <a:t>	console.log(</a:t>
            </a:r>
            <a:r>
              <a:rPr lang="en-IN" dirty="0" err="1" smtClean="0"/>
              <a:t>evenNo</a:t>
            </a:r>
            <a:r>
              <a:rPr lang="en-IN" dirty="0"/>
              <a:t>); //[2, 4]</a:t>
            </a:r>
          </a:p>
          <a:p>
            <a:pPr marL="0" marR="0" lvl="0" indent="0" algn="l" defTabSz="914400" rtl="0" eaLnBrk="0" fontAlgn="base" latinLnBrk="0" hangingPunct="0">
              <a:lnSpc>
                <a:spcPct val="100000"/>
              </a:lnSpc>
              <a:spcBef>
                <a:spcPct val="0"/>
              </a:spcBef>
              <a:spcAft>
                <a:spcPct val="0"/>
              </a:spcAft>
              <a:buClrTx/>
              <a:buSzTx/>
              <a:buFontTx/>
              <a:buNone/>
              <a:tabLst/>
            </a:pPr>
            <a:r>
              <a:rPr lang="en-US" dirty="0" smtClean="0"/>
              <a:t> </a:t>
            </a:r>
            <a:endParaRPr kumimoji="0" lang="en-US" altLang="en-US" sz="1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effectLst/>
              </a:rPr>
              <a:t>callback</a:t>
            </a:r>
            <a:r>
              <a:rPr kumimoji="0" lang="en-US" altLang="en-US" sz="1800" b="0" i="0" u="none" strike="noStrike" cap="none" normalizeH="0" baseline="0" dirty="0">
                <a:ln>
                  <a:noFill/>
                </a:ln>
                <a:effectLst/>
              </a:rPr>
              <a:t>: This is the function that is used to test each element in the array. It takes three arguments: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rPr>
              <a:t>element</a:t>
            </a:r>
            <a:r>
              <a:rPr kumimoji="0" lang="en-US" altLang="en-US" b="0" i="0" u="none" strike="noStrike" cap="none" normalizeH="0" baseline="0" dirty="0">
                <a:ln>
                  <a:noFill/>
                </a:ln>
                <a:effectLst/>
              </a:rPr>
              <a:t>: The current element being processed in the array.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rPr>
              <a:t>index</a:t>
            </a:r>
            <a:r>
              <a:rPr kumimoji="0" lang="en-US" altLang="en-US" b="0" i="0" u="none" strike="noStrike" cap="none" normalizeH="0" baseline="0" dirty="0">
                <a:ln>
                  <a:noFill/>
                </a:ln>
                <a:effectLst/>
              </a:rPr>
              <a:t> (optional): The index of the current element being processed.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effectLst/>
              </a:rPr>
              <a:t>array</a:t>
            </a:r>
            <a:r>
              <a:rPr kumimoji="0" lang="en-US" altLang="en-US" b="0" i="0" u="none" strike="noStrike" cap="none" normalizeH="0" baseline="0" dirty="0">
                <a:ln>
                  <a:noFill/>
                </a:ln>
                <a:effectLst/>
              </a:rPr>
              <a:t> (optional): The array </a:t>
            </a:r>
            <a:r>
              <a:rPr kumimoji="0" lang="en-US" altLang="en-US" sz="2000" b="1" i="0" u="none" strike="noStrike" cap="none" normalizeH="0" baseline="0" dirty="0">
                <a:ln>
                  <a:noFill/>
                </a:ln>
                <a:effectLst/>
              </a:rPr>
              <a:t>filter</a:t>
            </a:r>
            <a:r>
              <a:rPr kumimoji="0" lang="en-US" altLang="en-US" b="0" i="0" u="none" strike="noStrike" cap="none" normalizeH="0" baseline="0" dirty="0">
                <a:ln>
                  <a:noFill/>
                </a:ln>
                <a:effectLst/>
              </a:rPr>
              <a:t> was called upon</a:t>
            </a:r>
            <a:r>
              <a:rPr kumimoji="0" lang="en-US" altLang="en-US" b="0" i="0" u="none" strike="noStrike" cap="none" normalizeH="0" baseline="0" dirty="0" smtClean="0">
                <a:ln>
                  <a:noFill/>
                </a:ln>
                <a:effectLst/>
              </a:rPr>
              <a:t>.</a:t>
            </a: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610763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4D599-EF18-2E15-9F8C-8BE866330A64}"/>
              </a:ext>
            </a:extLst>
          </p:cNvPr>
          <p:cNvSpPr>
            <a:spLocks noGrp="1"/>
          </p:cNvSpPr>
          <p:nvPr>
            <p:ph type="title"/>
          </p:nvPr>
        </p:nvSpPr>
        <p:spPr>
          <a:xfrm>
            <a:off x="646111" y="452718"/>
            <a:ext cx="9404723" cy="1033182"/>
          </a:xfrm>
        </p:spPr>
        <p:txBody>
          <a:bodyPr/>
          <a:lstStyle/>
          <a:p>
            <a:r>
              <a:rPr lang="en-US" dirty="0"/>
              <a:t>Filter() , map() , reduce()</a:t>
            </a:r>
            <a:endParaRPr lang="en-IN" dirty="0"/>
          </a:p>
        </p:txBody>
      </p:sp>
      <p:sp>
        <p:nvSpPr>
          <p:cNvPr id="3" name="Content Placeholder 2">
            <a:extLst>
              <a:ext uri="{FF2B5EF4-FFF2-40B4-BE49-F238E27FC236}">
                <a16:creationId xmlns:a16="http://schemas.microsoft.com/office/drawing/2014/main" id="{7CEB0511-30C7-B9C2-C416-95FC5A6F4B53}"/>
              </a:ext>
            </a:extLst>
          </p:cNvPr>
          <p:cNvSpPr>
            <a:spLocks noGrp="1"/>
          </p:cNvSpPr>
          <p:nvPr>
            <p:ph idx="1"/>
          </p:nvPr>
        </p:nvSpPr>
        <p:spPr>
          <a:xfrm>
            <a:off x="285750" y="1485900"/>
            <a:ext cx="11544300" cy="5120639"/>
          </a:xfrm>
        </p:spPr>
        <p:txBody>
          <a:bodyPr>
            <a:normAutofit/>
          </a:bodyPr>
          <a:lstStyle/>
          <a:p>
            <a:r>
              <a:rPr lang="en-US" sz="2800" dirty="0"/>
              <a:t>Map() :</a:t>
            </a:r>
          </a:p>
          <a:p>
            <a:pPr marL="0" indent="0">
              <a:buNone/>
            </a:pPr>
            <a:r>
              <a:rPr kumimoji="0" lang="en-US" altLang="en-US" sz="2400" b="0" i="0" u="none" strike="noStrike" cap="none" normalizeH="0" baseline="0" dirty="0">
                <a:ln>
                  <a:noFill/>
                </a:ln>
                <a:effectLst/>
              </a:rPr>
              <a:t>The </a:t>
            </a:r>
            <a:r>
              <a:rPr kumimoji="0" lang="en-US" altLang="en-US" sz="2400" b="1" i="0" u="none" strike="noStrike" cap="none" normalizeH="0" baseline="0" dirty="0">
                <a:ln>
                  <a:noFill/>
                </a:ln>
                <a:effectLst/>
              </a:rPr>
              <a:t>map()</a:t>
            </a:r>
            <a:r>
              <a:rPr kumimoji="0" lang="en-US" altLang="en-US" sz="2400" b="0" i="0" u="none" strike="noStrike" cap="none" normalizeH="0" baseline="0" dirty="0">
                <a:ln>
                  <a:noFill/>
                </a:ln>
                <a:effectLst/>
              </a:rPr>
              <a:t> method in JavaScript is used to create a new array by applying a function to every element in an existing array. It does not modify the original array. Instead, it returns a new array with the modified elements.</a:t>
            </a:r>
            <a:r>
              <a:rPr kumimoji="0" lang="en-US" altLang="en-US" sz="1200" b="0" i="0" u="none" strike="noStrike" cap="none" normalizeH="0" baseline="0" dirty="0">
                <a:ln>
                  <a:noFill/>
                </a:ln>
                <a:effectLst/>
              </a:rPr>
              <a:t> </a:t>
            </a:r>
            <a:endParaRPr kumimoji="0" lang="en-US" altLang="en-US" sz="1400" b="0" i="0" u="none" strike="noStrike" cap="none" normalizeH="0" baseline="0" dirty="0">
              <a:ln>
                <a:noFill/>
              </a:ln>
              <a:effectLst/>
            </a:endParaRPr>
          </a:p>
          <a:p>
            <a:pPr marL="0" indent="0">
              <a:buNone/>
            </a:pPr>
            <a:r>
              <a:rPr kumimoji="0" lang="en-US" altLang="en-US" b="1" i="0" u="sng" strike="noStrike" cap="none" normalizeH="0" baseline="0" dirty="0">
                <a:ln>
                  <a:noFill/>
                </a:ln>
                <a:effectLst/>
              </a:rPr>
              <a:t>EX</a:t>
            </a:r>
            <a:r>
              <a:rPr kumimoji="0" lang="en-US" altLang="en-US" b="0" i="0" u="none" strike="noStrike" cap="none" normalizeH="0" baseline="0" dirty="0">
                <a:ln>
                  <a:noFill/>
                </a:ln>
                <a:effectLst/>
              </a:rPr>
              <a:t>:</a:t>
            </a:r>
          </a:p>
          <a:p>
            <a:pPr marL="0" indent="0">
              <a:lnSpc>
                <a:spcPct val="120000"/>
              </a:lnSpc>
              <a:buNone/>
            </a:pPr>
            <a:r>
              <a:rPr kumimoji="0" lang="en-US" altLang="en-US" sz="2400" b="0" i="0" u="none" strike="noStrike" cap="none" normalizeH="0" baseline="0" dirty="0">
                <a:ln>
                  <a:noFill/>
                </a:ln>
                <a:effectLst/>
              </a:rPr>
              <a:t>const numbers = [1, 2, 3, 4, 5];</a:t>
            </a:r>
          </a:p>
          <a:p>
            <a:pPr marL="0" indent="0">
              <a:lnSpc>
                <a:spcPct val="120000"/>
              </a:lnSpc>
              <a:buNone/>
            </a:pPr>
            <a:r>
              <a:rPr kumimoji="0" lang="en-US" altLang="en-US" sz="2400" b="0" i="0" u="none" strike="noStrike" cap="none" normalizeH="0" baseline="0" dirty="0">
                <a:ln>
                  <a:noFill/>
                </a:ln>
                <a:effectLst/>
              </a:rPr>
              <a:t>const doubledNumbers = numbers. Map(number =&gt; number * 2);</a:t>
            </a:r>
          </a:p>
          <a:p>
            <a:pPr marL="0" indent="0">
              <a:lnSpc>
                <a:spcPct val="120000"/>
              </a:lnSpc>
              <a:buNone/>
            </a:pPr>
            <a:r>
              <a:rPr kumimoji="0" lang="en-US" altLang="en-US" sz="2400" b="0" i="0" u="none" strike="noStrike" cap="none" normalizeH="0" baseline="0" dirty="0">
                <a:ln>
                  <a:noFill/>
                </a:ln>
                <a:effectLst/>
              </a:rPr>
              <a:t>console.log(doubledNumbers); // Output: [2, 4, 6, 8, 10]</a:t>
            </a:r>
            <a:endParaRPr kumimoji="0" lang="en-US" altLang="en-US" sz="4000" b="0" i="0" u="none" strike="noStrike" cap="none" normalizeH="0" baseline="0" dirty="0">
              <a:ln>
                <a:noFill/>
              </a:ln>
              <a:effectLst/>
            </a:endParaRPr>
          </a:p>
          <a:p>
            <a:endParaRPr lang="en-IN" dirty="0"/>
          </a:p>
        </p:txBody>
      </p:sp>
    </p:spTree>
    <p:extLst>
      <p:ext uri="{BB962C8B-B14F-4D97-AF65-F5344CB8AC3E}">
        <p14:creationId xmlns:p14="http://schemas.microsoft.com/office/powerpoint/2010/main" val="37221964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E1F31-420D-D58B-42E7-80E4ECE3E986}"/>
              </a:ext>
            </a:extLst>
          </p:cNvPr>
          <p:cNvSpPr>
            <a:spLocks noGrp="1"/>
          </p:cNvSpPr>
          <p:nvPr>
            <p:ph type="title"/>
          </p:nvPr>
        </p:nvSpPr>
        <p:spPr/>
        <p:txBody>
          <a:bodyPr/>
          <a:lstStyle/>
          <a:p>
            <a:r>
              <a:rPr lang="en-US"/>
              <a:t>Filter() , map() , reduce()</a:t>
            </a:r>
            <a:endParaRPr lang="en-IN" dirty="0"/>
          </a:p>
        </p:txBody>
      </p:sp>
      <p:sp>
        <p:nvSpPr>
          <p:cNvPr id="3" name="Content Placeholder 2">
            <a:extLst>
              <a:ext uri="{FF2B5EF4-FFF2-40B4-BE49-F238E27FC236}">
                <a16:creationId xmlns:a16="http://schemas.microsoft.com/office/drawing/2014/main" id="{BCF9167B-BB23-885B-C881-B3ECBE7B66D7}"/>
              </a:ext>
            </a:extLst>
          </p:cNvPr>
          <p:cNvSpPr>
            <a:spLocks noGrp="1"/>
          </p:cNvSpPr>
          <p:nvPr>
            <p:ph idx="1"/>
          </p:nvPr>
        </p:nvSpPr>
        <p:spPr>
          <a:xfrm>
            <a:off x="480060" y="1477108"/>
            <a:ext cx="10618470" cy="4771291"/>
          </a:xfrm>
        </p:spPr>
        <p:txBody>
          <a:bodyPr>
            <a:normAutofit fontScale="85000" lnSpcReduction="20000"/>
          </a:bodyPr>
          <a:lstStyle/>
          <a:p>
            <a:r>
              <a:rPr lang="en-IN" b="1" dirty="0"/>
              <a:t>Reduce() :</a:t>
            </a:r>
          </a:p>
          <a:p>
            <a:r>
              <a:rPr lang="en-US" dirty="0"/>
              <a:t>the reduce() is a HOF which will return a single value from the original array. if no initial value is given, the accumulator will be assigned with the first value of the </a:t>
            </a:r>
            <a:r>
              <a:rPr lang="en-US" dirty="0" smtClean="0"/>
              <a:t>array</a:t>
            </a:r>
            <a:endParaRPr lang="en-IN" dirty="0"/>
          </a:p>
          <a:p>
            <a:r>
              <a:rPr lang="en-IN" dirty="0" smtClean="0"/>
              <a:t> </a:t>
            </a:r>
            <a:r>
              <a:rPr lang="en-IN" b="1" dirty="0"/>
              <a:t>SYNTAX:- </a:t>
            </a:r>
          </a:p>
          <a:p>
            <a:pPr marL="0" indent="0">
              <a:buNone/>
            </a:pPr>
            <a:r>
              <a:rPr lang="en-IN" dirty="0" smtClean="0"/>
              <a:t>	arr.reduce</a:t>
            </a:r>
            <a:r>
              <a:rPr lang="en-IN" dirty="0"/>
              <a:t>((acc,ele,index,arr)=&gt;{</a:t>
            </a:r>
          </a:p>
          <a:p>
            <a:pPr marL="0" indent="0">
              <a:buNone/>
            </a:pPr>
            <a:r>
              <a:rPr lang="en-IN" dirty="0"/>
              <a:t>	</a:t>
            </a:r>
            <a:r>
              <a:rPr lang="en-IN" dirty="0" smtClean="0"/>
              <a:t>//statements</a:t>
            </a:r>
            <a:endParaRPr lang="en-IN" dirty="0"/>
          </a:p>
          <a:p>
            <a:pPr marL="0" indent="0">
              <a:buNone/>
            </a:pPr>
            <a:r>
              <a:rPr lang="en-IN" dirty="0"/>
              <a:t>	</a:t>
            </a:r>
            <a:r>
              <a:rPr lang="en-IN" dirty="0" smtClean="0"/>
              <a:t>},</a:t>
            </a:r>
            <a:r>
              <a:rPr lang="en-IN" dirty="0"/>
              <a:t>init</a:t>
            </a:r>
            <a:r>
              <a:rPr lang="en-IN" dirty="0" smtClean="0"/>
              <a:t>)</a:t>
            </a:r>
            <a:endParaRPr lang="en-IN" dirty="0"/>
          </a:p>
          <a:p>
            <a:r>
              <a:rPr lang="en-IN" dirty="0"/>
              <a:t> </a:t>
            </a:r>
            <a:r>
              <a:rPr lang="en-IN" b="1" dirty="0" smtClean="0"/>
              <a:t>Example</a:t>
            </a:r>
            <a:r>
              <a:rPr lang="en-IN" b="1" dirty="0"/>
              <a:t>: -</a:t>
            </a:r>
          </a:p>
          <a:p>
            <a:pPr marL="0" indent="0">
              <a:buNone/>
            </a:pPr>
            <a:r>
              <a:rPr lang="en-IN" dirty="0" smtClean="0"/>
              <a:t>	let </a:t>
            </a:r>
            <a:r>
              <a:rPr lang="en-IN" dirty="0"/>
              <a:t>arr = [1, 2, 3, 4, 5];</a:t>
            </a:r>
          </a:p>
          <a:p>
            <a:pPr marL="0" indent="0">
              <a:buNone/>
            </a:pPr>
            <a:r>
              <a:rPr lang="en-IN" dirty="0" smtClean="0"/>
              <a:t>	let </a:t>
            </a:r>
            <a:r>
              <a:rPr lang="en-IN" dirty="0"/>
              <a:t>sum = arr.reduce</a:t>
            </a:r>
            <a:r>
              <a:rPr lang="en-IN" dirty="0" smtClean="0"/>
              <a:t>(( accumulator,currentValue,index,arr</a:t>
            </a:r>
            <a:r>
              <a:rPr lang="en-IN" dirty="0"/>
              <a:t>) =&gt; </a:t>
            </a:r>
            <a:r>
              <a:rPr lang="en-IN" dirty="0" smtClean="0"/>
              <a:t>{</a:t>
            </a:r>
          </a:p>
          <a:p>
            <a:pPr marL="0" indent="0">
              <a:buNone/>
            </a:pPr>
            <a:r>
              <a:rPr lang="en-IN" dirty="0"/>
              <a:t>	</a:t>
            </a:r>
            <a:r>
              <a:rPr lang="en-IN" dirty="0" smtClean="0"/>
              <a:t>console.log( accumulator, currentValue,index</a:t>
            </a:r>
            <a:r>
              <a:rPr lang="en-IN" dirty="0"/>
              <a:t>);</a:t>
            </a:r>
          </a:p>
          <a:p>
            <a:pPr marL="0" indent="0">
              <a:buNone/>
            </a:pPr>
            <a:r>
              <a:rPr lang="en-IN" dirty="0"/>
              <a:t>	</a:t>
            </a:r>
            <a:r>
              <a:rPr lang="en-IN" dirty="0" smtClean="0"/>
              <a:t>return </a:t>
            </a:r>
            <a:r>
              <a:rPr lang="en-IN" dirty="0"/>
              <a:t>accumulator+currentValue</a:t>
            </a:r>
          </a:p>
          <a:p>
            <a:pPr marL="0" indent="0">
              <a:buNone/>
            </a:pPr>
            <a:r>
              <a:rPr lang="en-IN" dirty="0" smtClean="0"/>
              <a:t>	},</a:t>
            </a:r>
            <a:r>
              <a:rPr lang="en-IN" dirty="0"/>
              <a:t>100);</a:t>
            </a:r>
          </a:p>
          <a:p>
            <a:pPr marL="0" indent="0">
              <a:buNone/>
            </a:pPr>
            <a:r>
              <a:rPr lang="en-IN" dirty="0" smtClean="0"/>
              <a:t>	console.log(sum</a:t>
            </a:r>
            <a:r>
              <a:rPr lang="en-IN" dirty="0"/>
              <a:t>);//115</a:t>
            </a:r>
          </a:p>
          <a:p>
            <a:pPr lvl="1"/>
            <a:endParaRPr lang="en-IN" b="1" u="sng" dirty="0"/>
          </a:p>
        </p:txBody>
      </p:sp>
    </p:spTree>
    <p:extLst>
      <p:ext uri="{BB962C8B-B14F-4D97-AF65-F5344CB8AC3E}">
        <p14:creationId xmlns:p14="http://schemas.microsoft.com/office/powerpoint/2010/main" val="3826970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3696A-0AA1-33B3-100B-BC878AA436E2}"/>
              </a:ext>
            </a:extLst>
          </p:cNvPr>
          <p:cNvSpPr>
            <a:spLocks noGrp="1"/>
          </p:cNvSpPr>
          <p:nvPr>
            <p:ph type="title"/>
          </p:nvPr>
        </p:nvSpPr>
        <p:spPr>
          <a:xfrm>
            <a:off x="646111" y="452718"/>
            <a:ext cx="9404723" cy="869306"/>
          </a:xfrm>
        </p:spPr>
        <p:txBody>
          <a:bodyPr/>
          <a:lstStyle/>
          <a:p>
            <a:r>
              <a:rPr lang="en-US" dirty="0"/>
              <a:t>Objects in JS</a:t>
            </a:r>
            <a:endParaRPr lang="en-IN" dirty="0"/>
          </a:p>
        </p:txBody>
      </p:sp>
      <p:sp>
        <p:nvSpPr>
          <p:cNvPr id="3" name="Content Placeholder 2">
            <a:extLst>
              <a:ext uri="{FF2B5EF4-FFF2-40B4-BE49-F238E27FC236}">
                <a16:creationId xmlns:a16="http://schemas.microsoft.com/office/drawing/2014/main" id="{D282A19A-9C97-30E3-D39E-91E9791D6146}"/>
              </a:ext>
            </a:extLst>
          </p:cNvPr>
          <p:cNvSpPr>
            <a:spLocks noGrp="1"/>
          </p:cNvSpPr>
          <p:nvPr>
            <p:ph idx="1"/>
          </p:nvPr>
        </p:nvSpPr>
        <p:spPr>
          <a:xfrm>
            <a:off x="1103312" y="1531346"/>
            <a:ext cx="10310163" cy="4717054"/>
          </a:xfrm>
        </p:spPr>
        <p:txBody>
          <a:bodyPr/>
          <a:lstStyle/>
          <a:p>
            <a:r>
              <a:rPr lang="en-US" dirty="0"/>
              <a:t>Object is nothing but the thing which has existence in the world.</a:t>
            </a:r>
          </a:p>
          <a:p>
            <a:r>
              <a:rPr lang="en-US" sz="2400" dirty="0">
                <a:solidFill>
                  <a:schemeClr val="tx2"/>
                </a:solidFill>
                <a:latin typeface="Calibri"/>
                <a:cs typeface="Calibri"/>
              </a:rPr>
              <a:t>A</a:t>
            </a:r>
            <a:r>
              <a:rPr lang="en-US" sz="2400" spc="145" dirty="0">
                <a:solidFill>
                  <a:schemeClr val="tx2"/>
                </a:solidFill>
                <a:latin typeface="Calibri"/>
                <a:cs typeface="Calibri"/>
              </a:rPr>
              <a:t> </a:t>
            </a:r>
            <a:r>
              <a:rPr lang="en-US" sz="2400" spc="-15" dirty="0">
                <a:solidFill>
                  <a:schemeClr val="tx2"/>
                </a:solidFill>
                <a:latin typeface="Calibri"/>
                <a:cs typeface="Calibri"/>
              </a:rPr>
              <a:t>JavaScript</a:t>
            </a:r>
            <a:r>
              <a:rPr lang="en-US" sz="2400" spc="145" dirty="0">
                <a:solidFill>
                  <a:schemeClr val="tx2"/>
                </a:solidFill>
                <a:latin typeface="Calibri"/>
                <a:cs typeface="Calibri"/>
              </a:rPr>
              <a:t> </a:t>
            </a:r>
            <a:r>
              <a:rPr lang="en-US" sz="2400" dirty="0">
                <a:solidFill>
                  <a:schemeClr val="tx2"/>
                </a:solidFill>
                <a:latin typeface="Calibri"/>
                <a:cs typeface="Calibri"/>
              </a:rPr>
              <a:t>object</a:t>
            </a:r>
            <a:r>
              <a:rPr lang="en-US" sz="2400" spc="145" dirty="0">
                <a:solidFill>
                  <a:schemeClr val="tx2"/>
                </a:solidFill>
                <a:latin typeface="Calibri"/>
                <a:cs typeface="Calibri"/>
              </a:rPr>
              <a:t> </a:t>
            </a:r>
            <a:r>
              <a:rPr lang="en-US" sz="2400" spc="-5" dirty="0">
                <a:solidFill>
                  <a:schemeClr val="tx2"/>
                </a:solidFill>
                <a:latin typeface="Calibri"/>
                <a:cs typeface="Calibri"/>
              </a:rPr>
              <a:t>is</a:t>
            </a:r>
            <a:r>
              <a:rPr lang="en-US" sz="2400" spc="145" dirty="0">
                <a:solidFill>
                  <a:schemeClr val="tx2"/>
                </a:solidFill>
                <a:latin typeface="Calibri"/>
                <a:cs typeface="Calibri"/>
              </a:rPr>
              <a:t> </a:t>
            </a:r>
            <a:r>
              <a:rPr lang="en-US" sz="2400" dirty="0">
                <a:solidFill>
                  <a:schemeClr val="tx2"/>
                </a:solidFill>
                <a:latin typeface="Calibri"/>
                <a:cs typeface="Calibri"/>
              </a:rPr>
              <a:t>an</a:t>
            </a:r>
            <a:r>
              <a:rPr lang="en-US" sz="2400" spc="150" dirty="0">
                <a:solidFill>
                  <a:schemeClr val="tx2"/>
                </a:solidFill>
                <a:latin typeface="Calibri"/>
                <a:cs typeface="Calibri"/>
              </a:rPr>
              <a:t> </a:t>
            </a:r>
            <a:r>
              <a:rPr lang="en-US" sz="2400" spc="-5" dirty="0">
                <a:solidFill>
                  <a:schemeClr val="tx2"/>
                </a:solidFill>
                <a:latin typeface="Calibri"/>
                <a:cs typeface="Calibri"/>
              </a:rPr>
              <a:t>entity</a:t>
            </a:r>
            <a:r>
              <a:rPr lang="en-US" sz="2400" spc="150" dirty="0">
                <a:solidFill>
                  <a:schemeClr val="tx2"/>
                </a:solidFill>
                <a:latin typeface="Calibri"/>
                <a:cs typeface="Calibri"/>
              </a:rPr>
              <a:t> </a:t>
            </a:r>
            <a:r>
              <a:rPr lang="en-US" sz="2400" spc="-5" dirty="0">
                <a:solidFill>
                  <a:schemeClr val="tx2"/>
                </a:solidFill>
                <a:latin typeface="Calibri"/>
                <a:cs typeface="Calibri"/>
              </a:rPr>
              <a:t>having</a:t>
            </a:r>
            <a:r>
              <a:rPr lang="en-US" sz="2400" spc="145" dirty="0">
                <a:solidFill>
                  <a:schemeClr val="tx2"/>
                </a:solidFill>
                <a:latin typeface="Calibri"/>
                <a:cs typeface="Calibri"/>
              </a:rPr>
              <a:t> </a:t>
            </a:r>
            <a:r>
              <a:rPr lang="en-US" sz="2400" spc="-20" dirty="0">
                <a:solidFill>
                  <a:schemeClr val="tx2"/>
                </a:solidFill>
                <a:latin typeface="Calibri"/>
                <a:cs typeface="Calibri"/>
              </a:rPr>
              <a:t>state</a:t>
            </a:r>
            <a:r>
              <a:rPr lang="en-US" sz="2400" spc="155" dirty="0">
                <a:solidFill>
                  <a:schemeClr val="tx2"/>
                </a:solidFill>
                <a:latin typeface="Calibri"/>
                <a:cs typeface="Calibri"/>
              </a:rPr>
              <a:t> </a:t>
            </a:r>
            <a:r>
              <a:rPr lang="en-US" sz="2400" dirty="0">
                <a:solidFill>
                  <a:schemeClr val="tx2"/>
                </a:solidFill>
                <a:latin typeface="Calibri"/>
                <a:cs typeface="Calibri"/>
              </a:rPr>
              <a:t>and</a:t>
            </a:r>
            <a:r>
              <a:rPr lang="en-US" sz="2400" spc="150" dirty="0">
                <a:solidFill>
                  <a:schemeClr val="tx2"/>
                </a:solidFill>
                <a:latin typeface="Calibri"/>
                <a:cs typeface="Calibri"/>
              </a:rPr>
              <a:t> </a:t>
            </a:r>
            <a:r>
              <a:rPr lang="en-US" sz="2400" spc="-5" dirty="0">
                <a:solidFill>
                  <a:schemeClr val="tx2"/>
                </a:solidFill>
                <a:latin typeface="Calibri"/>
                <a:cs typeface="Calibri"/>
              </a:rPr>
              <a:t>behavior</a:t>
            </a:r>
            <a:r>
              <a:rPr lang="en-US" sz="2400" spc="145" dirty="0">
                <a:solidFill>
                  <a:schemeClr val="tx2"/>
                </a:solidFill>
                <a:latin typeface="Calibri"/>
                <a:cs typeface="Calibri"/>
              </a:rPr>
              <a:t> </a:t>
            </a:r>
            <a:r>
              <a:rPr lang="en-US" sz="2400" spc="-5" dirty="0">
                <a:solidFill>
                  <a:schemeClr val="tx2"/>
                </a:solidFill>
                <a:latin typeface="Calibri"/>
                <a:cs typeface="Calibri"/>
              </a:rPr>
              <a:t>(properties</a:t>
            </a:r>
            <a:r>
              <a:rPr lang="en-US" sz="2400" spc="150" dirty="0">
                <a:solidFill>
                  <a:schemeClr val="tx2"/>
                </a:solidFill>
                <a:latin typeface="Calibri"/>
                <a:cs typeface="Calibri"/>
              </a:rPr>
              <a:t> </a:t>
            </a:r>
            <a:r>
              <a:rPr lang="en-US" sz="2400" dirty="0">
                <a:solidFill>
                  <a:schemeClr val="tx2"/>
                </a:solidFill>
                <a:latin typeface="Calibri"/>
                <a:cs typeface="Calibri"/>
              </a:rPr>
              <a:t>and</a:t>
            </a:r>
            <a:r>
              <a:rPr lang="en-US" sz="2400" spc="155" dirty="0">
                <a:solidFill>
                  <a:schemeClr val="tx2"/>
                </a:solidFill>
                <a:latin typeface="Calibri"/>
                <a:cs typeface="Calibri"/>
              </a:rPr>
              <a:t> </a:t>
            </a:r>
            <a:r>
              <a:rPr lang="en-US" sz="2400" spc="-5" dirty="0">
                <a:solidFill>
                  <a:schemeClr val="tx2"/>
                </a:solidFill>
                <a:latin typeface="Calibri"/>
                <a:cs typeface="Calibri"/>
              </a:rPr>
              <a:t>method).</a:t>
            </a:r>
            <a:r>
              <a:rPr lang="en-US" sz="2400" spc="145" dirty="0">
                <a:solidFill>
                  <a:schemeClr val="tx2"/>
                </a:solidFill>
                <a:latin typeface="Calibri"/>
                <a:cs typeface="Calibri"/>
              </a:rPr>
              <a:t> </a:t>
            </a:r>
            <a:r>
              <a:rPr lang="en-US" sz="2400" spc="-10" dirty="0">
                <a:solidFill>
                  <a:schemeClr val="tx2"/>
                </a:solidFill>
                <a:latin typeface="Calibri"/>
                <a:cs typeface="Calibri"/>
              </a:rPr>
              <a:t>For</a:t>
            </a:r>
            <a:r>
              <a:rPr lang="en-US" sz="2400" spc="140" dirty="0">
                <a:solidFill>
                  <a:schemeClr val="tx2"/>
                </a:solidFill>
                <a:latin typeface="Calibri"/>
                <a:cs typeface="Calibri"/>
              </a:rPr>
              <a:t> </a:t>
            </a:r>
            <a:r>
              <a:rPr lang="en-US" sz="2400" spc="-10" dirty="0">
                <a:solidFill>
                  <a:schemeClr val="tx2"/>
                </a:solidFill>
                <a:latin typeface="Calibri"/>
                <a:cs typeface="Calibri"/>
              </a:rPr>
              <a:t>example: </a:t>
            </a:r>
            <a:r>
              <a:rPr lang="en-US" sz="2400" spc="-390" dirty="0">
                <a:solidFill>
                  <a:schemeClr val="tx2"/>
                </a:solidFill>
                <a:latin typeface="Calibri"/>
                <a:cs typeface="Calibri"/>
              </a:rPr>
              <a:t> </a:t>
            </a:r>
            <a:r>
              <a:rPr lang="en-US" sz="2400" spc="-45" dirty="0">
                <a:solidFill>
                  <a:schemeClr val="tx2"/>
                </a:solidFill>
                <a:latin typeface="Calibri"/>
                <a:cs typeface="Calibri"/>
              </a:rPr>
              <a:t>car,</a:t>
            </a:r>
            <a:r>
              <a:rPr lang="en-US" sz="2400" spc="5" dirty="0">
                <a:solidFill>
                  <a:schemeClr val="tx2"/>
                </a:solidFill>
                <a:latin typeface="Calibri"/>
                <a:cs typeface="Calibri"/>
              </a:rPr>
              <a:t> </a:t>
            </a:r>
            <a:r>
              <a:rPr lang="en-US" sz="2400" dirty="0">
                <a:solidFill>
                  <a:schemeClr val="tx2"/>
                </a:solidFill>
                <a:latin typeface="Calibri"/>
                <a:cs typeface="Calibri"/>
              </a:rPr>
              <a:t>pen,</a:t>
            </a:r>
            <a:r>
              <a:rPr lang="en-US" sz="2400" spc="10" dirty="0">
                <a:solidFill>
                  <a:schemeClr val="tx2"/>
                </a:solidFill>
                <a:latin typeface="Calibri"/>
                <a:cs typeface="Calibri"/>
              </a:rPr>
              <a:t> </a:t>
            </a:r>
            <a:r>
              <a:rPr lang="en-US" sz="2400" spc="-20" dirty="0">
                <a:solidFill>
                  <a:schemeClr val="tx2"/>
                </a:solidFill>
                <a:latin typeface="Calibri"/>
                <a:cs typeface="Calibri"/>
              </a:rPr>
              <a:t>bike,</a:t>
            </a:r>
            <a:r>
              <a:rPr lang="en-US" sz="2400" spc="25" dirty="0">
                <a:solidFill>
                  <a:schemeClr val="tx2"/>
                </a:solidFill>
                <a:latin typeface="Calibri"/>
                <a:cs typeface="Calibri"/>
              </a:rPr>
              <a:t> </a:t>
            </a:r>
            <a:r>
              <a:rPr lang="en-US" sz="2400" spc="-35" dirty="0">
                <a:solidFill>
                  <a:schemeClr val="tx2"/>
                </a:solidFill>
                <a:latin typeface="Calibri"/>
                <a:cs typeface="Calibri"/>
              </a:rPr>
              <a:t>chair,</a:t>
            </a:r>
            <a:r>
              <a:rPr lang="en-US" sz="2400" spc="20" dirty="0">
                <a:solidFill>
                  <a:schemeClr val="tx2"/>
                </a:solidFill>
                <a:latin typeface="Calibri"/>
                <a:cs typeface="Calibri"/>
              </a:rPr>
              <a:t> </a:t>
            </a:r>
            <a:r>
              <a:rPr lang="en-US" sz="2400" dirty="0">
                <a:solidFill>
                  <a:schemeClr val="tx2"/>
                </a:solidFill>
                <a:latin typeface="Calibri"/>
                <a:cs typeface="Calibri"/>
              </a:rPr>
              <a:t>glass,</a:t>
            </a:r>
            <a:r>
              <a:rPr lang="en-US" sz="2400" spc="-20" dirty="0">
                <a:solidFill>
                  <a:schemeClr val="tx2"/>
                </a:solidFill>
                <a:latin typeface="Calibri"/>
                <a:cs typeface="Calibri"/>
              </a:rPr>
              <a:t> </a:t>
            </a:r>
            <a:r>
              <a:rPr lang="en-US" sz="2400" spc="-15" dirty="0">
                <a:solidFill>
                  <a:schemeClr val="tx2"/>
                </a:solidFill>
                <a:latin typeface="Calibri"/>
                <a:cs typeface="Calibri"/>
              </a:rPr>
              <a:t>keyboard,</a:t>
            </a:r>
            <a:r>
              <a:rPr lang="en-US" sz="2400" spc="10" dirty="0">
                <a:solidFill>
                  <a:schemeClr val="tx2"/>
                </a:solidFill>
                <a:latin typeface="Calibri"/>
                <a:cs typeface="Calibri"/>
              </a:rPr>
              <a:t> </a:t>
            </a:r>
            <a:r>
              <a:rPr lang="en-US" sz="2400" spc="-5" dirty="0">
                <a:solidFill>
                  <a:schemeClr val="tx2"/>
                </a:solidFill>
                <a:latin typeface="Calibri"/>
                <a:cs typeface="Calibri"/>
              </a:rPr>
              <a:t>monitor</a:t>
            </a:r>
            <a:r>
              <a:rPr lang="en-US" sz="2400" spc="5" dirty="0">
                <a:solidFill>
                  <a:schemeClr val="tx2"/>
                </a:solidFill>
                <a:latin typeface="Calibri"/>
                <a:cs typeface="Calibri"/>
              </a:rPr>
              <a:t> </a:t>
            </a:r>
            <a:r>
              <a:rPr lang="en-US" sz="2400" spc="-15" dirty="0">
                <a:solidFill>
                  <a:schemeClr val="tx2"/>
                </a:solidFill>
                <a:latin typeface="Calibri"/>
                <a:cs typeface="Calibri"/>
              </a:rPr>
              <a:t>etc</a:t>
            </a:r>
            <a:r>
              <a:rPr lang="en-US" sz="2000" spc="-15" dirty="0">
                <a:solidFill>
                  <a:schemeClr val="tx2"/>
                </a:solidFill>
                <a:latin typeface="Calibri"/>
                <a:cs typeface="Calibri"/>
              </a:rPr>
              <a:t>.</a:t>
            </a:r>
            <a:endParaRPr lang="en-US" dirty="0">
              <a:solidFill>
                <a:schemeClr val="tx2"/>
              </a:solidFill>
            </a:endParaRPr>
          </a:p>
          <a:p>
            <a:r>
              <a:rPr lang="en-IN" dirty="0"/>
              <a:t>In java script object is used to store the data in key value pairs.</a:t>
            </a:r>
          </a:p>
          <a:p>
            <a:r>
              <a:rPr lang="en-US" sz="2400" spc="-10" dirty="0">
                <a:solidFill>
                  <a:schemeClr val="tx2"/>
                </a:solidFill>
                <a:latin typeface="Calibri"/>
                <a:cs typeface="Calibri"/>
              </a:rPr>
              <a:t>JavaScript</a:t>
            </a:r>
            <a:r>
              <a:rPr lang="en-US" sz="2400" spc="-5" dirty="0">
                <a:solidFill>
                  <a:schemeClr val="tx2"/>
                </a:solidFill>
                <a:latin typeface="Calibri"/>
                <a:cs typeface="Calibri"/>
              </a:rPr>
              <a:t> is</a:t>
            </a:r>
            <a:r>
              <a:rPr lang="en-US" sz="2400" spc="10" dirty="0">
                <a:solidFill>
                  <a:schemeClr val="tx2"/>
                </a:solidFill>
                <a:latin typeface="Calibri"/>
                <a:cs typeface="Calibri"/>
              </a:rPr>
              <a:t> </a:t>
            </a:r>
            <a:r>
              <a:rPr lang="en-US" sz="2400" dirty="0">
                <a:solidFill>
                  <a:schemeClr val="tx2"/>
                </a:solidFill>
                <a:latin typeface="Calibri"/>
                <a:cs typeface="Calibri"/>
              </a:rPr>
              <a:t>an</a:t>
            </a:r>
            <a:r>
              <a:rPr lang="en-US" sz="2400" spc="15" dirty="0">
                <a:solidFill>
                  <a:schemeClr val="tx2"/>
                </a:solidFill>
                <a:latin typeface="Calibri"/>
                <a:cs typeface="Calibri"/>
              </a:rPr>
              <a:t> </a:t>
            </a:r>
            <a:r>
              <a:rPr lang="en-US" sz="2400" spc="-5" dirty="0">
                <a:solidFill>
                  <a:schemeClr val="tx2"/>
                </a:solidFill>
                <a:latin typeface="Calibri"/>
                <a:cs typeface="Calibri"/>
              </a:rPr>
              <a:t>object-based</a:t>
            </a:r>
            <a:r>
              <a:rPr lang="en-US" sz="2400" spc="15" dirty="0">
                <a:solidFill>
                  <a:schemeClr val="tx2"/>
                </a:solidFill>
                <a:latin typeface="Calibri"/>
                <a:cs typeface="Calibri"/>
              </a:rPr>
              <a:t> </a:t>
            </a:r>
            <a:r>
              <a:rPr lang="en-US" sz="2400" spc="-5" dirty="0">
                <a:solidFill>
                  <a:schemeClr val="tx2"/>
                </a:solidFill>
                <a:latin typeface="Calibri"/>
                <a:cs typeface="Calibri"/>
              </a:rPr>
              <a:t>language.</a:t>
            </a:r>
            <a:r>
              <a:rPr lang="en-US" sz="2400" spc="5" dirty="0">
                <a:solidFill>
                  <a:schemeClr val="tx2"/>
                </a:solidFill>
                <a:latin typeface="Calibri"/>
                <a:cs typeface="Calibri"/>
              </a:rPr>
              <a:t> </a:t>
            </a:r>
            <a:r>
              <a:rPr lang="en-US" sz="2400" spc="-5" dirty="0">
                <a:solidFill>
                  <a:schemeClr val="tx2"/>
                </a:solidFill>
                <a:latin typeface="Calibri"/>
                <a:cs typeface="Calibri"/>
              </a:rPr>
              <a:t>Everything</a:t>
            </a:r>
            <a:r>
              <a:rPr lang="en-US" sz="2400" spc="-15" dirty="0">
                <a:solidFill>
                  <a:schemeClr val="tx2"/>
                </a:solidFill>
                <a:latin typeface="Calibri"/>
                <a:cs typeface="Calibri"/>
              </a:rPr>
              <a:t> </a:t>
            </a:r>
            <a:r>
              <a:rPr lang="en-US" sz="2400" spc="-5" dirty="0">
                <a:solidFill>
                  <a:schemeClr val="tx2"/>
                </a:solidFill>
                <a:latin typeface="Calibri"/>
                <a:cs typeface="Calibri"/>
              </a:rPr>
              <a:t>is</a:t>
            </a:r>
            <a:r>
              <a:rPr lang="en-US" sz="2400" spc="20" dirty="0">
                <a:solidFill>
                  <a:schemeClr val="tx2"/>
                </a:solidFill>
                <a:latin typeface="Calibri"/>
                <a:cs typeface="Calibri"/>
              </a:rPr>
              <a:t> </a:t>
            </a:r>
            <a:r>
              <a:rPr lang="en-US" sz="2400" dirty="0">
                <a:solidFill>
                  <a:schemeClr val="tx2"/>
                </a:solidFill>
                <a:latin typeface="Calibri"/>
                <a:cs typeface="Calibri"/>
              </a:rPr>
              <a:t>an </a:t>
            </a:r>
            <a:r>
              <a:rPr lang="en-US" sz="2400" spc="-5" dirty="0">
                <a:solidFill>
                  <a:schemeClr val="tx2"/>
                </a:solidFill>
                <a:latin typeface="Calibri"/>
                <a:cs typeface="Calibri"/>
              </a:rPr>
              <a:t>object</a:t>
            </a:r>
            <a:r>
              <a:rPr lang="en-US" sz="2400" spc="20" dirty="0">
                <a:solidFill>
                  <a:schemeClr val="tx2"/>
                </a:solidFill>
                <a:latin typeface="Calibri"/>
                <a:cs typeface="Calibri"/>
              </a:rPr>
              <a:t> </a:t>
            </a:r>
            <a:r>
              <a:rPr lang="en-US" sz="2400" spc="-5" dirty="0">
                <a:solidFill>
                  <a:schemeClr val="tx2"/>
                </a:solidFill>
                <a:latin typeface="Calibri"/>
                <a:cs typeface="Calibri"/>
              </a:rPr>
              <a:t>in</a:t>
            </a:r>
            <a:r>
              <a:rPr lang="en-US" sz="2400" spc="20" dirty="0">
                <a:solidFill>
                  <a:schemeClr val="tx2"/>
                </a:solidFill>
                <a:latin typeface="Calibri"/>
                <a:cs typeface="Calibri"/>
              </a:rPr>
              <a:t> </a:t>
            </a:r>
            <a:r>
              <a:rPr lang="en-US" sz="2400" spc="-10" dirty="0">
                <a:solidFill>
                  <a:schemeClr val="tx2"/>
                </a:solidFill>
                <a:latin typeface="Calibri"/>
                <a:cs typeface="Calibri"/>
              </a:rPr>
              <a:t>JavaScript.</a:t>
            </a:r>
            <a:endParaRPr lang="en-IN" sz="2400" dirty="0">
              <a:solidFill>
                <a:schemeClr val="tx2"/>
              </a:solidFill>
            </a:endParaRPr>
          </a:p>
          <a:p>
            <a:r>
              <a:rPr lang="en-IN" dirty="0"/>
              <a:t>Objects are mutable.</a:t>
            </a:r>
          </a:p>
          <a:p>
            <a:endParaRPr lang="en-IN" dirty="0"/>
          </a:p>
          <a:p>
            <a:r>
              <a:rPr lang="en-IN" dirty="0"/>
              <a:t>We can access , update, add and delete the properties from an object.</a:t>
            </a:r>
          </a:p>
          <a:p>
            <a:pPr marL="0" indent="0">
              <a:buNone/>
            </a:pPr>
            <a:endParaRPr lang="en-IN" b="1" dirty="0"/>
          </a:p>
        </p:txBody>
      </p:sp>
    </p:spTree>
    <p:extLst>
      <p:ext uri="{BB962C8B-B14F-4D97-AF65-F5344CB8AC3E}">
        <p14:creationId xmlns:p14="http://schemas.microsoft.com/office/powerpoint/2010/main" val="3112616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68D3A-687D-C2A6-130C-D75CC5EA30CE}"/>
              </a:ext>
            </a:extLst>
          </p:cNvPr>
          <p:cNvSpPr>
            <a:spLocks noGrp="1"/>
          </p:cNvSpPr>
          <p:nvPr>
            <p:ph type="title"/>
          </p:nvPr>
        </p:nvSpPr>
        <p:spPr/>
        <p:txBody>
          <a:bodyPr/>
          <a:lstStyle/>
          <a:p>
            <a:r>
              <a:rPr lang="en-IN" sz="4400" b="0" u="none" spc="-45" dirty="0">
                <a:latin typeface="Times New Roman"/>
                <a:cs typeface="Times New Roman"/>
              </a:rPr>
              <a:t>OBJECTS</a:t>
            </a:r>
            <a:r>
              <a:rPr lang="en-IN" sz="4400" b="0" u="none" spc="-25" dirty="0">
                <a:latin typeface="Times New Roman"/>
                <a:cs typeface="Times New Roman"/>
              </a:rPr>
              <a:t> </a:t>
            </a:r>
            <a:r>
              <a:rPr lang="en-IN" sz="4400" b="0" u="none" spc="80" dirty="0">
                <a:latin typeface="Times New Roman"/>
                <a:cs typeface="Times New Roman"/>
              </a:rPr>
              <a:t>IN</a:t>
            </a:r>
            <a:r>
              <a:rPr lang="en-IN" sz="4400" b="0" u="none" spc="-20" dirty="0">
                <a:latin typeface="Times New Roman"/>
                <a:cs typeface="Times New Roman"/>
              </a:rPr>
              <a:t> </a:t>
            </a:r>
            <a:r>
              <a:rPr lang="en-IN" sz="4400" b="0" u="none" spc="-140" dirty="0">
                <a:latin typeface="Times New Roman"/>
                <a:cs typeface="Times New Roman"/>
              </a:rPr>
              <a:t>JAVASCRIPT</a:t>
            </a:r>
            <a:endParaRPr lang="en-IN" dirty="0"/>
          </a:p>
        </p:txBody>
      </p:sp>
      <p:sp>
        <p:nvSpPr>
          <p:cNvPr id="3" name="Content Placeholder 2">
            <a:extLst>
              <a:ext uri="{FF2B5EF4-FFF2-40B4-BE49-F238E27FC236}">
                <a16:creationId xmlns:a16="http://schemas.microsoft.com/office/drawing/2014/main" id="{783EB923-8161-B4F1-1351-D94BB853F3F7}"/>
              </a:ext>
            </a:extLst>
          </p:cNvPr>
          <p:cNvSpPr>
            <a:spLocks noGrp="1"/>
          </p:cNvSpPr>
          <p:nvPr>
            <p:ph idx="1"/>
          </p:nvPr>
        </p:nvSpPr>
        <p:spPr>
          <a:xfrm>
            <a:off x="1103312" y="2052918"/>
            <a:ext cx="9746825" cy="4195481"/>
          </a:xfrm>
        </p:spPr>
        <p:txBody>
          <a:bodyPr>
            <a:normAutofit fontScale="85000" lnSpcReduction="10000"/>
          </a:bodyPr>
          <a:lstStyle/>
          <a:p>
            <a:pPr marL="299085" marR="5080" indent="-287020">
              <a:lnSpc>
                <a:spcPct val="100000"/>
              </a:lnSpc>
              <a:spcBef>
                <a:spcPts val="100"/>
              </a:spcBef>
              <a:buFont typeface="Arial MT"/>
              <a:buChar char="•"/>
              <a:tabLst>
                <a:tab pos="299085" algn="l"/>
                <a:tab pos="299720" algn="l"/>
              </a:tabLst>
            </a:pPr>
            <a:r>
              <a:rPr lang="en-US" sz="2800" dirty="0">
                <a:latin typeface="Calibri"/>
                <a:cs typeface="Calibri"/>
              </a:rPr>
              <a:t>A</a:t>
            </a:r>
            <a:r>
              <a:rPr lang="en-US" sz="2800" spc="145" dirty="0">
                <a:latin typeface="Calibri"/>
                <a:cs typeface="Calibri"/>
              </a:rPr>
              <a:t> </a:t>
            </a:r>
            <a:r>
              <a:rPr lang="en-US" sz="2800" spc="-15" dirty="0">
                <a:latin typeface="Calibri"/>
                <a:cs typeface="Calibri"/>
              </a:rPr>
              <a:t>JavaScript</a:t>
            </a:r>
            <a:r>
              <a:rPr lang="en-US" sz="2800" spc="145" dirty="0">
                <a:latin typeface="Calibri"/>
                <a:cs typeface="Calibri"/>
              </a:rPr>
              <a:t> </a:t>
            </a:r>
            <a:r>
              <a:rPr lang="en-US" sz="2800" dirty="0">
                <a:latin typeface="Calibri"/>
                <a:cs typeface="Calibri"/>
              </a:rPr>
              <a:t>object</a:t>
            </a:r>
            <a:r>
              <a:rPr lang="en-US" sz="2800" spc="145" dirty="0">
                <a:latin typeface="Calibri"/>
                <a:cs typeface="Calibri"/>
              </a:rPr>
              <a:t> </a:t>
            </a:r>
            <a:r>
              <a:rPr lang="en-US" sz="2800" spc="-5" dirty="0">
                <a:latin typeface="Calibri"/>
                <a:cs typeface="Calibri"/>
              </a:rPr>
              <a:t>is</a:t>
            </a:r>
            <a:r>
              <a:rPr lang="en-US" sz="2800" spc="145" dirty="0">
                <a:latin typeface="Calibri"/>
                <a:cs typeface="Calibri"/>
              </a:rPr>
              <a:t> </a:t>
            </a:r>
            <a:r>
              <a:rPr lang="en-US" sz="2800" dirty="0">
                <a:latin typeface="Calibri"/>
                <a:cs typeface="Calibri"/>
              </a:rPr>
              <a:t>an</a:t>
            </a:r>
            <a:r>
              <a:rPr lang="en-US" sz="2800" spc="150" dirty="0">
                <a:latin typeface="Calibri"/>
                <a:cs typeface="Calibri"/>
              </a:rPr>
              <a:t> </a:t>
            </a:r>
            <a:r>
              <a:rPr lang="en-US" sz="2800" spc="-5" dirty="0">
                <a:latin typeface="Calibri"/>
                <a:cs typeface="Calibri"/>
              </a:rPr>
              <a:t>entity</a:t>
            </a:r>
            <a:r>
              <a:rPr lang="en-US" sz="2800" spc="150" dirty="0">
                <a:latin typeface="Calibri"/>
                <a:cs typeface="Calibri"/>
              </a:rPr>
              <a:t> </a:t>
            </a:r>
            <a:r>
              <a:rPr lang="en-US" sz="2800" spc="-5" dirty="0">
                <a:latin typeface="Calibri"/>
                <a:cs typeface="Calibri"/>
              </a:rPr>
              <a:t>having</a:t>
            </a:r>
            <a:r>
              <a:rPr lang="en-US" sz="2800" spc="145" dirty="0">
                <a:latin typeface="Calibri"/>
                <a:cs typeface="Calibri"/>
              </a:rPr>
              <a:t> </a:t>
            </a:r>
            <a:r>
              <a:rPr lang="en-US" sz="2800" spc="-20" dirty="0">
                <a:latin typeface="Calibri"/>
                <a:cs typeface="Calibri"/>
              </a:rPr>
              <a:t>state</a:t>
            </a:r>
            <a:r>
              <a:rPr lang="en-US" sz="2800" spc="155" dirty="0">
                <a:latin typeface="Calibri"/>
                <a:cs typeface="Calibri"/>
              </a:rPr>
              <a:t> </a:t>
            </a:r>
            <a:r>
              <a:rPr lang="en-US" sz="2800" dirty="0">
                <a:latin typeface="Calibri"/>
                <a:cs typeface="Calibri"/>
              </a:rPr>
              <a:t>and</a:t>
            </a:r>
            <a:r>
              <a:rPr lang="en-US" sz="2800" spc="150" dirty="0">
                <a:latin typeface="Calibri"/>
                <a:cs typeface="Calibri"/>
              </a:rPr>
              <a:t> </a:t>
            </a:r>
            <a:r>
              <a:rPr lang="en-US" sz="2800" spc="-5" dirty="0">
                <a:latin typeface="Calibri"/>
                <a:cs typeface="Calibri"/>
              </a:rPr>
              <a:t>behavior</a:t>
            </a:r>
            <a:r>
              <a:rPr lang="en-US" sz="2800" spc="145" dirty="0">
                <a:latin typeface="Calibri"/>
                <a:cs typeface="Calibri"/>
              </a:rPr>
              <a:t> </a:t>
            </a:r>
            <a:r>
              <a:rPr lang="en-US" sz="2800" spc="-5" dirty="0">
                <a:latin typeface="Calibri"/>
                <a:cs typeface="Calibri"/>
              </a:rPr>
              <a:t>(properties</a:t>
            </a:r>
            <a:r>
              <a:rPr lang="en-US" sz="2800" spc="150" dirty="0">
                <a:latin typeface="Calibri"/>
                <a:cs typeface="Calibri"/>
              </a:rPr>
              <a:t> </a:t>
            </a:r>
            <a:r>
              <a:rPr lang="en-US" sz="2800" dirty="0">
                <a:latin typeface="Calibri"/>
                <a:cs typeface="Calibri"/>
              </a:rPr>
              <a:t>and</a:t>
            </a:r>
            <a:r>
              <a:rPr lang="en-US" sz="2800" spc="155" dirty="0">
                <a:latin typeface="Calibri"/>
                <a:cs typeface="Calibri"/>
              </a:rPr>
              <a:t> </a:t>
            </a:r>
            <a:r>
              <a:rPr lang="en-US" sz="2800" spc="-5" dirty="0">
                <a:latin typeface="Calibri"/>
                <a:cs typeface="Calibri"/>
              </a:rPr>
              <a:t>method).</a:t>
            </a:r>
            <a:r>
              <a:rPr lang="en-US" sz="2800" spc="145" dirty="0">
                <a:latin typeface="Calibri"/>
                <a:cs typeface="Calibri"/>
              </a:rPr>
              <a:t> </a:t>
            </a:r>
            <a:r>
              <a:rPr lang="en-US" sz="2800" spc="-10" dirty="0">
                <a:latin typeface="Calibri"/>
                <a:cs typeface="Calibri"/>
              </a:rPr>
              <a:t>For</a:t>
            </a:r>
            <a:r>
              <a:rPr lang="en-US" sz="2800" spc="140" dirty="0">
                <a:latin typeface="Calibri"/>
                <a:cs typeface="Calibri"/>
              </a:rPr>
              <a:t> </a:t>
            </a:r>
            <a:r>
              <a:rPr lang="en-US" sz="2800" spc="-10" dirty="0">
                <a:latin typeface="Calibri"/>
                <a:cs typeface="Calibri"/>
              </a:rPr>
              <a:t>example: </a:t>
            </a:r>
            <a:r>
              <a:rPr lang="en-US" sz="2800" spc="-390" dirty="0">
                <a:latin typeface="Calibri"/>
                <a:cs typeface="Calibri"/>
              </a:rPr>
              <a:t> </a:t>
            </a:r>
            <a:r>
              <a:rPr lang="en-US" sz="2800" spc="-45" dirty="0">
                <a:latin typeface="Calibri"/>
                <a:cs typeface="Calibri"/>
              </a:rPr>
              <a:t>car,</a:t>
            </a:r>
            <a:r>
              <a:rPr lang="en-US" sz="2800" spc="5" dirty="0">
                <a:latin typeface="Calibri"/>
                <a:cs typeface="Calibri"/>
              </a:rPr>
              <a:t> </a:t>
            </a:r>
            <a:r>
              <a:rPr lang="en-US" sz="2800" dirty="0">
                <a:latin typeface="Calibri"/>
                <a:cs typeface="Calibri"/>
              </a:rPr>
              <a:t>pen,</a:t>
            </a:r>
            <a:r>
              <a:rPr lang="en-US" sz="2800" spc="10" dirty="0">
                <a:latin typeface="Calibri"/>
                <a:cs typeface="Calibri"/>
              </a:rPr>
              <a:t> </a:t>
            </a:r>
            <a:r>
              <a:rPr lang="en-US" sz="2800" spc="-20" dirty="0">
                <a:latin typeface="Calibri"/>
                <a:cs typeface="Calibri"/>
              </a:rPr>
              <a:t>bike,</a:t>
            </a:r>
            <a:r>
              <a:rPr lang="en-US" sz="2800" spc="25" dirty="0">
                <a:latin typeface="Calibri"/>
                <a:cs typeface="Calibri"/>
              </a:rPr>
              <a:t> </a:t>
            </a:r>
            <a:r>
              <a:rPr lang="en-US" sz="2800" spc="-35" dirty="0">
                <a:latin typeface="Calibri"/>
                <a:cs typeface="Calibri"/>
              </a:rPr>
              <a:t>chair,</a:t>
            </a:r>
            <a:r>
              <a:rPr lang="en-US" sz="2800" spc="20" dirty="0">
                <a:latin typeface="Calibri"/>
                <a:cs typeface="Calibri"/>
              </a:rPr>
              <a:t> </a:t>
            </a:r>
            <a:r>
              <a:rPr lang="en-US" sz="2800" dirty="0">
                <a:latin typeface="Calibri"/>
                <a:cs typeface="Calibri"/>
              </a:rPr>
              <a:t>glass,</a:t>
            </a:r>
            <a:r>
              <a:rPr lang="en-US" sz="2800" spc="-20" dirty="0">
                <a:latin typeface="Calibri"/>
                <a:cs typeface="Calibri"/>
              </a:rPr>
              <a:t> </a:t>
            </a:r>
            <a:r>
              <a:rPr lang="en-US" sz="2800" spc="-15" dirty="0">
                <a:latin typeface="Calibri"/>
                <a:cs typeface="Calibri"/>
              </a:rPr>
              <a:t>keyboard,</a:t>
            </a:r>
            <a:r>
              <a:rPr lang="en-US" sz="2800" spc="10" dirty="0">
                <a:latin typeface="Calibri"/>
                <a:cs typeface="Calibri"/>
              </a:rPr>
              <a:t> </a:t>
            </a:r>
            <a:r>
              <a:rPr lang="en-US" sz="2800" spc="-5" dirty="0">
                <a:latin typeface="Calibri"/>
                <a:cs typeface="Calibri"/>
              </a:rPr>
              <a:t>monitor</a:t>
            </a:r>
            <a:r>
              <a:rPr lang="en-US" sz="2800" spc="5" dirty="0">
                <a:latin typeface="Calibri"/>
                <a:cs typeface="Calibri"/>
              </a:rPr>
              <a:t> </a:t>
            </a:r>
            <a:r>
              <a:rPr lang="en-US" sz="2800" spc="-15" dirty="0">
                <a:latin typeface="Calibri"/>
                <a:cs typeface="Calibri"/>
              </a:rPr>
              <a:t>etc.</a:t>
            </a:r>
            <a:endParaRPr lang="en-US" sz="2800" dirty="0">
              <a:latin typeface="Calibri"/>
              <a:cs typeface="Calibri"/>
            </a:endParaRPr>
          </a:p>
          <a:p>
            <a:pPr>
              <a:lnSpc>
                <a:spcPct val="100000"/>
              </a:lnSpc>
              <a:spcBef>
                <a:spcPts val="20"/>
              </a:spcBef>
              <a:buClr>
                <a:srgbClr val="333333"/>
              </a:buClr>
              <a:buFont typeface="Arial MT"/>
              <a:buChar char="•"/>
            </a:pPr>
            <a:endParaRPr lang="en-US" dirty="0">
              <a:latin typeface="Calibri"/>
              <a:cs typeface="Calibri"/>
            </a:endParaRPr>
          </a:p>
          <a:p>
            <a:pPr marL="299085" indent="-287020">
              <a:lnSpc>
                <a:spcPct val="100000"/>
              </a:lnSpc>
              <a:buFont typeface="Arial MT"/>
              <a:buChar char="•"/>
              <a:tabLst>
                <a:tab pos="299085" algn="l"/>
                <a:tab pos="299720" algn="l"/>
              </a:tabLst>
            </a:pPr>
            <a:r>
              <a:rPr lang="en-US" sz="2600" spc="-10" dirty="0">
                <a:latin typeface="Calibri"/>
                <a:cs typeface="Calibri"/>
              </a:rPr>
              <a:t>JavaScript</a:t>
            </a:r>
            <a:r>
              <a:rPr lang="en-US" sz="2600" spc="-5" dirty="0">
                <a:latin typeface="Calibri"/>
                <a:cs typeface="Calibri"/>
              </a:rPr>
              <a:t> is</a:t>
            </a:r>
            <a:r>
              <a:rPr lang="en-US" sz="2600" spc="10" dirty="0">
                <a:latin typeface="Calibri"/>
                <a:cs typeface="Calibri"/>
              </a:rPr>
              <a:t> </a:t>
            </a:r>
            <a:r>
              <a:rPr lang="en-US" sz="2600" dirty="0">
                <a:latin typeface="Calibri"/>
                <a:cs typeface="Calibri"/>
              </a:rPr>
              <a:t>an</a:t>
            </a:r>
            <a:r>
              <a:rPr lang="en-US" sz="2600" spc="15" dirty="0">
                <a:latin typeface="Calibri"/>
                <a:cs typeface="Calibri"/>
              </a:rPr>
              <a:t> </a:t>
            </a:r>
            <a:r>
              <a:rPr lang="en-US" sz="2600" spc="-5" dirty="0">
                <a:latin typeface="Calibri"/>
                <a:cs typeface="Calibri"/>
              </a:rPr>
              <a:t>object-based</a:t>
            </a:r>
            <a:r>
              <a:rPr lang="en-US" sz="2600" spc="15" dirty="0">
                <a:latin typeface="Calibri"/>
                <a:cs typeface="Calibri"/>
              </a:rPr>
              <a:t> </a:t>
            </a:r>
            <a:r>
              <a:rPr lang="en-US" sz="2600" spc="-5" dirty="0">
                <a:latin typeface="Calibri"/>
                <a:cs typeface="Calibri"/>
              </a:rPr>
              <a:t>language.</a:t>
            </a:r>
            <a:r>
              <a:rPr lang="en-US" sz="2600" spc="5" dirty="0">
                <a:latin typeface="Calibri"/>
                <a:cs typeface="Calibri"/>
              </a:rPr>
              <a:t> </a:t>
            </a:r>
            <a:r>
              <a:rPr lang="en-US" sz="2600" spc="-5" dirty="0">
                <a:latin typeface="Calibri"/>
                <a:cs typeface="Calibri"/>
              </a:rPr>
              <a:t>Everything</a:t>
            </a:r>
            <a:r>
              <a:rPr lang="en-US" sz="2600" spc="-15" dirty="0">
                <a:latin typeface="Calibri"/>
                <a:cs typeface="Calibri"/>
              </a:rPr>
              <a:t> </a:t>
            </a:r>
            <a:r>
              <a:rPr lang="en-US" sz="2600" spc="-5" dirty="0">
                <a:latin typeface="Calibri"/>
                <a:cs typeface="Calibri"/>
              </a:rPr>
              <a:t>is</a:t>
            </a:r>
            <a:r>
              <a:rPr lang="en-US" sz="2600" spc="20" dirty="0">
                <a:latin typeface="Calibri"/>
                <a:cs typeface="Calibri"/>
              </a:rPr>
              <a:t> </a:t>
            </a:r>
            <a:r>
              <a:rPr lang="en-US" sz="2600" dirty="0">
                <a:latin typeface="Calibri"/>
                <a:cs typeface="Calibri"/>
              </a:rPr>
              <a:t>an </a:t>
            </a:r>
            <a:r>
              <a:rPr lang="en-US" sz="2600" spc="-5" dirty="0">
                <a:latin typeface="Calibri"/>
                <a:cs typeface="Calibri"/>
              </a:rPr>
              <a:t>object</a:t>
            </a:r>
            <a:r>
              <a:rPr lang="en-US" sz="2600" spc="20" dirty="0">
                <a:latin typeface="Calibri"/>
                <a:cs typeface="Calibri"/>
              </a:rPr>
              <a:t> </a:t>
            </a:r>
            <a:r>
              <a:rPr lang="en-US" sz="2600" spc="-5" dirty="0">
                <a:latin typeface="Calibri"/>
                <a:cs typeface="Calibri"/>
              </a:rPr>
              <a:t>in</a:t>
            </a:r>
            <a:r>
              <a:rPr lang="en-US" sz="2600" spc="20" dirty="0">
                <a:latin typeface="Calibri"/>
                <a:cs typeface="Calibri"/>
              </a:rPr>
              <a:t> </a:t>
            </a:r>
            <a:r>
              <a:rPr lang="en-US" sz="2600" spc="-10" dirty="0">
                <a:latin typeface="Calibri"/>
                <a:cs typeface="Calibri"/>
              </a:rPr>
              <a:t>JavaScript.</a:t>
            </a:r>
            <a:endParaRPr lang="en-US" sz="2600" dirty="0">
              <a:latin typeface="Calibri"/>
              <a:cs typeface="Calibri"/>
            </a:endParaRPr>
          </a:p>
          <a:p>
            <a:pPr>
              <a:lnSpc>
                <a:spcPct val="100000"/>
              </a:lnSpc>
              <a:spcBef>
                <a:spcPts val="25"/>
              </a:spcBef>
            </a:pPr>
            <a:endParaRPr lang="en-US" dirty="0">
              <a:latin typeface="Calibri"/>
              <a:cs typeface="Calibri"/>
            </a:endParaRPr>
          </a:p>
          <a:p>
            <a:pPr marL="64135">
              <a:lnSpc>
                <a:spcPct val="100000"/>
              </a:lnSpc>
              <a:spcBef>
                <a:spcPts val="5"/>
              </a:spcBef>
            </a:pPr>
            <a:r>
              <a:rPr lang="en-US" sz="2400" u="sng" spc="-10" dirty="0">
                <a:uFill>
                  <a:solidFill>
                    <a:srgbClr val="600A38"/>
                  </a:solidFill>
                </a:uFill>
                <a:latin typeface="Calibri"/>
                <a:cs typeface="Calibri"/>
              </a:rPr>
              <a:t>Creating</a:t>
            </a:r>
            <a:r>
              <a:rPr lang="en-US" sz="2400" u="sng" spc="15" dirty="0">
                <a:uFill>
                  <a:solidFill>
                    <a:srgbClr val="600A38"/>
                  </a:solidFill>
                </a:uFill>
                <a:latin typeface="Calibri"/>
                <a:cs typeface="Calibri"/>
              </a:rPr>
              <a:t> </a:t>
            </a:r>
            <a:r>
              <a:rPr lang="en-US" sz="2400" u="sng" spc="-5" dirty="0">
                <a:uFill>
                  <a:solidFill>
                    <a:srgbClr val="600A38"/>
                  </a:solidFill>
                </a:uFill>
                <a:latin typeface="Calibri"/>
                <a:cs typeface="Calibri"/>
              </a:rPr>
              <a:t>Objects</a:t>
            </a:r>
            <a:r>
              <a:rPr lang="en-US" sz="2400" u="sng" spc="-10" dirty="0">
                <a:uFill>
                  <a:solidFill>
                    <a:srgbClr val="600A38"/>
                  </a:solidFill>
                </a:uFill>
                <a:latin typeface="Calibri"/>
                <a:cs typeface="Calibri"/>
              </a:rPr>
              <a:t> </a:t>
            </a:r>
            <a:r>
              <a:rPr lang="en-US" sz="2400" u="sng" spc="-5" dirty="0">
                <a:uFill>
                  <a:solidFill>
                    <a:srgbClr val="600A38"/>
                  </a:solidFill>
                </a:uFill>
                <a:latin typeface="Calibri"/>
                <a:cs typeface="Calibri"/>
              </a:rPr>
              <a:t>in</a:t>
            </a:r>
            <a:r>
              <a:rPr lang="en-US" sz="2400" u="sng" spc="10" dirty="0">
                <a:uFill>
                  <a:solidFill>
                    <a:srgbClr val="600A38"/>
                  </a:solidFill>
                </a:uFill>
                <a:latin typeface="Calibri"/>
                <a:cs typeface="Calibri"/>
              </a:rPr>
              <a:t> </a:t>
            </a:r>
            <a:r>
              <a:rPr lang="en-US" sz="2400" u="sng" spc="-10" dirty="0">
                <a:uFill>
                  <a:solidFill>
                    <a:srgbClr val="600A38"/>
                  </a:solidFill>
                </a:uFill>
                <a:latin typeface="Calibri"/>
                <a:cs typeface="Calibri"/>
              </a:rPr>
              <a:t>JavaScript</a:t>
            </a:r>
            <a:r>
              <a:rPr lang="en-US" sz="2400" u="sng" spc="-10" dirty="0">
                <a:latin typeface="Calibri"/>
                <a:cs typeface="Calibri"/>
              </a:rPr>
              <a:t>:</a:t>
            </a:r>
            <a:endParaRPr lang="en-US" sz="2400" u="sng" dirty="0">
              <a:latin typeface="Calibri"/>
              <a:cs typeface="Calibri"/>
            </a:endParaRPr>
          </a:p>
          <a:p>
            <a:pPr marL="12700" marR="6196330">
              <a:lnSpc>
                <a:spcPct val="200000"/>
              </a:lnSpc>
            </a:pPr>
            <a:r>
              <a:rPr lang="en-US" spc="-10" dirty="0">
                <a:latin typeface="Calibri"/>
                <a:cs typeface="Calibri"/>
              </a:rPr>
              <a:t>There</a:t>
            </a:r>
            <a:r>
              <a:rPr lang="en-US" spc="10" dirty="0">
                <a:latin typeface="Calibri"/>
                <a:cs typeface="Calibri"/>
              </a:rPr>
              <a:t> </a:t>
            </a:r>
            <a:r>
              <a:rPr lang="en-US" spc="-10" dirty="0">
                <a:latin typeface="Calibri"/>
                <a:cs typeface="Calibri"/>
              </a:rPr>
              <a:t>are</a:t>
            </a:r>
            <a:r>
              <a:rPr lang="en-US" spc="-5" dirty="0">
                <a:latin typeface="Calibri"/>
                <a:cs typeface="Calibri"/>
              </a:rPr>
              <a:t> </a:t>
            </a:r>
            <a:r>
              <a:rPr lang="en-US" dirty="0">
                <a:latin typeface="Calibri"/>
                <a:cs typeface="Calibri"/>
              </a:rPr>
              <a:t>3</a:t>
            </a:r>
            <a:r>
              <a:rPr lang="en-US" spc="-10" dirty="0">
                <a:latin typeface="Calibri"/>
                <a:cs typeface="Calibri"/>
              </a:rPr>
              <a:t> </a:t>
            </a:r>
            <a:r>
              <a:rPr lang="en-US" spc="-20" dirty="0">
                <a:latin typeface="Calibri"/>
                <a:cs typeface="Calibri"/>
              </a:rPr>
              <a:t>ways</a:t>
            </a:r>
            <a:r>
              <a:rPr lang="en-US" spc="-10" dirty="0">
                <a:latin typeface="Calibri"/>
                <a:cs typeface="Calibri"/>
              </a:rPr>
              <a:t> to</a:t>
            </a:r>
            <a:r>
              <a:rPr lang="en-US" spc="-15" dirty="0">
                <a:latin typeface="Calibri"/>
                <a:cs typeface="Calibri"/>
              </a:rPr>
              <a:t> create</a:t>
            </a:r>
            <a:r>
              <a:rPr lang="en-US" spc="5" dirty="0">
                <a:latin typeface="Calibri"/>
                <a:cs typeface="Calibri"/>
              </a:rPr>
              <a:t> </a:t>
            </a:r>
            <a:r>
              <a:rPr lang="en-US" spc="-5" dirty="0">
                <a:latin typeface="Calibri"/>
                <a:cs typeface="Calibri"/>
              </a:rPr>
              <a:t>objects. </a:t>
            </a:r>
            <a:r>
              <a:rPr lang="en-US" spc="-390" dirty="0">
                <a:latin typeface="Calibri"/>
                <a:cs typeface="Calibri"/>
              </a:rPr>
              <a:t> </a:t>
            </a:r>
            <a:r>
              <a:rPr lang="en-US" spc="-5" dirty="0">
                <a:latin typeface="Calibri"/>
                <a:cs typeface="Calibri"/>
              </a:rPr>
              <a:t>1.By</a:t>
            </a:r>
            <a:r>
              <a:rPr lang="en-US" spc="-15" dirty="0">
                <a:latin typeface="Calibri"/>
                <a:cs typeface="Calibri"/>
              </a:rPr>
              <a:t> </a:t>
            </a:r>
            <a:r>
              <a:rPr lang="en-US" spc="-5" dirty="0">
                <a:latin typeface="Calibri"/>
                <a:cs typeface="Calibri"/>
              </a:rPr>
              <a:t>object</a:t>
            </a:r>
            <a:r>
              <a:rPr lang="en-US" spc="15" dirty="0">
                <a:latin typeface="Calibri"/>
                <a:cs typeface="Calibri"/>
              </a:rPr>
              <a:t> </a:t>
            </a:r>
            <a:r>
              <a:rPr lang="en-US" spc="-15" dirty="0">
                <a:latin typeface="Calibri"/>
                <a:cs typeface="Calibri"/>
              </a:rPr>
              <a:t>literal.</a:t>
            </a:r>
            <a:endParaRPr lang="en-US" dirty="0">
              <a:latin typeface="Calibri"/>
              <a:cs typeface="Calibri"/>
            </a:endParaRPr>
          </a:p>
          <a:p>
            <a:pPr marL="0" marR="3712210" indent="0">
              <a:lnSpc>
                <a:spcPct val="200000"/>
              </a:lnSpc>
              <a:buNone/>
            </a:pPr>
            <a:r>
              <a:rPr lang="en-US" spc="-5" dirty="0">
                <a:latin typeface="Calibri"/>
                <a:cs typeface="Calibri"/>
              </a:rPr>
              <a:t>2.By</a:t>
            </a:r>
            <a:r>
              <a:rPr lang="en-US" spc="-30" dirty="0">
                <a:latin typeface="Calibri"/>
                <a:cs typeface="Calibri"/>
              </a:rPr>
              <a:t> </a:t>
            </a:r>
            <a:r>
              <a:rPr lang="en-US" spc="-10" dirty="0">
                <a:latin typeface="Calibri"/>
                <a:cs typeface="Calibri"/>
              </a:rPr>
              <a:t>creating</a:t>
            </a:r>
            <a:r>
              <a:rPr lang="en-US" spc="20" dirty="0">
                <a:latin typeface="Calibri"/>
                <a:cs typeface="Calibri"/>
              </a:rPr>
              <a:t> </a:t>
            </a:r>
            <a:r>
              <a:rPr lang="en-US" spc="-10" dirty="0">
                <a:latin typeface="Calibri"/>
                <a:cs typeface="Calibri"/>
              </a:rPr>
              <a:t>instance</a:t>
            </a:r>
            <a:r>
              <a:rPr lang="en-US" spc="25" dirty="0">
                <a:latin typeface="Calibri"/>
                <a:cs typeface="Calibri"/>
              </a:rPr>
              <a:t> </a:t>
            </a:r>
            <a:r>
              <a:rPr lang="en-US" spc="-5" dirty="0">
                <a:latin typeface="Calibri"/>
                <a:cs typeface="Calibri"/>
              </a:rPr>
              <a:t>of</a:t>
            </a:r>
            <a:r>
              <a:rPr lang="en-US" dirty="0">
                <a:latin typeface="Calibri"/>
                <a:cs typeface="Calibri"/>
              </a:rPr>
              <a:t> </a:t>
            </a:r>
            <a:r>
              <a:rPr lang="en-US" spc="-5" dirty="0">
                <a:latin typeface="Calibri"/>
                <a:cs typeface="Calibri"/>
              </a:rPr>
              <a:t>Object</a:t>
            </a:r>
            <a:r>
              <a:rPr lang="en-US" spc="10" dirty="0">
                <a:latin typeface="Calibri"/>
                <a:cs typeface="Calibri"/>
              </a:rPr>
              <a:t> </a:t>
            </a:r>
            <a:r>
              <a:rPr lang="en-US" spc="-10" dirty="0">
                <a:latin typeface="Calibri"/>
                <a:cs typeface="Calibri"/>
              </a:rPr>
              <a:t>directly</a:t>
            </a:r>
            <a:r>
              <a:rPr lang="en-US" spc="15" dirty="0">
                <a:latin typeface="Calibri"/>
                <a:cs typeface="Calibri"/>
              </a:rPr>
              <a:t> </a:t>
            </a:r>
            <a:r>
              <a:rPr lang="en-US" spc="-5" dirty="0">
                <a:latin typeface="Calibri"/>
                <a:cs typeface="Calibri"/>
              </a:rPr>
              <a:t>(using</a:t>
            </a:r>
            <a:r>
              <a:rPr lang="en-US" spc="15" dirty="0">
                <a:latin typeface="Calibri"/>
                <a:cs typeface="Calibri"/>
              </a:rPr>
              <a:t> </a:t>
            </a:r>
            <a:r>
              <a:rPr lang="en-US" spc="-5" dirty="0">
                <a:latin typeface="Calibri"/>
                <a:cs typeface="Calibri"/>
              </a:rPr>
              <a:t>new </a:t>
            </a:r>
            <a:r>
              <a:rPr lang="en-US" spc="-15" dirty="0">
                <a:latin typeface="Calibri"/>
                <a:cs typeface="Calibri"/>
              </a:rPr>
              <a:t>keyword). </a:t>
            </a:r>
            <a:endParaRPr lang="en-US" spc="-395" dirty="0">
              <a:latin typeface="Calibri"/>
              <a:cs typeface="Calibri"/>
            </a:endParaRPr>
          </a:p>
        </p:txBody>
      </p:sp>
    </p:spTree>
    <p:extLst>
      <p:ext uri="{BB962C8B-B14F-4D97-AF65-F5344CB8AC3E}">
        <p14:creationId xmlns:p14="http://schemas.microsoft.com/office/powerpoint/2010/main" val="4071889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72692" y="693801"/>
            <a:ext cx="9130674" cy="5799023"/>
          </a:xfrm>
          <a:prstGeom prst="rect">
            <a:avLst/>
          </a:prstGeom>
        </p:spPr>
        <p:txBody>
          <a:bodyPr vert="horz" wrap="square" lIns="0" tIns="12700" rIns="0" bIns="0" rtlCol="0">
            <a:spAutoFit/>
          </a:bodyPr>
          <a:lstStyle/>
          <a:p>
            <a:pPr marL="12700">
              <a:lnSpc>
                <a:spcPct val="100000"/>
              </a:lnSpc>
              <a:spcBef>
                <a:spcPts val="100"/>
              </a:spcBef>
            </a:pPr>
            <a:r>
              <a:rPr sz="2000" u="heavy" spc="-10" dirty="0">
                <a:uFill>
                  <a:solidFill>
                    <a:srgbClr val="600A38"/>
                  </a:solidFill>
                </a:uFill>
                <a:latin typeface="Calibri"/>
                <a:cs typeface="Calibri"/>
              </a:rPr>
              <a:t>1)JavaScript</a:t>
            </a:r>
            <a:r>
              <a:rPr sz="2000" u="heavy" dirty="0">
                <a:uFill>
                  <a:solidFill>
                    <a:srgbClr val="600A38"/>
                  </a:solidFill>
                </a:uFill>
                <a:latin typeface="Calibri"/>
                <a:cs typeface="Calibri"/>
              </a:rPr>
              <a:t> </a:t>
            </a:r>
            <a:r>
              <a:rPr sz="2000" u="heavy" spc="-5" dirty="0">
                <a:uFill>
                  <a:solidFill>
                    <a:srgbClr val="600A38"/>
                  </a:solidFill>
                </a:uFill>
                <a:latin typeface="Calibri"/>
                <a:cs typeface="Calibri"/>
              </a:rPr>
              <a:t>Object</a:t>
            </a:r>
            <a:r>
              <a:rPr sz="2000" u="heavy" dirty="0">
                <a:uFill>
                  <a:solidFill>
                    <a:srgbClr val="600A38"/>
                  </a:solidFill>
                </a:uFill>
                <a:latin typeface="Calibri"/>
                <a:cs typeface="Calibri"/>
              </a:rPr>
              <a:t> </a:t>
            </a:r>
            <a:r>
              <a:rPr sz="2000" u="heavy" spc="-5" dirty="0">
                <a:uFill>
                  <a:solidFill>
                    <a:srgbClr val="600A38"/>
                  </a:solidFill>
                </a:uFill>
                <a:latin typeface="Calibri"/>
                <a:cs typeface="Calibri"/>
              </a:rPr>
              <a:t>by</a:t>
            </a:r>
            <a:r>
              <a:rPr sz="2000" u="heavy" spc="-10" dirty="0">
                <a:uFill>
                  <a:solidFill>
                    <a:srgbClr val="600A38"/>
                  </a:solidFill>
                </a:uFill>
                <a:latin typeface="Calibri"/>
                <a:cs typeface="Calibri"/>
              </a:rPr>
              <a:t> </a:t>
            </a:r>
            <a:r>
              <a:rPr sz="2000" u="heavy" spc="-5" dirty="0">
                <a:uFill>
                  <a:solidFill>
                    <a:srgbClr val="600A38"/>
                  </a:solidFill>
                </a:uFill>
                <a:latin typeface="Calibri"/>
                <a:cs typeface="Calibri"/>
              </a:rPr>
              <a:t>object</a:t>
            </a:r>
            <a:r>
              <a:rPr sz="2000" u="heavy" spc="10" dirty="0">
                <a:uFill>
                  <a:solidFill>
                    <a:srgbClr val="600A38"/>
                  </a:solidFill>
                </a:uFill>
                <a:latin typeface="Calibri"/>
                <a:cs typeface="Calibri"/>
              </a:rPr>
              <a:t> </a:t>
            </a:r>
            <a:r>
              <a:rPr sz="2000" u="heavy" spc="-15" dirty="0">
                <a:uFill>
                  <a:solidFill>
                    <a:srgbClr val="600A38"/>
                  </a:solidFill>
                </a:uFill>
                <a:latin typeface="Calibri"/>
                <a:cs typeface="Calibri"/>
              </a:rPr>
              <a:t>literal:</a:t>
            </a:r>
            <a:endParaRPr sz="2000" dirty="0">
              <a:latin typeface="Calibri"/>
              <a:cs typeface="Calibri"/>
            </a:endParaRPr>
          </a:p>
          <a:p>
            <a:pPr>
              <a:lnSpc>
                <a:spcPct val="100000"/>
              </a:lnSpc>
              <a:spcBef>
                <a:spcPts val="20"/>
              </a:spcBef>
            </a:pPr>
            <a:endParaRPr dirty="0">
              <a:latin typeface="Calibri"/>
              <a:cs typeface="Calibri"/>
            </a:endParaRPr>
          </a:p>
          <a:p>
            <a:pPr marL="12700">
              <a:lnSpc>
                <a:spcPct val="100000"/>
              </a:lnSpc>
            </a:pPr>
            <a:r>
              <a:rPr sz="2000" spc="-5" dirty="0">
                <a:latin typeface="Calibri"/>
                <a:cs typeface="Calibri"/>
              </a:rPr>
              <a:t>The</a:t>
            </a:r>
            <a:r>
              <a:rPr sz="2000" spc="5" dirty="0">
                <a:latin typeface="Calibri"/>
                <a:cs typeface="Calibri"/>
              </a:rPr>
              <a:t> </a:t>
            </a:r>
            <a:r>
              <a:rPr sz="2000" spc="-15" dirty="0">
                <a:latin typeface="Calibri"/>
                <a:cs typeface="Calibri"/>
              </a:rPr>
              <a:t>syntax</a:t>
            </a:r>
            <a:r>
              <a:rPr sz="2000" spc="-10" dirty="0">
                <a:latin typeface="Calibri"/>
                <a:cs typeface="Calibri"/>
              </a:rPr>
              <a:t> </a:t>
            </a:r>
            <a:r>
              <a:rPr sz="2000" spc="-5" dirty="0">
                <a:latin typeface="Calibri"/>
                <a:cs typeface="Calibri"/>
              </a:rPr>
              <a:t>of</a:t>
            </a:r>
            <a:r>
              <a:rPr sz="2000" spc="15" dirty="0">
                <a:latin typeface="Calibri"/>
                <a:cs typeface="Calibri"/>
              </a:rPr>
              <a:t> </a:t>
            </a:r>
            <a:r>
              <a:rPr sz="2000" spc="-10" dirty="0">
                <a:latin typeface="Calibri"/>
                <a:cs typeface="Calibri"/>
              </a:rPr>
              <a:t>creating</a:t>
            </a:r>
            <a:r>
              <a:rPr sz="2000" spc="20" dirty="0">
                <a:latin typeface="Calibri"/>
                <a:cs typeface="Calibri"/>
              </a:rPr>
              <a:t> </a:t>
            </a:r>
            <a:r>
              <a:rPr sz="2000" spc="-5" dirty="0">
                <a:latin typeface="Calibri"/>
                <a:cs typeface="Calibri"/>
              </a:rPr>
              <a:t>object using</a:t>
            </a:r>
            <a:r>
              <a:rPr sz="2000" spc="10" dirty="0">
                <a:latin typeface="Calibri"/>
                <a:cs typeface="Calibri"/>
              </a:rPr>
              <a:t> </a:t>
            </a:r>
            <a:r>
              <a:rPr sz="2000" spc="-5" dirty="0">
                <a:latin typeface="Calibri"/>
                <a:cs typeface="Calibri"/>
              </a:rPr>
              <a:t>object</a:t>
            </a:r>
            <a:r>
              <a:rPr sz="2000" spc="10" dirty="0">
                <a:latin typeface="Calibri"/>
                <a:cs typeface="Calibri"/>
              </a:rPr>
              <a:t> </a:t>
            </a:r>
            <a:r>
              <a:rPr sz="2000" spc="-15" dirty="0">
                <a:latin typeface="Calibri"/>
                <a:cs typeface="Calibri"/>
              </a:rPr>
              <a:t>literal</a:t>
            </a:r>
            <a:r>
              <a:rPr sz="2000" spc="15" dirty="0">
                <a:latin typeface="Calibri"/>
                <a:cs typeface="Calibri"/>
              </a:rPr>
              <a:t> </a:t>
            </a:r>
            <a:r>
              <a:rPr sz="2000" spc="-5" dirty="0">
                <a:latin typeface="Calibri"/>
                <a:cs typeface="Calibri"/>
              </a:rPr>
              <a:t>is</a:t>
            </a:r>
            <a:r>
              <a:rPr sz="2000" spc="5" dirty="0">
                <a:latin typeface="Calibri"/>
                <a:cs typeface="Calibri"/>
              </a:rPr>
              <a:t> </a:t>
            </a:r>
            <a:r>
              <a:rPr sz="2000" spc="-5" dirty="0">
                <a:latin typeface="Calibri"/>
                <a:cs typeface="Calibri"/>
              </a:rPr>
              <a:t>given</a:t>
            </a:r>
            <a:r>
              <a:rPr sz="2000" spc="5" dirty="0">
                <a:latin typeface="Calibri"/>
                <a:cs typeface="Calibri"/>
              </a:rPr>
              <a:t> </a:t>
            </a:r>
            <a:r>
              <a:rPr sz="2000" spc="-10" dirty="0">
                <a:latin typeface="Calibri"/>
                <a:cs typeface="Calibri"/>
              </a:rPr>
              <a:t>below:</a:t>
            </a:r>
            <a:endParaRPr sz="2000" dirty="0">
              <a:latin typeface="Calibri"/>
              <a:cs typeface="Calibri"/>
            </a:endParaRPr>
          </a:p>
          <a:p>
            <a:pPr marL="12700">
              <a:lnSpc>
                <a:spcPct val="100000"/>
              </a:lnSpc>
              <a:spcBef>
                <a:spcPts val="5"/>
              </a:spcBef>
            </a:pPr>
            <a:r>
              <a:rPr sz="2000" spc="-10" dirty="0">
                <a:latin typeface="Calibri"/>
                <a:cs typeface="Calibri"/>
              </a:rPr>
              <a:t>VariableName </a:t>
            </a:r>
            <a:r>
              <a:rPr sz="2000" spc="-5" dirty="0">
                <a:latin typeface="Calibri"/>
                <a:cs typeface="Calibri"/>
              </a:rPr>
              <a:t>object=</a:t>
            </a:r>
            <a:endParaRPr sz="2000" dirty="0">
              <a:latin typeface="Calibri"/>
              <a:cs typeface="Calibri"/>
            </a:endParaRPr>
          </a:p>
          <a:p>
            <a:pPr marL="2160270">
              <a:lnSpc>
                <a:spcPct val="100000"/>
              </a:lnSpc>
            </a:pPr>
            <a:r>
              <a:rPr sz="2000" dirty="0">
                <a:latin typeface="Calibri"/>
                <a:cs typeface="Calibri"/>
              </a:rPr>
              <a:t>{</a:t>
            </a:r>
          </a:p>
          <a:p>
            <a:pPr marL="2318385" marR="1886585" algn="just">
              <a:lnSpc>
                <a:spcPct val="100000"/>
              </a:lnSpc>
            </a:pPr>
            <a:r>
              <a:rPr sz="2000" spc="-10" dirty="0">
                <a:latin typeface="Calibri"/>
                <a:cs typeface="Calibri"/>
              </a:rPr>
              <a:t>property1:value1, </a:t>
            </a:r>
            <a:r>
              <a:rPr sz="2000" spc="-395" dirty="0">
                <a:latin typeface="Calibri"/>
                <a:cs typeface="Calibri"/>
              </a:rPr>
              <a:t> </a:t>
            </a:r>
            <a:endParaRPr lang="en-US" sz="2000" spc="-395" dirty="0">
              <a:latin typeface="Calibri"/>
              <a:cs typeface="Calibri"/>
            </a:endParaRPr>
          </a:p>
          <a:p>
            <a:pPr marL="2318385" marR="1886585" algn="just">
              <a:lnSpc>
                <a:spcPct val="100000"/>
              </a:lnSpc>
            </a:pPr>
            <a:r>
              <a:rPr sz="2000" spc="-10" dirty="0">
                <a:latin typeface="Calibri"/>
                <a:cs typeface="Calibri"/>
              </a:rPr>
              <a:t>property2:value2, </a:t>
            </a:r>
            <a:r>
              <a:rPr sz="2000" spc="-395" dirty="0">
                <a:latin typeface="Calibri"/>
                <a:cs typeface="Calibri"/>
              </a:rPr>
              <a:t> </a:t>
            </a:r>
            <a:endParaRPr lang="en-US" sz="2000" spc="-395" dirty="0">
              <a:latin typeface="Calibri"/>
              <a:cs typeface="Calibri"/>
            </a:endParaRPr>
          </a:p>
          <a:p>
            <a:pPr marL="2318385" marR="1886585" algn="just">
              <a:lnSpc>
                <a:spcPct val="100000"/>
              </a:lnSpc>
            </a:pPr>
            <a:r>
              <a:rPr sz="2000" spc="-5" dirty="0" err="1">
                <a:latin typeface="Calibri"/>
                <a:cs typeface="Calibri"/>
              </a:rPr>
              <a:t>p</a:t>
            </a:r>
            <a:r>
              <a:rPr sz="2000" spc="-30" dirty="0" err="1">
                <a:latin typeface="Calibri"/>
                <a:cs typeface="Calibri"/>
              </a:rPr>
              <a:t>r</a:t>
            </a:r>
            <a:r>
              <a:rPr sz="2000" spc="-5" dirty="0" err="1">
                <a:latin typeface="Calibri"/>
                <a:cs typeface="Calibri"/>
              </a:rPr>
              <a:t>op</a:t>
            </a:r>
            <a:r>
              <a:rPr sz="2000" dirty="0" err="1">
                <a:latin typeface="Calibri"/>
                <a:cs typeface="Calibri"/>
              </a:rPr>
              <a:t>er</a:t>
            </a:r>
            <a:r>
              <a:rPr sz="2000" spc="-10" dirty="0" err="1">
                <a:latin typeface="Calibri"/>
                <a:cs typeface="Calibri"/>
              </a:rPr>
              <a:t>t</a:t>
            </a:r>
            <a:r>
              <a:rPr sz="2000" dirty="0" err="1">
                <a:latin typeface="Calibri"/>
                <a:cs typeface="Calibri"/>
              </a:rPr>
              <a:t>y</a:t>
            </a:r>
            <a:r>
              <a:rPr sz="2000" spc="5" dirty="0" err="1">
                <a:latin typeface="Calibri"/>
                <a:cs typeface="Calibri"/>
              </a:rPr>
              <a:t>N</a:t>
            </a:r>
            <a:r>
              <a:rPr sz="2000" spc="-5" dirty="0" err="1">
                <a:latin typeface="Calibri"/>
                <a:cs typeface="Calibri"/>
              </a:rPr>
              <a:t>:</a:t>
            </a:r>
            <a:r>
              <a:rPr sz="2000" spc="-25" dirty="0" err="1">
                <a:latin typeface="Calibri"/>
                <a:cs typeface="Calibri"/>
              </a:rPr>
              <a:t>v</a:t>
            </a:r>
            <a:r>
              <a:rPr sz="2000" dirty="0" err="1">
                <a:latin typeface="Calibri"/>
                <a:cs typeface="Calibri"/>
              </a:rPr>
              <a:t>alueN</a:t>
            </a:r>
            <a:endParaRPr sz="2000" dirty="0">
              <a:latin typeface="Calibri"/>
              <a:cs typeface="Calibri"/>
            </a:endParaRPr>
          </a:p>
          <a:p>
            <a:pPr marL="2160270">
              <a:lnSpc>
                <a:spcPct val="100000"/>
              </a:lnSpc>
            </a:pPr>
            <a:r>
              <a:rPr sz="2000" dirty="0">
                <a:latin typeface="Calibri"/>
                <a:cs typeface="Calibri"/>
              </a:rPr>
              <a:t>}</a:t>
            </a:r>
          </a:p>
          <a:p>
            <a:pPr marL="12700">
              <a:lnSpc>
                <a:spcPct val="100000"/>
              </a:lnSpc>
            </a:pPr>
            <a:r>
              <a:rPr sz="2000" dirty="0">
                <a:latin typeface="Calibri"/>
                <a:cs typeface="Calibri"/>
              </a:rPr>
              <a:t>As</a:t>
            </a:r>
            <a:r>
              <a:rPr sz="2000" spc="-10" dirty="0">
                <a:latin typeface="Calibri"/>
                <a:cs typeface="Calibri"/>
              </a:rPr>
              <a:t> you</a:t>
            </a:r>
            <a:r>
              <a:rPr sz="2000" spc="15" dirty="0">
                <a:latin typeface="Calibri"/>
                <a:cs typeface="Calibri"/>
              </a:rPr>
              <a:t> </a:t>
            </a:r>
            <a:r>
              <a:rPr sz="2000" spc="-10" dirty="0">
                <a:latin typeface="Calibri"/>
                <a:cs typeface="Calibri"/>
              </a:rPr>
              <a:t>can</a:t>
            </a:r>
            <a:r>
              <a:rPr sz="2000" spc="15" dirty="0">
                <a:latin typeface="Calibri"/>
                <a:cs typeface="Calibri"/>
              </a:rPr>
              <a:t> </a:t>
            </a:r>
            <a:r>
              <a:rPr sz="2000" dirty="0">
                <a:latin typeface="Calibri"/>
                <a:cs typeface="Calibri"/>
              </a:rPr>
              <a:t>see,</a:t>
            </a:r>
            <a:r>
              <a:rPr sz="2000" spc="-5" dirty="0">
                <a:latin typeface="Calibri"/>
                <a:cs typeface="Calibri"/>
              </a:rPr>
              <a:t> </a:t>
            </a:r>
            <a:r>
              <a:rPr sz="2000" spc="-10" dirty="0">
                <a:latin typeface="Calibri"/>
                <a:cs typeface="Calibri"/>
              </a:rPr>
              <a:t>property</a:t>
            </a:r>
            <a:r>
              <a:rPr sz="2000" spc="5" dirty="0">
                <a:latin typeface="Calibri"/>
                <a:cs typeface="Calibri"/>
              </a:rPr>
              <a:t> </a:t>
            </a:r>
            <a:r>
              <a:rPr sz="2000" dirty="0">
                <a:latin typeface="Calibri"/>
                <a:cs typeface="Calibri"/>
              </a:rPr>
              <a:t>and</a:t>
            </a:r>
            <a:r>
              <a:rPr sz="2000" spc="20" dirty="0">
                <a:latin typeface="Calibri"/>
                <a:cs typeface="Calibri"/>
              </a:rPr>
              <a:t> </a:t>
            </a:r>
            <a:r>
              <a:rPr sz="2000" spc="-5" dirty="0">
                <a:latin typeface="Calibri"/>
                <a:cs typeface="Calibri"/>
              </a:rPr>
              <a:t>value</a:t>
            </a:r>
            <a:r>
              <a:rPr sz="2000" dirty="0">
                <a:latin typeface="Calibri"/>
                <a:cs typeface="Calibri"/>
              </a:rPr>
              <a:t> </a:t>
            </a:r>
            <a:r>
              <a:rPr sz="2000" spc="-5" dirty="0">
                <a:latin typeface="Calibri"/>
                <a:cs typeface="Calibri"/>
              </a:rPr>
              <a:t>is</a:t>
            </a:r>
            <a:r>
              <a:rPr sz="2000" spc="5" dirty="0">
                <a:latin typeface="Calibri"/>
                <a:cs typeface="Calibri"/>
              </a:rPr>
              <a:t> </a:t>
            </a:r>
            <a:r>
              <a:rPr sz="2000" spc="-15" dirty="0">
                <a:latin typeface="Calibri"/>
                <a:cs typeface="Calibri"/>
              </a:rPr>
              <a:t>separated</a:t>
            </a:r>
            <a:r>
              <a:rPr sz="2000" spc="10" dirty="0">
                <a:latin typeface="Calibri"/>
                <a:cs typeface="Calibri"/>
              </a:rPr>
              <a:t> </a:t>
            </a:r>
            <a:r>
              <a:rPr sz="2000" spc="-5" dirty="0">
                <a:latin typeface="Calibri"/>
                <a:cs typeface="Calibri"/>
              </a:rPr>
              <a:t>by</a:t>
            </a:r>
            <a:r>
              <a:rPr sz="2000" dirty="0">
                <a:latin typeface="Calibri"/>
                <a:cs typeface="Calibri"/>
              </a:rPr>
              <a:t> :</a:t>
            </a:r>
            <a:r>
              <a:rPr sz="2000" spc="10" dirty="0">
                <a:latin typeface="Calibri"/>
                <a:cs typeface="Calibri"/>
              </a:rPr>
              <a:t> </a:t>
            </a:r>
            <a:r>
              <a:rPr sz="2000" spc="-10" dirty="0">
                <a:latin typeface="Calibri"/>
                <a:cs typeface="Calibri"/>
              </a:rPr>
              <a:t>(colon).</a:t>
            </a:r>
            <a:endParaRPr sz="2000" dirty="0">
              <a:latin typeface="Calibri"/>
              <a:cs typeface="Calibri"/>
            </a:endParaRPr>
          </a:p>
          <a:p>
            <a:pPr>
              <a:lnSpc>
                <a:spcPct val="100000"/>
              </a:lnSpc>
              <a:spcBef>
                <a:spcPts val="25"/>
              </a:spcBef>
            </a:pPr>
            <a:endParaRPr dirty="0">
              <a:latin typeface="Calibri"/>
              <a:cs typeface="Calibri"/>
            </a:endParaRPr>
          </a:p>
          <a:p>
            <a:pPr marL="12700">
              <a:lnSpc>
                <a:spcPct val="100000"/>
              </a:lnSpc>
            </a:pPr>
            <a:r>
              <a:rPr sz="2000" spc="-10" dirty="0">
                <a:latin typeface="Calibri"/>
                <a:cs typeface="Calibri"/>
              </a:rPr>
              <a:t>Example</a:t>
            </a:r>
            <a:r>
              <a:rPr sz="2000" dirty="0">
                <a:latin typeface="Calibri"/>
                <a:cs typeface="Calibri"/>
              </a:rPr>
              <a:t> </a:t>
            </a:r>
            <a:r>
              <a:rPr sz="2000" spc="-5" dirty="0">
                <a:latin typeface="Calibri"/>
                <a:cs typeface="Calibri"/>
              </a:rPr>
              <a:t>of</a:t>
            </a:r>
            <a:r>
              <a:rPr sz="2000" spc="15" dirty="0">
                <a:latin typeface="Calibri"/>
                <a:cs typeface="Calibri"/>
              </a:rPr>
              <a:t> </a:t>
            </a:r>
            <a:r>
              <a:rPr sz="2000" spc="-10" dirty="0">
                <a:latin typeface="Calibri"/>
                <a:cs typeface="Calibri"/>
              </a:rPr>
              <a:t>creating</a:t>
            </a:r>
            <a:r>
              <a:rPr sz="2000" spc="15" dirty="0">
                <a:latin typeface="Calibri"/>
                <a:cs typeface="Calibri"/>
              </a:rPr>
              <a:t> </a:t>
            </a:r>
            <a:r>
              <a:rPr sz="2000" spc="-5" dirty="0">
                <a:latin typeface="Calibri"/>
                <a:cs typeface="Calibri"/>
              </a:rPr>
              <a:t>object</a:t>
            </a:r>
            <a:r>
              <a:rPr sz="2000" dirty="0">
                <a:latin typeface="Calibri"/>
                <a:cs typeface="Calibri"/>
              </a:rPr>
              <a:t> </a:t>
            </a:r>
            <a:r>
              <a:rPr sz="2000" spc="-5" dirty="0">
                <a:latin typeface="Calibri"/>
                <a:cs typeface="Calibri"/>
              </a:rPr>
              <a:t>in</a:t>
            </a:r>
            <a:r>
              <a:rPr sz="2000" spc="10" dirty="0">
                <a:latin typeface="Calibri"/>
                <a:cs typeface="Calibri"/>
              </a:rPr>
              <a:t> </a:t>
            </a:r>
            <a:r>
              <a:rPr sz="2000" spc="-10" dirty="0">
                <a:latin typeface="Calibri"/>
                <a:cs typeface="Calibri"/>
              </a:rPr>
              <a:t>JavaScript.</a:t>
            </a:r>
            <a:endParaRPr sz="2000" dirty="0">
              <a:latin typeface="Calibri"/>
              <a:cs typeface="Calibri"/>
            </a:endParaRPr>
          </a:p>
          <a:p>
            <a:pPr marL="12700">
              <a:lnSpc>
                <a:spcPct val="100000"/>
              </a:lnSpc>
            </a:pPr>
            <a:r>
              <a:rPr sz="2000" b="1" spc="-5" dirty="0">
                <a:latin typeface="Calibri"/>
                <a:cs typeface="Calibri"/>
              </a:rPr>
              <a:t>&lt;script&gt;</a:t>
            </a:r>
            <a:endParaRPr sz="2000" dirty="0">
              <a:latin typeface="Calibri"/>
              <a:cs typeface="Calibri"/>
            </a:endParaRPr>
          </a:p>
          <a:p>
            <a:pPr marL="12700">
              <a:lnSpc>
                <a:spcPct val="100000"/>
              </a:lnSpc>
            </a:pPr>
            <a:r>
              <a:rPr sz="2000" spc="-5" dirty="0">
                <a:latin typeface="Calibri"/>
                <a:cs typeface="Calibri"/>
              </a:rPr>
              <a:t>Let</a:t>
            </a:r>
            <a:r>
              <a:rPr sz="2000" spc="-30" dirty="0">
                <a:latin typeface="Calibri"/>
                <a:cs typeface="Calibri"/>
              </a:rPr>
              <a:t> </a:t>
            </a:r>
            <a:r>
              <a:rPr sz="2000" dirty="0">
                <a:latin typeface="Calibri"/>
                <a:cs typeface="Calibri"/>
              </a:rPr>
              <a:t>emp={</a:t>
            </a:r>
          </a:p>
          <a:p>
            <a:pPr marL="640715">
              <a:lnSpc>
                <a:spcPct val="100000"/>
              </a:lnSpc>
            </a:pPr>
            <a:r>
              <a:rPr sz="2000" spc="-5" dirty="0">
                <a:latin typeface="Calibri"/>
                <a:cs typeface="Calibri"/>
              </a:rPr>
              <a:t>id:102,</a:t>
            </a:r>
            <a:endParaRPr sz="2000" dirty="0">
              <a:latin typeface="Calibri"/>
              <a:cs typeface="Calibri"/>
            </a:endParaRPr>
          </a:p>
          <a:p>
            <a:pPr marL="640715" marR="3792220">
              <a:lnSpc>
                <a:spcPct val="100000"/>
              </a:lnSpc>
              <a:spcBef>
                <a:spcPts val="5"/>
              </a:spcBef>
            </a:pPr>
            <a:r>
              <a:rPr sz="2000" spc="-5" dirty="0">
                <a:latin typeface="Calibri"/>
                <a:cs typeface="Calibri"/>
              </a:rPr>
              <a:t>na</a:t>
            </a:r>
            <a:r>
              <a:rPr sz="2000" dirty="0">
                <a:latin typeface="Calibri"/>
                <a:cs typeface="Calibri"/>
              </a:rPr>
              <a:t>m</a:t>
            </a:r>
            <a:r>
              <a:rPr sz="2000" spc="5" dirty="0">
                <a:latin typeface="Calibri"/>
                <a:cs typeface="Calibri"/>
              </a:rPr>
              <a:t>e</a:t>
            </a:r>
            <a:r>
              <a:rPr sz="2000" spc="-5" dirty="0">
                <a:latin typeface="Calibri"/>
                <a:cs typeface="Calibri"/>
              </a:rPr>
              <a:t>:</a:t>
            </a:r>
            <a:r>
              <a:rPr sz="2000" dirty="0">
                <a:latin typeface="Calibri"/>
                <a:cs typeface="Calibri"/>
              </a:rPr>
              <a:t>"</a:t>
            </a:r>
            <a:r>
              <a:rPr sz="2000" spc="-25" dirty="0">
                <a:latin typeface="Calibri"/>
                <a:cs typeface="Calibri"/>
              </a:rPr>
              <a:t>K</a:t>
            </a:r>
            <a:r>
              <a:rPr sz="2000" spc="-5" dirty="0">
                <a:latin typeface="Calibri"/>
                <a:cs typeface="Calibri"/>
              </a:rPr>
              <a:t>um</a:t>
            </a:r>
            <a:r>
              <a:rPr sz="2000" dirty="0">
                <a:latin typeface="Calibri"/>
                <a:cs typeface="Calibri"/>
              </a:rPr>
              <a:t>a</a:t>
            </a:r>
            <a:r>
              <a:rPr sz="2000" spc="-5" dirty="0">
                <a:latin typeface="Calibri"/>
                <a:cs typeface="Calibri"/>
              </a:rPr>
              <a:t>r",  salary:40000</a:t>
            </a:r>
            <a:endParaRPr sz="2000" dirty="0">
              <a:latin typeface="Calibri"/>
              <a:cs typeface="Calibri"/>
            </a:endParaRPr>
          </a:p>
          <a:p>
            <a:pPr marL="483870">
              <a:lnSpc>
                <a:spcPct val="100000"/>
              </a:lnSpc>
            </a:pPr>
            <a:r>
              <a:rPr sz="2000" dirty="0">
                <a:latin typeface="Calibri"/>
                <a:cs typeface="Calibri"/>
              </a:rPr>
              <a:t>}</a:t>
            </a:r>
          </a:p>
          <a:p>
            <a:pPr marL="12700">
              <a:lnSpc>
                <a:spcPct val="100000"/>
              </a:lnSpc>
            </a:pPr>
            <a:r>
              <a:rPr sz="2000" spc="-10" dirty="0">
                <a:latin typeface="Calibri"/>
                <a:cs typeface="Calibri"/>
              </a:rPr>
              <a:t>document.write(emp.id+"</a:t>
            </a:r>
            <a:r>
              <a:rPr sz="2000" spc="30" dirty="0">
                <a:latin typeface="Calibri"/>
                <a:cs typeface="Calibri"/>
              </a:rPr>
              <a:t> </a:t>
            </a:r>
            <a:r>
              <a:rPr sz="2000" dirty="0">
                <a:latin typeface="Calibri"/>
                <a:cs typeface="Calibri"/>
              </a:rPr>
              <a:t>"+emp.name+"</a:t>
            </a:r>
            <a:r>
              <a:rPr sz="2000" spc="-5" dirty="0">
                <a:latin typeface="Calibri"/>
                <a:cs typeface="Calibri"/>
              </a:rPr>
              <a:t> </a:t>
            </a:r>
            <a:r>
              <a:rPr sz="2000" dirty="0">
                <a:latin typeface="Calibri"/>
                <a:cs typeface="Calibri"/>
              </a:rPr>
              <a:t>"+emp.salary);</a:t>
            </a:r>
          </a:p>
          <a:p>
            <a:pPr marL="12700">
              <a:lnSpc>
                <a:spcPct val="100000"/>
              </a:lnSpc>
            </a:pPr>
            <a:r>
              <a:rPr sz="2000" b="1" spc="-10" dirty="0">
                <a:latin typeface="Calibri"/>
                <a:cs typeface="Calibri"/>
              </a:rPr>
              <a:t>&lt;/script&gt;</a:t>
            </a:r>
            <a:endParaRPr sz="2000" dirty="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8847" y="868807"/>
            <a:ext cx="9504812" cy="5245026"/>
          </a:xfrm>
          <a:prstGeom prst="rect">
            <a:avLst/>
          </a:prstGeom>
        </p:spPr>
        <p:txBody>
          <a:bodyPr vert="horz" wrap="square" lIns="0" tIns="12700" rIns="0" bIns="0" rtlCol="0">
            <a:spAutoFit/>
          </a:bodyPr>
          <a:lstStyle/>
          <a:p>
            <a:pPr marL="12700">
              <a:lnSpc>
                <a:spcPct val="100000"/>
              </a:lnSpc>
              <a:spcBef>
                <a:spcPts val="100"/>
              </a:spcBef>
            </a:pPr>
            <a:r>
              <a:rPr sz="2400" u="heavy" spc="-5" dirty="0">
                <a:uFill>
                  <a:solidFill>
                    <a:srgbClr val="600A38"/>
                  </a:solidFill>
                </a:uFill>
                <a:latin typeface="Calibri"/>
                <a:cs typeface="Calibri"/>
              </a:rPr>
              <a:t>2)</a:t>
            </a:r>
            <a:r>
              <a:rPr sz="2400" u="heavy" spc="-10" dirty="0">
                <a:uFill>
                  <a:solidFill>
                    <a:srgbClr val="600A38"/>
                  </a:solidFill>
                </a:uFill>
                <a:latin typeface="Calibri"/>
                <a:cs typeface="Calibri"/>
              </a:rPr>
              <a:t> </a:t>
            </a:r>
            <a:r>
              <a:rPr sz="2400" u="heavy" spc="-5" dirty="0">
                <a:uFill>
                  <a:solidFill>
                    <a:srgbClr val="600A38"/>
                  </a:solidFill>
                </a:uFill>
                <a:latin typeface="Calibri"/>
                <a:cs typeface="Calibri"/>
              </a:rPr>
              <a:t>By</a:t>
            </a:r>
            <a:r>
              <a:rPr sz="2400" u="heavy" spc="-20" dirty="0">
                <a:uFill>
                  <a:solidFill>
                    <a:srgbClr val="600A38"/>
                  </a:solidFill>
                </a:uFill>
                <a:latin typeface="Calibri"/>
                <a:cs typeface="Calibri"/>
              </a:rPr>
              <a:t> </a:t>
            </a:r>
            <a:r>
              <a:rPr sz="2400" u="heavy" spc="-10" dirty="0">
                <a:uFill>
                  <a:solidFill>
                    <a:srgbClr val="600A38"/>
                  </a:solidFill>
                </a:uFill>
                <a:latin typeface="Calibri"/>
                <a:cs typeface="Calibri"/>
              </a:rPr>
              <a:t>creating</a:t>
            </a:r>
            <a:r>
              <a:rPr sz="2400" u="heavy" spc="10" dirty="0">
                <a:uFill>
                  <a:solidFill>
                    <a:srgbClr val="600A38"/>
                  </a:solidFill>
                </a:uFill>
                <a:latin typeface="Calibri"/>
                <a:cs typeface="Calibri"/>
              </a:rPr>
              <a:t> </a:t>
            </a:r>
            <a:r>
              <a:rPr sz="2400" u="heavy" spc="-10" dirty="0">
                <a:uFill>
                  <a:solidFill>
                    <a:srgbClr val="600A38"/>
                  </a:solidFill>
                </a:uFill>
                <a:latin typeface="Calibri"/>
                <a:cs typeface="Calibri"/>
              </a:rPr>
              <a:t>instance</a:t>
            </a:r>
            <a:r>
              <a:rPr sz="2400" u="heavy" spc="5" dirty="0">
                <a:uFill>
                  <a:solidFill>
                    <a:srgbClr val="600A38"/>
                  </a:solidFill>
                </a:uFill>
                <a:latin typeface="Calibri"/>
                <a:cs typeface="Calibri"/>
              </a:rPr>
              <a:t> </a:t>
            </a:r>
            <a:r>
              <a:rPr sz="2400" u="heavy" dirty="0">
                <a:uFill>
                  <a:solidFill>
                    <a:srgbClr val="600A38"/>
                  </a:solidFill>
                </a:uFill>
                <a:latin typeface="Calibri"/>
                <a:cs typeface="Calibri"/>
              </a:rPr>
              <a:t>of</a:t>
            </a:r>
            <a:r>
              <a:rPr sz="2400" u="heavy" spc="5" dirty="0">
                <a:uFill>
                  <a:solidFill>
                    <a:srgbClr val="600A38"/>
                  </a:solidFill>
                </a:uFill>
                <a:latin typeface="Calibri"/>
                <a:cs typeface="Calibri"/>
              </a:rPr>
              <a:t> </a:t>
            </a:r>
            <a:r>
              <a:rPr sz="2400" u="heavy" spc="-5" dirty="0">
                <a:uFill>
                  <a:solidFill>
                    <a:srgbClr val="600A38"/>
                  </a:solidFill>
                </a:uFill>
                <a:latin typeface="Calibri"/>
                <a:cs typeface="Calibri"/>
              </a:rPr>
              <a:t>Object:</a:t>
            </a:r>
            <a:endParaRPr sz="2400" dirty="0">
              <a:latin typeface="Calibri"/>
              <a:cs typeface="Calibri"/>
            </a:endParaRPr>
          </a:p>
          <a:p>
            <a:pPr>
              <a:lnSpc>
                <a:spcPct val="100000"/>
              </a:lnSpc>
              <a:spcBef>
                <a:spcPts val="20"/>
              </a:spcBef>
            </a:pPr>
            <a:endParaRPr sz="2000" dirty="0">
              <a:latin typeface="Calibri"/>
              <a:cs typeface="Calibri"/>
            </a:endParaRPr>
          </a:p>
          <a:p>
            <a:pPr marL="12700">
              <a:lnSpc>
                <a:spcPct val="100000"/>
              </a:lnSpc>
            </a:pPr>
            <a:r>
              <a:rPr sz="2400" spc="-5" dirty="0">
                <a:latin typeface="Calibri"/>
                <a:cs typeface="Calibri"/>
              </a:rPr>
              <a:t>The </a:t>
            </a:r>
            <a:r>
              <a:rPr sz="2400" spc="-15" dirty="0">
                <a:latin typeface="Calibri"/>
                <a:cs typeface="Calibri"/>
              </a:rPr>
              <a:t>syntax </a:t>
            </a:r>
            <a:r>
              <a:rPr sz="2400" spc="-5" dirty="0">
                <a:latin typeface="Calibri"/>
                <a:cs typeface="Calibri"/>
              </a:rPr>
              <a:t>of</a:t>
            </a:r>
            <a:r>
              <a:rPr sz="2400" spc="15" dirty="0">
                <a:latin typeface="Calibri"/>
                <a:cs typeface="Calibri"/>
              </a:rPr>
              <a:t> </a:t>
            </a:r>
            <a:r>
              <a:rPr sz="2400" spc="-10" dirty="0">
                <a:latin typeface="Calibri"/>
                <a:cs typeface="Calibri"/>
              </a:rPr>
              <a:t>creating</a:t>
            </a:r>
            <a:r>
              <a:rPr sz="2400" spc="10" dirty="0">
                <a:latin typeface="Calibri"/>
                <a:cs typeface="Calibri"/>
              </a:rPr>
              <a:t> </a:t>
            </a:r>
            <a:r>
              <a:rPr sz="2400" spc="-5" dirty="0">
                <a:latin typeface="Calibri"/>
                <a:cs typeface="Calibri"/>
              </a:rPr>
              <a:t>object </a:t>
            </a:r>
            <a:r>
              <a:rPr sz="2400" spc="-10" dirty="0">
                <a:latin typeface="Calibri"/>
                <a:cs typeface="Calibri"/>
              </a:rPr>
              <a:t>directly</a:t>
            </a:r>
            <a:r>
              <a:rPr sz="2400" spc="25" dirty="0">
                <a:latin typeface="Calibri"/>
                <a:cs typeface="Calibri"/>
              </a:rPr>
              <a:t> </a:t>
            </a:r>
            <a:r>
              <a:rPr sz="2400" spc="-5" dirty="0">
                <a:latin typeface="Calibri"/>
                <a:cs typeface="Calibri"/>
              </a:rPr>
              <a:t>is</a:t>
            </a:r>
            <a:r>
              <a:rPr sz="2400" dirty="0">
                <a:latin typeface="Calibri"/>
                <a:cs typeface="Calibri"/>
              </a:rPr>
              <a:t> </a:t>
            </a:r>
            <a:r>
              <a:rPr sz="2400" spc="-5" dirty="0">
                <a:latin typeface="Calibri"/>
                <a:cs typeface="Calibri"/>
              </a:rPr>
              <a:t>given</a:t>
            </a:r>
            <a:r>
              <a:rPr sz="2400" dirty="0">
                <a:latin typeface="Calibri"/>
                <a:cs typeface="Calibri"/>
              </a:rPr>
              <a:t> </a:t>
            </a:r>
            <a:r>
              <a:rPr sz="2400" spc="-5" dirty="0">
                <a:latin typeface="Calibri"/>
                <a:cs typeface="Calibri"/>
              </a:rPr>
              <a:t>below:</a:t>
            </a:r>
            <a:endParaRPr sz="2400" dirty="0">
              <a:latin typeface="Calibri"/>
              <a:cs typeface="Calibri"/>
            </a:endParaRPr>
          </a:p>
          <a:p>
            <a:pPr>
              <a:lnSpc>
                <a:spcPct val="100000"/>
              </a:lnSpc>
              <a:spcBef>
                <a:spcPts val="25"/>
              </a:spcBef>
            </a:pPr>
            <a:endParaRPr sz="2000" dirty="0">
              <a:latin typeface="Calibri"/>
              <a:cs typeface="Calibri"/>
            </a:endParaRPr>
          </a:p>
          <a:p>
            <a:pPr marL="12700">
              <a:lnSpc>
                <a:spcPct val="100000"/>
              </a:lnSpc>
              <a:spcBef>
                <a:spcPts val="5"/>
              </a:spcBef>
            </a:pPr>
            <a:r>
              <a:rPr sz="2400" spc="-10" dirty="0">
                <a:latin typeface="Calibri"/>
                <a:cs typeface="Calibri"/>
              </a:rPr>
              <a:t>var</a:t>
            </a:r>
            <a:r>
              <a:rPr sz="2400" spc="-25" dirty="0">
                <a:latin typeface="Calibri"/>
                <a:cs typeface="Calibri"/>
              </a:rPr>
              <a:t> </a:t>
            </a:r>
            <a:r>
              <a:rPr sz="2400" spc="-5" dirty="0">
                <a:latin typeface="Calibri"/>
                <a:cs typeface="Calibri"/>
              </a:rPr>
              <a:t>objectname=new Object();</a:t>
            </a:r>
            <a:endParaRPr sz="2400" dirty="0">
              <a:latin typeface="Calibri"/>
              <a:cs typeface="Calibri"/>
            </a:endParaRPr>
          </a:p>
          <a:p>
            <a:pPr>
              <a:lnSpc>
                <a:spcPct val="100000"/>
              </a:lnSpc>
              <a:spcBef>
                <a:spcPts val="20"/>
              </a:spcBef>
            </a:pPr>
            <a:endParaRPr sz="2000" dirty="0">
              <a:latin typeface="Calibri"/>
              <a:cs typeface="Calibri"/>
            </a:endParaRPr>
          </a:p>
          <a:p>
            <a:pPr marL="12700">
              <a:lnSpc>
                <a:spcPct val="100000"/>
              </a:lnSpc>
            </a:pPr>
            <a:r>
              <a:rPr sz="2400" spc="-10" dirty="0">
                <a:latin typeface="Calibri"/>
                <a:cs typeface="Calibri"/>
              </a:rPr>
              <a:t>Here,</a:t>
            </a:r>
            <a:r>
              <a:rPr sz="2400" spc="15" dirty="0">
                <a:latin typeface="Calibri"/>
                <a:cs typeface="Calibri"/>
              </a:rPr>
              <a:t> </a:t>
            </a:r>
            <a:r>
              <a:rPr sz="2400" b="1" spc="-5" dirty="0">
                <a:latin typeface="Calibri"/>
                <a:cs typeface="Calibri"/>
              </a:rPr>
              <a:t>new</a:t>
            </a:r>
            <a:r>
              <a:rPr sz="2400" b="1" spc="-25" dirty="0">
                <a:latin typeface="Calibri"/>
                <a:cs typeface="Calibri"/>
              </a:rPr>
              <a:t> </a:t>
            </a:r>
            <a:r>
              <a:rPr sz="2400" b="1" spc="-15" dirty="0">
                <a:latin typeface="Calibri"/>
                <a:cs typeface="Calibri"/>
              </a:rPr>
              <a:t>keyword</a:t>
            </a:r>
            <a:r>
              <a:rPr sz="2400" b="1" spc="-40" dirty="0">
                <a:latin typeface="Calibri"/>
                <a:cs typeface="Calibri"/>
              </a:rPr>
              <a:t> </a:t>
            </a:r>
            <a:r>
              <a:rPr sz="2400" spc="-5" dirty="0">
                <a:latin typeface="Calibri"/>
                <a:cs typeface="Calibri"/>
              </a:rPr>
              <a:t>is</a:t>
            </a:r>
            <a:r>
              <a:rPr sz="2400" spc="10" dirty="0">
                <a:latin typeface="Calibri"/>
                <a:cs typeface="Calibri"/>
              </a:rPr>
              <a:t> </a:t>
            </a:r>
            <a:r>
              <a:rPr sz="2400" spc="-5" dirty="0">
                <a:latin typeface="Calibri"/>
                <a:cs typeface="Calibri"/>
              </a:rPr>
              <a:t>used</a:t>
            </a:r>
            <a:r>
              <a:rPr sz="2400" spc="10" dirty="0">
                <a:latin typeface="Calibri"/>
                <a:cs typeface="Calibri"/>
              </a:rPr>
              <a:t> </a:t>
            </a:r>
            <a:r>
              <a:rPr sz="2400" spc="-10" dirty="0">
                <a:latin typeface="Calibri"/>
                <a:cs typeface="Calibri"/>
              </a:rPr>
              <a:t>to </a:t>
            </a:r>
            <a:r>
              <a:rPr sz="2400" spc="-15" dirty="0">
                <a:latin typeface="Calibri"/>
                <a:cs typeface="Calibri"/>
              </a:rPr>
              <a:t>create</a:t>
            </a:r>
            <a:r>
              <a:rPr sz="2400" spc="10" dirty="0">
                <a:latin typeface="Calibri"/>
                <a:cs typeface="Calibri"/>
              </a:rPr>
              <a:t> </a:t>
            </a:r>
            <a:r>
              <a:rPr sz="2400" spc="-5" dirty="0">
                <a:latin typeface="Calibri"/>
                <a:cs typeface="Calibri"/>
              </a:rPr>
              <a:t>object.</a:t>
            </a:r>
            <a:endParaRPr sz="2400" dirty="0">
              <a:latin typeface="Calibri"/>
              <a:cs typeface="Calibri"/>
            </a:endParaRPr>
          </a:p>
          <a:p>
            <a:pPr>
              <a:lnSpc>
                <a:spcPct val="100000"/>
              </a:lnSpc>
              <a:spcBef>
                <a:spcPts val="25"/>
              </a:spcBef>
            </a:pPr>
            <a:endParaRPr sz="2000" dirty="0">
              <a:latin typeface="Calibri"/>
              <a:cs typeface="Calibri"/>
            </a:endParaRPr>
          </a:p>
          <a:p>
            <a:pPr marL="64135">
              <a:lnSpc>
                <a:spcPct val="100000"/>
              </a:lnSpc>
            </a:pPr>
            <a:r>
              <a:rPr sz="2400" spc="-10" dirty="0">
                <a:latin typeface="Calibri"/>
                <a:cs typeface="Calibri"/>
              </a:rPr>
              <a:t>Example</a:t>
            </a:r>
            <a:r>
              <a:rPr sz="2400" dirty="0">
                <a:latin typeface="Calibri"/>
                <a:cs typeface="Calibri"/>
              </a:rPr>
              <a:t> </a:t>
            </a:r>
            <a:r>
              <a:rPr sz="2400" spc="-5" dirty="0">
                <a:latin typeface="Calibri"/>
                <a:cs typeface="Calibri"/>
              </a:rPr>
              <a:t>of </a:t>
            </a:r>
            <a:r>
              <a:rPr sz="2400" spc="-10" dirty="0">
                <a:latin typeface="Calibri"/>
                <a:cs typeface="Calibri"/>
              </a:rPr>
              <a:t>creating</a:t>
            </a:r>
            <a:r>
              <a:rPr sz="2400" spc="10" dirty="0">
                <a:latin typeface="Calibri"/>
                <a:cs typeface="Calibri"/>
              </a:rPr>
              <a:t> </a:t>
            </a:r>
            <a:r>
              <a:rPr sz="2400" spc="-5" dirty="0">
                <a:latin typeface="Calibri"/>
                <a:cs typeface="Calibri"/>
              </a:rPr>
              <a:t>object</a:t>
            </a:r>
            <a:r>
              <a:rPr sz="2400" spc="5" dirty="0">
                <a:latin typeface="Calibri"/>
                <a:cs typeface="Calibri"/>
              </a:rPr>
              <a:t> </a:t>
            </a:r>
            <a:r>
              <a:rPr sz="2400" spc="-20" dirty="0">
                <a:latin typeface="Calibri"/>
                <a:cs typeface="Calibri"/>
              </a:rPr>
              <a:t>directly.</a:t>
            </a:r>
            <a:endParaRPr sz="2400" dirty="0">
              <a:latin typeface="Calibri"/>
              <a:cs typeface="Calibri"/>
            </a:endParaRPr>
          </a:p>
          <a:p>
            <a:pPr>
              <a:lnSpc>
                <a:spcPct val="100000"/>
              </a:lnSpc>
              <a:spcBef>
                <a:spcPts val="25"/>
              </a:spcBef>
            </a:pPr>
            <a:endParaRPr sz="2000" dirty="0">
              <a:latin typeface="Calibri"/>
              <a:cs typeface="Calibri"/>
            </a:endParaRPr>
          </a:p>
          <a:p>
            <a:pPr marL="12700">
              <a:lnSpc>
                <a:spcPct val="100000"/>
              </a:lnSpc>
            </a:pPr>
            <a:r>
              <a:rPr sz="2400" b="1" spc="-5" dirty="0">
                <a:latin typeface="Calibri"/>
                <a:cs typeface="Calibri"/>
              </a:rPr>
              <a:t>&lt;script&gt;</a:t>
            </a:r>
            <a:endParaRPr sz="2400" dirty="0">
              <a:latin typeface="Calibri"/>
              <a:cs typeface="Calibri"/>
            </a:endParaRPr>
          </a:p>
          <a:p>
            <a:pPr marL="12700" marR="3154045">
              <a:lnSpc>
                <a:spcPct val="100000"/>
              </a:lnSpc>
            </a:pPr>
            <a:r>
              <a:rPr sz="2400" spc="-10" dirty="0">
                <a:latin typeface="Calibri"/>
                <a:cs typeface="Calibri"/>
              </a:rPr>
              <a:t>var </a:t>
            </a:r>
            <a:r>
              <a:rPr sz="2400" spc="-5" dirty="0">
                <a:latin typeface="Calibri"/>
                <a:cs typeface="Calibri"/>
              </a:rPr>
              <a:t>emp=new </a:t>
            </a:r>
            <a:r>
              <a:rPr sz="2400" spc="-10" dirty="0">
                <a:latin typeface="Calibri"/>
                <a:cs typeface="Calibri"/>
              </a:rPr>
              <a:t>Object(); </a:t>
            </a:r>
            <a:r>
              <a:rPr sz="2400" spc="-395" dirty="0">
                <a:latin typeface="Calibri"/>
                <a:cs typeface="Calibri"/>
              </a:rPr>
              <a:t> </a:t>
            </a:r>
            <a:r>
              <a:rPr sz="2400" spc="-5" dirty="0">
                <a:latin typeface="Calibri"/>
                <a:cs typeface="Calibri"/>
              </a:rPr>
              <a:t>emp.id=101; </a:t>
            </a:r>
            <a:r>
              <a:rPr sz="2400" dirty="0">
                <a:latin typeface="Calibri"/>
                <a:cs typeface="Calibri"/>
              </a:rPr>
              <a:t> </a:t>
            </a:r>
            <a:r>
              <a:rPr sz="2400" spc="-5" dirty="0">
                <a:latin typeface="Calibri"/>
                <a:cs typeface="Calibri"/>
              </a:rPr>
              <a:t>emp.name="Ravi"; </a:t>
            </a:r>
            <a:r>
              <a:rPr sz="2400" dirty="0">
                <a:latin typeface="Calibri"/>
                <a:cs typeface="Calibri"/>
              </a:rPr>
              <a:t> </a:t>
            </a:r>
            <a:r>
              <a:rPr sz="2400" spc="-5" dirty="0">
                <a:latin typeface="Calibri"/>
                <a:cs typeface="Calibri"/>
              </a:rPr>
              <a:t>emp.salary=50000;</a:t>
            </a:r>
            <a:endParaRPr sz="2400" dirty="0">
              <a:latin typeface="Calibri"/>
              <a:cs typeface="Calibri"/>
            </a:endParaRPr>
          </a:p>
          <a:p>
            <a:pPr marL="12700">
              <a:lnSpc>
                <a:spcPct val="100000"/>
              </a:lnSpc>
              <a:spcBef>
                <a:spcPts val="5"/>
              </a:spcBef>
            </a:pPr>
            <a:r>
              <a:rPr sz="2400" spc="-10" dirty="0">
                <a:latin typeface="Calibri"/>
                <a:cs typeface="Calibri"/>
              </a:rPr>
              <a:t>document.write(emp.id+"</a:t>
            </a:r>
            <a:r>
              <a:rPr sz="2400" spc="30" dirty="0">
                <a:latin typeface="Calibri"/>
                <a:cs typeface="Calibri"/>
              </a:rPr>
              <a:t> </a:t>
            </a:r>
            <a:r>
              <a:rPr sz="2400" dirty="0">
                <a:latin typeface="Calibri"/>
                <a:cs typeface="Calibri"/>
              </a:rPr>
              <a:t>"+emp.name+"</a:t>
            </a:r>
            <a:r>
              <a:rPr sz="2400" spc="-5" dirty="0">
                <a:latin typeface="Calibri"/>
                <a:cs typeface="Calibri"/>
              </a:rPr>
              <a:t> </a:t>
            </a:r>
            <a:r>
              <a:rPr sz="2400" dirty="0">
                <a:latin typeface="Calibri"/>
                <a:cs typeface="Calibri"/>
              </a:rPr>
              <a:t>"+emp.salary);</a:t>
            </a:r>
          </a:p>
          <a:p>
            <a:pPr marL="12700">
              <a:lnSpc>
                <a:spcPct val="100000"/>
              </a:lnSpc>
            </a:pPr>
            <a:r>
              <a:rPr sz="2400" b="1" spc="-10" dirty="0">
                <a:latin typeface="Calibri"/>
                <a:cs typeface="Calibri"/>
              </a:rPr>
              <a:t>&lt;/script&gt;</a:t>
            </a:r>
            <a:endParaRPr sz="2400" dirty="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6484" y="805053"/>
            <a:ext cx="9963291" cy="320601"/>
          </a:xfrm>
          <a:prstGeom prst="rect">
            <a:avLst/>
          </a:prstGeom>
        </p:spPr>
        <p:txBody>
          <a:bodyPr vert="horz" wrap="square" lIns="0" tIns="12700" rIns="0" bIns="0" rtlCol="0">
            <a:spAutoFit/>
          </a:bodyPr>
          <a:lstStyle/>
          <a:p>
            <a:pPr marL="12700">
              <a:lnSpc>
                <a:spcPct val="100000"/>
              </a:lnSpc>
              <a:spcBef>
                <a:spcPts val="100"/>
              </a:spcBef>
            </a:pPr>
            <a:r>
              <a:rPr sz="2000" b="0" u="none" dirty="0">
                <a:solidFill>
                  <a:schemeClr val="tx1"/>
                </a:solidFill>
                <a:latin typeface="Calibri"/>
                <a:cs typeface="Calibri"/>
              </a:rPr>
              <a:t>In </a:t>
            </a:r>
            <a:r>
              <a:rPr sz="2000" b="0" u="none" spc="-10" dirty="0">
                <a:solidFill>
                  <a:schemeClr val="tx1"/>
                </a:solidFill>
                <a:latin typeface="Calibri"/>
                <a:cs typeface="Calibri"/>
              </a:rPr>
              <a:t>JavaScript,</a:t>
            </a:r>
            <a:r>
              <a:rPr sz="2000" b="0" u="none" spc="5" dirty="0">
                <a:solidFill>
                  <a:schemeClr val="tx1"/>
                </a:solidFill>
                <a:latin typeface="Calibri"/>
                <a:cs typeface="Calibri"/>
              </a:rPr>
              <a:t> </a:t>
            </a:r>
            <a:r>
              <a:rPr sz="2000" b="0" u="none" spc="-10" dirty="0" smtClean="0">
                <a:solidFill>
                  <a:schemeClr val="tx1"/>
                </a:solidFill>
                <a:latin typeface="Calibri"/>
                <a:cs typeface="Calibri"/>
              </a:rPr>
              <a:t>to</a:t>
            </a:r>
            <a:r>
              <a:rPr sz="2000" b="0" u="none" spc="-5" dirty="0" smtClean="0">
                <a:solidFill>
                  <a:schemeClr val="tx1"/>
                </a:solidFill>
                <a:latin typeface="Calibri"/>
                <a:cs typeface="Calibri"/>
              </a:rPr>
              <a:t> </a:t>
            </a:r>
            <a:r>
              <a:rPr sz="2000" b="0" u="none" spc="-5" dirty="0">
                <a:solidFill>
                  <a:schemeClr val="tx1"/>
                </a:solidFill>
                <a:latin typeface="Calibri"/>
                <a:cs typeface="Calibri"/>
              </a:rPr>
              <a:t>access</a:t>
            </a:r>
            <a:r>
              <a:rPr sz="2000" b="0" u="none" spc="5" dirty="0">
                <a:solidFill>
                  <a:schemeClr val="tx1"/>
                </a:solidFill>
                <a:latin typeface="Calibri"/>
                <a:cs typeface="Calibri"/>
              </a:rPr>
              <a:t> </a:t>
            </a:r>
            <a:r>
              <a:rPr sz="2000" b="0" u="none" dirty="0">
                <a:solidFill>
                  <a:schemeClr val="tx1"/>
                </a:solidFill>
                <a:latin typeface="Calibri"/>
                <a:cs typeface="Calibri"/>
              </a:rPr>
              <a:t>and</a:t>
            </a:r>
            <a:r>
              <a:rPr sz="2000" b="0" u="none" spc="10" dirty="0">
                <a:solidFill>
                  <a:schemeClr val="tx1"/>
                </a:solidFill>
                <a:latin typeface="Calibri"/>
                <a:cs typeface="Calibri"/>
              </a:rPr>
              <a:t> </a:t>
            </a:r>
            <a:r>
              <a:rPr sz="2000" b="0" u="none" spc="-10" dirty="0">
                <a:solidFill>
                  <a:schemeClr val="tx1"/>
                </a:solidFill>
                <a:latin typeface="Calibri"/>
                <a:cs typeface="Calibri"/>
              </a:rPr>
              <a:t>manipulate</a:t>
            </a:r>
            <a:r>
              <a:rPr sz="2000" b="0" u="none" spc="25" dirty="0">
                <a:solidFill>
                  <a:schemeClr val="tx1"/>
                </a:solidFill>
                <a:latin typeface="Calibri"/>
                <a:cs typeface="Calibri"/>
              </a:rPr>
              <a:t> </a:t>
            </a:r>
            <a:r>
              <a:rPr sz="2000" b="0" u="none" spc="-5" dirty="0">
                <a:solidFill>
                  <a:schemeClr val="tx1"/>
                </a:solidFill>
                <a:latin typeface="Calibri"/>
                <a:cs typeface="Calibri"/>
              </a:rPr>
              <a:t>object</a:t>
            </a:r>
            <a:r>
              <a:rPr sz="2000" b="0" u="none" spc="5" dirty="0">
                <a:solidFill>
                  <a:schemeClr val="tx1"/>
                </a:solidFill>
                <a:latin typeface="Calibri"/>
                <a:cs typeface="Calibri"/>
              </a:rPr>
              <a:t> </a:t>
            </a:r>
            <a:r>
              <a:rPr sz="2000" b="0" u="none" spc="-5" dirty="0">
                <a:solidFill>
                  <a:schemeClr val="tx1"/>
                </a:solidFill>
                <a:latin typeface="Calibri"/>
                <a:cs typeface="Calibri"/>
              </a:rPr>
              <a:t>properties:</a:t>
            </a:r>
            <a:r>
              <a:rPr sz="2000" b="0" u="none" spc="50" dirty="0">
                <a:solidFill>
                  <a:schemeClr val="tx1"/>
                </a:solidFill>
                <a:latin typeface="Calibri"/>
                <a:cs typeface="Calibri"/>
              </a:rPr>
              <a:t> </a:t>
            </a:r>
            <a:r>
              <a:rPr sz="2000" u="none" dirty="0" smtClean="0">
                <a:solidFill>
                  <a:schemeClr val="tx1"/>
                </a:solidFill>
                <a:latin typeface="Calibri"/>
                <a:cs typeface="Calibri"/>
              </a:rPr>
              <a:t>dot</a:t>
            </a:r>
            <a:r>
              <a:rPr lang="en-IN" sz="2000" dirty="0">
                <a:solidFill>
                  <a:schemeClr val="tx1"/>
                </a:solidFill>
                <a:latin typeface="Calibri"/>
                <a:cs typeface="Calibri"/>
              </a:rPr>
              <a:t> </a:t>
            </a:r>
            <a:r>
              <a:rPr sz="2000" u="none" spc="-5" dirty="0" smtClean="0">
                <a:solidFill>
                  <a:schemeClr val="tx1"/>
                </a:solidFill>
                <a:latin typeface="Calibri"/>
                <a:cs typeface="Calibri"/>
              </a:rPr>
              <a:t>notation</a:t>
            </a:r>
            <a:endParaRPr sz="2000" dirty="0">
              <a:solidFill>
                <a:schemeClr val="tx1"/>
              </a:solidFill>
              <a:latin typeface="Calibri"/>
              <a:cs typeface="Calibri"/>
            </a:endParaRPr>
          </a:p>
        </p:txBody>
      </p:sp>
      <p:sp>
        <p:nvSpPr>
          <p:cNvPr id="5" name="object 2"/>
          <p:cNvSpPr txBox="1">
            <a:spLocks/>
          </p:cNvSpPr>
          <p:nvPr/>
        </p:nvSpPr>
        <p:spPr>
          <a:xfrm>
            <a:off x="786483" y="1247421"/>
            <a:ext cx="9963291" cy="5419432"/>
          </a:xfrm>
          <a:prstGeom prst="rect">
            <a:avLst/>
          </a:prstGeom>
        </p:spPr>
        <p:txBody>
          <a:bodyPr vert="horz" wrap="square" lIns="0" tIns="12700" rIns="0" bIns="0" rtlCol="0" anchor="t">
            <a:sp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00000"/>
              </a:lnSpc>
              <a:spcBef>
                <a:spcPts val="810"/>
              </a:spcBef>
            </a:pPr>
            <a:r>
              <a:rPr lang="en-US" sz="1700" b="1" dirty="0" smtClean="0">
                <a:solidFill>
                  <a:schemeClr val="tx1"/>
                </a:solidFill>
                <a:latin typeface="Calibri"/>
                <a:cs typeface="Calibri"/>
              </a:rPr>
              <a:t>Dot</a:t>
            </a:r>
            <a:r>
              <a:rPr lang="en-US" sz="1700" b="1" spc="-35" dirty="0" smtClean="0">
                <a:solidFill>
                  <a:schemeClr val="tx1"/>
                </a:solidFill>
                <a:latin typeface="Calibri"/>
                <a:cs typeface="Calibri"/>
              </a:rPr>
              <a:t> </a:t>
            </a:r>
            <a:r>
              <a:rPr lang="en-US" sz="1700" b="1" spc="-5" dirty="0">
                <a:solidFill>
                  <a:schemeClr val="tx1"/>
                </a:solidFill>
                <a:latin typeface="Calibri"/>
                <a:cs typeface="Calibri"/>
              </a:rPr>
              <a:t>notation</a:t>
            </a:r>
            <a:endParaRPr lang="en-US" sz="1700" dirty="0">
              <a:solidFill>
                <a:schemeClr val="tx1"/>
              </a:solidFill>
              <a:latin typeface="Calibri"/>
              <a:cs typeface="Calibri"/>
            </a:endParaRPr>
          </a:p>
          <a:p>
            <a:pPr>
              <a:lnSpc>
                <a:spcPts val="1905"/>
              </a:lnSpc>
              <a:spcBef>
                <a:spcPts val="30"/>
              </a:spcBef>
            </a:pPr>
            <a:r>
              <a:rPr lang="en-US" sz="1700" spc="-10" dirty="0">
                <a:solidFill>
                  <a:schemeClr val="tx1"/>
                </a:solidFill>
                <a:latin typeface="Calibri"/>
                <a:cs typeface="Calibri"/>
              </a:rPr>
              <a:t>Dot</a:t>
            </a:r>
            <a:r>
              <a:rPr lang="en-US" sz="1700" spc="15" dirty="0">
                <a:solidFill>
                  <a:schemeClr val="tx1"/>
                </a:solidFill>
                <a:latin typeface="Calibri"/>
                <a:cs typeface="Calibri"/>
              </a:rPr>
              <a:t> </a:t>
            </a:r>
            <a:r>
              <a:rPr lang="en-US" sz="1700" spc="-10" dirty="0">
                <a:solidFill>
                  <a:schemeClr val="tx1"/>
                </a:solidFill>
                <a:latin typeface="Calibri"/>
                <a:cs typeface="Calibri"/>
              </a:rPr>
              <a:t>notation</a:t>
            </a:r>
            <a:r>
              <a:rPr lang="en-US" sz="1700" dirty="0">
                <a:solidFill>
                  <a:schemeClr val="tx1"/>
                </a:solidFill>
                <a:latin typeface="Calibri"/>
                <a:cs typeface="Calibri"/>
              </a:rPr>
              <a:t> </a:t>
            </a:r>
            <a:r>
              <a:rPr lang="en-US" sz="1700" spc="-5" dirty="0">
                <a:solidFill>
                  <a:schemeClr val="tx1"/>
                </a:solidFill>
                <a:latin typeface="Calibri"/>
                <a:cs typeface="Calibri"/>
              </a:rPr>
              <a:t>is</a:t>
            </a:r>
            <a:r>
              <a:rPr lang="en-US" sz="1700" dirty="0">
                <a:solidFill>
                  <a:schemeClr val="tx1"/>
                </a:solidFill>
                <a:latin typeface="Calibri"/>
                <a:cs typeface="Calibri"/>
              </a:rPr>
              <a:t> </a:t>
            </a:r>
            <a:r>
              <a:rPr lang="en-US" sz="1700" spc="-5" dirty="0">
                <a:solidFill>
                  <a:schemeClr val="tx1"/>
                </a:solidFill>
                <a:latin typeface="Calibri"/>
                <a:cs typeface="Calibri"/>
              </a:rPr>
              <a:t>the</a:t>
            </a:r>
            <a:r>
              <a:rPr lang="en-US" sz="1700" spc="5" dirty="0">
                <a:solidFill>
                  <a:schemeClr val="tx1"/>
                </a:solidFill>
                <a:latin typeface="Calibri"/>
                <a:cs typeface="Calibri"/>
              </a:rPr>
              <a:t> </a:t>
            </a:r>
            <a:r>
              <a:rPr lang="en-US" sz="1700" spc="-10" dirty="0">
                <a:solidFill>
                  <a:schemeClr val="tx1"/>
                </a:solidFill>
                <a:latin typeface="Calibri"/>
                <a:cs typeface="Calibri"/>
              </a:rPr>
              <a:t>most</a:t>
            </a:r>
            <a:r>
              <a:rPr lang="en-US" sz="1700" spc="15" dirty="0">
                <a:solidFill>
                  <a:schemeClr val="tx1"/>
                </a:solidFill>
                <a:latin typeface="Calibri"/>
                <a:cs typeface="Calibri"/>
              </a:rPr>
              <a:t> </a:t>
            </a:r>
            <a:r>
              <a:rPr lang="en-US" sz="1700" spc="-10" dirty="0">
                <a:solidFill>
                  <a:schemeClr val="tx1"/>
                </a:solidFill>
                <a:latin typeface="Calibri"/>
                <a:cs typeface="Calibri"/>
              </a:rPr>
              <a:t>common</a:t>
            </a:r>
            <a:r>
              <a:rPr lang="en-US" sz="1700" spc="30" dirty="0">
                <a:solidFill>
                  <a:schemeClr val="tx1"/>
                </a:solidFill>
                <a:latin typeface="Calibri"/>
                <a:cs typeface="Calibri"/>
              </a:rPr>
              <a:t> </a:t>
            </a:r>
            <a:r>
              <a:rPr lang="en-US" sz="1700" spc="-20" dirty="0">
                <a:solidFill>
                  <a:schemeClr val="tx1"/>
                </a:solidFill>
                <a:latin typeface="Calibri"/>
                <a:cs typeface="Calibri"/>
              </a:rPr>
              <a:t>way</a:t>
            </a:r>
            <a:r>
              <a:rPr lang="en-US" sz="1700" spc="5" dirty="0">
                <a:solidFill>
                  <a:schemeClr val="tx1"/>
                </a:solidFill>
                <a:latin typeface="Calibri"/>
                <a:cs typeface="Calibri"/>
              </a:rPr>
              <a:t> </a:t>
            </a:r>
            <a:r>
              <a:rPr lang="en-US" sz="1700" spc="-10" dirty="0">
                <a:solidFill>
                  <a:schemeClr val="tx1"/>
                </a:solidFill>
                <a:latin typeface="Calibri"/>
                <a:cs typeface="Calibri"/>
              </a:rPr>
              <a:t>to</a:t>
            </a:r>
            <a:r>
              <a:rPr lang="en-US" sz="1700" spc="10" dirty="0">
                <a:solidFill>
                  <a:schemeClr val="tx1"/>
                </a:solidFill>
                <a:latin typeface="Calibri"/>
                <a:cs typeface="Calibri"/>
              </a:rPr>
              <a:t> </a:t>
            </a:r>
            <a:r>
              <a:rPr lang="en-US" sz="1700" spc="-5" dirty="0">
                <a:solidFill>
                  <a:schemeClr val="tx1"/>
                </a:solidFill>
                <a:latin typeface="Calibri"/>
                <a:cs typeface="Calibri"/>
              </a:rPr>
              <a:t>access</a:t>
            </a:r>
            <a:r>
              <a:rPr lang="en-US" sz="1700" spc="10" dirty="0">
                <a:solidFill>
                  <a:schemeClr val="tx1"/>
                </a:solidFill>
                <a:latin typeface="Calibri"/>
                <a:cs typeface="Calibri"/>
              </a:rPr>
              <a:t> </a:t>
            </a:r>
            <a:r>
              <a:rPr lang="en-US" sz="1700" spc="-10" dirty="0">
                <a:solidFill>
                  <a:schemeClr val="tx1"/>
                </a:solidFill>
                <a:latin typeface="Calibri"/>
                <a:cs typeface="Calibri"/>
              </a:rPr>
              <a:t>object</a:t>
            </a:r>
            <a:r>
              <a:rPr lang="en-US" sz="1700" spc="20" dirty="0">
                <a:solidFill>
                  <a:schemeClr val="tx1"/>
                </a:solidFill>
                <a:latin typeface="Calibri"/>
                <a:cs typeface="Calibri"/>
              </a:rPr>
              <a:t> </a:t>
            </a:r>
            <a:r>
              <a:rPr lang="en-US" sz="1700" spc="-10" dirty="0">
                <a:solidFill>
                  <a:schemeClr val="tx1"/>
                </a:solidFill>
                <a:latin typeface="Calibri"/>
                <a:cs typeface="Calibri"/>
              </a:rPr>
              <a:t>properties.</a:t>
            </a:r>
            <a:r>
              <a:rPr lang="en-US" sz="1700" spc="25" dirty="0">
                <a:solidFill>
                  <a:schemeClr val="tx1"/>
                </a:solidFill>
                <a:latin typeface="Calibri"/>
                <a:cs typeface="Calibri"/>
              </a:rPr>
              <a:t> </a:t>
            </a:r>
            <a:r>
              <a:rPr lang="en-US" sz="1700" spc="-5" dirty="0">
                <a:solidFill>
                  <a:schemeClr val="tx1"/>
                </a:solidFill>
                <a:latin typeface="Calibri"/>
                <a:cs typeface="Calibri"/>
              </a:rPr>
              <a:t>It</a:t>
            </a:r>
            <a:r>
              <a:rPr lang="en-US" sz="1700" spc="5" dirty="0">
                <a:solidFill>
                  <a:schemeClr val="tx1"/>
                </a:solidFill>
                <a:latin typeface="Calibri"/>
                <a:cs typeface="Calibri"/>
              </a:rPr>
              <a:t> </a:t>
            </a:r>
            <a:r>
              <a:rPr lang="en-US" sz="1700" spc="-10" dirty="0">
                <a:solidFill>
                  <a:schemeClr val="tx1"/>
                </a:solidFill>
                <a:latin typeface="Calibri"/>
                <a:cs typeface="Calibri"/>
              </a:rPr>
              <a:t>uses</a:t>
            </a:r>
            <a:r>
              <a:rPr lang="en-US" sz="1700" spc="10" dirty="0">
                <a:solidFill>
                  <a:schemeClr val="tx1"/>
                </a:solidFill>
                <a:latin typeface="Calibri"/>
                <a:cs typeface="Calibri"/>
              </a:rPr>
              <a:t> </a:t>
            </a:r>
            <a:r>
              <a:rPr lang="en-US" sz="1700" spc="-5" dirty="0">
                <a:solidFill>
                  <a:schemeClr val="tx1"/>
                </a:solidFill>
                <a:latin typeface="Calibri"/>
                <a:cs typeface="Calibri"/>
              </a:rPr>
              <a:t>a</a:t>
            </a:r>
            <a:r>
              <a:rPr lang="en-US" sz="1700" spc="-10" dirty="0">
                <a:solidFill>
                  <a:schemeClr val="tx1"/>
                </a:solidFill>
                <a:latin typeface="Calibri"/>
                <a:cs typeface="Calibri"/>
              </a:rPr>
              <a:t> period</a:t>
            </a:r>
            <a:r>
              <a:rPr lang="en-US" sz="1700" spc="30" dirty="0">
                <a:solidFill>
                  <a:schemeClr val="tx1"/>
                </a:solidFill>
                <a:latin typeface="Calibri"/>
                <a:cs typeface="Calibri"/>
              </a:rPr>
              <a:t> </a:t>
            </a:r>
            <a:r>
              <a:rPr lang="en-US" sz="1700" spc="-5" dirty="0">
                <a:solidFill>
                  <a:schemeClr val="tx1"/>
                </a:solidFill>
                <a:latin typeface="Calibri"/>
                <a:cs typeface="Calibri"/>
              </a:rPr>
              <a:t>(.)</a:t>
            </a:r>
            <a:r>
              <a:rPr lang="en-US" sz="1700" spc="10" dirty="0">
                <a:solidFill>
                  <a:schemeClr val="tx1"/>
                </a:solidFill>
                <a:latin typeface="Calibri"/>
                <a:cs typeface="Calibri"/>
              </a:rPr>
              <a:t> </a:t>
            </a:r>
            <a:r>
              <a:rPr lang="en-US" sz="1700" spc="-10" dirty="0">
                <a:solidFill>
                  <a:schemeClr val="tx1"/>
                </a:solidFill>
                <a:latin typeface="Calibri"/>
                <a:cs typeface="Calibri"/>
              </a:rPr>
              <a:t>to</a:t>
            </a:r>
            <a:r>
              <a:rPr lang="en-US" sz="1700" dirty="0">
                <a:solidFill>
                  <a:schemeClr val="tx1"/>
                </a:solidFill>
                <a:latin typeface="Calibri"/>
                <a:cs typeface="Calibri"/>
              </a:rPr>
              <a:t> </a:t>
            </a:r>
            <a:r>
              <a:rPr lang="en-US" sz="1700" spc="-5" dirty="0">
                <a:solidFill>
                  <a:schemeClr val="tx1"/>
                </a:solidFill>
                <a:latin typeface="Calibri"/>
                <a:cs typeface="Calibri"/>
              </a:rPr>
              <a:t>access</a:t>
            </a:r>
            <a:r>
              <a:rPr lang="en-US" sz="1700" spc="10" dirty="0">
                <a:solidFill>
                  <a:schemeClr val="tx1"/>
                </a:solidFill>
                <a:latin typeface="Calibri"/>
                <a:cs typeface="Calibri"/>
              </a:rPr>
              <a:t> </a:t>
            </a:r>
            <a:r>
              <a:rPr lang="en-US" sz="1700" spc="-5" dirty="0">
                <a:solidFill>
                  <a:schemeClr val="tx1"/>
                </a:solidFill>
                <a:latin typeface="Calibri"/>
                <a:cs typeface="Calibri"/>
              </a:rPr>
              <a:t>the</a:t>
            </a:r>
            <a:r>
              <a:rPr lang="en-US" sz="1700" spc="10" dirty="0">
                <a:solidFill>
                  <a:schemeClr val="tx1"/>
                </a:solidFill>
                <a:latin typeface="Calibri"/>
                <a:cs typeface="Calibri"/>
              </a:rPr>
              <a:t> </a:t>
            </a:r>
            <a:r>
              <a:rPr lang="en-US" sz="1700" spc="-10" dirty="0">
                <a:solidFill>
                  <a:schemeClr val="tx1"/>
                </a:solidFill>
                <a:latin typeface="Calibri"/>
                <a:cs typeface="Calibri"/>
              </a:rPr>
              <a:t>value </a:t>
            </a:r>
            <a:r>
              <a:rPr lang="en-US" sz="1700" spc="-5" dirty="0">
                <a:solidFill>
                  <a:schemeClr val="tx1"/>
                </a:solidFill>
                <a:latin typeface="Calibri"/>
                <a:cs typeface="Calibri"/>
              </a:rPr>
              <a:t>of</a:t>
            </a:r>
            <a:r>
              <a:rPr lang="en-US" sz="1700" spc="20" dirty="0">
                <a:solidFill>
                  <a:schemeClr val="tx1"/>
                </a:solidFill>
                <a:latin typeface="Calibri"/>
                <a:cs typeface="Calibri"/>
              </a:rPr>
              <a:t> </a:t>
            </a:r>
            <a:r>
              <a:rPr lang="en-US" sz="1700" spc="-5" dirty="0">
                <a:solidFill>
                  <a:schemeClr val="tx1"/>
                </a:solidFill>
                <a:latin typeface="Calibri"/>
                <a:cs typeface="Calibri"/>
              </a:rPr>
              <a:t>a</a:t>
            </a:r>
            <a:r>
              <a:rPr lang="en-US" sz="1700" dirty="0">
                <a:solidFill>
                  <a:schemeClr val="tx1"/>
                </a:solidFill>
                <a:latin typeface="Calibri"/>
                <a:cs typeface="Calibri"/>
              </a:rPr>
              <a:t> </a:t>
            </a:r>
            <a:r>
              <a:rPr lang="en-US" sz="1700" spc="-10" dirty="0">
                <a:solidFill>
                  <a:schemeClr val="tx1"/>
                </a:solidFill>
                <a:latin typeface="Calibri"/>
                <a:cs typeface="Calibri"/>
              </a:rPr>
              <a:t>property</a:t>
            </a:r>
            <a:r>
              <a:rPr lang="en-US" sz="1700" spc="35" dirty="0">
                <a:solidFill>
                  <a:schemeClr val="tx1"/>
                </a:solidFill>
                <a:latin typeface="Calibri"/>
                <a:cs typeface="Calibri"/>
              </a:rPr>
              <a:t> </a:t>
            </a:r>
            <a:r>
              <a:rPr lang="en-US" sz="1700" spc="-10" dirty="0">
                <a:solidFill>
                  <a:schemeClr val="tx1"/>
                </a:solidFill>
                <a:latin typeface="Calibri"/>
                <a:cs typeface="Calibri"/>
              </a:rPr>
              <a:t>by</a:t>
            </a:r>
            <a:r>
              <a:rPr lang="en-US" sz="1700" spc="10" dirty="0">
                <a:solidFill>
                  <a:schemeClr val="tx1"/>
                </a:solidFill>
                <a:latin typeface="Calibri"/>
                <a:cs typeface="Calibri"/>
              </a:rPr>
              <a:t> </a:t>
            </a:r>
            <a:r>
              <a:rPr lang="en-US" sz="1700" spc="30" dirty="0">
                <a:solidFill>
                  <a:schemeClr val="tx1"/>
                </a:solidFill>
                <a:latin typeface="Calibri"/>
                <a:cs typeface="Calibri"/>
              </a:rPr>
              <a:t>its</a:t>
            </a:r>
            <a:r>
              <a:rPr lang="en-US" sz="1700" spc="-10" dirty="0">
                <a:solidFill>
                  <a:schemeClr val="tx1"/>
                </a:solidFill>
                <a:latin typeface="Calibri"/>
                <a:cs typeface="Calibri"/>
              </a:rPr>
              <a:t> </a:t>
            </a:r>
            <a:r>
              <a:rPr lang="en-US" sz="1700" spc="-50" dirty="0">
                <a:solidFill>
                  <a:schemeClr val="tx1"/>
                </a:solidFill>
                <a:latin typeface="Calibri"/>
                <a:cs typeface="Calibri"/>
              </a:rPr>
              <a:t>key</a:t>
            </a:r>
            <a:r>
              <a:rPr lang="en-US" sz="1700" spc="-50" dirty="0" smtClean="0">
                <a:solidFill>
                  <a:schemeClr val="tx1"/>
                </a:solidFill>
                <a:latin typeface="Calibri"/>
                <a:cs typeface="Calibri"/>
              </a:rPr>
              <a:t>.</a:t>
            </a:r>
          </a:p>
          <a:p>
            <a:pPr>
              <a:lnSpc>
                <a:spcPts val="1905"/>
              </a:lnSpc>
              <a:spcBef>
                <a:spcPts val="30"/>
              </a:spcBef>
            </a:pPr>
            <a:endParaRPr lang="en-US" sz="1700" dirty="0">
              <a:solidFill>
                <a:schemeClr val="tx1"/>
              </a:solidFill>
              <a:latin typeface="Calibri"/>
              <a:cs typeface="Calibri"/>
            </a:endParaRPr>
          </a:p>
          <a:p>
            <a:pPr>
              <a:lnSpc>
                <a:spcPts val="2145"/>
              </a:lnSpc>
            </a:pPr>
            <a:r>
              <a:rPr lang="en-US" sz="1700" b="1" spc="-20" dirty="0">
                <a:solidFill>
                  <a:schemeClr val="tx1"/>
                </a:solidFill>
                <a:latin typeface="Calibri"/>
                <a:cs typeface="Calibri"/>
              </a:rPr>
              <a:t>Here’s</a:t>
            </a:r>
            <a:r>
              <a:rPr lang="en-US" sz="1700" b="1" spc="-60" dirty="0">
                <a:solidFill>
                  <a:schemeClr val="tx1"/>
                </a:solidFill>
                <a:latin typeface="Calibri"/>
                <a:cs typeface="Calibri"/>
              </a:rPr>
              <a:t> </a:t>
            </a:r>
            <a:r>
              <a:rPr lang="en-US" sz="1700" b="1" dirty="0">
                <a:solidFill>
                  <a:schemeClr val="tx1"/>
                </a:solidFill>
                <a:latin typeface="Calibri"/>
                <a:cs typeface="Calibri"/>
              </a:rPr>
              <a:t>an</a:t>
            </a:r>
            <a:r>
              <a:rPr lang="en-US" sz="1700" b="1" spc="-25" dirty="0">
                <a:solidFill>
                  <a:schemeClr val="tx1"/>
                </a:solidFill>
                <a:latin typeface="Calibri"/>
                <a:cs typeface="Calibri"/>
              </a:rPr>
              <a:t> </a:t>
            </a:r>
            <a:r>
              <a:rPr lang="en-US" sz="1700" b="1" spc="-10" dirty="0">
                <a:solidFill>
                  <a:schemeClr val="tx1"/>
                </a:solidFill>
                <a:latin typeface="Calibri"/>
                <a:cs typeface="Calibri"/>
              </a:rPr>
              <a:t>example:</a:t>
            </a:r>
            <a:endParaRPr lang="en-US" sz="1700" dirty="0">
              <a:solidFill>
                <a:schemeClr val="tx1"/>
              </a:solidFill>
              <a:latin typeface="Calibri"/>
              <a:cs typeface="Calibri"/>
            </a:endParaRPr>
          </a:p>
          <a:p>
            <a:pPr marR="9310370">
              <a:lnSpc>
                <a:spcPct val="100000"/>
              </a:lnSpc>
              <a:spcBef>
                <a:spcPts val="20"/>
              </a:spcBef>
            </a:pPr>
            <a:r>
              <a:rPr lang="en-US" sz="1700" spc="-10" dirty="0">
                <a:solidFill>
                  <a:schemeClr val="tx1"/>
                </a:solidFill>
                <a:latin typeface="Calibri"/>
                <a:cs typeface="Calibri"/>
              </a:rPr>
              <a:t>c</a:t>
            </a:r>
            <a:r>
              <a:rPr lang="en-US" sz="1700" spc="-10" dirty="0" smtClean="0">
                <a:solidFill>
                  <a:schemeClr val="tx1"/>
                </a:solidFill>
                <a:latin typeface="Calibri"/>
                <a:cs typeface="Calibri"/>
              </a:rPr>
              <a:t>onst</a:t>
            </a:r>
          </a:p>
          <a:p>
            <a:pPr marR="9310370">
              <a:lnSpc>
                <a:spcPct val="100000"/>
              </a:lnSpc>
              <a:spcBef>
                <a:spcPts val="20"/>
              </a:spcBef>
            </a:pPr>
            <a:r>
              <a:rPr lang="en-US" sz="1700" spc="-15" dirty="0" smtClean="0">
                <a:solidFill>
                  <a:schemeClr val="tx1"/>
                </a:solidFill>
                <a:latin typeface="Calibri"/>
                <a:cs typeface="Calibri"/>
              </a:rPr>
              <a:t>person </a:t>
            </a:r>
            <a:r>
              <a:rPr lang="en-US" sz="1700" spc="-5" dirty="0">
                <a:solidFill>
                  <a:schemeClr val="tx1"/>
                </a:solidFill>
                <a:latin typeface="Calibri"/>
                <a:cs typeface="Calibri"/>
              </a:rPr>
              <a:t>= { </a:t>
            </a:r>
            <a:r>
              <a:rPr lang="en-US" sz="1700" spc="-350" dirty="0">
                <a:solidFill>
                  <a:schemeClr val="tx1"/>
                </a:solidFill>
                <a:latin typeface="Calibri"/>
                <a:cs typeface="Calibri"/>
              </a:rPr>
              <a:t> </a:t>
            </a:r>
            <a:r>
              <a:rPr lang="en-US" sz="1700" spc="-5" dirty="0">
                <a:solidFill>
                  <a:schemeClr val="tx1"/>
                </a:solidFill>
                <a:latin typeface="Calibri"/>
                <a:cs typeface="Calibri"/>
              </a:rPr>
              <a:t>name: </a:t>
            </a:r>
            <a:r>
              <a:rPr lang="en-US" sz="1700" spc="-10" dirty="0">
                <a:solidFill>
                  <a:schemeClr val="tx1"/>
                </a:solidFill>
                <a:latin typeface="Calibri"/>
                <a:cs typeface="Calibri"/>
              </a:rPr>
              <a:t>'John', </a:t>
            </a:r>
            <a:r>
              <a:rPr lang="en-US" sz="1700" spc="-5" dirty="0">
                <a:solidFill>
                  <a:schemeClr val="tx1"/>
                </a:solidFill>
                <a:latin typeface="Calibri"/>
                <a:cs typeface="Calibri"/>
              </a:rPr>
              <a:t> age: 30, </a:t>
            </a:r>
            <a:r>
              <a:rPr lang="en-US" sz="1700" dirty="0">
                <a:solidFill>
                  <a:schemeClr val="tx1"/>
                </a:solidFill>
                <a:latin typeface="Calibri"/>
                <a:cs typeface="Calibri"/>
              </a:rPr>
              <a:t> </a:t>
            </a:r>
            <a:r>
              <a:rPr lang="en-US" sz="1700" spc="-10" dirty="0">
                <a:solidFill>
                  <a:schemeClr val="tx1"/>
                </a:solidFill>
                <a:latin typeface="Calibri"/>
                <a:cs typeface="Calibri"/>
              </a:rPr>
              <a:t>address:</a:t>
            </a:r>
            <a:r>
              <a:rPr lang="en-US" sz="1700" dirty="0">
                <a:solidFill>
                  <a:schemeClr val="tx1"/>
                </a:solidFill>
                <a:latin typeface="Calibri"/>
                <a:cs typeface="Calibri"/>
              </a:rPr>
              <a:t> </a:t>
            </a:r>
            <a:r>
              <a:rPr lang="en-US" sz="1700" spc="-5" dirty="0">
                <a:solidFill>
                  <a:schemeClr val="tx1"/>
                </a:solidFill>
                <a:latin typeface="Calibri"/>
                <a:cs typeface="Calibri"/>
              </a:rPr>
              <a:t>{</a:t>
            </a:r>
            <a:endParaRPr lang="en-US" sz="1700" dirty="0">
              <a:solidFill>
                <a:schemeClr val="tx1"/>
              </a:solidFill>
              <a:latin typeface="Calibri"/>
              <a:cs typeface="Calibri"/>
            </a:endParaRPr>
          </a:p>
          <a:p>
            <a:pPr>
              <a:lnSpc>
                <a:spcPct val="100000"/>
              </a:lnSpc>
            </a:pPr>
            <a:r>
              <a:rPr lang="en-US" sz="1700" spc="-15" dirty="0">
                <a:solidFill>
                  <a:schemeClr val="tx1"/>
                </a:solidFill>
                <a:latin typeface="Calibri"/>
                <a:cs typeface="Calibri"/>
              </a:rPr>
              <a:t>street:</a:t>
            </a:r>
            <a:r>
              <a:rPr lang="en-US" sz="1700" spc="15" dirty="0">
                <a:solidFill>
                  <a:schemeClr val="tx1"/>
                </a:solidFill>
                <a:latin typeface="Calibri"/>
                <a:cs typeface="Calibri"/>
              </a:rPr>
              <a:t> </a:t>
            </a:r>
            <a:r>
              <a:rPr lang="en-US" sz="1700" spc="-10" dirty="0">
                <a:solidFill>
                  <a:schemeClr val="tx1"/>
                </a:solidFill>
                <a:latin typeface="Calibri"/>
                <a:cs typeface="Calibri"/>
              </a:rPr>
              <a:t>'123</a:t>
            </a:r>
            <a:r>
              <a:rPr lang="en-US" sz="1700" spc="10" dirty="0">
                <a:solidFill>
                  <a:schemeClr val="tx1"/>
                </a:solidFill>
                <a:latin typeface="Calibri"/>
                <a:cs typeface="Calibri"/>
              </a:rPr>
              <a:t> </a:t>
            </a:r>
            <a:r>
              <a:rPr lang="en-US" sz="1700" spc="-5" dirty="0">
                <a:solidFill>
                  <a:schemeClr val="tx1"/>
                </a:solidFill>
                <a:latin typeface="Calibri"/>
                <a:cs typeface="Calibri"/>
              </a:rPr>
              <a:t>Main</a:t>
            </a:r>
            <a:r>
              <a:rPr lang="en-US" sz="1700" spc="-30" dirty="0">
                <a:solidFill>
                  <a:schemeClr val="tx1"/>
                </a:solidFill>
                <a:latin typeface="Calibri"/>
                <a:cs typeface="Calibri"/>
              </a:rPr>
              <a:t> </a:t>
            </a:r>
            <a:r>
              <a:rPr lang="en-US" sz="1700" spc="-5" dirty="0">
                <a:solidFill>
                  <a:schemeClr val="tx1"/>
                </a:solidFill>
                <a:latin typeface="Calibri"/>
                <a:cs typeface="Calibri"/>
              </a:rPr>
              <a:t>St',</a:t>
            </a:r>
            <a:endParaRPr lang="en-US" sz="1700" dirty="0">
              <a:solidFill>
                <a:schemeClr val="tx1"/>
              </a:solidFill>
              <a:latin typeface="Calibri"/>
              <a:cs typeface="Calibri"/>
            </a:endParaRPr>
          </a:p>
          <a:p>
            <a:pPr>
              <a:lnSpc>
                <a:spcPct val="100000"/>
              </a:lnSpc>
            </a:pPr>
            <a:r>
              <a:rPr lang="en-US" sz="1700" spc="-5" dirty="0">
                <a:solidFill>
                  <a:schemeClr val="tx1"/>
                </a:solidFill>
                <a:latin typeface="Calibri"/>
                <a:cs typeface="Calibri"/>
              </a:rPr>
              <a:t>city:</a:t>
            </a:r>
            <a:r>
              <a:rPr lang="en-US" sz="1700" spc="-30" dirty="0">
                <a:solidFill>
                  <a:schemeClr val="tx1"/>
                </a:solidFill>
                <a:latin typeface="Calibri"/>
                <a:cs typeface="Calibri"/>
              </a:rPr>
              <a:t> </a:t>
            </a:r>
            <a:r>
              <a:rPr lang="en-US" sz="1700" spc="-10" dirty="0">
                <a:solidFill>
                  <a:schemeClr val="tx1"/>
                </a:solidFill>
                <a:latin typeface="Calibri"/>
                <a:cs typeface="Calibri"/>
              </a:rPr>
              <a:t>'New</a:t>
            </a:r>
            <a:r>
              <a:rPr lang="en-US" sz="1700" spc="10" dirty="0">
                <a:solidFill>
                  <a:schemeClr val="tx1"/>
                </a:solidFill>
                <a:latin typeface="Calibri"/>
                <a:cs typeface="Calibri"/>
              </a:rPr>
              <a:t> </a:t>
            </a:r>
            <a:r>
              <a:rPr lang="en-US" sz="1700" spc="-30" dirty="0">
                <a:solidFill>
                  <a:schemeClr val="tx1"/>
                </a:solidFill>
                <a:latin typeface="Calibri"/>
                <a:cs typeface="Calibri"/>
              </a:rPr>
              <a:t>York'</a:t>
            </a:r>
            <a:endParaRPr lang="en-US" sz="1700" dirty="0">
              <a:solidFill>
                <a:schemeClr val="tx1"/>
              </a:solidFill>
              <a:latin typeface="Calibri"/>
              <a:cs typeface="Calibri"/>
            </a:endParaRPr>
          </a:p>
          <a:p>
            <a:pPr>
              <a:lnSpc>
                <a:spcPct val="100000"/>
              </a:lnSpc>
              <a:spcBef>
                <a:spcPts val="5"/>
              </a:spcBef>
            </a:pPr>
            <a:r>
              <a:rPr lang="en-US" sz="1700" spc="-5" dirty="0">
                <a:solidFill>
                  <a:schemeClr val="tx1"/>
                </a:solidFill>
                <a:latin typeface="Calibri"/>
                <a:cs typeface="Calibri"/>
              </a:rPr>
              <a:t>}</a:t>
            </a:r>
            <a:endParaRPr lang="en-US" sz="1700" dirty="0">
              <a:solidFill>
                <a:schemeClr val="tx1"/>
              </a:solidFill>
              <a:latin typeface="Calibri"/>
              <a:cs typeface="Calibri"/>
            </a:endParaRPr>
          </a:p>
          <a:p>
            <a:pPr>
              <a:lnSpc>
                <a:spcPct val="100000"/>
              </a:lnSpc>
            </a:pPr>
            <a:r>
              <a:rPr lang="en-US" sz="1700" spc="-5" dirty="0">
                <a:solidFill>
                  <a:schemeClr val="tx1"/>
                </a:solidFill>
                <a:latin typeface="Calibri"/>
                <a:cs typeface="Calibri"/>
              </a:rPr>
              <a:t>};</a:t>
            </a:r>
            <a:endParaRPr lang="en-US" sz="1700" dirty="0">
              <a:solidFill>
                <a:schemeClr val="tx1"/>
              </a:solidFill>
              <a:latin typeface="Calibri"/>
              <a:cs typeface="Calibri"/>
            </a:endParaRPr>
          </a:p>
          <a:p>
            <a:pPr marR="6889115">
              <a:lnSpc>
                <a:spcPts val="1930"/>
              </a:lnSpc>
              <a:spcBef>
                <a:spcPts val="55"/>
              </a:spcBef>
            </a:pPr>
            <a:r>
              <a:rPr lang="en-US" sz="1700" spc="-10" dirty="0">
                <a:solidFill>
                  <a:schemeClr val="tx1"/>
                </a:solidFill>
                <a:latin typeface="Calibri"/>
                <a:cs typeface="Calibri"/>
              </a:rPr>
              <a:t>console.log(person.name);</a:t>
            </a:r>
            <a:r>
              <a:rPr lang="en-US" sz="1700" spc="25" dirty="0">
                <a:solidFill>
                  <a:schemeClr val="tx1"/>
                </a:solidFill>
                <a:latin typeface="Calibri"/>
                <a:cs typeface="Calibri"/>
              </a:rPr>
              <a:t> </a:t>
            </a:r>
            <a:r>
              <a:rPr lang="en-US" sz="1700" spc="-5" dirty="0">
                <a:solidFill>
                  <a:schemeClr val="tx1"/>
                </a:solidFill>
                <a:latin typeface="Calibri"/>
                <a:cs typeface="Calibri"/>
              </a:rPr>
              <a:t>//</a:t>
            </a:r>
            <a:r>
              <a:rPr lang="en-US" sz="1700" spc="-10" dirty="0">
                <a:solidFill>
                  <a:schemeClr val="tx1"/>
                </a:solidFill>
                <a:latin typeface="Calibri"/>
                <a:cs typeface="Calibri"/>
              </a:rPr>
              <a:t> John </a:t>
            </a:r>
            <a:r>
              <a:rPr lang="en-US" sz="1700" spc="-5" dirty="0">
                <a:solidFill>
                  <a:schemeClr val="tx1"/>
                </a:solidFill>
                <a:latin typeface="Calibri"/>
                <a:cs typeface="Calibri"/>
              </a:rPr>
              <a:t> </a:t>
            </a:r>
            <a:r>
              <a:rPr lang="en-US" sz="1700" spc="-10" dirty="0">
                <a:solidFill>
                  <a:schemeClr val="tx1"/>
                </a:solidFill>
                <a:latin typeface="Calibri"/>
                <a:cs typeface="Calibri"/>
              </a:rPr>
              <a:t>console.log(</a:t>
            </a:r>
            <a:r>
              <a:rPr lang="en-US" sz="1700" spc="-10" dirty="0" err="1">
                <a:solidFill>
                  <a:schemeClr val="tx1"/>
                </a:solidFill>
                <a:latin typeface="Calibri"/>
                <a:cs typeface="Calibri"/>
              </a:rPr>
              <a:t>person.address.city</a:t>
            </a:r>
            <a:r>
              <a:rPr lang="en-US" sz="1700" spc="-10" dirty="0">
                <a:solidFill>
                  <a:schemeClr val="tx1"/>
                </a:solidFill>
                <a:latin typeface="Calibri"/>
                <a:cs typeface="Calibri"/>
              </a:rPr>
              <a:t>);</a:t>
            </a:r>
            <a:r>
              <a:rPr lang="en-US" sz="1700" spc="40" dirty="0">
                <a:solidFill>
                  <a:schemeClr val="tx1"/>
                </a:solidFill>
                <a:latin typeface="Calibri"/>
                <a:cs typeface="Calibri"/>
              </a:rPr>
              <a:t> </a:t>
            </a:r>
            <a:r>
              <a:rPr lang="en-US" sz="1700" spc="-5" dirty="0">
                <a:solidFill>
                  <a:schemeClr val="tx1"/>
                </a:solidFill>
                <a:latin typeface="Calibri"/>
                <a:cs typeface="Calibri"/>
              </a:rPr>
              <a:t>//</a:t>
            </a:r>
            <a:r>
              <a:rPr lang="en-US" sz="1700" spc="20" dirty="0">
                <a:solidFill>
                  <a:schemeClr val="tx1"/>
                </a:solidFill>
                <a:latin typeface="Calibri"/>
                <a:cs typeface="Calibri"/>
              </a:rPr>
              <a:t> </a:t>
            </a:r>
            <a:r>
              <a:rPr lang="en-US" sz="1700" spc="-10" dirty="0">
                <a:solidFill>
                  <a:schemeClr val="tx1"/>
                </a:solidFill>
                <a:latin typeface="Calibri"/>
                <a:cs typeface="Calibri"/>
              </a:rPr>
              <a:t>New</a:t>
            </a:r>
            <a:r>
              <a:rPr lang="en-US" sz="1700" spc="40" dirty="0">
                <a:solidFill>
                  <a:schemeClr val="tx1"/>
                </a:solidFill>
                <a:latin typeface="Calibri"/>
                <a:cs typeface="Calibri"/>
              </a:rPr>
              <a:t> </a:t>
            </a:r>
            <a:r>
              <a:rPr lang="en-US" sz="1700" spc="-40" dirty="0">
                <a:solidFill>
                  <a:schemeClr val="tx1"/>
                </a:solidFill>
                <a:latin typeface="Calibri"/>
                <a:cs typeface="Calibri"/>
              </a:rPr>
              <a:t>York</a:t>
            </a:r>
            <a:endParaRPr lang="en-US" sz="1700" dirty="0">
              <a:solidFill>
                <a:schemeClr val="tx1"/>
              </a:solidFill>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4400" y="914400"/>
            <a:ext cx="12649200" cy="4137030"/>
          </a:xfrm>
          <a:prstGeom prst="rect">
            <a:avLst/>
          </a:prstGeom>
        </p:spPr>
        <p:txBody>
          <a:bodyPr vert="horz" wrap="square" lIns="0" tIns="144780" rIns="0" bIns="0" rtlCol="0">
            <a:spAutoFit/>
          </a:bodyPr>
          <a:lstStyle/>
          <a:p>
            <a:pPr marL="3469004">
              <a:lnSpc>
                <a:spcPct val="100000"/>
              </a:lnSpc>
              <a:spcBef>
                <a:spcPts val="1140"/>
              </a:spcBef>
            </a:pPr>
            <a:r>
              <a:rPr sz="1800" spc="-15" dirty="0">
                <a:latin typeface="Times New Roman"/>
                <a:cs typeface="Times New Roman"/>
              </a:rPr>
              <a:t>OBJECT</a:t>
            </a:r>
            <a:r>
              <a:rPr sz="1800" spc="-75" dirty="0">
                <a:latin typeface="Times New Roman"/>
                <a:cs typeface="Times New Roman"/>
              </a:rPr>
              <a:t> </a:t>
            </a:r>
            <a:r>
              <a:rPr sz="1800" spc="10" dirty="0">
                <a:latin typeface="Times New Roman"/>
                <a:cs typeface="Times New Roman"/>
              </a:rPr>
              <a:t>METHODS</a:t>
            </a:r>
            <a:endParaRPr sz="1800" dirty="0">
              <a:latin typeface="Times New Roman"/>
              <a:cs typeface="Times New Roman"/>
            </a:endParaRPr>
          </a:p>
          <a:p>
            <a:pPr marL="299085" indent="-287020">
              <a:lnSpc>
                <a:spcPct val="100000"/>
              </a:lnSpc>
              <a:spcBef>
                <a:spcPts val="1045"/>
              </a:spcBef>
              <a:buFont typeface="Arial MT"/>
              <a:buChar char="•"/>
              <a:tabLst>
                <a:tab pos="299085" algn="l"/>
                <a:tab pos="299720" algn="l"/>
              </a:tabLst>
            </a:pPr>
            <a:r>
              <a:rPr sz="1800" b="1" i="1" spc="-5" dirty="0">
                <a:latin typeface="Calibri"/>
                <a:cs typeface="Calibri"/>
              </a:rPr>
              <a:t>Objects can</a:t>
            </a:r>
            <a:r>
              <a:rPr sz="1800" b="1" i="1" spc="-10" dirty="0">
                <a:latin typeface="Calibri"/>
                <a:cs typeface="Calibri"/>
              </a:rPr>
              <a:t> </a:t>
            </a:r>
            <a:r>
              <a:rPr sz="1800" b="1" i="1" dirty="0">
                <a:latin typeface="Calibri"/>
                <a:cs typeface="Calibri"/>
              </a:rPr>
              <a:t>also</a:t>
            </a:r>
            <a:r>
              <a:rPr sz="1800" b="1" i="1" spc="-5" dirty="0">
                <a:latin typeface="Calibri"/>
                <a:cs typeface="Calibri"/>
              </a:rPr>
              <a:t> have</a:t>
            </a:r>
            <a:r>
              <a:rPr sz="1800" b="1" i="1" spc="10" dirty="0">
                <a:latin typeface="Calibri"/>
                <a:cs typeface="Calibri"/>
              </a:rPr>
              <a:t> </a:t>
            </a:r>
            <a:r>
              <a:rPr sz="1800" b="1" i="1" spc="-5" dirty="0">
                <a:latin typeface="Calibri"/>
                <a:cs typeface="Calibri"/>
              </a:rPr>
              <a:t>methods.</a:t>
            </a:r>
            <a:endParaRPr sz="1800" dirty="0">
              <a:latin typeface="Calibri"/>
              <a:cs typeface="Calibri"/>
            </a:endParaRPr>
          </a:p>
          <a:p>
            <a:pPr marL="299085" indent="-287020">
              <a:lnSpc>
                <a:spcPct val="100000"/>
              </a:lnSpc>
              <a:buFont typeface="Arial MT"/>
              <a:buChar char="•"/>
              <a:tabLst>
                <a:tab pos="299085" algn="l"/>
                <a:tab pos="299720" algn="l"/>
              </a:tabLst>
            </a:pPr>
            <a:r>
              <a:rPr sz="1800" b="1" i="1" spc="-5" dirty="0">
                <a:latin typeface="Calibri"/>
                <a:cs typeface="Calibri"/>
              </a:rPr>
              <a:t>Methods</a:t>
            </a:r>
            <a:r>
              <a:rPr sz="1800" b="1" i="1" dirty="0">
                <a:latin typeface="Calibri"/>
                <a:cs typeface="Calibri"/>
              </a:rPr>
              <a:t> are</a:t>
            </a:r>
            <a:r>
              <a:rPr sz="1800" b="1" i="1" spc="10" dirty="0">
                <a:latin typeface="Calibri"/>
                <a:cs typeface="Calibri"/>
              </a:rPr>
              <a:t> </a:t>
            </a:r>
            <a:r>
              <a:rPr sz="1800" b="1" i="1" dirty="0">
                <a:latin typeface="Calibri"/>
                <a:cs typeface="Calibri"/>
              </a:rPr>
              <a:t>actions</a:t>
            </a:r>
            <a:r>
              <a:rPr sz="1800" b="1" i="1" spc="-10" dirty="0">
                <a:latin typeface="Calibri"/>
                <a:cs typeface="Calibri"/>
              </a:rPr>
              <a:t> </a:t>
            </a:r>
            <a:r>
              <a:rPr sz="1800" b="1" i="1" dirty="0">
                <a:latin typeface="Calibri"/>
                <a:cs typeface="Calibri"/>
              </a:rPr>
              <a:t>that</a:t>
            </a:r>
            <a:r>
              <a:rPr sz="1800" b="1" i="1" spc="5" dirty="0">
                <a:latin typeface="Calibri"/>
                <a:cs typeface="Calibri"/>
              </a:rPr>
              <a:t> </a:t>
            </a:r>
            <a:r>
              <a:rPr sz="1800" b="1" i="1" spc="-5" dirty="0">
                <a:latin typeface="Calibri"/>
                <a:cs typeface="Calibri"/>
              </a:rPr>
              <a:t>can </a:t>
            </a:r>
            <a:r>
              <a:rPr sz="1800" b="1" i="1" dirty="0">
                <a:latin typeface="Calibri"/>
                <a:cs typeface="Calibri"/>
              </a:rPr>
              <a:t>be</a:t>
            </a:r>
            <a:r>
              <a:rPr sz="1800" b="1" i="1" spc="5" dirty="0">
                <a:latin typeface="Calibri"/>
                <a:cs typeface="Calibri"/>
              </a:rPr>
              <a:t> </a:t>
            </a:r>
            <a:r>
              <a:rPr sz="1800" b="1" i="1" spc="-5" dirty="0">
                <a:latin typeface="Calibri"/>
                <a:cs typeface="Calibri"/>
              </a:rPr>
              <a:t>performed</a:t>
            </a:r>
            <a:r>
              <a:rPr sz="1800" b="1" i="1" spc="10" dirty="0">
                <a:latin typeface="Calibri"/>
                <a:cs typeface="Calibri"/>
              </a:rPr>
              <a:t> </a:t>
            </a:r>
            <a:r>
              <a:rPr sz="1800" b="1" i="1" spc="-5" dirty="0">
                <a:latin typeface="Calibri"/>
                <a:cs typeface="Calibri"/>
              </a:rPr>
              <a:t>on</a:t>
            </a:r>
            <a:r>
              <a:rPr sz="1800" b="1" i="1" dirty="0">
                <a:latin typeface="Calibri"/>
                <a:cs typeface="Calibri"/>
              </a:rPr>
              <a:t> </a:t>
            </a:r>
            <a:r>
              <a:rPr sz="1800" b="1" i="1" spc="-5" dirty="0">
                <a:latin typeface="Calibri"/>
                <a:cs typeface="Calibri"/>
              </a:rPr>
              <a:t>objects.</a:t>
            </a:r>
            <a:endParaRPr sz="1800" dirty="0">
              <a:latin typeface="Calibri"/>
              <a:cs typeface="Calibri"/>
            </a:endParaRPr>
          </a:p>
          <a:p>
            <a:pPr>
              <a:lnSpc>
                <a:spcPct val="100000"/>
              </a:lnSpc>
              <a:spcBef>
                <a:spcPts val="25"/>
              </a:spcBef>
            </a:pPr>
            <a:endParaRPr sz="1750" dirty="0">
              <a:latin typeface="Calibri"/>
              <a:cs typeface="Calibri"/>
            </a:endParaRPr>
          </a:p>
          <a:p>
            <a:pPr marL="12700">
              <a:lnSpc>
                <a:spcPct val="100000"/>
              </a:lnSpc>
            </a:pPr>
            <a:r>
              <a:rPr sz="1800" b="1" i="1" u="heavy" spc="-10" dirty="0">
                <a:uFill>
                  <a:solidFill>
                    <a:srgbClr val="000000"/>
                  </a:solidFill>
                </a:uFill>
                <a:latin typeface="Calibri"/>
                <a:cs typeface="Calibri"/>
              </a:rPr>
              <a:t>OBJECT</a:t>
            </a:r>
            <a:r>
              <a:rPr sz="1800" b="1" i="1" u="heavy" spc="-20" dirty="0">
                <a:uFill>
                  <a:solidFill>
                    <a:srgbClr val="000000"/>
                  </a:solidFill>
                </a:uFill>
                <a:latin typeface="Calibri"/>
                <a:cs typeface="Calibri"/>
              </a:rPr>
              <a:t> </a:t>
            </a:r>
            <a:r>
              <a:rPr sz="1800" b="1" i="1" u="heavy" spc="-5" dirty="0">
                <a:uFill>
                  <a:solidFill>
                    <a:srgbClr val="000000"/>
                  </a:solidFill>
                </a:uFill>
                <a:latin typeface="Calibri"/>
                <a:cs typeface="Calibri"/>
              </a:rPr>
              <a:t>METHODS:</a:t>
            </a:r>
            <a:endParaRPr sz="1800" dirty="0">
              <a:latin typeface="Calibri"/>
              <a:cs typeface="Calibri"/>
            </a:endParaRPr>
          </a:p>
          <a:p>
            <a:pPr>
              <a:lnSpc>
                <a:spcPct val="100000"/>
              </a:lnSpc>
              <a:spcBef>
                <a:spcPts val="25"/>
              </a:spcBef>
            </a:pPr>
            <a:endParaRPr sz="1750" dirty="0">
              <a:latin typeface="Calibri"/>
              <a:cs typeface="Calibri"/>
            </a:endParaRPr>
          </a:p>
          <a:p>
            <a:pPr marL="12700" marR="4544060">
              <a:lnSpc>
                <a:spcPct val="100000"/>
              </a:lnSpc>
            </a:pPr>
            <a:r>
              <a:rPr sz="1800" b="1" i="1" spc="-10" dirty="0">
                <a:latin typeface="Calibri"/>
                <a:cs typeface="Calibri"/>
              </a:rPr>
              <a:t>1.keys </a:t>
            </a:r>
            <a:r>
              <a:rPr lang="en-US" sz="1800" b="1" i="1" spc="-10" dirty="0">
                <a:latin typeface="Calibri"/>
                <a:cs typeface="Calibri"/>
              </a:rPr>
              <a:t>: It</a:t>
            </a:r>
            <a:r>
              <a:rPr sz="1800" b="1" i="1" spc="-5" dirty="0">
                <a:latin typeface="Calibri"/>
                <a:cs typeface="Calibri"/>
              </a:rPr>
              <a:t> </a:t>
            </a:r>
            <a:r>
              <a:rPr lang="en-US" sz="1800" b="1" i="1" spc="-5" dirty="0">
                <a:latin typeface="Calibri"/>
                <a:cs typeface="Calibri"/>
              </a:rPr>
              <a:t>will return array of keys</a:t>
            </a:r>
          </a:p>
          <a:p>
            <a:pPr marL="12700" marR="4544060">
              <a:lnSpc>
                <a:spcPct val="100000"/>
              </a:lnSpc>
            </a:pPr>
            <a:r>
              <a:rPr sz="1800" b="1" i="1" spc="-25" dirty="0">
                <a:latin typeface="Calibri"/>
                <a:cs typeface="Calibri"/>
              </a:rPr>
              <a:t>2.Values </a:t>
            </a:r>
            <a:r>
              <a:rPr lang="en-US" b="1" i="1" spc="-20" dirty="0">
                <a:latin typeface="Calibri"/>
                <a:cs typeface="Calibri"/>
              </a:rPr>
              <a:t>: </a:t>
            </a:r>
            <a:r>
              <a:rPr lang="en-US" sz="1800" b="1" i="1" spc="-10" dirty="0">
                <a:latin typeface="Calibri"/>
                <a:cs typeface="Calibri"/>
              </a:rPr>
              <a:t>It</a:t>
            </a:r>
            <a:r>
              <a:rPr lang="en-US" sz="1800" b="1" i="1" spc="-5" dirty="0">
                <a:latin typeface="Calibri"/>
                <a:cs typeface="Calibri"/>
              </a:rPr>
              <a:t> will return array of values</a:t>
            </a:r>
            <a:endParaRPr lang="en-US" sz="1800" b="1" i="1" spc="-20" dirty="0">
              <a:latin typeface="Calibri"/>
              <a:cs typeface="Calibri"/>
            </a:endParaRPr>
          </a:p>
          <a:p>
            <a:pPr marL="12700" marR="4544060">
              <a:lnSpc>
                <a:spcPct val="100000"/>
              </a:lnSpc>
            </a:pPr>
            <a:r>
              <a:rPr sz="1800" b="1" i="1" spc="-5" dirty="0">
                <a:latin typeface="Calibri"/>
                <a:cs typeface="Calibri"/>
              </a:rPr>
              <a:t>3.Entries </a:t>
            </a:r>
            <a:r>
              <a:rPr lang="en-US" sz="1800" b="1" i="1" spc="-5" dirty="0">
                <a:latin typeface="Calibri"/>
                <a:cs typeface="Calibri"/>
              </a:rPr>
              <a:t>: </a:t>
            </a:r>
            <a:r>
              <a:rPr lang="en-US" sz="1800" b="1" i="1" spc="-10" dirty="0">
                <a:latin typeface="Calibri"/>
                <a:cs typeface="Calibri"/>
              </a:rPr>
              <a:t>It</a:t>
            </a:r>
            <a:r>
              <a:rPr lang="en-US" sz="1800" b="1" i="1" spc="-5" dirty="0">
                <a:latin typeface="Calibri"/>
                <a:cs typeface="Calibri"/>
              </a:rPr>
              <a:t> will return array of keys and values</a:t>
            </a:r>
            <a:endParaRPr lang="en-US" b="1" i="1" spc="-5" dirty="0">
              <a:latin typeface="Calibri"/>
              <a:cs typeface="Calibri"/>
            </a:endParaRPr>
          </a:p>
          <a:p>
            <a:pPr marL="12700" marR="4544060">
              <a:lnSpc>
                <a:spcPct val="100000"/>
              </a:lnSpc>
            </a:pPr>
            <a:r>
              <a:rPr sz="1800" b="1" i="1" dirty="0">
                <a:latin typeface="Calibri"/>
                <a:cs typeface="Calibri"/>
              </a:rPr>
              <a:t> 4.Assign </a:t>
            </a:r>
            <a:r>
              <a:rPr lang="en-US" sz="1800" b="1" i="1" dirty="0">
                <a:latin typeface="Calibri"/>
                <a:cs typeface="Calibri"/>
              </a:rPr>
              <a:t>: It is used to merge two objects</a:t>
            </a:r>
          </a:p>
          <a:p>
            <a:pPr marL="12700" marR="4544060">
              <a:lnSpc>
                <a:spcPct val="100000"/>
              </a:lnSpc>
            </a:pPr>
            <a:r>
              <a:rPr sz="1800" b="1" i="1" spc="5" dirty="0">
                <a:latin typeface="Calibri"/>
                <a:cs typeface="Calibri"/>
              </a:rPr>
              <a:t> </a:t>
            </a:r>
            <a:r>
              <a:rPr sz="1800" b="1" i="1" dirty="0">
                <a:latin typeface="Calibri"/>
                <a:cs typeface="Calibri"/>
              </a:rPr>
              <a:t>5.Seal </a:t>
            </a:r>
            <a:r>
              <a:rPr lang="en-US" sz="1800" b="1" i="1" dirty="0">
                <a:latin typeface="Calibri"/>
                <a:cs typeface="Calibri"/>
              </a:rPr>
              <a:t>: We can only update the properties </a:t>
            </a:r>
          </a:p>
          <a:p>
            <a:pPr marL="12700" marR="4544060">
              <a:lnSpc>
                <a:spcPct val="100000"/>
              </a:lnSpc>
            </a:pPr>
            <a:r>
              <a:rPr sz="1800" b="1" i="1" spc="5" dirty="0">
                <a:latin typeface="Calibri"/>
                <a:cs typeface="Calibri"/>
              </a:rPr>
              <a:t> </a:t>
            </a:r>
            <a:r>
              <a:rPr sz="1800" b="1" i="1" dirty="0">
                <a:latin typeface="Calibri"/>
                <a:cs typeface="Calibri"/>
              </a:rPr>
              <a:t>6.isSealed </a:t>
            </a:r>
            <a:r>
              <a:rPr lang="en-US" sz="1800" b="1" i="1" dirty="0">
                <a:latin typeface="Calibri"/>
                <a:cs typeface="Calibri"/>
              </a:rPr>
              <a:t>: It is used to check whether the particular object  is sealed or not</a:t>
            </a:r>
          </a:p>
          <a:p>
            <a:pPr marL="12700" marR="4544060">
              <a:lnSpc>
                <a:spcPct val="100000"/>
              </a:lnSpc>
            </a:pPr>
            <a:r>
              <a:rPr sz="1800" b="1" i="1" dirty="0">
                <a:latin typeface="Calibri"/>
                <a:cs typeface="Calibri"/>
              </a:rPr>
              <a:t> </a:t>
            </a:r>
            <a:r>
              <a:rPr sz="1800" b="1" i="1" spc="-10" dirty="0">
                <a:latin typeface="Calibri"/>
                <a:cs typeface="Calibri"/>
              </a:rPr>
              <a:t>7.Freeze </a:t>
            </a:r>
            <a:r>
              <a:rPr lang="en-US" b="1" i="1" spc="-5" dirty="0">
                <a:latin typeface="Calibri"/>
                <a:cs typeface="Calibri"/>
              </a:rPr>
              <a:t>: We cannot do any modifications in an object</a:t>
            </a:r>
            <a:endParaRPr lang="en-US" sz="1800" b="1" i="1" spc="-5" dirty="0">
              <a:latin typeface="Calibri"/>
              <a:cs typeface="Calibri"/>
            </a:endParaRPr>
          </a:p>
          <a:p>
            <a:pPr marL="12700" marR="4544060">
              <a:lnSpc>
                <a:spcPct val="100000"/>
              </a:lnSpc>
            </a:pPr>
            <a:r>
              <a:rPr sz="1800" b="1" i="1" spc="-10" dirty="0">
                <a:latin typeface="Calibri"/>
                <a:cs typeface="Calibri"/>
              </a:rPr>
              <a:t>8.Isfrozen</a:t>
            </a:r>
            <a:r>
              <a:rPr lang="en-US" sz="1800" b="1" i="1" spc="-10" dirty="0">
                <a:latin typeface="Calibri"/>
                <a:cs typeface="Calibri"/>
              </a:rPr>
              <a:t> : </a:t>
            </a:r>
            <a:r>
              <a:rPr lang="en-US" sz="1800" b="1" i="1" dirty="0">
                <a:latin typeface="Calibri"/>
                <a:cs typeface="Calibri"/>
              </a:rPr>
              <a:t>It is used to check whether the particular object is frozen or </a:t>
            </a:r>
            <a:r>
              <a:rPr lang="en-US" sz="1800" b="1" i="1" dirty="0" smtClean="0">
                <a:latin typeface="Calibri"/>
                <a:cs typeface="Calibri"/>
              </a:rPr>
              <a:t>not</a:t>
            </a:r>
            <a:endParaRPr sz="1800" dirty="0">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2335" y="719073"/>
            <a:ext cx="9928860" cy="5860579"/>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onsolas"/>
                <a:cs typeface="Consolas"/>
              </a:rPr>
              <a:t>let</a:t>
            </a:r>
            <a:r>
              <a:rPr sz="2000" spc="-95" dirty="0">
                <a:latin typeface="Consolas"/>
                <a:cs typeface="Consolas"/>
              </a:rPr>
              <a:t> </a:t>
            </a:r>
            <a:r>
              <a:rPr sz="2000" spc="-5" dirty="0">
                <a:latin typeface="Consolas"/>
                <a:cs typeface="Consolas"/>
              </a:rPr>
              <a:t>obj4={</a:t>
            </a:r>
            <a:endParaRPr sz="2000" dirty="0">
              <a:latin typeface="Consolas"/>
              <a:cs typeface="Consolas"/>
            </a:endParaRPr>
          </a:p>
          <a:p>
            <a:pPr marL="1015365">
              <a:lnSpc>
                <a:spcPct val="100000"/>
              </a:lnSpc>
            </a:pPr>
            <a:r>
              <a:rPr sz="2000" spc="-5" dirty="0">
                <a:latin typeface="Consolas"/>
                <a:cs typeface="Consolas"/>
              </a:rPr>
              <a:t>ename:"lavanya",</a:t>
            </a:r>
            <a:endParaRPr sz="2000" dirty="0">
              <a:latin typeface="Consolas"/>
              <a:cs typeface="Consolas"/>
            </a:endParaRPr>
          </a:p>
          <a:p>
            <a:pPr marL="1015365">
              <a:lnSpc>
                <a:spcPct val="100000"/>
              </a:lnSpc>
            </a:pPr>
            <a:r>
              <a:rPr sz="2000" spc="-10" dirty="0">
                <a:latin typeface="Consolas"/>
                <a:cs typeface="Consolas"/>
              </a:rPr>
              <a:t>id:123,</a:t>
            </a:r>
            <a:endParaRPr sz="2000" dirty="0">
              <a:latin typeface="Consolas"/>
              <a:cs typeface="Consolas"/>
            </a:endParaRPr>
          </a:p>
          <a:p>
            <a:pPr marL="1015365">
              <a:lnSpc>
                <a:spcPct val="100000"/>
              </a:lnSpc>
            </a:pPr>
            <a:r>
              <a:rPr sz="2000" spc="-10" dirty="0">
                <a:latin typeface="Consolas"/>
                <a:cs typeface="Consolas"/>
              </a:rPr>
              <a:t>sal:20000</a:t>
            </a:r>
            <a:endParaRPr sz="2000" dirty="0">
              <a:latin typeface="Consolas"/>
              <a:cs typeface="Consolas"/>
            </a:endParaRPr>
          </a:p>
          <a:p>
            <a:pPr marL="512445">
              <a:lnSpc>
                <a:spcPct val="100000"/>
              </a:lnSpc>
            </a:pPr>
            <a:r>
              <a:rPr sz="2000" spc="5" dirty="0">
                <a:latin typeface="Consolas"/>
                <a:cs typeface="Consolas"/>
              </a:rPr>
              <a:t>};</a:t>
            </a:r>
            <a:endParaRPr sz="2000" dirty="0">
              <a:latin typeface="Consolas"/>
              <a:cs typeface="Consolas"/>
            </a:endParaRPr>
          </a:p>
          <a:p>
            <a:pPr marL="512445">
              <a:lnSpc>
                <a:spcPct val="100000"/>
              </a:lnSpc>
            </a:pPr>
            <a:r>
              <a:rPr sz="2000" spc="-5" dirty="0">
                <a:latin typeface="Consolas"/>
                <a:cs typeface="Consolas"/>
              </a:rPr>
              <a:t>let</a:t>
            </a:r>
            <a:r>
              <a:rPr sz="2000" spc="-50" dirty="0">
                <a:latin typeface="Consolas"/>
                <a:cs typeface="Consolas"/>
              </a:rPr>
              <a:t> </a:t>
            </a:r>
            <a:r>
              <a:rPr sz="2000" spc="-10" dirty="0">
                <a:latin typeface="Consolas"/>
                <a:cs typeface="Consolas"/>
              </a:rPr>
              <a:t>obj5={</a:t>
            </a:r>
            <a:endParaRPr sz="2000" dirty="0">
              <a:latin typeface="Consolas"/>
              <a:cs typeface="Consolas"/>
            </a:endParaRPr>
          </a:p>
          <a:p>
            <a:pPr marL="1015365" marR="7025005">
              <a:lnSpc>
                <a:spcPct val="100000"/>
              </a:lnSpc>
            </a:pPr>
            <a:r>
              <a:rPr sz="2000" spc="-5" dirty="0">
                <a:latin typeface="Consolas"/>
                <a:cs typeface="Consolas"/>
              </a:rPr>
              <a:t>ena</a:t>
            </a:r>
            <a:r>
              <a:rPr sz="2000" dirty="0">
                <a:latin typeface="Consolas"/>
                <a:cs typeface="Consolas"/>
              </a:rPr>
              <a:t>m</a:t>
            </a:r>
            <a:r>
              <a:rPr sz="2000" spc="-5" dirty="0">
                <a:latin typeface="Consolas"/>
                <a:cs typeface="Consolas"/>
              </a:rPr>
              <a:t>e</a:t>
            </a:r>
            <a:r>
              <a:rPr sz="2000" spc="-10" dirty="0">
                <a:latin typeface="Consolas"/>
                <a:cs typeface="Consolas"/>
              </a:rPr>
              <a:t>1:</a:t>
            </a:r>
            <a:r>
              <a:rPr sz="2000" spc="-5" dirty="0">
                <a:latin typeface="Consolas"/>
                <a:cs typeface="Consolas"/>
              </a:rPr>
              <a:t>"</a:t>
            </a:r>
            <a:r>
              <a:rPr sz="2000" dirty="0">
                <a:latin typeface="Consolas"/>
                <a:cs typeface="Consolas"/>
              </a:rPr>
              <a:t>b</a:t>
            </a:r>
            <a:r>
              <a:rPr sz="2000" spc="-5" dirty="0">
                <a:latin typeface="Consolas"/>
                <a:cs typeface="Consolas"/>
              </a:rPr>
              <a:t>uj</a:t>
            </a:r>
            <a:r>
              <a:rPr sz="2000" dirty="0">
                <a:latin typeface="Consolas"/>
                <a:cs typeface="Consolas"/>
              </a:rPr>
              <a:t>j</a:t>
            </a:r>
            <a:r>
              <a:rPr sz="2000" spc="-5" dirty="0">
                <a:latin typeface="Consolas"/>
                <a:cs typeface="Consolas"/>
              </a:rPr>
              <a:t>i"</a:t>
            </a:r>
            <a:r>
              <a:rPr sz="2000" dirty="0">
                <a:latin typeface="Consolas"/>
                <a:cs typeface="Consolas"/>
              </a:rPr>
              <a:t>,  </a:t>
            </a:r>
            <a:r>
              <a:rPr sz="2000" spc="-10" dirty="0">
                <a:latin typeface="Consolas"/>
                <a:cs typeface="Consolas"/>
              </a:rPr>
              <a:t>id1:12, </a:t>
            </a:r>
            <a:r>
              <a:rPr sz="2000" spc="-5" dirty="0">
                <a:latin typeface="Consolas"/>
                <a:cs typeface="Consolas"/>
              </a:rPr>
              <a:t> sal1:40000</a:t>
            </a:r>
            <a:endParaRPr sz="2000" dirty="0">
              <a:latin typeface="Consolas"/>
              <a:cs typeface="Consolas"/>
            </a:endParaRPr>
          </a:p>
          <a:p>
            <a:pPr marL="512445">
              <a:lnSpc>
                <a:spcPct val="100000"/>
              </a:lnSpc>
              <a:spcBef>
                <a:spcPts val="5"/>
              </a:spcBef>
            </a:pPr>
            <a:r>
              <a:rPr sz="2000" spc="5" dirty="0">
                <a:latin typeface="Consolas"/>
                <a:cs typeface="Consolas"/>
              </a:rPr>
              <a:t>};</a:t>
            </a:r>
            <a:endParaRPr sz="2000" dirty="0">
              <a:latin typeface="Consolas"/>
              <a:cs typeface="Consolas"/>
            </a:endParaRPr>
          </a:p>
          <a:p>
            <a:pPr marL="512445" marR="5080">
              <a:lnSpc>
                <a:spcPct val="100000"/>
              </a:lnSpc>
            </a:pPr>
            <a:r>
              <a:rPr sz="2000" spc="-5" dirty="0">
                <a:latin typeface="Consolas"/>
                <a:cs typeface="Consolas"/>
              </a:rPr>
              <a:t>console.log(Object.keys(obj4));//array </a:t>
            </a:r>
            <a:r>
              <a:rPr sz="2000" dirty="0">
                <a:latin typeface="Consolas"/>
                <a:cs typeface="Consolas"/>
              </a:rPr>
              <a:t>of </a:t>
            </a:r>
            <a:r>
              <a:rPr sz="2000" spc="-5" dirty="0">
                <a:latin typeface="Consolas"/>
                <a:cs typeface="Consolas"/>
              </a:rPr>
              <a:t>keys </a:t>
            </a:r>
            <a:r>
              <a:rPr sz="2000" dirty="0">
                <a:latin typeface="Consolas"/>
                <a:cs typeface="Consolas"/>
              </a:rPr>
              <a:t> </a:t>
            </a:r>
            <a:r>
              <a:rPr sz="2000" spc="-5" dirty="0">
                <a:latin typeface="Consolas"/>
                <a:cs typeface="Consolas"/>
              </a:rPr>
              <a:t>console.log(Object.values(obj4))//array of values </a:t>
            </a:r>
            <a:r>
              <a:rPr sz="2000" dirty="0">
                <a:latin typeface="Consolas"/>
                <a:cs typeface="Consolas"/>
              </a:rPr>
              <a:t> </a:t>
            </a:r>
            <a:r>
              <a:rPr sz="2000" spc="-5" dirty="0">
                <a:latin typeface="Consolas"/>
                <a:cs typeface="Consolas"/>
              </a:rPr>
              <a:t>console.log(Object.entries(obj4))//array </a:t>
            </a:r>
            <a:r>
              <a:rPr sz="2000" spc="-10" dirty="0">
                <a:latin typeface="Consolas"/>
                <a:cs typeface="Consolas"/>
              </a:rPr>
              <a:t>of </a:t>
            </a:r>
            <a:r>
              <a:rPr sz="2000" spc="-5" dirty="0">
                <a:latin typeface="Consolas"/>
                <a:cs typeface="Consolas"/>
              </a:rPr>
              <a:t>keys and </a:t>
            </a:r>
            <a:r>
              <a:rPr sz="2000" spc="-10" dirty="0">
                <a:latin typeface="Consolas"/>
                <a:cs typeface="Consolas"/>
              </a:rPr>
              <a:t>values </a:t>
            </a:r>
            <a:r>
              <a:rPr sz="2000" spc="-5" dirty="0">
                <a:latin typeface="Consolas"/>
                <a:cs typeface="Consolas"/>
              </a:rPr>
              <a:t> console.log(Object.assign({},obj4,obj5))//merge multiple objects </a:t>
            </a:r>
            <a:r>
              <a:rPr sz="2000" dirty="0">
                <a:latin typeface="Consolas"/>
                <a:cs typeface="Consolas"/>
              </a:rPr>
              <a:t> </a:t>
            </a:r>
            <a:r>
              <a:rPr sz="2000" spc="-5" dirty="0">
                <a:latin typeface="Consolas"/>
                <a:cs typeface="Consolas"/>
              </a:rPr>
              <a:t>console.log(obj4)//stroring </a:t>
            </a:r>
            <a:r>
              <a:rPr sz="2000" spc="-10" dirty="0">
                <a:latin typeface="Consolas"/>
                <a:cs typeface="Consolas"/>
              </a:rPr>
              <a:t>all </a:t>
            </a:r>
            <a:r>
              <a:rPr sz="2000" spc="-5" dirty="0">
                <a:latin typeface="Consolas"/>
                <a:cs typeface="Consolas"/>
              </a:rPr>
              <a:t>properites </a:t>
            </a:r>
            <a:r>
              <a:rPr sz="2000" dirty="0">
                <a:latin typeface="Consolas"/>
                <a:cs typeface="Consolas"/>
              </a:rPr>
              <a:t>of </a:t>
            </a:r>
            <a:r>
              <a:rPr sz="2000" spc="-5" dirty="0">
                <a:latin typeface="Consolas"/>
                <a:cs typeface="Consolas"/>
              </a:rPr>
              <a:t>obj5 into obj4 </a:t>
            </a:r>
            <a:r>
              <a:rPr sz="2000" dirty="0">
                <a:latin typeface="Consolas"/>
                <a:cs typeface="Consolas"/>
              </a:rPr>
              <a:t> </a:t>
            </a:r>
            <a:r>
              <a:rPr sz="2000" spc="-5" dirty="0">
                <a:latin typeface="Consolas"/>
                <a:cs typeface="Consolas"/>
              </a:rPr>
              <a:t>Object.seal(obj4);//In </a:t>
            </a:r>
            <a:r>
              <a:rPr sz="2000" dirty="0">
                <a:latin typeface="Consolas"/>
                <a:cs typeface="Consolas"/>
              </a:rPr>
              <a:t>seal </a:t>
            </a:r>
            <a:r>
              <a:rPr sz="2000" spc="-5" dirty="0">
                <a:latin typeface="Consolas"/>
                <a:cs typeface="Consolas"/>
              </a:rPr>
              <a:t>method</a:t>
            </a:r>
            <a:r>
              <a:rPr sz="2000" spc="-50" dirty="0">
                <a:latin typeface="Consolas"/>
                <a:cs typeface="Consolas"/>
              </a:rPr>
              <a:t> </a:t>
            </a:r>
            <a:r>
              <a:rPr sz="2000" dirty="0">
                <a:latin typeface="Consolas"/>
                <a:cs typeface="Consolas"/>
              </a:rPr>
              <a:t>i </a:t>
            </a:r>
            <a:r>
              <a:rPr sz="2000" spc="-5" dirty="0">
                <a:latin typeface="Consolas"/>
                <a:cs typeface="Consolas"/>
              </a:rPr>
              <a:t>can</a:t>
            </a:r>
            <a:r>
              <a:rPr sz="2000" spc="10" dirty="0">
                <a:latin typeface="Consolas"/>
                <a:cs typeface="Consolas"/>
              </a:rPr>
              <a:t> </a:t>
            </a:r>
            <a:r>
              <a:rPr sz="2000" spc="-5" dirty="0">
                <a:latin typeface="Consolas"/>
                <a:cs typeface="Consolas"/>
              </a:rPr>
              <a:t>update </a:t>
            </a:r>
            <a:r>
              <a:rPr sz="2000" dirty="0">
                <a:latin typeface="Consolas"/>
                <a:cs typeface="Consolas"/>
              </a:rPr>
              <a:t>can’t</a:t>
            </a:r>
            <a:r>
              <a:rPr sz="2000" spc="-45" dirty="0">
                <a:latin typeface="Consolas"/>
                <a:cs typeface="Consolas"/>
              </a:rPr>
              <a:t> </a:t>
            </a:r>
            <a:r>
              <a:rPr sz="2000" spc="-5" dirty="0">
                <a:latin typeface="Consolas"/>
                <a:cs typeface="Consolas"/>
              </a:rPr>
              <a:t>add,i</a:t>
            </a:r>
            <a:r>
              <a:rPr sz="2000" spc="-10" dirty="0">
                <a:latin typeface="Consolas"/>
                <a:cs typeface="Consolas"/>
              </a:rPr>
              <a:t> </a:t>
            </a:r>
            <a:r>
              <a:rPr sz="2000" spc="-5" dirty="0">
                <a:latin typeface="Consolas"/>
                <a:cs typeface="Consolas"/>
              </a:rPr>
              <a:t>cant</a:t>
            </a:r>
            <a:r>
              <a:rPr sz="2000" dirty="0">
                <a:latin typeface="Consolas"/>
                <a:cs typeface="Consolas"/>
              </a:rPr>
              <a:t> </a:t>
            </a:r>
            <a:r>
              <a:rPr sz="2000" spc="-5" dirty="0">
                <a:latin typeface="Consolas"/>
                <a:cs typeface="Consolas"/>
              </a:rPr>
              <a:t>remove,can</a:t>
            </a:r>
            <a:endParaRPr sz="2000" dirty="0">
              <a:latin typeface="Consolas"/>
              <a:cs typeface="Consolas"/>
            </a:endParaRPr>
          </a:p>
          <a:p>
            <a:pPr marL="12700">
              <a:lnSpc>
                <a:spcPct val="100000"/>
              </a:lnSpc>
            </a:pPr>
            <a:r>
              <a:rPr sz="2000" spc="-10" dirty="0">
                <a:latin typeface="Consolas"/>
                <a:cs typeface="Consolas"/>
              </a:rPr>
              <a:t>fetch</a:t>
            </a:r>
            <a:endParaRPr sz="2000" dirty="0">
              <a:latin typeface="Consolas"/>
              <a:cs typeface="Consolas"/>
            </a:endParaRPr>
          </a:p>
          <a:p>
            <a:pPr marL="512445">
              <a:lnSpc>
                <a:spcPct val="100000"/>
              </a:lnSpc>
            </a:pPr>
            <a:r>
              <a:rPr sz="2000" spc="-5" dirty="0">
                <a:latin typeface="Consolas"/>
                <a:cs typeface="Consolas"/>
              </a:rPr>
              <a:t>console.log(Object.isSealed(obj4));//true</a:t>
            </a:r>
            <a:endParaRPr sz="2000" dirty="0">
              <a:latin typeface="Consolas"/>
              <a:cs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4339" y="695325"/>
            <a:ext cx="9301480" cy="4470455"/>
          </a:xfrm>
          <a:prstGeom prst="rect">
            <a:avLst/>
          </a:prstGeom>
        </p:spPr>
        <p:txBody>
          <a:bodyPr vert="horz" wrap="square" lIns="0" tIns="12700" rIns="0" bIns="0" rtlCol="0">
            <a:spAutoFit/>
          </a:bodyPr>
          <a:lstStyle/>
          <a:p>
            <a:pPr marL="512445" marR="6647815" indent="-500380">
              <a:lnSpc>
                <a:spcPct val="100000"/>
              </a:lnSpc>
              <a:spcBef>
                <a:spcPts val="100"/>
              </a:spcBef>
            </a:pPr>
            <a:r>
              <a:rPr sz="1800" spc="-5" dirty="0">
                <a:latin typeface="Consolas"/>
                <a:cs typeface="Consolas"/>
              </a:rPr>
              <a:t>delete obj4.ename; </a:t>
            </a:r>
            <a:r>
              <a:rPr sz="1800" dirty="0">
                <a:latin typeface="Consolas"/>
                <a:cs typeface="Consolas"/>
              </a:rPr>
              <a:t> c</a:t>
            </a:r>
            <a:r>
              <a:rPr sz="1800" spc="-5" dirty="0">
                <a:latin typeface="Consolas"/>
                <a:cs typeface="Consolas"/>
              </a:rPr>
              <a:t>on</a:t>
            </a:r>
            <a:r>
              <a:rPr sz="1800" dirty="0">
                <a:latin typeface="Consolas"/>
                <a:cs typeface="Consolas"/>
              </a:rPr>
              <a:t>s</a:t>
            </a:r>
            <a:r>
              <a:rPr sz="1800" spc="-5" dirty="0">
                <a:latin typeface="Consolas"/>
                <a:cs typeface="Consolas"/>
              </a:rPr>
              <a:t>ole</a:t>
            </a:r>
            <a:r>
              <a:rPr sz="1800" spc="5" dirty="0">
                <a:latin typeface="Consolas"/>
                <a:cs typeface="Consolas"/>
              </a:rPr>
              <a:t>.</a:t>
            </a:r>
            <a:r>
              <a:rPr sz="1800" spc="-10" dirty="0">
                <a:latin typeface="Consolas"/>
                <a:cs typeface="Consolas"/>
              </a:rPr>
              <a:t>log(</a:t>
            </a:r>
            <a:r>
              <a:rPr sz="1800" spc="5" dirty="0">
                <a:latin typeface="Consolas"/>
                <a:cs typeface="Consolas"/>
              </a:rPr>
              <a:t>o</a:t>
            </a:r>
            <a:r>
              <a:rPr sz="1800" dirty="0">
                <a:latin typeface="Consolas"/>
                <a:cs typeface="Consolas"/>
              </a:rPr>
              <a:t>b</a:t>
            </a:r>
            <a:r>
              <a:rPr sz="1800" spc="-10" dirty="0">
                <a:latin typeface="Consolas"/>
                <a:cs typeface="Consolas"/>
              </a:rPr>
              <a:t>j</a:t>
            </a:r>
            <a:r>
              <a:rPr sz="1800" dirty="0">
                <a:latin typeface="Consolas"/>
                <a:cs typeface="Consolas"/>
              </a:rPr>
              <a:t>4)</a:t>
            </a:r>
          </a:p>
          <a:p>
            <a:pPr>
              <a:lnSpc>
                <a:spcPct val="100000"/>
              </a:lnSpc>
              <a:spcBef>
                <a:spcPts val="55"/>
              </a:spcBef>
            </a:pPr>
            <a:endParaRPr sz="1800" dirty="0">
              <a:latin typeface="Consolas"/>
              <a:cs typeface="Consolas"/>
            </a:endParaRPr>
          </a:p>
          <a:p>
            <a:pPr marL="512445" marR="6021705">
              <a:lnSpc>
                <a:spcPct val="100000"/>
              </a:lnSpc>
            </a:pPr>
            <a:r>
              <a:rPr sz="1800" spc="-5" dirty="0">
                <a:latin typeface="Consolas"/>
                <a:cs typeface="Consolas"/>
              </a:rPr>
              <a:t>obj4.sal=12000; </a:t>
            </a:r>
            <a:r>
              <a:rPr sz="1800" dirty="0">
                <a:latin typeface="Consolas"/>
                <a:cs typeface="Consolas"/>
              </a:rPr>
              <a:t> </a:t>
            </a:r>
            <a:r>
              <a:rPr sz="1800" spc="-5" dirty="0">
                <a:latin typeface="Consolas"/>
                <a:cs typeface="Consolas"/>
              </a:rPr>
              <a:t>console.log(obj4); </a:t>
            </a:r>
            <a:r>
              <a:rPr sz="1800" dirty="0">
                <a:latin typeface="Consolas"/>
                <a:cs typeface="Consolas"/>
              </a:rPr>
              <a:t> c</a:t>
            </a:r>
            <a:r>
              <a:rPr sz="1800" spc="-5" dirty="0">
                <a:latin typeface="Consolas"/>
                <a:cs typeface="Consolas"/>
              </a:rPr>
              <a:t>on</a:t>
            </a:r>
            <a:r>
              <a:rPr sz="1800" dirty="0">
                <a:latin typeface="Consolas"/>
                <a:cs typeface="Consolas"/>
              </a:rPr>
              <a:t>s</a:t>
            </a:r>
            <a:r>
              <a:rPr sz="1800" spc="-5" dirty="0">
                <a:latin typeface="Consolas"/>
                <a:cs typeface="Consolas"/>
              </a:rPr>
              <a:t>ole</a:t>
            </a:r>
            <a:r>
              <a:rPr sz="1800" spc="5" dirty="0">
                <a:latin typeface="Consolas"/>
                <a:cs typeface="Consolas"/>
              </a:rPr>
              <a:t>.</a:t>
            </a:r>
            <a:r>
              <a:rPr sz="1800" spc="-10" dirty="0">
                <a:latin typeface="Consolas"/>
                <a:cs typeface="Consolas"/>
              </a:rPr>
              <a:t>log(</a:t>
            </a:r>
            <a:r>
              <a:rPr sz="1800" spc="5" dirty="0">
                <a:latin typeface="Consolas"/>
                <a:cs typeface="Consolas"/>
              </a:rPr>
              <a:t>o</a:t>
            </a:r>
            <a:r>
              <a:rPr sz="1800" dirty="0">
                <a:latin typeface="Consolas"/>
                <a:cs typeface="Consolas"/>
              </a:rPr>
              <a:t>b</a:t>
            </a:r>
            <a:r>
              <a:rPr sz="1800" spc="-10" dirty="0">
                <a:latin typeface="Consolas"/>
                <a:cs typeface="Consolas"/>
              </a:rPr>
              <a:t>j</a:t>
            </a:r>
            <a:r>
              <a:rPr sz="1800" dirty="0">
                <a:latin typeface="Consolas"/>
                <a:cs typeface="Consolas"/>
              </a:rPr>
              <a:t>4</a:t>
            </a:r>
            <a:r>
              <a:rPr sz="1800" spc="-10" dirty="0">
                <a:latin typeface="Consolas"/>
                <a:cs typeface="Consolas"/>
              </a:rPr>
              <a:t>.sa</a:t>
            </a:r>
            <a:r>
              <a:rPr sz="1800" spc="5" dirty="0">
                <a:latin typeface="Consolas"/>
                <a:cs typeface="Consolas"/>
              </a:rPr>
              <a:t>l</a:t>
            </a:r>
            <a:r>
              <a:rPr sz="1800" spc="-10" dirty="0">
                <a:latin typeface="Consolas"/>
                <a:cs typeface="Consolas"/>
              </a:rPr>
              <a:t>);</a:t>
            </a:r>
            <a:endParaRPr sz="1800" dirty="0">
              <a:latin typeface="Consolas"/>
              <a:cs typeface="Consolas"/>
            </a:endParaRPr>
          </a:p>
          <a:p>
            <a:pPr>
              <a:lnSpc>
                <a:spcPct val="100000"/>
              </a:lnSpc>
              <a:spcBef>
                <a:spcPts val="50"/>
              </a:spcBef>
            </a:pPr>
            <a:endParaRPr sz="1800" dirty="0">
              <a:latin typeface="Consolas"/>
              <a:cs typeface="Consolas"/>
            </a:endParaRPr>
          </a:p>
          <a:p>
            <a:pPr marL="512445" marR="3765550">
              <a:lnSpc>
                <a:spcPct val="100000"/>
              </a:lnSpc>
            </a:pPr>
            <a:r>
              <a:rPr sz="1800" spc="-5" dirty="0">
                <a:latin typeface="Consolas"/>
                <a:cs typeface="Consolas"/>
              </a:rPr>
              <a:t>Object.freeze(obj4); </a:t>
            </a:r>
            <a:r>
              <a:rPr sz="1800" dirty="0">
                <a:latin typeface="Consolas"/>
                <a:cs typeface="Consolas"/>
              </a:rPr>
              <a:t> co</a:t>
            </a:r>
            <a:r>
              <a:rPr sz="1800" spc="-15" dirty="0">
                <a:latin typeface="Consolas"/>
                <a:cs typeface="Consolas"/>
              </a:rPr>
              <a:t>n</a:t>
            </a:r>
            <a:r>
              <a:rPr sz="1800" dirty="0">
                <a:latin typeface="Consolas"/>
                <a:cs typeface="Consolas"/>
              </a:rPr>
              <a:t>so</a:t>
            </a:r>
            <a:r>
              <a:rPr sz="1800" spc="-15" dirty="0">
                <a:latin typeface="Consolas"/>
                <a:cs typeface="Consolas"/>
              </a:rPr>
              <a:t>l</a:t>
            </a:r>
            <a:r>
              <a:rPr sz="1800" spc="-10" dirty="0">
                <a:latin typeface="Consolas"/>
                <a:cs typeface="Consolas"/>
              </a:rPr>
              <a:t>e</a:t>
            </a:r>
            <a:r>
              <a:rPr sz="1800" spc="5" dirty="0">
                <a:latin typeface="Consolas"/>
                <a:cs typeface="Consolas"/>
              </a:rPr>
              <a:t>.</a:t>
            </a:r>
            <a:r>
              <a:rPr sz="1800" spc="-10" dirty="0">
                <a:latin typeface="Consolas"/>
                <a:cs typeface="Consolas"/>
              </a:rPr>
              <a:t>log(</a:t>
            </a:r>
            <a:r>
              <a:rPr sz="1800" spc="5" dirty="0">
                <a:latin typeface="Consolas"/>
                <a:cs typeface="Consolas"/>
              </a:rPr>
              <a:t>O</a:t>
            </a:r>
            <a:r>
              <a:rPr sz="1800" dirty="0">
                <a:latin typeface="Consolas"/>
                <a:cs typeface="Consolas"/>
              </a:rPr>
              <a:t>b</a:t>
            </a:r>
            <a:r>
              <a:rPr sz="1800" spc="-10" dirty="0">
                <a:latin typeface="Consolas"/>
                <a:cs typeface="Consolas"/>
              </a:rPr>
              <a:t>j</a:t>
            </a:r>
            <a:r>
              <a:rPr sz="1800" spc="5" dirty="0">
                <a:latin typeface="Consolas"/>
                <a:cs typeface="Consolas"/>
              </a:rPr>
              <a:t>e</a:t>
            </a:r>
            <a:r>
              <a:rPr sz="1800" dirty="0">
                <a:latin typeface="Consolas"/>
                <a:cs typeface="Consolas"/>
              </a:rPr>
              <a:t>c</a:t>
            </a:r>
            <a:r>
              <a:rPr sz="1800" spc="-20" dirty="0">
                <a:latin typeface="Consolas"/>
                <a:cs typeface="Consolas"/>
              </a:rPr>
              <a:t>t</a:t>
            </a:r>
            <a:r>
              <a:rPr sz="1800" spc="-10" dirty="0">
                <a:latin typeface="Consolas"/>
                <a:cs typeface="Consolas"/>
              </a:rPr>
              <a:t>.</a:t>
            </a:r>
            <a:r>
              <a:rPr sz="1800" dirty="0">
                <a:latin typeface="Consolas"/>
                <a:cs typeface="Consolas"/>
              </a:rPr>
              <a:t>is</a:t>
            </a:r>
            <a:r>
              <a:rPr sz="1800" spc="-15" dirty="0">
                <a:latin typeface="Consolas"/>
                <a:cs typeface="Consolas"/>
              </a:rPr>
              <a:t>F</a:t>
            </a:r>
            <a:r>
              <a:rPr sz="1800" spc="-10" dirty="0">
                <a:latin typeface="Consolas"/>
                <a:cs typeface="Consolas"/>
              </a:rPr>
              <a:t>ro</a:t>
            </a:r>
            <a:r>
              <a:rPr sz="1800" dirty="0">
                <a:latin typeface="Consolas"/>
                <a:cs typeface="Consolas"/>
              </a:rPr>
              <a:t>ze</a:t>
            </a:r>
            <a:r>
              <a:rPr sz="1800" spc="-10" dirty="0">
                <a:latin typeface="Consolas"/>
                <a:cs typeface="Consolas"/>
              </a:rPr>
              <a:t>n</a:t>
            </a:r>
            <a:r>
              <a:rPr sz="1800" spc="5" dirty="0">
                <a:latin typeface="Consolas"/>
                <a:cs typeface="Consolas"/>
              </a:rPr>
              <a:t>(</a:t>
            </a:r>
            <a:r>
              <a:rPr sz="1800" spc="-10" dirty="0">
                <a:latin typeface="Consolas"/>
                <a:cs typeface="Consolas"/>
              </a:rPr>
              <a:t>obj</a:t>
            </a:r>
            <a:r>
              <a:rPr sz="1800" spc="5" dirty="0">
                <a:latin typeface="Consolas"/>
                <a:cs typeface="Consolas"/>
              </a:rPr>
              <a:t>4</a:t>
            </a:r>
            <a:r>
              <a:rPr sz="1800" spc="-10" dirty="0">
                <a:latin typeface="Consolas"/>
                <a:cs typeface="Consolas"/>
              </a:rPr>
              <a:t>))//</a:t>
            </a:r>
            <a:r>
              <a:rPr sz="1800" dirty="0">
                <a:latin typeface="Consolas"/>
                <a:cs typeface="Consolas"/>
              </a:rPr>
              <a:t>tr</a:t>
            </a:r>
            <a:r>
              <a:rPr sz="1800" spc="-15" dirty="0">
                <a:latin typeface="Consolas"/>
                <a:cs typeface="Consolas"/>
              </a:rPr>
              <a:t>u</a:t>
            </a:r>
            <a:r>
              <a:rPr sz="1800" dirty="0">
                <a:latin typeface="Consolas"/>
                <a:cs typeface="Consolas"/>
              </a:rPr>
              <a:t>e  </a:t>
            </a:r>
            <a:r>
              <a:rPr sz="1800" spc="-5" dirty="0">
                <a:latin typeface="Consolas"/>
                <a:cs typeface="Consolas"/>
              </a:rPr>
              <a:t>obj4.skills="html";</a:t>
            </a:r>
            <a:endParaRPr sz="1800" dirty="0">
              <a:latin typeface="Consolas"/>
              <a:cs typeface="Consolas"/>
            </a:endParaRPr>
          </a:p>
          <a:p>
            <a:pPr marL="512445" marR="6647815">
              <a:lnSpc>
                <a:spcPct val="100000"/>
              </a:lnSpc>
              <a:spcBef>
                <a:spcPts val="5"/>
              </a:spcBef>
            </a:pPr>
            <a:r>
              <a:rPr sz="1800" spc="-10" dirty="0">
                <a:latin typeface="Consolas"/>
                <a:cs typeface="Consolas"/>
              </a:rPr>
              <a:t>obj4.sal=300; </a:t>
            </a:r>
            <a:r>
              <a:rPr sz="1800" spc="-5" dirty="0">
                <a:latin typeface="Consolas"/>
                <a:cs typeface="Consolas"/>
              </a:rPr>
              <a:t> </a:t>
            </a:r>
            <a:r>
              <a:rPr sz="1800" dirty="0">
                <a:latin typeface="Consolas"/>
                <a:cs typeface="Consolas"/>
              </a:rPr>
              <a:t>c</a:t>
            </a:r>
            <a:r>
              <a:rPr sz="1800" spc="-5" dirty="0">
                <a:latin typeface="Consolas"/>
                <a:cs typeface="Consolas"/>
              </a:rPr>
              <a:t>on</a:t>
            </a:r>
            <a:r>
              <a:rPr sz="1800" dirty="0">
                <a:latin typeface="Consolas"/>
                <a:cs typeface="Consolas"/>
              </a:rPr>
              <a:t>s</a:t>
            </a:r>
            <a:r>
              <a:rPr sz="1800" spc="-5" dirty="0">
                <a:latin typeface="Consolas"/>
                <a:cs typeface="Consolas"/>
              </a:rPr>
              <a:t>ole</a:t>
            </a:r>
            <a:r>
              <a:rPr sz="1800" spc="5" dirty="0">
                <a:latin typeface="Consolas"/>
                <a:cs typeface="Consolas"/>
              </a:rPr>
              <a:t>.</a:t>
            </a:r>
            <a:r>
              <a:rPr sz="1800" spc="-10" dirty="0">
                <a:latin typeface="Consolas"/>
                <a:cs typeface="Consolas"/>
              </a:rPr>
              <a:t>log(</a:t>
            </a:r>
            <a:r>
              <a:rPr sz="1800" spc="5" dirty="0">
                <a:latin typeface="Consolas"/>
                <a:cs typeface="Consolas"/>
              </a:rPr>
              <a:t>o</a:t>
            </a:r>
            <a:r>
              <a:rPr sz="1800" dirty="0">
                <a:latin typeface="Consolas"/>
                <a:cs typeface="Consolas"/>
              </a:rPr>
              <a:t>b</a:t>
            </a:r>
            <a:r>
              <a:rPr sz="1800" spc="-10" dirty="0">
                <a:latin typeface="Consolas"/>
                <a:cs typeface="Consolas"/>
              </a:rPr>
              <a:t>j</a:t>
            </a:r>
            <a:r>
              <a:rPr sz="1800" dirty="0">
                <a:latin typeface="Consolas"/>
                <a:cs typeface="Consolas"/>
              </a:rPr>
              <a:t>4)</a:t>
            </a:r>
          </a:p>
          <a:p>
            <a:pPr marL="12700" marR="380365" indent="499745">
              <a:lnSpc>
                <a:spcPct val="100000"/>
              </a:lnSpc>
            </a:pPr>
            <a:r>
              <a:rPr sz="1800" spc="-5" dirty="0">
                <a:latin typeface="Consolas"/>
                <a:cs typeface="Consolas"/>
              </a:rPr>
              <a:t>console.log(obj4)//freeze object we cant add,we cant update,we cant </a:t>
            </a:r>
            <a:r>
              <a:rPr sz="1800" spc="-975" dirty="0">
                <a:latin typeface="Consolas"/>
                <a:cs typeface="Consolas"/>
              </a:rPr>
              <a:t> </a:t>
            </a:r>
            <a:r>
              <a:rPr sz="1800" spc="-5" dirty="0">
                <a:latin typeface="Consolas"/>
                <a:cs typeface="Consolas"/>
              </a:rPr>
              <a:t>delete,we</a:t>
            </a:r>
            <a:r>
              <a:rPr sz="1800" spc="-15" dirty="0">
                <a:latin typeface="Consolas"/>
                <a:cs typeface="Consolas"/>
              </a:rPr>
              <a:t> </a:t>
            </a:r>
            <a:r>
              <a:rPr sz="1800" spc="-5" dirty="0">
                <a:latin typeface="Consolas"/>
                <a:cs typeface="Consolas"/>
              </a:rPr>
              <a:t>can</a:t>
            </a:r>
            <a:r>
              <a:rPr sz="1800" spc="-15" dirty="0">
                <a:latin typeface="Consolas"/>
                <a:cs typeface="Consolas"/>
              </a:rPr>
              <a:t> </a:t>
            </a:r>
            <a:r>
              <a:rPr sz="1800" spc="-5" dirty="0">
                <a:latin typeface="Consolas"/>
                <a:cs typeface="Consolas"/>
              </a:rPr>
              <a:t>fetch</a:t>
            </a:r>
            <a:endParaRPr sz="1800" dirty="0">
              <a:latin typeface="Consolas"/>
              <a:cs typeface="Consolas"/>
            </a:endParaRPr>
          </a:p>
          <a:p>
            <a:pPr marL="512445">
              <a:lnSpc>
                <a:spcPct val="100000"/>
              </a:lnSpc>
            </a:pPr>
            <a:r>
              <a:rPr sz="1800" spc="-5" dirty="0">
                <a:latin typeface="Consolas"/>
                <a:cs typeface="Consolas"/>
              </a:rPr>
              <a:t>delete</a:t>
            </a:r>
            <a:r>
              <a:rPr sz="1800" spc="-55" dirty="0">
                <a:latin typeface="Consolas"/>
                <a:cs typeface="Consolas"/>
              </a:rPr>
              <a:t> </a:t>
            </a:r>
            <a:r>
              <a:rPr sz="1800" spc="-5" dirty="0">
                <a:latin typeface="Consolas"/>
                <a:cs typeface="Consolas"/>
              </a:rPr>
              <a:t>obj4.id</a:t>
            </a:r>
            <a:endParaRPr sz="1800" dirty="0">
              <a:latin typeface="Consolas"/>
              <a:cs typeface="Consolas"/>
            </a:endParaRPr>
          </a:p>
          <a:p>
            <a:pPr marL="512445">
              <a:lnSpc>
                <a:spcPct val="100000"/>
              </a:lnSpc>
            </a:pPr>
            <a:r>
              <a:rPr sz="1800" spc="-5" dirty="0">
                <a:latin typeface="Consolas"/>
                <a:cs typeface="Consolas"/>
              </a:rPr>
              <a:t>console.log(obj4</a:t>
            </a:r>
            <a:r>
              <a:rPr sz="1800" spc="-5" dirty="0" smtClean="0">
                <a:latin typeface="Consolas"/>
                <a:cs typeface="Consolas"/>
              </a:rPr>
              <a:t>);</a:t>
            </a:r>
            <a:endParaRPr sz="1800" dirty="0">
              <a:latin typeface="Consolas"/>
              <a:cs typeface="Consola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4363" y="1032764"/>
            <a:ext cx="2516505" cy="299720"/>
          </a:xfrm>
          <a:prstGeom prst="rect">
            <a:avLst/>
          </a:prstGeom>
        </p:spPr>
        <p:txBody>
          <a:bodyPr vert="horz" wrap="square" lIns="0" tIns="12700" rIns="0" bIns="0" rtlCol="0">
            <a:spAutoFit/>
          </a:bodyPr>
          <a:lstStyle/>
          <a:p>
            <a:pPr marL="12700">
              <a:lnSpc>
                <a:spcPct val="100000"/>
              </a:lnSpc>
              <a:spcBef>
                <a:spcPts val="100"/>
              </a:spcBef>
            </a:pPr>
            <a:r>
              <a:rPr sz="1800" u="sng" spc="-25" dirty="0">
                <a:uFill>
                  <a:solidFill>
                    <a:srgbClr val="000000"/>
                  </a:solidFill>
                </a:uFill>
              </a:rPr>
              <a:t>LOOPS</a:t>
            </a:r>
            <a:r>
              <a:rPr sz="1800" u="sng" spc="-15" dirty="0">
                <a:uFill>
                  <a:solidFill>
                    <a:srgbClr val="000000"/>
                  </a:solidFill>
                </a:uFill>
              </a:rPr>
              <a:t> </a:t>
            </a:r>
            <a:r>
              <a:rPr sz="1800" u="sng" spc="110" dirty="0">
                <a:uFill>
                  <a:solidFill>
                    <a:srgbClr val="000000"/>
                  </a:solidFill>
                </a:uFill>
              </a:rPr>
              <a:t>IN</a:t>
            </a:r>
            <a:r>
              <a:rPr sz="1800" u="sng" spc="-20" dirty="0">
                <a:uFill>
                  <a:solidFill>
                    <a:srgbClr val="000000"/>
                  </a:solidFill>
                </a:uFill>
              </a:rPr>
              <a:t> </a:t>
            </a:r>
            <a:r>
              <a:rPr sz="1800" u="sng" spc="-100" dirty="0">
                <a:uFill>
                  <a:solidFill>
                    <a:srgbClr val="000000"/>
                  </a:solidFill>
                </a:uFill>
              </a:rPr>
              <a:t>JAVASCRIPT</a:t>
            </a:r>
            <a:endParaRPr sz="1800" dirty="0"/>
          </a:p>
        </p:txBody>
      </p:sp>
      <p:sp>
        <p:nvSpPr>
          <p:cNvPr id="3" name="object 3"/>
          <p:cNvSpPr/>
          <p:nvPr/>
        </p:nvSpPr>
        <p:spPr>
          <a:xfrm>
            <a:off x="904875" y="2057719"/>
            <a:ext cx="7548042" cy="1845945"/>
          </a:xfrm>
          <a:custGeom>
            <a:avLst/>
            <a:gdLst/>
            <a:ahLst/>
            <a:cxnLst/>
            <a:rect l="l" t="t" r="r" b="b"/>
            <a:pathLst>
              <a:path w="9084945" h="1845945">
                <a:moveTo>
                  <a:pt x="9084564" y="0"/>
                </a:moveTo>
                <a:lnTo>
                  <a:pt x="0" y="0"/>
                </a:lnTo>
                <a:lnTo>
                  <a:pt x="0" y="1845564"/>
                </a:lnTo>
                <a:lnTo>
                  <a:pt x="9084564" y="1845564"/>
                </a:lnTo>
                <a:lnTo>
                  <a:pt x="9084564" y="0"/>
                </a:lnTo>
                <a:close/>
              </a:path>
            </a:pathLst>
          </a:custGeom>
          <a:solidFill>
            <a:srgbClr val="FFFFFF"/>
          </a:solidFill>
        </p:spPr>
        <p:txBody>
          <a:bodyPr wrap="square" lIns="0" tIns="0" rIns="0" bIns="0" rtlCol="0"/>
          <a:lstStyle/>
          <a:p>
            <a:endParaRPr/>
          </a:p>
        </p:txBody>
      </p:sp>
      <p:sp>
        <p:nvSpPr>
          <p:cNvPr id="4" name="object 4"/>
          <p:cNvSpPr txBox="1"/>
          <p:nvPr/>
        </p:nvSpPr>
        <p:spPr>
          <a:xfrm>
            <a:off x="1036116" y="1657857"/>
            <a:ext cx="8536509" cy="4491614"/>
          </a:xfrm>
          <a:prstGeom prst="rect">
            <a:avLst/>
          </a:prstGeom>
        </p:spPr>
        <p:txBody>
          <a:bodyPr vert="horz" wrap="square" lIns="0" tIns="13335" rIns="0" bIns="0" rtlCol="0">
            <a:spAutoFit/>
          </a:bodyPr>
          <a:lstStyle/>
          <a:p>
            <a:pPr marL="354965" indent="-342900">
              <a:lnSpc>
                <a:spcPct val="100000"/>
              </a:lnSpc>
              <a:spcBef>
                <a:spcPts val="105"/>
              </a:spcBef>
              <a:buFont typeface="Arial MT"/>
              <a:buChar char="•"/>
              <a:tabLst>
                <a:tab pos="354965" algn="l"/>
                <a:tab pos="355600" algn="l"/>
              </a:tabLst>
            </a:pPr>
            <a:r>
              <a:rPr sz="2000" spc="-5" dirty="0">
                <a:latin typeface="Calibri"/>
                <a:cs typeface="Calibri"/>
              </a:rPr>
              <a:t>Loops</a:t>
            </a:r>
            <a:r>
              <a:rPr sz="2000" spc="-15" dirty="0">
                <a:latin typeface="Calibri"/>
                <a:cs typeface="Calibri"/>
              </a:rPr>
              <a:t> </a:t>
            </a:r>
            <a:r>
              <a:rPr sz="2000" spc="-5" dirty="0">
                <a:latin typeface="Calibri"/>
                <a:cs typeface="Calibri"/>
              </a:rPr>
              <a:t>can</a:t>
            </a:r>
            <a:r>
              <a:rPr sz="2000" spc="-15" dirty="0">
                <a:latin typeface="Calibri"/>
                <a:cs typeface="Calibri"/>
              </a:rPr>
              <a:t> </a:t>
            </a:r>
            <a:r>
              <a:rPr sz="2000" spc="-20" dirty="0">
                <a:latin typeface="Calibri"/>
                <a:cs typeface="Calibri"/>
              </a:rPr>
              <a:t>execute</a:t>
            </a:r>
            <a:r>
              <a:rPr sz="2000" spc="15" dirty="0">
                <a:latin typeface="Calibri"/>
                <a:cs typeface="Calibri"/>
              </a:rPr>
              <a:t> </a:t>
            </a:r>
            <a:r>
              <a:rPr sz="2000" dirty="0">
                <a:latin typeface="Calibri"/>
                <a:cs typeface="Calibri"/>
              </a:rPr>
              <a:t>a</a:t>
            </a:r>
            <a:r>
              <a:rPr sz="2000" spc="-10" dirty="0">
                <a:latin typeface="Calibri"/>
                <a:cs typeface="Calibri"/>
              </a:rPr>
              <a:t> </a:t>
            </a:r>
            <a:r>
              <a:rPr sz="2000" spc="-5" dirty="0">
                <a:latin typeface="Calibri"/>
                <a:cs typeface="Calibri"/>
              </a:rPr>
              <a:t>block</a:t>
            </a:r>
            <a:r>
              <a:rPr sz="2000" dirty="0">
                <a:latin typeface="Calibri"/>
                <a:cs typeface="Calibri"/>
              </a:rPr>
              <a:t> </a:t>
            </a:r>
            <a:r>
              <a:rPr sz="2000" spc="-5" dirty="0">
                <a:latin typeface="Calibri"/>
                <a:cs typeface="Calibri"/>
              </a:rPr>
              <a:t>of</a:t>
            </a:r>
            <a:r>
              <a:rPr sz="2000" spc="-10" dirty="0">
                <a:latin typeface="Calibri"/>
                <a:cs typeface="Calibri"/>
              </a:rPr>
              <a:t> </a:t>
            </a:r>
            <a:r>
              <a:rPr sz="2000" spc="-5" dirty="0">
                <a:latin typeface="Calibri"/>
                <a:cs typeface="Calibri"/>
              </a:rPr>
              <a:t>code</a:t>
            </a:r>
            <a:r>
              <a:rPr sz="2000" spc="-20" dirty="0">
                <a:latin typeface="Calibri"/>
                <a:cs typeface="Calibri"/>
              </a:rPr>
              <a:t> </a:t>
            </a:r>
            <a:r>
              <a:rPr sz="2000" dirty="0">
                <a:latin typeface="Calibri"/>
                <a:cs typeface="Calibri"/>
              </a:rPr>
              <a:t>a </a:t>
            </a:r>
            <a:r>
              <a:rPr sz="2000" spc="-5" dirty="0">
                <a:latin typeface="Calibri"/>
                <a:cs typeface="Calibri"/>
              </a:rPr>
              <a:t>number</a:t>
            </a:r>
            <a:r>
              <a:rPr sz="2000" spc="-10" dirty="0">
                <a:latin typeface="Calibri"/>
                <a:cs typeface="Calibri"/>
              </a:rPr>
              <a:t> </a:t>
            </a:r>
            <a:r>
              <a:rPr sz="2000" spc="-5" dirty="0">
                <a:latin typeface="Calibri"/>
                <a:cs typeface="Calibri"/>
              </a:rPr>
              <a:t>of </a:t>
            </a:r>
            <a:r>
              <a:rPr sz="2000" dirty="0">
                <a:latin typeface="Calibri"/>
                <a:cs typeface="Calibri"/>
              </a:rPr>
              <a:t>times</a:t>
            </a:r>
            <a:r>
              <a:rPr sz="1800" dirty="0">
                <a:latin typeface="Calibri"/>
                <a:cs typeface="Calibri"/>
              </a:rPr>
              <a:t>.</a:t>
            </a:r>
          </a:p>
          <a:p>
            <a:pPr marL="81280">
              <a:lnSpc>
                <a:spcPct val="100000"/>
              </a:lnSpc>
            </a:pPr>
            <a:endParaRPr sz="1500" dirty="0">
              <a:solidFill>
                <a:schemeClr val="bg1"/>
              </a:solidFill>
              <a:latin typeface="Verdana"/>
              <a:cs typeface="Verdana"/>
            </a:endParaRPr>
          </a:p>
          <a:p>
            <a:pPr marL="193675" lvl="1" indent="-113030">
              <a:lnSpc>
                <a:spcPct val="100000"/>
              </a:lnSpc>
              <a:spcBef>
                <a:spcPts val="5"/>
              </a:spcBef>
              <a:buSzPct val="93750"/>
              <a:buChar char="•"/>
              <a:tabLst>
                <a:tab pos="194310" algn="l"/>
              </a:tabLst>
            </a:pPr>
            <a:r>
              <a:rPr sz="1600" spc="-10" dirty="0" smtClean="0">
                <a:solidFill>
                  <a:schemeClr val="bg1"/>
                </a:solidFill>
                <a:latin typeface="Consolas"/>
                <a:cs typeface="Consolas"/>
              </a:rPr>
              <a:t>for</a:t>
            </a:r>
            <a:r>
              <a:rPr lang="en-US" sz="1600" spc="-10" dirty="0">
                <a:solidFill>
                  <a:schemeClr val="bg1"/>
                </a:solidFill>
                <a:latin typeface="Consolas"/>
                <a:cs typeface="Consolas"/>
              </a:rPr>
              <a:t>E</a:t>
            </a:r>
            <a:r>
              <a:rPr lang="en-US" sz="1600" spc="-10" dirty="0" smtClean="0">
                <a:solidFill>
                  <a:schemeClr val="bg1"/>
                </a:solidFill>
                <a:latin typeface="Consolas"/>
                <a:cs typeface="Consolas"/>
              </a:rPr>
              <a:t>ach</a:t>
            </a:r>
            <a:r>
              <a:rPr sz="1600" spc="-320" dirty="0" smtClean="0">
                <a:solidFill>
                  <a:schemeClr val="bg1"/>
                </a:solidFill>
                <a:latin typeface="Consolas"/>
                <a:cs typeface="Consolas"/>
              </a:rPr>
              <a:t> </a:t>
            </a:r>
            <a:r>
              <a:rPr sz="1600" spc="-5" dirty="0">
                <a:solidFill>
                  <a:schemeClr val="bg1"/>
                </a:solidFill>
                <a:latin typeface="Verdana"/>
                <a:cs typeface="Verdana"/>
              </a:rPr>
              <a:t>-</a:t>
            </a:r>
            <a:r>
              <a:rPr sz="1600" dirty="0">
                <a:solidFill>
                  <a:schemeClr val="bg1"/>
                </a:solidFill>
                <a:latin typeface="Verdana"/>
                <a:cs typeface="Verdana"/>
              </a:rPr>
              <a:t> </a:t>
            </a:r>
            <a:r>
              <a:rPr sz="1600" spc="-10" dirty="0">
                <a:solidFill>
                  <a:schemeClr val="bg1"/>
                </a:solidFill>
                <a:latin typeface="Verdana"/>
                <a:cs typeface="Verdana"/>
              </a:rPr>
              <a:t>loops</a:t>
            </a:r>
            <a:r>
              <a:rPr sz="1600" spc="20" dirty="0">
                <a:solidFill>
                  <a:schemeClr val="bg1"/>
                </a:solidFill>
                <a:latin typeface="Verdana"/>
                <a:cs typeface="Verdana"/>
              </a:rPr>
              <a:t> </a:t>
            </a:r>
            <a:r>
              <a:rPr sz="1600" spc="-5" dirty="0">
                <a:solidFill>
                  <a:schemeClr val="bg1"/>
                </a:solidFill>
                <a:latin typeface="Verdana"/>
                <a:cs typeface="Verdana"/>
              </a:rPr>
              <a:t>through</a:t>
            </a:r>
            <a:r>
              <a:rPr sz="1600" spc="30" dirty="0">
                <a:solidFill>
                  <a:schemeClr val="bg1"/>
                </a:solidFill>
                <a:latin typeface="Verdana"/>
                <a:cs typeface="Verdana"/>
              </a:rPr>
              <a:t> </a:t>
            </a:r>
            <a:r>
              <a:rPr sz="1600" spc="-5" dirty="0">
                <a:solidFill>
                  <a:schemeClr val="bg1"/>
                </a:solidFill>
                <a:latin typeface="Verdana"/>
                <a:cs typeface="Verdana"/>
              </a:rPr>
              <a:t>a</a:t>
            </a:r>
            <a:r>
              <a:rPr sz="1600" dirty="0">
                <a:solidFill>
                  <a:schemeClr val="bg1"/>
                </a:solidFill>
                <a:latin typeface="Verdana"/>
                <a:cs typeface="Verdana"/>
              </a:rPr>
              <a:t> </a:t>
            </a:r>
            <a:r>
              <a:rPr sz="1600" spc="-5" dirty="0">
                <a:solidFill>
                  <a:schemeClr val="bg1"/>
                </a:solidFill>
                <a:latin typeface="Verdana"/>
                <a:cs typeface="Verdana"/>
              </a:rPr>
              <a:t>block</a:t>
            </a:r>
            <a:r>
              <a:rPr sz="1600" spc="25" dirty="0">
                <a:solidFill>
                  <a:schemeClr val="bg1"/>
                </a:solidFill>
                <a:latin typeface="Verdana"/>
                <a:cs typeface="Verdana"/>
              </a:rPr>
              <a:t> </a:t>
            </a:r>
            <a:r>
              <a:rPr sz="1600" spc="-5" dirty="0">
                <a:solidFill>
                  <a:schemeClr val="bg1"/>
                </a:solidFill>
                <a:latin typeface="Verdana"/>
                <a:cs typeface="Verdana"/>
              </a:rPr>
              <a:t>of</a:t>
            </a:r>
            <a:r>
              <a:rPr sz="1600" dirty="0">
                <a:solidFill>
                  <a:schemeClr val="bg1"/>
                </a:solidFill>
                <a:latin typeface="Verdana"/>
                <a:cs typeface="Verdana"/>
              </a:rPr>
              <a:t> </a:t>
            </a:r>
            <a:r>
              <a:rPr sz="1600" spc="-5" dirty="0">
                <a:solidFill>
                  <a:schemeClr val="bg1"/>
                </a:solidFill>
                <a:latin typeface="Verdana"/>
                <a:cs typeface="Verdana"/>
              </a:rPr>
              <a:t>code</a:t>
            </a:r>
            <a:r>
              <a:rPr sz="1600" spc="15" dirty="0">
                <a:solidFill>
                  <a:schemeClr val="bg1"/>
                </a:solidFill>
                <a:latin typeface="Verdana"/>
                <a:cs typeface="Verdana"/>
              </a:rPr>
              <a:t> </a:t>
            </a:r>
            <a:r>
              <a:rPr sz="1600" spc="-5" dirty="0">
                <a:solidFill>
                  <a:schemeClr val="bg1"/>
                </a:solidFill>
                <a:latin typeface="Verdana"/>
                <a:cs typeface="Verdana"/>
              </a:rPr>
              <a:t>a</a:t>
            </a:r>
            <a:r>
              <a:rPr sz="1600" dirty="0">
                <a:solidFill>
                  <a:schemeClr val="bg1"/>
                </a:solidFill>
                <a:latin typeface="Verdana"/>
                <a:cs typeface="Verdana"/>
              </a:rPr>
              <a:t> </a:t>
            </a:r>
            <a:r>
              <a:rPr sz="1600" spc="-10" dirty="0">
                <a:solidFill>
                  <a:schemeClr val="bg1"/>
                </a:solidFill>
                <a:latin typeface="Verdana"/>
                <a:cs typeface="Verdana"/>
              </a:rPr>
              <a:t>number</a:t>
            </a:r>
            <a:r>
              <a:rPr sz="1600" spc="40" dirty="0">
                <a:solidFill>
                  <a:schemeClr val="bg1"/>
                </a:solidFill>
                <a:latin typeface="Verdana"/>
                <a:cs typeface="Verdana"/>
              </a:rPr>
              <a:t> </a:t>
            </a:r>
            <a:r>
              <a:rPr sz="1600" spc="-5" dirty="0">
                <a:solidFill>
                  <a:schemeClr val="bg1"/>
                </a:solidFill>
                <a:latin typeface="Verdana"/>
                <a:cs typeface="Verdana"/>
              </a:rPr>
              <a:t>of</a:t>
            </a:r>
            <a:r>
              <a:rPr sz="1600" dirty="0">
                <a:solidFill>
                  <a:schemeClr val="bg1"/>
                </a:solidFill>
                <a:latin typeface="Verdana"/>
                <a:cs typeface="Verdana"/>
              </a:rPr>
              <a:t> </a:t>
            </a:r>
            <a:r>
              <a:rPr sz="1600" spc="-10" dirty="0">
                <a:solidFill>
                  <a:schemeClr val="bg1"/>
                </a:solidFill>
                <a:latin typeface="Verdana"/>
                <a:cs typeface="Verdana"/>
              </a:rPr>
              <a:t>times</a:t>
            </a:r>
            <a:endParaRPr sz="1600" dirty="0">
              <a:solidFill>
                <a:schemeClr val="bg1"/>
              </a:solidFill>
              <a:latin typeface="Verdana"/>
              <a:cs typeface="Verdana"/>
            </a:endParaRPr>
          </a:p>
          <a:p>
            <a:pPr marL="193675" lvl="1" indent="-113030">
              <a:lnSpc>
                <a:spcPct val="100000"/>
              </a:lnSpc>
              <a:buSzPct val="93750"/>
              <a:buChar char="•"/>
              <a:tabLst>
                <a:tab pos="194310" algn="l"/>
              </a:tabLst>
            </a:pPr>
            <a:r>
              <a:rPr sz="1600" spc="-10" dirty="0">
                <a:solidFill>
                  <a:schemeClr val="bg1"/>
                </a:solidFill>
                <a:latin typeface="Consolas"/>
                <a:cs typeface="Consolas"/>
              </a:rPr>
              <a:t>for/in</a:t>
            </a:r>
            <a:r>
              <a:rPr sz="1600" spc="-330" dirty="0">
                <a:solidFill>
                  <a:schemeClr val="bg1"/>
                </a:solidFill>
                <a:latin typeface="Consolas"/>
                <a:cs typeface="Consolas"/>
              </a:rPr>
              <a:t> </a:t>
            </a:r>
            <a:r>
              <a:rPr sz="1600" spc="-5" dirty="0">
                <a:solidFill>
                  <a:schemeClr val="bg1"/>
                </a:solidFill>
                <a:latin typeface="Verdana"/>
                <a:cs typeface="Verdana"/>
              </a:rPr>
              <a:t>-</a:t>
            </a:r>
            <a:r>
              <a:rPr sz="1600" spc="10" dirty="0">
                <a:solidFill>
                  <a:schemeClr val="bg1"/>
                </a:solidFill>
                <a:latin typeface="Verdana"/>
                <a:cs typeface="Verdana"/>
              </a:rPr>
              <a:t> </a:t>
            </a:r>
            <a:r>
              <a:rPr sz="1600" spc="-10" dirty="0">
                <a:solidFill>
                  <a:schemeClr val="bg1"/>
                </a:solidFill>
                <a:latin typeface="Verdana"/>
                <a:cs typeface="Verdana"/>
              </a:rPr>
              <a:t>loops</a:t>
            </a:r>
            <a:r>
              <a:rPr sz="1600" spc="20" dirty="0">
                <a:solidFill>
                  <a:schemeClr val="bg1"/>
                </a:solidFill>
                <a:latin typeface="Verdana"/>
                <a:cs typeface="Verdana"/>
              </a:rPr>
              <a:t> </a:t>
            </a:r>
            <a:r>
              <a:rPr sz="1600" spc="-5" dirty="0">
                <a:solidFill>
                  <a:schemeClr val="bg1"/>
                </a:solidFill>
                <a:latin typeface="Verdana"/>
                <a:cs typeface="Verdana"/>
              </a:rPr>
              <a:t>through</a:t>
            </a:r>
            <a:r>
              <a:rPr sz="1600" spc="25" dirty="0">
                <a:solidFill>
                  <a:schemeClr val="bg1"/>
                </a:solidFill>
                <a:latin typeface="Verdana"/>
                <a:cs typeface="Verdana"/>
              </a:rPr>
              <a:t> </a:t>
            </a:r>
            <a:r>
              <a:rPr sz="1600" spc="-5" dirty="0">
                <a:solidFill>
                  <a:schemeClr val="bg1"/>
                </a:solidFill>
                <a:latin typeface="Verdana"/>
                <a:cs typeface="Verdana"/>
              </a:rPr>
              <a:t>the properties</a:t>
            </a:r>
            <a:r>
              <a:rPr sz="1600" spc="30" dirty="0">
                <a:solidFill>
                  <a:schemeClr val="bg1"/>
                </a:solidFill>
                <a:latin typeface="Verdana"/>
                <a:cs typeface="Verdana"/>
              </a:rPr>
              <a:t> </a:t>
            </a:r>
            <a:r>
              <a:rPr sz="1600" spc="-5" dirty="0">
                <a:solidFill>
                  <a:schemeClr val="bg1"/>
                </a:solidFill>
                <a:latin typeface="Verdana"/>
                <a:cs typeface="Verdana"/>
              </a:rPr>
              <a:t>of</a:t>
            </a:r>
            <a:r>
              <a:rPr sz="1600" dirty="0">
                <a:solidFill>
                  <a:schemeClr val="bg1"/>
                </a:solidFill>
                <a:latin typeface="Verdana"/>
                <a:cs typeface="Verdana"/>
              </a:rPr>
              <a:t> </a:t>
            </a:r>
            <a:r>
              <a:rPr sz="1600" spc="-5" dirty="0">
                <a:solidFill>
                  <a:schemeClr val="bg1"/>
                </a:solidFill>
                <a:latin typeface="Verdana"/>
                <a:cs typeface="Verdana"/>
              </a:rPr>
              <a:t>an</a:t>
            </a:r>
            <a:r>
              <a:rPr sz="1600" spc="10" dirty="0">
                <a:solidFill>
                  <a:schemeClr val="bg1"/>
                </a:solidFill>
                <a:latin typeface="Verdana"/>
                <a:cs typeface="Verdana"/>
              </a:rPr>
              <a:t> </a:t>
            </a:r>
            <a:r>
              <a:rPr sz="1600" spc="-10" dirty="0">
                <a:solidFill>
                  <a:schemeClr val="bg1"/>
                </a:solidFill>
                <a:latin typeface="Verdana"/>
                <a:cs typeface="Verdana"/>
              </a:rPr>
              <a:t>object</a:t>
            </a:r>
            <a:endParaRPr sz="1600" dirty="0">
              <a:solidFill>
                <a:schemeClr val="bg1"/>
              </a:solidFill>
              <a:latin typeface="Verdana"/>
              <a:cs typeface="Verdana"/>
            </a:endParaRPr>
          </a:p>
          <a:p>
            <a:pPr marL="193675" lvl="1" indent="-113030">
              <a:lnSpc>
                <a:spcPct val="100000"/>
              </a:lnSpc>
              <a:buSzPct val="93750"/>
              <a:buChar char="•"/>
              <a:tabLst>
                <a:tab pos="194310" algn="l"/>
              </a:tabLst>
            </a:pPr>
            <a:r>
              <a:rPr sz="1600" spc="-10" dirty="0">
                <a:solidFill>
                  <a:schemeClr val="bg1"/>
                </a:solidFill>
                <a:latin typeface="Consolas"/>
                <a:cs typeface="Consolas"/>
              </a:rPr>
              <a:t>for/of</a:t>
            </a:r>
            <a:r>
              <a:rPr sz="1600" spc="-330" dirty="0">
                <a:solidFill>
                  <a:schemeClr val="bg1"/>
                </a:solidFill>
                <a:latin typeface="Consolas"/>
                <a:cs typeface="Consolas"/>
              </a:rPr>
              <a:t> </a:t>
            </a:r>
            <a:r>
              <a:rPr sz="1600" spc="-5" dirty="0">
                <a:solidFill>
                  <a:schemeClr val="bg1"/>
                </a:solidFill>
                <a:latin typeface="Verdana"/>
                <a:cs typeface="Verdana"/>
              </a:rPr>
              <a:t>-</a:t>
            </a:r>
            <a:r>
              <a:rPr sz="1600" spc="15" dirty="0">
                <a:solidFill>
                  <a:schemeClr val="bg1"/>
                </a:solidFill>
                <a:latin typeface="Verdana"/>
                <a:cs typeface="Verdana"/>
              </a:rPr>
              <a:t> </a:t>
            </a:r>
            <a:r>
              <a:rPr sz="1600" spc="-10" dirty="0">
                <a:solidFill>
                  <a:schemeClr val="bg1"/>
                </a:solidFill>
                <a:latin typeface="Verdana"/>
                <a:cs typeface="Verdana"/>
              </a:rPr>
              <a:t>loops</a:t>
            </a:r>
            <a:r>
              <a:rPr sz="1600" spc="20" dirty="0">
                <a:solidFill>
                  <a:schemeClr val="bg1"/>
                </a:solidFill>
                <a:latin typeface="Verdana"/>
                <a:cs typeface="Verdana"/>
              </a:rPr>
              <a:t> </a:t>
            </a:r>
            <a:r>
              <a:rPr sz="1600" spc="-5" dirty="0">
                <a:solidFill>
                  <a:schemeClr val="bg1"/>
                </a:solidFill>
                <a:latin typeface="Verdana"/>
                <a:cs typeface="Verdana"/>
              </a:rPr>
              <a:t>through</a:t>
            </a:r>
            <a:r>
              <a:rPr sz="1600" spc="30" dirty="0">
                <a:solidFill>
                  <a:schemeClr val="bg1"/>
                </a:solidFill>
                <a:latin typeface="Verdana"/>
                <a:cs typeface="Verdana"/>
              </a:rPr>
              <a:t> </a:t>
            </a:r>
            <a:r>
              <a:rPr sz="1600" spc="-5" dirty="0">
                <a:solidFill>
                  <a:schemeClr val="bg1"/>
                </a:solidFill>
                <a:latin typeface="Verdana"/>
                <a:cs typeface="Verdana"/>
              </a:rPr>
              <a:t>the</a:t>
            </a:r>
            <a:r>
              <a:rPr sz="1600" spc="-10" dirty="0">
                <a:solidFill>
                  <a:schemeClr val="bg1"/>
                </a:solidFill>
                <a:latin typeface="Verdana"/>
                <a:cs typeface="Verdana"/>
              </a:rPr>
              <a:t> values</a:t>
            </a:r>
            <a:r>
              <a:rPr sz="1600" spc="35" dirty="0">
                <a:solidFill>
                  <a:schemeClr val="bg1"/>
                </a:solidFill>
                <a:latin typeface="Verdana"/>
                <a:cs typeface="Verdana"/>
              </a:rPr>
              <a:t> </a:t>
            </a:r>
            <a:r>
              <a:rPr sz="1600" spc="-5" dirty="0">
                <a:solidFill>
                  <a:schemeClr val="bg1"/>
                </a:solidFill>
                <a:latin typeface="Verdana"/>
                <a:cs typeface="Verdana"/>
              </a:rPr>
              <a:t>of</a:t>
            </a:r>
            <a:r>
              <a:rPr sz="1600" dirty="0">
                <a:solidFill>
                  <a:schemeClr val="bg1"/>
                </a:solidFill>
                <a:latin typeface="Verdana"/>
                <a:cs typeface="Verdana"/>
              </a:rPr>
              <a:t> </a:t>
            </a:r>
            <a:r>
              <a:rPr sz="1600" spc="-5" dirty="0">
                <a:solidFill>
                  <a:schemeClr val="bg1"/>
                </a:solidFill>
                <a:latin typeface="Verdana"/>
                <a:cs typeface="Verdana"/>
              </a:rPr>
              <a:t>an</a:t>
            </a:r>
            <a:r>
              <a:rPr sz="1600" spc="5" dirty="0">
                <a:solidFill>
                  <a:schemeClr val="bg1"/>
                </a:solidFill>
                <a:latin typeface="Verdana"/>
                <a:cs typeface="Verdana"/>
              </a:rPr>
              <a:t> </a:t>
            </a:r>
            <a:r>
              <a:rPr sz="1600" spc="-10" dirty="0">
                <a:solidFill>
                  <a:schemeClr val="bg1"/>
                </a:solidFill>
                <a:latin typeface="Verdana"/>
                <a:cs typeface="Verdana"/>
              </a:rPr>
              <a:t>iterable</a:t>
            </a:r>
            <a:r>
              <a:rPr sz="1600" spc="25" dirty="0">
                <a:solidFill>
                  <a:schemeClr val="bg1"/>
                </a:solidFill>
                <a:latin typeface="Verdana"/>
                <a:cs typeface="Verdana"/>
              </a:rPr>
              <a:t> </a:t>
            </a:r>
            <a:r>
              <a:rPr sz="1600" spc="-10" dirty="0">
                <a:solidFill>
                  <a:schemeClr val="bg1"/>
                </a:solidFill>
                <a:latin typeface="Verdana"/>
                <a:cs typeface="Verdana"/>
              </a:rPr>
              <a:t>object</a:t>
            </a:r>
            <a:endParaRPr sz="1600" dirty="0">
              <a:solidFill>
                <a:schemeClr val="bg1"/>
              </a:solidFill>
              <a:latin typeface="Verdana"/>
              <a:cs typeface="Verdana"/>
            </a:endParaRPr>
          </a:p>
          <a:p>
            <a:pPr marL="12700">
              <a:lnSpc>
                <a:spcPct val="100000"/>
              </a:lnSpc>
              <a:spcBef>
                <a:spcPts val="755"/>
              </a:spcBef>
              <a:tabLst>
                <a:tab pos="589915" algn="l"/>
              </a:tabLst>
            </a:pPr>
            <a:r>
              <a:rPr lang="en-IN" sz="2700" u="sng" spc="-44" baseline="4629" dirty="0">
                <a:solidFill>
                  <a:schemeClr val="bg1"/>
                </a:solidFill>
                <a:uFill>
                  <a:solidFill>
                    <a:srgbClr val="FF0000"/>
                  </a:solidFill>
                </a:uFill>
                <a:latin typeface="Times New Roman"/>
                <a:cs typeface="Times New Roman"/>
              </a:rPr>
              <a:t>f</a:t>
            </a:r>
            <a:r>
              <a:rPr sz="2700" u="sng" spc="-44" baseline="4629" dirty="0" err="1" smtClean="0">
                <a:solidFill>
                  <a:schemeClr val="bg1"/>
                </a:solidFill>
                <a:uFill>
                  <a:solidFill>
                    <a:srgbClr val="FF0000"/>
                  </a:solidFill>
                </a:uFill>
                <a:latin typeface="Times New Roman"/>
                <a:cs typeface="Times New Roman"/>
              </a:rPr>
              <a:t>or</a:t>
            </a:r>
            <a:r>
              <a:rPr lang="en-US" sz="2700" u="sng" spc="-44" baseline="4629" dirty="0" err="1">
                <a:solidFill>
                  <a:schemeClr val="bg1"/>
                </a:solidFill>
                <a:uFill>
                  <a:solidFill>
                    <a:srgbClr val="FF0000"/>
                  </a:solidFill>
                </a:uFill>
                <a:latin typeface="Times New Roman"/>
                <a:cs typeface="Times New Roman"/>
              </a:rPr>
              <a:t>E</a:t>
            </a:r>
            <a:r>
              <a:rPr lang="en-US" sz="2700" u="sng" spc="-44" baseline="4629" dirty="0" err="1" smtClean="0">
                <a:solidFill>
                  <a:schemeClr val="bg1"/>
                </a:solidFill>
                <a:uFill>
                  <a:solidFill>
                    <a:srgbClr val="FF0000"/>
                  </a:solidFill>
                </a:uFill>
                <a:latin typeface="Times New Roman"/>
                <a:cs typeface="Times New Roman"/>
              </a:rPr>
              <a:t>ach</a:t>
            </a:r>
            <a:r>
              <a:rPr lang="en-US" sz="2700" u="sng" spc="-44" baseline="4629" dirty="0">
                <a:solidFill>
                  <a:schemeClr val="bg1"/>
                </a:solidFill>
                <a:uFill>
                  <a:solidFill>
                    <a:srgbClr val="FF0000"/>
                  </a:solidFill>
                </a:uFill>
                <a:latin typeface="Times New Roman"/>
                <a:cs typeface="Times New Roman"/>
              </a:rPr>
              <a:t>()</a:t>
            </a:r>
            <a:r>
              <a:rPr sz="2700" u="sng" spc="-44" baseline="4629" dirty="0">
                <a:solidFill>
                  <a:schemeClr val="bg1"/>
                </a:solidFill>
                <a:uFill>
                  <a:solidFill>
                    <a:srgbClr val="FF0000"/>
                  </a:solidFill>
                </a:uFill>
                <a:latin typeface="Times New Roman"/>
                <a:cs typeface="Times New Roman"/>
              </a:rPr>
              <a:t>:-</a:t>
            </a:r>
            <a:endParaRPr lang="en-US" sz="2700" u="sng" spc="-44" baseline="4629" dirty="0">
              <a:solidFill>
                <a:schemeClr val="bg1"/>
              </a:solidFill>
              <a:uFill>
                <a:solidFill>
                  <a:srgbClr val="FF0000"/>
                </a:solidFill>
              </a:uFill>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Verdana" panose="020B0604030504040204" pitchFamily="34" charset="0"/>
              </a:rPr>
              <a:t>The </a:t>
            </a:r>
            <a:r>
              <a:rPr kumimoji="0" lang="en-US" altLang="en-US" sz="1600" b="0" i="0" u="none" strike="noStrike" cap="none" normalizeH="0" baseline="0" dirty="0">
                <a:ln>
                  <a:noFill/>
                </a:ln>
                <a:solidFill>
                  <a:schemeClr val="bg1"/>
                </a:solidFill>
                <a:effectLst/>
                <a:latin typeface="Consolas" panose="020B0609020204030204" pitchFamily="49" charset="0"/>
              </a:rPr>
              <a:t>forEach()</a:t>
            </a:r>
            <a:r>
              <a:rPr kumimoji="0" lang="en-US" altLang="en-US" sz="1600" b="0" i="0" u="none" strike="noStrike" cap="none" normalizeH="0" baseline="0" dirty="0">
                <a:ln>
                  <a:noFill/>
                </a:ln>
                <a:solidFill>
                  <a:schemeClr val="bg1"/>
                </a:solidFill>
                <a:effectLst/>
                <a:latin typeface="Verdana" panose="020B0604030504040204" pitchFamily="34" charset="0"/>
              </a:rPr>
              <a:t> method calls a function for each element in an array.</a:t>
            </a:r>
            <a:endParaRPr kumimoji="0" lang="en-US" altLang="en-US" sz="105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Verdana" panose="020B0604030504040204" pitchFamily="34" charset="0"/>
              </a:rPr>
              <a:t>The </a:t>
            </a:r>
            <a:r>
              <a:rPr kumimoji="0" lang="en-US" altLang="en-US" sz="1600" b="0" i="0" u="none" strike="noStrike" cap="none" normalizeH="0" baseline="0" dirty="0">
                <a:ln>
                  <a:noFill/>
                </a:ln>
                <a:solidFill>
                  <a:schemeClr val="bg1"/>
                </a:solidFill>
                <a:effectLst/>
                <a:latin typeface="Consolas" panose="020B0609020204030204" pitchFamily="49" charset="0"/>
              </a:rPr>
              <a:t>forEach()</a:t>
            </a:r>
            <a:r>
              <a:rPr kumimoji="0" lang="en-US" altLang="en-US" sz="1600" b="0" i="0" u="none" strike="noStrike" cap="none" normalizeH="0" baseline="0" dirty="0">
                <a:ln>
                  <a:noFill/>
                </a:ln>
                <a:solidFill>
                  <a:schemeClr val="bg1"/>
                </a:solidFill>
                <a:effectLst/>
                <a:latin typeface="Verdana" panose="020B0604030504040204" pitchFamily="34" charset="0"/>
              </a:rPr>
              <a:t> method is not executed for empty elements.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chemeClr val="bg1"/>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u="sng" dirty="0">
                <a:latin typeface="Verdana" panose="020B0604030504040204" pitchFamily="34" charset="0"/>
              </a:rPr>
              <a:t>Example:</a:t>
            </a:r>
            <a:endParaRPr kumimoji="0" lang="en-US" altLang="en-US" sz="1200" b="0" i="0" u="sng" strike="noStrike" cap="none" normalizeH="0" baseline="0" dirty="0">
              <a:ln>
                <a:noFill/>
              </a:ln>
              <a:effectLst/>
            </a:endParaRPr>
          </a:p>
          <a:p>
            <a:pPr marL="12700">
              <a:lnSpc>
                <a:spcPct val="100000"/>
              </a:lnSpc>
              <a:spcBef>
                <a:spcPts val="755"/>
              </a:spcBef>
              <a:tabLst>
                <a:tab pos="589915" algn="l"/>
              </a:tabLst>
            </a:pPr>
            <a:r>
              <a:rPr lang="en-US" sz="3200" spc="-44" baseline="4629" dirty="0">
                <a:uFill>
                  <a:solidFill>
                    <a:srgbClr val="FF0000"/>
                  </a:solidFill>
                </a:uFill>
                <a:latin typeface="Times New Roman"/>
                <a:cs typeface="Times New Roman"/>
              </a:rPr>
              <a:t>const array1 = ['a', 'b', 'c’];</a:t>
            </a:r>
          </a:p>
          <a:p>
            <a:pPr marL="12700">
              <a:lnSpc>
                <a:spcPct val="100000"/>
              </a:lnSpc>
              <a:spcBef>
                <a:spcPts val="755"/>
              </a:spcBef>
              <a:tabLst>
                <a:tab pos="589915" algn="l"/>
              </a:tabLst>
            </a:pPr>
            <a:r>
              <a:rPr lang="en-US" sz="3200" spc="-44" baseline="4629" dirty="0">
                <a:uFill>
                  <a:solidFill>
                    <a:srgbClr val="FF0000"/>
                  </a:solidFill>
                </a:uFill>
                <a:latin typeface="Times New Roman"/>
                <a:cs typeface="Times New Roman"/>
              </a:rPr>
              <a:t>array1.forEach((element) =&gt; console.log(element));</a:t>
            </a:r>
          </a:p>
          <a:p>
            <a:pPr marL="12700">
              <a:lnSpc>
                <a:spcPct val="100000"/>
              </a:lnSpc>
              <a:spcBef>
                <a:spcPts val="755"/>
              </a:spcBef>
              <a:tabLst>
                <a:tab pos="589915" algn="l"/>
              </a:tabLst>
            </a:pPr>
            <a:endParaRPr lang="en-US" sz="2700" u="sng" spc="-44" baseline="4629" dirty="0">
              <a:solidFill>
                <a:schemeClr val="bg1"/>
              </a:solidFill>
              <a:uFill>
                <a:solidFill>
                  <a:srgbClr val="FF0000"/>
                </a:solidFill>
              </a:uFill>
              <a:latin typeface="Times New Roman"/>
              <a:cs typeface="Times New Roman"/>
            </a:endParaRPr>
          </a:p>
          <a:p>
            <a:pPr marL="12700">
              <a:lnSpc>
                <a:spcPct val="100000"/>
              </a:lnSpc>
              <a:spcBef>
                <a:spcPts val="755"/>
              </a:spcBef>
              <a:tabLst>
                <a:tab pos="589915" algn="l"/>
              </a:tabLst>
            </a:pPr>
            <a:endParaRPr lang="en-US" sz="1600" dirty="0">
              <a:solidFill>
                <a:schemeClr val="bg1"/>
              </a:solidFill>
              <a:latin typeface="Segoe UI"/>
              <a:cs typeface="Segoe U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6861" y="622172"/>
            <a:ext cx="7658100" cy="4614084"/>
          </a:xfrm>
          <a:prstGeom prst="rect">
            <a:avLst/>
          </a:prstGeom>
        </p:spPr>
        <p:txBody>
          <a:bodyPr vert="horz" wrap="square" lIns="0" tIns="12700" rIns="0" bIns="0" rtlCol="0">
            <a:spAutoFit/>
          </a:bodyPr>
          <a:lstStyle/>
          <a:p>
            <a:pPr marL="12700">
              <a:lnSpc>
                <a:spcPct val="100000"/>
              </a:lnSpc>
              <a:spcBef>
                <a:spcPts val="100"/>
              </a:spcBef>
            </a:pPr>
            <a:endParaRPr lang="en-US" sz="1800" spc="-5" dirty="0">
              <a:latin typeface="Calibri"/>
              <a:cs typeface="Calibri"/>
            </a:endParaRPr>
          </a:p>
          <a:p>
            <a:pPr marL="12700">
              <a:lnSpc>
                <a:spcPct val="100000"/>
              </a:lnSpc>
              <a:spcBef>
                <a:spcPts val="100"/>
              </a:spcBef>
            </a:pPr>
            <a:endParaRPr lang="en-IN" spc="-5" dirty="0">
              <a:latin typeface="Calibri"/>
              <a:cs typeface="Calibri"/>
            </a:endParaRPr>
          </a:p>
          <a:p>
            <a:pPr marL="12700">
              <a:lnSpc>
                <a:spcPct val="100000"/>
              </a:lnSpc>
              <a:spcBef>
                <a:spcPts val="100"/>
              </a:spcBef>
            </a:pPr>
            <a:r>
              <a:rPr sz="1800" spc="-5" dirty="0">
                <a:latin typeface="Calibri"/>
                <a:cs typeface="Calibri"/>
              </a:rPr>
              <a:t>Output:- </a:t>
            </a:r>
            <a:r>
              <a:rPr sz="1800" spc="-395" dirty="0">
                <a:latin typeface="Calibri"/>
                <a:cs typeface="Calibri"/>
              </a:rPr>
              <a:t> </a:t>
            </a:r>
            <a:r>
              <a:rPr sz="1800" dirty="0">
                <a:latin typeface="Times New Roman"/>
                <a:cs typeface="Times New Roman"/>
              </a:rPr>
              <a:t>1</a:t>
            </a:r>
          </a:p>
          <a:p>
            <a:pPr marL="12700">
              <a:lnSpc>
                <a:spcPct val="100000"/>
              </a:lnSpc>
            </a:pPr>
            <a:r>
              <a:rPr sz="1800" dirty="0">
                <a:latin typeface="Times New Roman"/>
                <a:cs typeface="Times New Roman"/>
              </a:rPr>
              <a:t>2</a:t>
            </a:r>
          </a:p>
          <a:p>
            <a:pPr marL="12700">
              <a:lnSpc>
                <a:spcPct val="100000"/>
              </a:lnSpc>
            </a:pPr>
            <a:r>
              <a:rPr sz="1800" dirty="0">
                <a:latin typeface="Times New Roman"/>
                <a:cs typeface="Times New Roman"/>
              </a:rPr>
              <a:t>3</a:t>
            </a:r>
          </a:p>
          <a:p>
            <a:pPr marL="12700">
              <a:lnSpc>
                <a:spcPct val="100000"/>
              </a:lnSpc>
            </a:pPr>
            <a:r>
              <a:rPr sz="1800" dirty="0">
                <a:latin typeface="Times New Roman"/>
                <a:cs typeface="Times New Roman"/>
              </a:rPr>
              <a:t>4</a:t>
            </a:r>
          </a:p>
          <a:p>
            <a:pPr marL="12700">
              <a:lnSpc>
                <a:spcPct val="100000"/>
              </a:lnSpc>
              <a:spcBef>
                <a:spcPts val="75"/>
              </a:spcBef>
            </a:pPr>
            <a:r>
              <a:rPr sz="1800" dirty="0">
                <a:latin typeface="Times New Roman"/>
                <a:cs typeface="Times New Roman"/>
              </a:rPr>
              <a:t>5</a:t>
            </a:r>
            <a:endParaRPr lang="en-US" sz="1800" dirty="0">
              <a:latin typeface="Times New Roman"/>
              <a:cs typeface="Times New Roman"/>
            </a:endParaRPr>
          </a:p>
          <a:p>
            <a:pPr marL="12700">
              <a:lnSpc>
                <a:spcPct val="100000"/>
              </a:lnSpc>
              <a:spcBef>
                <a:spcPts val="75"/>
              </a:spcBef>
            </a:pPr>
            <a:endParaRPr sz="1800" dirty="0">
              <a:latin typeface="Times New Roman"/>
              <a:cs typeface="Times New Roman"/>
            </a:endParaRPr>
          </a:p>
          <a:p>
            <a:pPr marL="12700">
              <a:lnSpc>
                <a:spcPts val="2130"/>
              </a:lnSpc>
            </a:pPr>
            <a:r>
              <a:rPr sz="2000" u="sng" spc="-5" dirty="0">
                <a:solidFill>
                  <a:srgbClr val="FF0000"/>
                </a:solidFill>
                <a:uFill>
                  <a:solidFill>
                    <a:srgbClr val="FF0000"/>
                  </a:solidFill>
                </a:uFill>
                <a:latin typeface="Times New Roman"/>
                <a:cs typeface="Times New Roman"/>
              </a:rPr>
              <a:t>For</a:t>
            </a:r>
            <a:r>
              <a:rPr sz="2000" u="sng" spc="-30" dirty="0">
                <a:solidFill>
                  <a:srgbClr val="FF0000"/>
                </a:solidFill>
                <a:uFill>
                  <a:solidFill>
                    <a:srgbClr val="FF0000"/>
                  </a:solidFill>
                </a:uFill>
                <a:latin typeface="Times New Roman"/>
                <a:cs typeface="Times New Roman"/>
              </a:rPr>
              <a:t> </a:t>
            </a:r>
            <a:r>
              <a:rPr sz="2000" u="sng" dirty="0">
                <a:solidFill>
                  <a:srgbClr val="FF0000"/>
                </a:solidFill>
                <a:uFill>
                  <a:solidFill>
                    <a:srgbClr val="FF0000"/>
                  </a:solidFill>
                </a:uFill>
                <a:latin typeface="Times New Roman"/>
                <a:cs typeface="Times New Roman"/>
              </a:rPr>
              <a:t>of</a:t>
            </a:r>
            <a:r>
              <a:rPr sz="2000" u="sng" spc="-25" dirty="0">
                <a:solidFill>
                  <a:srgbClr val="FF0000"/>
                </a:solidFill>
                <a:uFill>
                  <a:solidFill>
                    <a:srgbClr val="FF0000"/>
                  </a:solidFill>
                </a:uFill>
                <a:latin typeface="Times New Roman"/>
                <a:cs typeface="Times New Roman"/>
              </a:rPr>
              <a:t> </a:t>
            </a:r>
            <a:r>
              <a:rPr sz="2000" u="sng" dirty="0">
                <a:solidFill>
                  <a:srgbClr val="FF0000"/>
                </a:solidFill>
                <a:uFill>
                  <a:solidFill>
                    <a:srgbClr val="FF0000"/>
                  </a:solidFill>
                </a:uFill>
                <a:latin typeface="Times New Roman"/>
                <a:cs typeface="Times New Roman"/>
              </a:rPr>
              <a:t>loop:-</a:t>
            </a:r>
            <a:endParaRPr sz="2000" dirty="0">
              <a:latin typeface="Times New Roman"/>
              <a:cs typeface="Times New Roman"/>
            </a:endParaRPr>
          </a:p>
          <a:p>
            <a:pPr marL="12700" marR="5080">
              <a:lnSpc>
                <a:spcPts val="2160"/>
              </a:lnSpc>
              <a:spcBef>
                <a:spcPts val="40"/>
              </a:spcBef>
            </a:pPr>
            <a:r>
              <a:rPr spc="-5" dirty="0">
                <a:latin typeface="Verdana"/>
                <a:cs typeface="Verdana"/>
              </a:rPr>
              <a:t>Iterable</a:t>
            </a:r>
            <a:r>
              <a:rPr dirty="0">
                <a:latin typeface="Verdana"/>
                <a:cs typeface="Verdana"/>
              </a:rPr>
              <a:t> </a:t>
            </a:r>
            <a:r>
              <a:rPr spc="-5" dirty="0">
                <a:latin typeface="Verdana"/>
                <a:cs typeface="Verdana"/>
              </a:rPr>
              <a:t>objects</a:t>
            </a:r>
            <a:r>
              <a:rPr spc="35" dirty="0">
                <a:latin typeface="Verdana"/>
                <a:cs typeface="Verdana"/>
              </a:rPr>
              <a:t> </a:t>
            </a:r>
            <a:r>
              <a:rPr spc="-5" dirty="0">
                <a:latin typeface="Verdana"/>
                <a:cs typeface="Verdana"/>
              </a:rPr>
              <a:t>are</a:t>
            </a:r>
            <a:r>
              <a:rPr spc="5" dirty="0">
                <a:latin typeface="Verdana"/>
                <a:cs typeface="Verdana"/>
              </a:rPr>
              <a:t> </a:t>
            </a:r>
            <a:r>
              <a:rPr spc="-10" dirty="0">
                <a:latin typeface="Verdana"/>
                <a:cs typeface="Verdana"/>
              </a:rPr>
              <a:t>objects</a:t>
            </a:r>
            <a:r>
              <a:rPr spc="20" dirty="0">
                <a:latin typeface="Verdana"/>
                <a:cs typeface="Verdana"/>
              </a:rPr>
              <a:t> </a:t>
            </a:r>
            <a:r>
              <a:rPr spc="-5" dirty="0">
                <a:latin typeface="Verdana"/>
                <a:cs typeface="Verdana"/>
              </a:rPr>
              <a:t>that</a:t>
            </a:r>
            <a:r>
              <a:rPr spc="10" dirty="0">
                <a:latin typeface="Verdana"/>
                <a:cs typeface="Verdana"/>
              </a:rPr>
              <a:t> </a:t>
            </a:r>
            <a:r>
              <a:rPr spc="-5" dirty="0">
                <a:latin typeface="Verdana"/>
                <a:cs typeface="Verdana"/>
              </a:rPr>
              <a:t>can</a:t>
            </a:r>
            <a:r>
              <a:rPr spc="10" dirty="0">
                <a:latin typeface="Verdana"/>
                <a:cs typeface="Verdana"/>
              </a:rPr>
              <a:t> </a:t>
            </a:r>
            <a:r>
              <a:rPr spc="-5" dirty="0">
                <a:latin typeface="Verdana"/>
                <a:cs typeface="Verdana"/>
              </a:rPr>
              <a:t>be</a:t>
            </a:r>
            <a:r>
              <a:rPr spc="15" dirty="0">
                <a:latin typeface="Verdana"/>
                <a:cs typeface="Verdana"/>
              </a:rPr>
              <a:t> </a:t>
            </a:r>
            <a:r>
              <a:rPr spc="-10" dirty="0">
                <a:latin typeface="Verdana"/>
                <a:cs typeface="Verdana"/>
              </a:rPr>
              <a:t>iterated</a:t>
            </a:r>
            <a:r>
              <a:rPr spc="10" dirty="0">
                <a:latin typeface="Verdana"/>
                <a:cs typeface="Verdana"/>
              </a:rPr>
              <a:t> </a:t>
            </a:r>
            <a:r>
              <a:rPr spc="-10" dirty="0">
                <a:latin typeface="Verdana"/>
                <a:cs typeface="Verdana"/>
              </a:rPr>
              <a:t>over</a:t>
            </a:r>
            <a:r>
              <a:rPr spc="15" dirty="0">
                <a:latin typeface="Verdana"/>
                <a:cs typeface="Verdana"/>
              </a:rPr>
              <a:t> </a:t>
            </a:r>
            <a:r>
              <a:rPr spc="-10" dirty="0">
                <a:latin typeface="Verdana"/>
                <a:cs typeface="Verdana"/>
              </a:rPr>
              <a:t>with</a:t>
            </a:r>
            <a:r>
              <a:rPr spc="15" dirty="0">
                <a:latin typeface="Verdana"/>
                <a:cs typeface="Verdana"/>
              </a:rPr>
              <a:t> </a:t>
            </a:r>
            <a:r>
              <a:rPr spc="-10" dirty="0">
                <a:solidFill>
                  <a:srgbClr val="DC133B"/>
                </a:solidFill>
                <a:latin typeface="Consolas"/>
                <a:cs typeface="Consolas"/>
              </a:rPr>
              <a:t>for..of</a:t>
            </a:r>
            <a:r>
              <a:rPr spc="-10" dirty="0">
                <a:latin typeface="Verdana"/>
                <a:cs typeface="Verdana"/>
              </a:rPr>
              <a:t>.</a:t>
            </a:r>
            <a:r>
              <a:rPr spc="-175" dirty="0">
                <a:latin typeface="Verdana"/>
                <a:cs typeface="Verdana"/>
              </a:rPr>
              <a:t> </a:t>
            </a:r>
            <a:r>
              <a:rPr sz="2000" spc="-5" dirty="0">
                <a:latin typeface="Calibri"/>
                <a:cs typeface="Calibri"/>
              </a:rPr>
              <a:t>&lt;script&gt; </a:t>
            </a:r>
            <a:r>
              <a:rPr sz="2000" spc="-390" dirty="0">
                <a:latin typeface="Calibri"/>
                <a:cs typeface="Calibri"/>
              </a:rPr>
              <a:t> </a:t>
            </a:r>
            <a:r>
              <a:rPr sz="2000" spc="-10" dirty="0">
                <a:solidFill>
                  <a:srgbClr val="FF0000"/>
                </a:solidFill>
                <a:latin typeface="Calibri"/>
                <a:cs typeface="Calibri"/>
              </a:rPr>
              <a:t>Ex:-</a:t>
            </a:r>
            <a:r>
              <a:rPr sz="2000" spc="-10" dirty="0">
                <a:latin typeface="Calibri"/>
                <a:cs typeface="Calibri"/>
              </a:rPr>
              <a:t>const</a:t>
            </a:r>
            <a:r>
              <a:rPr sz="2000" dirty="0">
                <a:latin typeface="Calibri"/>
                <a:cs typeface="Calibri"/>
              </a:rPr>
              <a:t> </a:t>
            </a:r>
            <a:r>
              <a:rPr sz="2000" spc="-5" dirty="0">
                <a:latin typeface="Calibri"/>
                <a:cs typeface="Calibri"/>
              </a:rPr>
              <a:t>name</a:t>
            </a:r>
            <a:r>
              <a:rPr sz="2000" dirty="0">
                <a:latin typeface="Calibri"/>
                <a:cs typeface="Calibri"/>
              </a:rPr>
              <a:t> =</a:t>
            </a:r>
            <a:r>
              <a:rPr sz="2000" spc="5" dirty="0">
                <a:latin typeface="Calibri"/>
                <a:cs typeface="Calibri"/>
              </a:rPr>
              <a:t> </a:t>
            </a:r>
            <a:r>
              <a:rPr sz="2000" spc="-5" dirty="0">
                <a:latin typeface="Calibri"/>
                <a:cs typeface="Calibri"/>
              </a:rPr>
              <a:t>"W3Schools";</a:t>
            </a:r>
            <a:endParaRPr sz="2000" dirty="0">
              <a:latin typeface="Calibri"/>
              <a:cs typeface="Calibri"/>
            </a:endParaRPr>
          </a:p>
          <a:p>
            <a:pPr marL="12700">
              <a:lnSpc>
                <a:spcPts val="2090"/>
              </a:lnSpc>
            </a:pPr>
            <a:r>
              <a:rPr sz="2000" spc="-5" dirty="0">
                <a:latin typeface="Calibri"/>
                <a:cs typeface="Calibri"/>
              </a:rPr>
              <a:t>let</a:t>
            </a:r>
            <a:r>
              <a:rPr sz="2000" spc="-20" dirty="0">
                <a:latin typeface="Calibri"/>
                <a:cs typeface="Calibri"/>
              </a:rPr>
              <a:t> </a:t>
            </a:r>
            <a:r>
              <a:rPr sz="2000" spc="-15" dirty="0">
                <a:latin typeface="Calibri"/>
                <a:cs typeface="Calibri"/>
              </a:rPr>
              <a:t>text</a:t>
            </a:r>
            <a:r>
              <a:rPr sz="2000" spc="-25" dirty="0">
                <a:latin typeface="Calibri"/>
                <a:cs typeface="Calibri"/>
              </a:rPr>
              <a:t> </a:t>
            </a:r>
            <a:r>
              <a:rPr sz="2000" dirty="0">
                <a:latin typeface="Calibri"/>
                <a:cs typeface="Calibri"/>
              </a:rPr>
              <a:t>=</a:t>
            </a:r>
            <a:r>
              <a:rPr sz="2000" spc="-10" dirty="0">
                <a:latin typeface="Calibri"/>
                <a:cs typeface="Calibri"/>
              </a:rPr>
              <a:t> </a:t>
            </a:r>
            <a:r>
              <a:rPr sz="2000" dirty="0">
                <a:latin typeface="Calibri"/>
                <a:cs typeface="Calibri"/>
              </a:rPr>
              <a:t>""</a:t>
            </a:r>
          </a:p>
          <a:p>
            <a:pPr marL="117475" marR="5586095" indent="-105410">
              <a:lnSpc>
                <a:spcPct val="100000"/>
              </a:lnSpc>
            </a:pPr>
            <a:r>
              <a:rPr sz="2000" spc="-15" dirty="0">
                <a:latin typeface="Calibri"/>
                <a:cs typeface="Calibri"/>
              </a:rPr>
              <a:t>for </a:t>
            </a:r>
            <a:r>
              <a:rPr sz="2000" spc="-10" dirty="0">
                <a:latin typeface="Calibri"/>
                <a:cs typeface="Calibri"/>
              </a:rPr>
              <a:t>(const </a:t>
            </a:r>
            <a:r>
              <a:rPr sz="2000" dirty="0">
                <a:latin typeface="Calibri"/>
                <a:cs typeface="Calibri"/>
              </a:rPr>
              <a:t>x </a:t>
            </a:r>
            <a:r>
              <a:rPr sz="2000" spc="-5" dirty="0">
                <a:latin typeface="Calibri"/>
                <a:cs typeface="Calibri"/>
              </a:rPr>
              <a:t>of</a:t>
            </a:r>
            <a:r>
              <a:rPr lang="en-IN" sz="2000" spc="-5" dirty="0">
                <a:latin typeface="Calibri"/>
                <a:cs typeface="Calibri"/>
              </a:rPr>
              <a:t> name)</a:t>
            </a:r>
            <a:r>
              <a:rPr sz="2000" dirty="0">
                <a:latin typeface="Calibri"/>
                <a:cs typeface="Calibri"/>
              </a:rPr>
              <a:t>{ </a:t>
            </a:r>
            <a:r>
              <a:rPr sz="2000" spc="-395" dirty="0">
                <a:latin typeface="Calibri"/>
                <a:cs typeface="Calibri"/>
              </a:rPr>
              <a:t> </a:t>
            </a:r>
            <a:r>
              <a:rPr sz="2000" spc="-15" dirty="0">
                <a:latin typeface="Calibri"/>
                <a:cs typeface="Calibri"/>
              </a:rPr>
              <a:t>text </a:t>
            </a:r>
            <a:r>
              <a:rPr sz="2000" spc="-5" dirty="0">
                <a:latin typeface="Calibri"/>
                <a:cs typeface="Calibri"/>
              </a:rPr>
              <a:t>+=</a:t>
            </a:r>
            <a:r>
              <a:rPr sz="2000" dirty="0">
                <a:latin typeface="Calibri"/>
                <a:cs typeface="Calibri"/>
              </a:rPr>
              <a:t> x</a:t>
            </a:r>
            <a:r>
              <a:rPr sz="2000" spc="-10" dirty="0">
                <a:latin typeface="Calibri"/>
                <a:cs typeface="Calibri"/>
              </a:rPr>
              <a:t> </a:t>
            </a:r>
            <a:r>
              <a:rPr sz="2000" dirty="0">
                <a:latin typeface="Calibri"/>
                <a:cs typeface="Calibri"/>
              </a:rPr>
              <a:t>+</a:t>
            </a:r>
            <a:r>
              <a:rPr sz="2000" spc="-10" dirty="0">
                <a:latin typeface="Calibri"/>
                <a:cs typeface="Calibri"/>
              </a:rPr>
              <a:t> </a:t>
            </a:r>
            <a:r>
              <a:rPr sz="2000" spc="-5" dirty="0">
                <a:latin typeface="Calibri"/>
                <a:cs typeface="Calibri"/>
              </a:rPr>
              <a:t>"&lt;br&gt;";</a:t>
            </a:r>
            <a:endParaRPr sz="2000" dirty="0">
              <a:latin typeface="Calibri"/>
              <a:cs typeface="Calibri"/>
            </a:endParaRPr>
          </a:p>
          <a:p>
            <a:pPr marL="12700">
              <a:lnSpc>
                <a:spcPct val="100000"/>
              </a:lnSpc>
              <a:spcBef>
                <a:spcPts val="5"/>
              </a:spcBef>
            </a:pPr>
            <a:r>
              <a:rPr sz="2000" dirty="0">
                <a:latin typeface="Calibri"/>
                <a:cs typeface="Calibri"/>
              </a:rPr>
              <a:t>}</a:t>
            </a:r>
            <a:endParaRPr sz="1800" dirty="0">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3963" y="501637"/>
            <a:ext cx="1146175"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FF0000"/>
                </a:solidFill>
                <a:latin typeface="Times New Roman"/>
                <a:cs typeface="Times New Roman"/>
              </a:rPr>
              <a:t>For</a:t>
            </a:r>
            <a:r>
              <a:rPr sz="1800" spc="-40" dirty="0">
                <a:solidFill>
                  <a:srgbClr val="FF0000"/>
                </a:solidFill>
                <a:latin typeface="Times New Roman"/>
                <a:cs typeface="Times New Roman"/>
              </a:rPr>
              <a:t> in </a:t>
            </a:r>
            <a:r>
              <a:rPr sz="1800" spc="-30" dirty="0">
                <a:solidFill>
                  <a:srgbClr val="FF0000"/>
                </a:solidFill>
                <a:latin typeface="Times New Roman"/>
                <a:cs typeface="Times New Roman"/>
              </a:rPr>
              <a:t>loop:-</a:t>
            </a:r>
            <a:endParaRPr sz="1800" dirty="0">
              <a:latin typeface="Times New Roman"/>
              <a:cs typeface="Times New Roman"/>
            </a:endParaRPr>
          </a:p>
        </p:txBody>
      </p:sp>
      <p:sp>
        <p:nvSpPr>
          <p:cNvPr id="3" name="object 3"/>
          <p:cNvSpPr txBox="1">
            <a:spLocks noGrp="1"/>
          </p:cNvSpPr>
          <p:nvPr>
            <p:ph type="title"/>
          </p:nvPr>
        </p:nvSpPr>
        <p:spPr>
          <a:xfrm>
            <a:off x="873963" y="801357"/>
            <a:ext cx="5591810" cy="566822"/>
          </a:xfrm>
          <a:prstGeom prst="rect">
            <a:avLst/>
          </a:prstGeom>
        </p:spPr>
        <p:txBody>
          <a:bodyPr vert="horz" wrap="square" lIns="0" tIns="12700" rIns="0" bIns="0" rtlCol="0">
            <a:spAutoFit/>
          </a:bodyPr>
          <a:lstStyle/>
          <a:p>
            <a:pPr marL="12700">
              <a:lnSpc>
                <a:spcPct val="100000"/>
              </a:lnSpc>
              <a:spcBef>
                <a:spcPts val="100"/>
              </a:spcBef>
            </a:pPr>
            <a:r>
              <a:rPr sz="1800" b="0" u="none" spc="-5" dirty="0">
                <a:latin typeface="Times New Roman"/>
                <a:cs typeface="Times New Roman"/>
              </a:rPr>
              <a:t>The </a:t>
            </a:r>
            <a:r>
              <a:rPr sz="1800" b="0" u="none" spc="-70" dirty="0">
                <a:latin typeface="Times New Roman"/>
                <a:cs typeface="Times New Roman"/>
              </a:rPr>
              <a:t>JavaScript</a:t>
            </a:r>
            <a:r>
              <a:rPr sz="1800" b="0" u="none" spc="15" dirty="0">
                <a:latin typeface="Times New Roman"/>
                <a:cs typeface="Times New Roman"/>
              </a:rPr>
              <a:t> </a:t>
            </a:r>
            <a:r>
              <a:rPr sz="1800" b="0" u="none" spc="-5" dirty="0">
                <a:latin typeface="Times New Roman"/>
                <a:cs typeface="Times New Roman"/>
              </a:rPr>
              <a:t>for </a:t>
            </a:r>
            <a:r>
              <a:rPr sz="1800" b="0" u="none" spc="-40" dirty="0">
                <a:latin typeface="Times New Roman"/>
                <a:cs typeface="Times New Roman"/>
              </a:rPr>
              <a:t>in</a:t>
            </a:r>
            <a:r>
              <a:rPr lang="en-US" sz="1800" b="0" u="none" spc="-40" dirty="0">
                <a:latin typeface="Times New Roman"/>
                <a:cs typeface="Times New Roman"/>
              </a:rPr>
              <a:t> loop</a:t>
            </a:r>
            <a:r>
              <a:rPr sz="1800" b="0" u="none" spc="-5" dirty="0">
                <a:latin typeface="Times New Roman"/>
                <a:cs typeface="Times New Roman"/>
              </a:rPr>
              <a:t> </a:t>
            </a:r>
            <a:r>
              <a:rPr lang="en-US" sz="1800" b="0" u="none" spc="-5" dirty="0">
                <a:latin typeface="Times New Roman"/>
                <a:cs typeface="Times New Roman"/>
              </a:rPr>
              <a:t>iterates over</a:t>
            </a:r>
            <a:r>
              <a:rPr sz="1800" b="0" u="none" spc="-30" dirty="0">
                <a:latin typeface="Times New Roman"/>
                <a:cs typeface="Times New Roman"/>
              </a:rPr>
              <a:t> </a:t>
            </a:r>
            <a:r>
              <a:rPr sz="1800" b="0" u="none" dirty="0">
                <a:latin typeface="Times New Roman"/>
                <a:cs typeface="Times New Roman"/>
              </a:rPr>
              <a:t>the</a:t>
            </a:r>
            <a:r>
              <a:rPr sz="1800" b="0" u="none" spc="-15" dirty="0">
                <a:latin typeface="Times New Roman"/>
                <a:cs typeface="Times New Roman"/>
              </a:rPr>
              <a:t> </a:t>
            </a:r>
            <a:r>
              <a:rPr lang="en-US" sz="1800" b="0" u="none" spc="-15" dirty="0">
                <a:latin typeface="Times New Roman"/>
                <a:cs typeface="Times New Roman"/>
              </a:rPr>
              <a:t>keys</a:t>
            </a:r>
            <a:r>
              <a:rPr sz="1800" b="0" u="none" spc="-15" dirty="0">
                <a:latin typeface="Times New Roman"/>
                <a:cs typeface="Times New Roman"/>
              </a:rPr>
              <a:t> </a:t>
            </a:r>
            <a:r>
              <a:rPr sz="1800" b="0" u="none" spc="-5" dirty="0">
                <a:latin typeface="Times New Roman"/>
                <a:cs typeface="Times New Roman"/>
              </a:rPr>
              <a:t>of</a:t>
            </a:r>
            <a:r>
              <a:rPr sz="1800" b="0" u="none" spc="215" dirty="0">
                <a:latin typeface="Times New Roman"/>
                <a:cs typeface="Times New Roman"/>
              </a:rPr>
              <a:t> </a:t>
            </a:r>
            <a:r>
              <a:rPr sz="1800" b="0" u="none" spc="-30" dirty="0">
                <a:latin typeface="Times New Roman"/>
                <a:cs typeface="Times New Roman"/>
              </a:rPr>
              <a:t>an</a:t>
            </a:r>
            <a:r>
              <a:rPr sz="1800" b="0" u="none" spc="-5" dirty="0">
                <a:latin typeface="Times New Roman"/>
                <a:cs typeface="Times New Roman"/>
              </a:rPr>
              <a:t> </a:t>
            </a:r>
            <a:r>
              <a:rPr sz="1800" b="0" u="none" spc="-25" dirty="0">
                <a:latin typeface="Times New Roman"/>
                <a:cs typeface="Times New Roman"/>
              </a:rPr>
              <a:t>object</a:t>
            </a:r>
            <a:endParaRPr sz="1800" dirty="0">
              <a:latin typeface="Times New Roman"/>
              <a:cs typeface="Times New Roman"/>
            </a:endParaRPr>
          </a:p>
          <a:p>
            <a:pPr marL="12700">
              <a:lnSpc>
                <a:spcPct val="100000"/>
              </a:lnSpc>
              <a:spcBef>
                <a:spcPts val="5"/>
              </a:spcBef>
            </a:pPr>
            <a:r>
              <a:rPr sz="1800" b="0" u="none" spc="-40" dirty="0">
                <a:solidFill>
                  <a:srgbClr val="FF0000"/>
                </a:solidFill>
                <a:latin typeface="Times New Roman"/>
                <a:cs typeface="Times New Roman"/>
              </a:rPr>
              <a:t>Ex:-</a:t>
            </a:r>
            <a:endParaRPr sz="1800" dirty="0">
              <a:latin typeface="Times New Roman"/>
              <a:cs typeface="Times New Roman"/>
            </a:endParaRPr>
          </a:p>
        </p:txBody>
      </p:sp>
      <p:sp>
        <p:nvSpPr>
          <p:cNvPr id="4" name="object 4"/>
          <p:cNvSpPr txBox="1"/>
          <p:nvPr/>
        </p:nvSpPr>
        <p:spPr>
          <a:xfrm>
            <a:off x="873963" y="1625346"/>
            <a:ext cx="10344164" cy="3090590"/>
          </a:xfrm>
          <a:prstGeom prst="rect">
            <a:avLst/>
          </a:prstGeom>
        </p:spPr>
        <p:txBody>
          <a:bodyPr vert="horz" wrap="square" lIns="0" tIns="12700" rIns="0" bIns="0" rtlCol="0">
            <a:spAutoFit/>
          </a:bodyPr>
          <a:lstStyle/>
          <a:p>
            <a:pPr marL="12700" marR="6387465">
              <a:lnSpc>
                <a:spcPct val="100000"/>
              </a:lnSpc>
              <a:spcBef>
                <a:spcPts val="100"/>
              </a:spcBef>
            </a:pPr>
            <a:r>
              <a:rPr sz="2000" spc="-10" dirty="0">
                <a:latin typeface="Times New Roman"/>
                <a:cs typeface="Times New Roman"/>
              </a:rPr>
              <a:t>const</a:t>
            </a:r>
            <a:r>
              <a:rPr sz="2000" spc="-25" dirty="0">
                <a:latin typeface="Times New Roman"/>
                <a:cs typeface="Times New Roman"/>
              </a:rPr>
              <a:t> object</a:t>
            </a:r>
            <a:r>
              <a:rPr sz="2000" spc="-5" dirty="0">
                <a:latin typeface="Times New Roman"/>
                <a:cs typeface="Times New Roman"/>
              </a:rPr>
              <a:t> </a:t>
            </a:r>
            <a:r>
              <a:rPr sz="2000" spc="180" dirty="0">
                <a:latin typeface="Times New Roman"/>
                <a:cs typeface="Times New Roman"/>
              </a:rPr>
              <a:t>=</a:t>
            </a:r>
            <a:r>
              <a:rPr sz="2000" spc="-15" dirty="0">
                <a:latin typeface="Times New Roman"/>
                <a:cs typeface="Times New Roman"/>
              </a:rPr>
              <a:t> </a:t>
            </a:r>
            <a:r>
              <a:rPr sz="2000" spc="-5" dirty="0">
                <a:latin typeface="Times New Roman"/>
                <a:cs typeface="Times New Roman"/>
              </a:rPr>
              <a:t>{</a:t>
            </a:r>
            <a:r>
              <a:rPr sz="2000" dirty="0">
                <a:latin typeface="Times New Roman"/>
                <a:cs typeface="Times New Roman"/>
              </a:rPr>
              <a:t> </a:t>
            </a:r>
            <a:r>
              <a:rPr sz="2000" spc="-90" dirty="0">
                <a:latin typeface="Times New Roman"/>
                <a:cs typeface="Times New Roman"/>
              </a:rPr>
              <a:t>a:</a:t>
            </a:r>
            <a:r>
              <a:rPr sz="2000" dirty="0">
                <a:latin typeface="Times New Roman"/>
                <a:cs typeface="Times New Roman"/>
              </a:rPr>
              <a:t> </a:t>
            </a:r>
            <a:r>
              <a:rPr sz="2000" spc="-60" dirty="0">
                <a:latin typeface="Times New Roman"/>
                <a:cs typeface="Times New Roman"/>
              </a:rPr>
              <a:t>1,</a:t>
            </a:r>
            <a:r>
              <a:rPr sz="2000" spc="10" dirty="0">
                <a:latin typeface="Times New Roman"/>
                <a:cs typeface="Times New Roman"/>
              </a:rPr>
              <a:t> </a:t>
            </a:r>
            <a:r>
              <a:rPr sz="2000" spc="-45" dirty="0">
                <a:latin typeface="Times New Roman"/>
                <a:cs typeface="Times New Roman"/>
              </a:rPr>
              <a:t>b:</a:t>
            </a:r>
            <a:r>
              <a:rPr sz="2000" spc="-25" dirty="0">
                <a:latin typeface="Times New Roman"/>
                <a:cs typeface="Times New Roman"/>
              </a:rPr>
              <a:t> </a:t>
            </a:r>
            <a:r>
              <a:rPr sz="2000" spc="-60" dirty="0">
                <a:latin typeface="Times New Roman"/>
                <a:cs typeface="Times New Roman"/>
              </a:rPr>
              <a:t>2,</a:t>
            </a:r>
            <a:r>
              <a:rPr sz="2000" spc="10" dirty="0">
                <a:latin typeface="Times New Roman"/>
                <a:cs typeface="Times New Roman"/>
              </a:rPr>
              <a:t> </a:t>
            </a:r>
            <a:r>
              <a:rPr sz="2000" spc="-85" dirty="0">
                <a:latin typeface="Times New Roman"/>
                <a:cs typeface="Times New Roman"/>
              </a:rPr>
              <a:t>c:</a:t>
            </a:r>
            <a:r>
              <a:rPr sz="2000" dirty="0">
                <a:latin typeface="Times New Roman"/>
                <a:cs typeface="Times New Roman"/>
              </a:rPr>
              <a:t> </a:t>
            </a:r>
            <a:r>
              <a:rPr sz="2000" spc="-60" dirty="0">
                <a:latin typeface="Times New Roman"/>
                <a:cs typeface="Times New Roman"/>
              </a:rPr>
              <a:t>3</a:t>
            </a:r>
            <a:r>
              <a:rPr sz="2000" spc="5" dirty="0">
                <a:latin typeface="Times New Roman"/>
                <a:cs typeface="Times New Roman"/>
              </a:rPr>
              <a:t> </a:t>
            </a:r>
            <a:r>
              <a:rPr sz="2000" spc="-55" dirty="0">
                <a:latin typeface="Times New Roman"/>
                <a:cs typeface="Times New Roman"/>
              </a:rPr>
              <a:t>}; </a:t>
            </a:r>
            <a:r>
              <a:rPr sz="2000" spc="-434" dirty="0">
                <a:latin typeface="Times New Roman"/>
                <a:cs typeface="Times New Roman"/>
              </a:rPr>
              <a:t> </a:t>
            </a:r>
            <a:r>
              <a:rPr sz="2000" spc="-5" dirty="0">
                <a:latin typeface="Times New Roman"/>
                <a:cs typeface="Times New Roman"/>
              </a:rPr>
              <a:t>for</a:t>
            </a:r>
            <a:r>
              <a:rPr sz="2000" spc="-25" dirty="0">
                <a:latin typeface="Times New Roman"/>
                <a:cs typeface="Times New Roman"/>
              </a:rPr>
              <a:t> </a:t>
            </a:r>
            <a:r>
              <a:rPr sz="2000" spc="-20" dirty="0">
                <a:latin typeface="Times New Roman"/>
                <a:cs typeface="Times New Roman"/>
              </a:rPr>
              <a:t>(const </a:t>
            </a:r>
            <a:r>
              <a:rPr sz="2000" spc="-15" dirty="0">
                <a:latin typeface="Times New Roman"/>
                <a:cs typeface="Times New Roman"/>
              </a:rPr>
              <a:t>property</a:t>
            </a:r>
            <a:r>
              <a:rPr sz="2000" spc="-25" dirty="0">
                <a:latin typeface="Times New Roman"/>
                <a:cs typeface="Times New Roman"/>
              </a:rPr>
              <a:t> </a:t>
            </a:r>
            <a:r>
              <a:rPr sz="2000" spc="-35" dirty="0">
                <a:latin typeface="Times New Roman"/>
                <a:cs typeface="Times New Roman"/>
              </a:rPr>
              <a:t>in</a:t>
            </a:r>
            <a:r>
              <a:rPr sz="2000" spc="-5" dirty="0">
                <a:latin typeface="Times New Roman"/>
                <a:cs typeface="Times New Roman"/>
              </a:rPr>
              <a:t> </a:t>
            </a:r>
            <a:r>
              <a:rPr sz="2000" spc="-35" dirty="0">
                <a:latin typeface="Times New Roman"/>
                <a:cs typeface="Times New Roman"/>
              </a:rPr>
              <a:t>object)</a:t>
            </a:r>
            <a:r>
              <a:rPr sz="2000" spc="-20" dirty="0">
                <a:latin typeface="Times New Roman"/>
                <a:cs typeface="Times New Roman"/>
              </a:rPr>
              <a:t> </a:t>
            </a:r>
            <a:r>
              <a:rPr sz="2000" spc="-5" dirty="0">
                <a:latin typeface="Times New Roman"/>
                <a:cs typeface="Times New Roman"/>
              </a:rPr>
              <a:t>{</a:t>
            </a:r>
            <a:endParaRPr sz="2000" dirty="0">
              <a:latin typeface="Times New Roman"/>
              <a:cs typeface="Times New Roman"/>
            </a:endParaRPr>
          </a:p>
          <a:p>
            <a:pPr marL="12700">
              <a:lnSpc>
                <a:spcPct val="100000"/>
              </a:lnSpc>
            </a:pPr>
            <a:r>
              <a:rPr sz="2000" spc="-35" dirty="0">
                <a:latin typeface="Times New Roman"/>
                <a:cs typeface="Times New Roman"/>
              </a:rPr>
              <a:t>console.log(`${property}:</a:t>
            </a:r>
            <a:r>
              <a:rPr sz="2000" spc="-55" dirty="0">
                <a:latin typeface="Times New Roman"/>
                <a:cs typeface="Times New Roman"/>
              </a:rPr>
              <a:t> </a:t>
            </a:r>
            <a:r>
              <a:rPr sz="2000" spc="-35" dirty="0">
                <a:latin typeface="Times New Roman"/>
                <a:cs typeface="Times New Roman"/>
              </a:rPr>
              <a:t>${object[property]}`);</a:t>
            </a:r>
            <a:endParaRPr sz="2000" dirty="0">
              <a:latin typeface="Times New Roman"/>
              <a:cs typeface="Times New Roman"/>
            </a:endParaRPr>
          </a:p>
          <a:p>
            <a:pPr marL="12700">
              <a:lnSpc>
                <a:spcPct val="100000"/>
              </a:lnSpc>
            </a:pPr>
            <a:r>
              <a:rPr sz="2000" spc="-5" dirty="0">
                <a:latin typeface="Times New Roman"/>
                <a:cs typeface="Times New Roman"/>
              </a:rPr>
              <a:t>}</a:t>
            </a:r>
            <a:endParaRPr sz="2000" dirty="0">
              <a:latin typeface="Times New Roman"/>
              <a:cs typeface="Times New Roman"/>
            </a:endParaRPr>
          </a:p>
          <a:p>
            <a:pPr>
              <a:lnSpc>
                <a:spcPct val="100000"/>
              </a:lnSpc>
              <a:spcBef>
                <a:spcPts val="30"/>
              </a:spcBef>
            </a:pPr>
            <a:endParaRPr sz="2000" dirty="0">
              <a:latin typeface="Times New Roman"/>
              <a:cs typeface="Times New Roman"/>
            </a:endParaRPr>
          </a:p>
          <a:p>
            <a:pPr marL="12700">
              <a:lnSpc>
                <a:spcPct val="100000"/>
              </a:lnSpc>
              <a:spcBef>
                <a:spcPts val="5"/>
              </a:spcBef>
            </a:pPr>
            <a:r>
              <a:rPr sz="2000" spc="395" dirty="0">
                <a:latin typeface="Times New Roman"/>
                <a:cs typeface="Times New Roman"/>
              </a:rPr>
              <a:t>//</a:t>
            </a:r>
            <a:r>
              <a:rPr sz="2000" spc="-25" dirty="0">
                <a:latin typeface="Times New Roman"/>
                <a:cs typeface="Times New Roman"/>
              </a:rPr>
              <a:t> </a:t>
            </a:r>
            <a:r>
              <a:rPr sz="2000" spc="-20" dirty="0">
                <a:latin typeface="Times New Roman"/>
                <a:cs typeface="Times New Roman"/>
              </a:rPr>
              <a:t>Expected</a:t>
            </a:r>
            <a:r>
              <a:rPr sz="2000" spc="-5" dirty="0">
                <a:latin typeface="Times New Roman"/>
                <a:cs typeface="Times New Roman"/>
              </a:rPr>
              <a:t> </a:t>
            </a:r>
            <a:r>
              <a:rPr sz="2000" spc="-10" dirty="0">
                <a:latin typeface="Times New Roman"/>
                <a:cs typeface="Times New Roman"/>
              </a:rPr>
              <a:t>output:</a:t>
            </a:r>
            <a:endParaRPr sz="2000" dirty="0">
              <a:latin typeface="Times New Roman"/>
              <a:cs typeface="Times New Roman"/>
            </a:endParaRPr>
          </a:p>
          <a:p>
            <a:pPr marL="12700">
              <a:lnSpc>
                <a:spcPct val="100000"/>
              </a:lnSpc>
            </a:pPr>
            <a:r>
              <a:rPr sz="2000" spc="395" dirty="0">
                <a:latin typeface="Times New Roman"/>
                <a:cs typeface="Times New Roman"/>
              </a:rPr>
              <a:t>//</a:t>
            </a:r>
            <a:r>
              <a:rPr sz="2000" spc="-50" dirty="0">
                <a:latin typeface="Times New Roman"/>
                <a:cs typeface="Times New Roman"/>
              </a:rPr>
              <a:t> </a:t>
            </a:r>
            <a:r>
              <a:rPr sz="2000" spc="-65" dirty="0">
                <a:latin typeface="Times New Roman"/>
                <a:cs typeface="Times New Roman"/>
              </a:rPr>
              <a:t>"a:</a:t>
            </a:r>
            <a:r>
              <a:rPr sz="2000" spc="-30" dirty="0">
                <a:latin typeface="Times New Roman"/>
                <a:cs typeface="Times New Roman"/>
              </a:rPr>
              <a:t> </a:t>
            </a:r>
            <a:r>
              <a:rPr sz="2000" spc="-25" dirty="0">
                <a:latin typeface="Times New Roman"/>
                <a:cs typeface="Times New Roman"/>
              </a:rPr>
              <a:t>1“</a:t>
            </a:r>
            <a:endParaRPr sz="2000" dirty="0">
              <a:latin typeface="Times New Roman"/>
              <a:cs typeface="Times New Roman"/>
            </a:endParaRPr>
          </a:p>
          <a:p>
            <a:pPr marL="12700">
              <a:lnSpc>
                <a:spcPct val="100000"/>
              </a:lnSpc>
            </a:pPr>
            <a:r>
              <a:rPr sz="2000" spc="395" dirty="0">
                <a:latin typeface="Times New Roman"/>
                <a:cs typeface="Times New Roman"/>
              </a:rPr>
              <a:t>//</a:t>
            </a:r>
            <a:r>
              <a:rPr sz="2000" spc="-50" dirty="0">
                <a:latin typeface="Times New Roman"/>
                <a:cs typeface="Times New Roman"/>
              </a:rPr>
              <a:t> </a:t>
            </a:r>
            <a:r>
              <a:rPr sz="2000" spc="-35" dirty="0">
                <a:latin typeface="Times New Roman"/>
                <a:cs typeface="Times New Roman"/>
              </a:rPr>
              <a:t>"b:</a:t>
            </a:r>
            <a:r>
              <a:rPr sz="2000" spc="-40" dirty="0">
                <a:latin typeface="Times New Roman"/>
                <a:cs typeface="Times New Roman"/>
              </a:rPr>
              <a:t> </a:t>
            </a:r>
            <a:r>
              <a:rPr sz="2000" spc="-25" dirty="0">
                <a:latin typeface="Times New Roman"/>
                <a:cs typeface="Times New Roman"/>
              </a:rPr>
              <a:t>2“</a:t>
            </a:r>
            <a:endParaRPr sz="2000" dirty="0">
              <a:latin typeface="Times New Roman"/>
              <a:cs typeface="Times New Roman"/>
            </a:endParaRPr>
          </a:p>
          <a:p>
            <a:pPr marL="12700">
              <a:lnSpc>
                <a:spcPct val="100000"/>
              </a:lnSpc>
            </a:pPr>
            <a:r>
              <a:rPr sz="2000" spc="395" dirty="0">
                <a:latin typeface="Times New Roman"/>
                <a:cs typeface="Times New Roman"/>
              </a:rPr>
              <a:t>//</a:t>
            </a:r>
            <a:r>
              <a:rPr sz="2000" spc="-50" dirty="0">
                <a:latin typeface="Times New Roman"/>
                <a:cs typeface="Times New Roman"/>
              </a:rPr>
              <a:t> </a:t>
            </a:r>
            <a:r>
              <a:rPr sz="2000" spc="-60" dirty="0">
                <a:latin typeface="Times New Roman"/>
                <a:cs typeface="Times New Roman"/>
              </a:rPr>
              <a:t>"c:</a:t>
            </a:r>
            <a:r>
              <a:rPr sz="2000" spc="-30" dirty="0">
                <a:latin typeface="Times New Roman"/>
                <a:cs typeface="Times New Roman"/>
              </a:rPr>
              <a:t> </a:t>
            </a:r>
            <a:r>
              <a:rPr sz="2000" spc="-25" dirty="0">
                <a:latin typeface="Times New Roman"/>
                <a:cs typeface="Times New Roman"/>
              </a:rPr>
              <a:t>3“</a:t>
            </a:r>
            <a:endParaRPr sz="2000" dirty="0">
              <a:latin typeface="Times New Roman"/>
              <a:cs typeface="Times New Roman"/>
            </a:endParaRPr>
          </a:p>
          <a:p>
            <a:pPr>
              <a:lnSpc>
                <a:spcPct val="100000"/>
              </a:lnSpc>
              <a:spcBef>
                <a:spcPts val="30"/>
              </a:spcBef>
            </a:pPr>
            <a:endParaRPr sz="2000" dirty="0">
              <a:latin typeface="Times New Roman"/>
              <a:cs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21620" y="1024890"/>
            <a:ext cx="5620213" cy="320601"/>
          </a:xfrm>
          <a:prstGeom prst="rect">
            <a:avLst/>
          </a:prstGeom>
        </p:spPr>
        <p:txBody>
          <a:bodyPr vert="horz" wrap="square" lIns="0" tIns="12700" rIns="0" bIns="0" rtlCol="0">
            <a:spAutoFit/>
          </a:bodyPr>
          <a:lstStyle/>
          <a:p>
            <a:pPr marL="12700">
              <a:lnSpc>
                <a:spcPct val="100000"/>
              </a:lnSpc>
              <a:spcBef>
                <a:spcPts val="100"/>
              </a:spcBef>
            </a:pPr>
            <a:r>
              <a:rPr sz="2000" b="1" u="sng" spc="5" dirty="0">
                <a:uFill>
                  <a:solidFill>
                    <a:srgbClr val="FF0000"/>
                  </a:solidFill>
                </a:uFill>
                <a:latin typeface="Times New Roman"/>
                <a:cs typeface="Times New Roman"/>
              </a:rPr>
              <a:t>STRING</a:t>
            </a:r>
            <a:r>
              <a:rPr sz="2000" b="1" u="sng" spc="-15" dirty="0">
                <a:uFill>
                  <a:solidFill>
                    <a:srgbClr val="FF0000"/>
                  </a:solidFill>
                </a:uFill>
                <a:latin typeface="Times New Roman"/>
                <a:cs typeface="Times New Roman"/>
              </a:rPr>
              <a:t> </a:t>
            </a:r>
            <a:r>
              <a:rPr sz="2000" b="1" u="sng" spc="25" dirty="0">
                <a:uFill>
                  <a:solidFill>
                    <a:srgbClr val="FF0000"/>
                  </a:solidFill>
                </a:uFill>
                <a:latin typeface="Times New Roman"/>
                <a:cs typeface="Times New Roman"/>
              </a:rPr>
              <a:t>CONCEPT</a:t>
            </a:r>
            <a:r>
              <a:rPr sz="2000" b="1" u="sng" spc="-5" dirty="0">
                <a:uFill>
                  <a:solidFill>
                    <a:srgbClr val="FF0000"/>
                  </a:solidFill>
                </a:uFill>
                <a:latin typeface="Times New Roman"/>
                <a:cs typeface="Times New Roman"/>
              </a:rPr>
              <a:t> </a:t>
            </a:r>
            <a:r>
              <a:rPr sz="2000" b="1" u="sng" spc="114" dirty="0">
                <a:uFill>
                  <a:solidFill>
                    <a:srgbClr val="FF0000"/>
                  </a:solidFill>
                </a:uFill>
                <a:latin typeface="Times New Roman"/>
                <a:cs typeface="Times New Roman"/>
              </a:rPr>
              <a:t>IN</a:t>
            </a:r>
            <a:r>
              <a:rPr sz="2000" b="1" u="sng" dirty="0">
                <a:uFill>
                  <a:solidFill>
                    <a:srgbClr val="FF0000"/>
                  </a:solidFill>
                </a:uFill>
                <a:latin typeface="Times New Roman"/>
                <a:cs typeface="Times New Roman"/>
              </a:rPr>
              <a:t> </a:t>
            </a:r>
            <a:r>
              <a:rPr sz="2000" b="1" u="sng" spc="-100" dirty="0">
                <a:uFill>
                  <a:solidFill>
                    <a:srgbClr val="FF0000"/>
                  </a:solidFill>
                </a:uFill>
                <a:latin typeface="Times New Roman"/>
                <a:cs typeface="Times New Roman"/>
              </a:rPr>
              <a:t>JAVASCRIPT</a:t>
            </a:r>
            <a:endParaRPr sz="2000" dirty="0">
              <a:latin typeface="Times New Roman"/>
              <a:cs typeface="Times New Roman"/>
            </a:endParaRPr>
          </a:p>
        </p:txBody>
      </p:sp>
      <p:sp>
        <p:nvSpPr>
          <p:cNvPr id="3" name="object 3"/>
          <p:cNvSpPr txBox="1">
            <a:spLocks noGrp="1"/>
          </p:cNvSpPr>
          <p:nvPr>
            <p:ph type="title"/>
          </p:nvPr>
        </p:nvSpPr>
        <p:spPr>
          <a:xfrm>
            <a:off x="1271777" y="1689862"/>
            <a:ext cx="7851775" cy="330835"/>
          </a:xfrm>
          <a:prstGeom prst="rect">
            <a:avLst/>
          </a:prstGeom>
        </p:spPr>
        <p:txBody>
          <a:bodyPr vert="horz" wrap="square" lIns="0" tIns="13335" rIns="0" bIns="0" rtlCol="0">
            <a:spAutoFit/>
          </a:bodyPr>
          <a:lstStyle/>
          <a:p>
            <a:pPr marL="12700">
              <a:lnSpc>
                <a:spcPct val="100000"/>
              </a:lnSpc>
              <a:spcBef>
                <a:spcPts val="105"/>
              </a:spcBef>
            </a:pPr>
            <a:r>
              <a:rPr sz="1800" b="0" u="none" spc="-30" dirty="0">
                <a:latin typeface="Times New Roman"/>
                <a:cs typeface="Times New Roman"/>
              </a:rPr>
              <a:t>STRING:-</a:t>
            </a:r>
            <a:r>
              <a:rPr sz="2000" b="0" u="none" spc="-30" dirty="0">
                <a:latin typeface="Times New Roman"/>
                <a:cs typeface="Times New Roman"/>
              </a:rPr>
              <a:t>Collection</a:t>
            </a:r>
            <a:r>
              <a:rPr sz="2000" b="0" u="none" spc="25" dirty="0">
                <a:latin typeface="Times New Roman"/>
                <a:cs typeface="Times New Roman"/>
              </a:rPr>
              <a:t> </a:t>
            </a:r>
            <a:r>
              <a:rPr sz="2000" b="0" u="none" spc="-5" dirty="0">
                <a:latin typeface="Times New Roman"/>
                <a:cs typeface="Times New Roman"/>
              </a:rPr>
              <a:t>of</a:t>
            </a:r>
            <a:r>
              <a:rPr sz="2000" b="0" u="none" spc="270" dirty="0">
                <a:latin typeface="Times New Roman"/>
                <a:cs typeface="Times New Roman"/>
              </a:rPr>
              <a:t> </a:t>
            </a:r>
            <a:r>
              <a:rPr sz="2000" b="0" u="none" spc="-35" dirty="0">
                <a:latin typeface="Times New Roman"/>
                <a:cs typeface="Times New Roman"/>
              </a:rPr>
              <a:t>characters</a:t>
            </a:r>
            <a:r>
              <a:rPr sz="2000" b="0" u="none" spc="-25" dirty="0">
                <a:latin typeface="Times New Roman"/>
                <a:cs typeface="Times New Roman"/>
              </a:rPr>
              <a:t> </a:t>
            </a:r>
            <a:r>
              <a:rPr sz="2000" b="0" u="none" spc="-35" dirty="0">
                <a:latin typeface="Times New Roman"/>
                <a:cs typeface="Times New Roman"/>
              </a:rPr>
              <a:t>(or)</a:t>
            </a:r>
            <a:r>
              <a:rPr sz="2000" b="0" u="none" spc="10" dirty="0">
                <a:latin typeface="Times New Roman"/>
                <a:cs typeface="Times New Roman"/>
              </a:rPr>
              <a:t> </a:t>
            </a:r>
            <a:r>
              <a:rPr sz="2000" b="0" u="none" spc="-10" dirty="0">
                <a:latin typeface="Times New Roman"/>
                <a:cs typeface="Times New Roman"/>
              </a:rPr>
              <a:t>bunch</a:t>
            </a:r>
            <a:r>
              <a:rPr sz="2000" b="0" u="none" spc="5" dirty="0">
                <a:latin typeface="Times New Roman"/>
                <a:cs typeface="Times New Roman"/>
              </a:rPr>
              <a:t> </a:t>
            </a:r>
            <a:r>
              <a:rPr sz="2000" b="0" u="none" spc="-5" dirty="0">
                <a:latin typeface="Times New Roman"/>
                <a:cs typeface="Times New Roman"/>
              </a:rPr>
              <a:t>of</a:t>
            </a:r>
            <a:r>
              <a:rPr sz="2000" b="0" u="none" spc="270" dirty="0">
                <a:latin typeface="Times New Roman"/>
                <a:cs typeface="Times New Roman"/>
              </a:rPr>
              <a:t> </a:t>
            </a:r>
            <a:r>
              <a:rPr sz="2000" b="0" u="none" spc="-35" dirty="0">
                <a:latin typeface="Times New Roman"/>
                <a:cs typeface="Times New Roman"/>
              </a:rPr>
              <a:t>characters</a:t>
            </a:r>
            <a:r>
              <a:rPr sz="2000" b="0" u="none" spc="-40" dirty="0">
                <a:latin typeface="Times New Roman"/>
                <a:cs typeface="Times New Roman"/>
              </a:rPr>
              <a:t> </a:t>
            </a:r>
            <a:r>
              <a:rPr sz="2000" b="0" u="none" spc="-100" dirty="0">
                <a:latin typeface="Times New Roman"/>
                <a:cs typeface="Times New Roman"/>
              </a:rPr>
              <a:t>we</a:t>
            </a:r>
            <a:r>
              <a:rPr sz="2000" b="0" u="none" spc="15" dirty="0">
                <a:latin typeface="Times New Roman"/>
                <a:cs typeface="Times New Roman"/>
              </a:rPr>
              <a:t> </a:t>
            </a:r>
            <a:r>
              <a:rPr sz="2000" b="0" u="none" spc="-65" dirty="0">
                <a:latin typeface="Times New Roman"/>
                <a:cs typeface="Times New Roman"/>
              </a:rPr>
              <a:t>called</a:t>
            </a:r>
            <a:r>
              <a:rPr sz="2000" b="0" u="none" spc="5" dirty="0">
                <a:latin typeface="Times New Roman"/>
                <a:cs typeface="Times New Roman"/>
              </a:rPr>
              <a:t> </a:t>
            </a:r>
            <a:r>
              <a:rPr sz="2000" b="0" u="none" spc="-40" dirty="0">
                <a:latin typeface="Times New Roman"/>
                <a:cs typeface="Times New Roman"/>
              </a:rPr>
              <a:t>it</a:t>
            </a:r>
            <a:r>
              <a:rPr sz="2000" b="0" u="none" spc="5" dirty="0">
                <a:latin typeface="Times New Roman"/>
                <a:cs typeface="Times New Roman"/>
              </a:rPr>
              <a:t> </a:t>
            </a:r>
            <a:r>
              <a:rPr sz="2000" b="0" u="none" spc="-60" dirty="0">
                <a:latin typeface="Times New Roman"/>
                <a:cs typeface="Times New Roman"/>
              </a:rPr>
              <a:t>as</a:t>
            </a:r>
            <a:r>
              <a:rPr sz="2000" b="0" u="none" dirty="0">
                <a:latin typeface="Times New Roman"/>
                <a:cs typeface="Times New Roman"/>
              </a:rPr>
              <a:t> </a:t>
            </a:r>
            <a:r>
              <a:rPr sz="2000" b="0" u="none" spc="-35" dirty="0">
                <a:latin typeface="Times New Roman"/>
                <a:cs typeface="Times New Roman"/>
              </a:rPr>
              <a:t>string</a:t>
            </a:r>
            <a:endParaRPr sz="2000">
              <a:latin typeface="Times New Roman"/>
              <a:cs typeface="Times New Roman"/>
            </a:endParaRPr>
          </a:p>
        </p:txBody>
      </p:sp>
      <p:sp>
        <p:nvSpPr>
          <p:cNvPr id="4" name="object 4"/>
          <p:cNvSpPr txBox="1"/>
          <p:nvPr/>
        </p:nvSpPr>
        <p:spPr>
          <a:xfrm>
            <a:off x="1271777" y="2296414"/>
            <a:ext cx="1986280" cy="391160"/>
          </a:xfrm>
          <a:prstGeom prst="rect">
            <a:avLst/>
          </a:prstGeom>
        </p:spPr>
        <p:txBody>
          <a:bodyPr vert="horz" wrap="square" lIns="0" tIns="12700" rIns="0" bIns="0" rtlCol="0">
            <a:spAutoFit/>
          </a:bodyPr>
          <a:lstStyle/>
          <a:p>
            <a:pPr marL="12700">
              <a:lnSpc>
                <a:spcPct val="100000"/>
              </a:lnSpc>
              <a:spcBef>
                <a:spcPts val="100"/>
              </a:spcBef>
            </a:pPr>
            <a:r>
              <a:rPr sz="2400" spc="-65" dirty="0">
                <a:solidFill>
                  <a:srgbClr val="00AFEF"/>
                </a:solidFill>
                <a:latin typeface="Times New Roman"/>
                <a:cs typeface="Times New Roman"/>
              </a:rPr>
              <a:t>String</a:t>
            </a:r>
            <a:r>
              <a:rPr sz="2400" spc="-70" dirty="0">
                <a:solidFill>
                  <a:srgbClr val="00AFEF"/>
                </a:solidFill>
                <a:latin typeface="Times New Roman"/>
                <a:cs typeface="Times New Roman"/>
              </a:rPr>
              <a:t> </a:t>
            </a:r>
            <a:r>
              <a:rPr sz="2400" spc="-30" dirty="0">
                <a:solidFill>
                  <a:srgbClr val="00AFEF"/>
                </a:solidFill>
                <a:latin typeface="Times New Roman"/>
                <a:cs typeface="Times New Roman"/>
              </a:rPr>
              <a:t>methods:-</a:t>
            </a:r>
            <a:endParaRPr sz="2400">
              <a:latin typeface="Times New Roman"/>
              <a:cs typeface="Times New Roman"/>
            </a:endParaRPr>
          </a:p>
        </p:txBody>
      </p:sp>
      <p:sp>
        <p:nvSpPr>
          <p:cNvPr id="5" name="object 5"/>
          <p:cNvSpPr txBox="1"/>
          <p:nvPr/>
        </p:nvSpPr>
        <p:spPr>
          <a:xfrm>
            <a:off x="1271777" y="3039821"/>
            <a:ext cx="2199005" cy="2220595"/>
          </a:xfrm>
          <a:prstGeom prst="rect">
            <a:avLst/>
          </a:prstGeom>
        </p:spPr>
        <p:txBody>
          <a:bodyPr vert="horz" wrap="square" lIns="0" tIns="12065" rIns="0" bIns="0" rtlCol="0">
            <a:spAutoFit/>
          </a:bodyPr>
          <a:lstStyle/>
          <a:p>
            <a:pPr marL="12700" marR="318770">
              <a:lnSpc>
                <a:spcPct val="100000"/>
              </a:lnSpc>
              <a:spcBef>
                <a:spcPts val="95"/>
              </a:spcBef>
            </a:pPr>
            <a:r>
              <a:rPr sz="1600" spc="-5" dirty="0">
                <a:latin typeface="Verdana"/>
                <a:cs typeface="Verdana"/>
              </a:rPr>
              <a:t>String</a:t>
            </a:r>
            <a:r>
              <a:rPr sz="1600" spc="10" dirty="0">
                <a:latin typeface="Verdana"/>
                <a:cs typeface="Verdana"/>
              </a:rPr>
              <a:t> </a:t>
            </a:r>
            <a:r>
              <a:rPr sz="1600" spc="-10" dirty="0">
                <a:latin typeface="Verdana"/>
                <a:cs typeface="Verdana"/>
              </a:rPr>
              <a:t>length </a:t>
            </a:r>
            <a:r>
              <a:rPr sz="1600" spc="-5" dirty="0">
                <a:latin typeface="Verdana"/>
                <a:cs typeface="Verdana"/>
              </a:rPr>
              <a:t> String</a:t>
            </a:r>
            <a:r>
              <a:rPr sz="1600" spc="10" dirty="0">
                <a:latin typeface="Verdana"/>
                <a:cs typeface="Verdana"/>
              </a:rPr>
              <a:t> </a:t>
            </a:r>
            <a:r>
              <a:rPr sz="1600" spc="-10" dirty="0">
                <a:latin typeface="Verdana"/>
                <a:cs typeface="Verdana"/>
              </a:rPr>
              <a:t>slice() </a:t>
            </a:r>
            <a:r>
              <a:rPr sz="1600" spc="-5" dirty="0">
                <a:latin typeface="Verdana"/>
                <a:cs typeface="Verdana"/>
              </a:rPr>
              <a:t> String substring() </a:t>
            </a:r>
            <a:r>
              <a:rPr sz="1600" spc="-550" dirty="0">
                <a:latin typeface="Verdana"/>
                <a:cs typeface="Verdana"/>
              </a:rPr>
              <a:t> </a:t>
            </a:r>
            <a:r>
              <a:rPr sz="1600" spc="-5" dirty="0">
                <a:latin typeface="Verdana"/>
                <a:cs typeface="Verdana"/>
              </a:rPr>
              <a:t>String</a:t>
            </a:r>
            <a:r>
              <a:rPr sz="1600" spc="10" dirty="0">
                <a:latin typeface="Verdana"/>
                <a:cs typeface="Verdana"/>
              </a:rPr>
              <a:t> </a:t>
            </a:r>
            <a:r>
              <a:rPr sz="1600" spc="-10" dirty="0">
                <a:latin typeface="Verdana"/>
                <a:cs typeface="Verdana"/>
              </a:rPr>
              <a:t>substr() </a:t>
            </a:r>
            <a:r>
              <a:rPr sz="1600" spc="-5" dirty="0">
                <a:latin typeface="Verdana"/>
                <a:cs typeface="Verdana"/>
              </a:rPr>
              <a:t> String</a:t>
            </a:r>
            <a:r>
              <a:rPr sz="1600" dirty="0">
                <a:latin typeface="Verdana"/>
                <a:cs typeface="Verdana"/>
              </a:rPr>
              <a:t> </a:t>
            </a:r>
            <a:r>
              <a:rPr sz="1600" spc="-5" dirty="0">
                <a:latin typeface="Verdana"/>
                <a:cs typeface="Verdana"/>
              </a:rPr>
              <a:t>replace() </a:t>
            </a:r>
            <a:r>
              <a:rPr sz="1600" dirty="0">
                <a:latin typeface="Verdana"/>
                <a:cs typeface="Verdana"/>
              </a:rPr>
              <a:t> </a:t>
            </a:r>
            <a:r>
              <a:rPr sz="1600" spc="-5" dirty="0">
                <a:latin typeface="Verdana"/>
                <a:cs typeface="Verdana"/>
              </a:rPr>
              <a:t>String</a:t>
            </a:r>
            <a:r>
              <a:rPr sz="1600" spc="-55" dirty="0">
                <a:latin typeface="Verdana"/>
                <a:cs typeface="Verdana"/>
              </a:rPr>
              <a:t> </a:t>
            </a:r>
            <a:r>
              <a:rPr sz="1600" spc="-5" dirty="0">
                <a:latin typeface="Verdana"/>
                <a:cs typeface="Verdana"/>
              </a:rPr>
              <a:t>replaceAll()</a:t>
            </a:r>
            <a:endParaRPr sz="1600" dirty="0">
              <a:latin typeface="Verdana"/>
              <a:cs typeface="Verdana"/>
            </a:endParaRPr>
          </a:p>
          <a:p>
            <a:pPr marL="12700" marR="5080" algn="just">
              <a:lnSpc>
                <a:spcPct val="100000"/>
              </a:lnSpc>
              <a:spcBef>
                <a:spcPts val="5"/>
              </a:spcBef>
            </a:pPr>
            <a:r>
              <a:rPr sz="1600" spc="-5" dirty="0">
                <a:latin typeface="Verdana"/>
                <a:cs typeface="Verdana"/>
              </a:rPr>
              <a:t>String</a:t>
            </a:r>
            <a:r>
              <a:rPr sz="1600" spc="-55" dirty="0">
                <a:latin typeface="Verdana"/>
                <a:cs typeface="Verdana"/>
              </a:rPr>
              <a:t> </a:t>
            </a:r>
            <a:r>
              <a:rPr sz="1600" spc="-5" dirty="0">
                <a:latin typeface="Verdana"/>
                <a:cs typeface="Verdana"/>
              </a:rPr>
              <a:t>toUpperCase() </a:t>
            </a:r>
            <a:r>
              <a:rPr sz="1600" spc="-550" dirty="0">
                <a:latin typeface="Verdana"/>
                <a:cs typeface="Verdana"/>
              </a:rPr>
              <a:t> </a:t>
            </a:r>
            <a:r>
              <a:rPr sz="1600" spc="-5" dirty="0">
                <a:latin typeface="Verdana"/>
                <a:cs typeface="Verdana"/>
              </a:rPr>
              <a:t>String </a:t>
            </a:r>
            <a:r>
              <a:rPr sz="1600" spc="-10" dirty="0">
                <a:latin typeface="Verdana"/>
                <a:cs typeface="Verdana"/>
              </a:rPr>
              <a:t>toLowerCase() </a:t>
            </a:r>
            <a:r>
              <a:rPr sz="1600" spc="-550" dirty="0">
                <a:latin typeface="Verdana"/>
                <a:cs typeface="Verdana"/>
              </a:rPr>
              <a:t> </a:t>
            </a:r>
            <a:r>
              <a:rPr sz="1600" spc="-5" dirty="0">
                <a:latin typeface="Verdana"/>
                <a:cs typeface="Verdana"/>
              </a:rPr>
              <a:t>String</a:t>
            </a:r>
            <a:r>
              <a:rPr sz="1600" spc="10" dirty="0">
                <a:latin typeface="Verdana"/>
                <a:cs typeface="Verdana"/>
              </a:rPr>
              <a:t> </a:t>
            </a:r>
            <a:r>
              <a:rPr sz="1600" spc="-5" dirty="0">
                <a:latin typeface="Verdana"/>
                <a:cs typeface="Verdana"/>
              </a:rPr>
              <a:t>concat()</a:t>
            </a:r>
            <a:endParaRPr sz="1600" dirty="0">
              <a:latin typeface="Verdana"/>
              <a:cs typeface="Verdana"/>
            </a:endParaRPr>
          </a:p>
        </p:txBody>
      </p:sp>
      <p:sp>
        <p:nvSpPr>
          <p:cNvPr id="6" name="object 6"/>
          <p:cNvSpPr txBox="1"/>
          <p:nvPr/>
        </p:nvSpPr>
        <p:spPr>
          <a:xfrm>
            <a:off x="5720841" y="2991357"/>
            <a:ext cx="2068830" cy="1976120"/>
          </a:xfrm>
          <a:prstGeom prst="rect">
            <a:avLst/>
          </a:prstGeom>
        </p:spPr>
        <p:txBody>
          <a:bodyPr vert="horz" wrap="square" lIns="0" tIns="12065" rIns="0" bIns="0" rtlCol="0">
            <a:spAutoFit/>
          </a:bodyPr>
          <a:lstStyle/>
          <a:p>
            <a:pPr marL="12700" marR="251460">
              <a:lnSpc>
                <a:spcPct val="100000"/>
              </a:lnSpc>
              <a:spcBef>
                <a:spcPts val="95"/>
              </a:spcBef>
            </a:pPr>
            <a:r>
              <a:rPr sz="1600" spc="-5" dirty="0">
                <a:latin typeface="Verdana"/>
                <a:cs typeface="Verdana"/>
              </a:rPr>
              <a:t>String</a:t>
            </a:r>
            <a:r>
              <a:rPr sz="1600" spc="5" dirty="0">
                <a:latin typeface="Verdana"/>
                <a:cs typeface="Verdana"/>
              </a:rPr>
              <a:t> </a:t>
            </a:r>
            <a:r>
              <a:rPr sz="1600" spc="-5" dirty="0">
                <a:latin typeface="Verdana"/>
                <a:cs typeface="Verdana"/>
              </a:rPr>
              <a:t>trim() </a:t>
            </a:r>
            <a:r>
              <a:rPr sz="1600" dirty="0">
                <a:latin typeface="Verdana"/>
                <a:cs typeface="Verdana"/>
              </a:rPr>
              <a:t> </a:t>
            </a:r>
            <a:r>
              <a:rPr sz="1600" spc="-5" dirty="0">
                <a:latin typeface="Verdana"/>
                <a:cs typeface="Verdana"/>
              </a:rPr>
              <a:t>String</a:t>
            </a:r>
            <a:r>
              <a:rPr sz="1600" spc="-60" dirty="0">
                <a:latin typeface="Verdana"/>
                <a:cs typeface="Verdana"/>
              </a:rPr>
              <a:t> </a:t>
            </a:r>
            <a:r>
              <a:rPr sz="1600" spc="-5" dirty="0">
                <a:latin typeface="Verdana"/>
                <a:cs typeface="Verdana"/>
              </a:rPr>
              <a:t>trimStart() </a:t>
            </a:r>
            <a:r>
              <a:rPr sz="1600" spc="-550" dirty="0">
                <a:latin typeface="Verdana"/>
                <a:cs typeface="Verdana"/>
              </a:rPr>
              <a:t> </a:t>
            </a:r>
            <a:r>
              <a:rPr sz="1600" spc="-5" dirty="0">
                <a:latin typeface="Verdana"/>
                <a:cs typeface="Verdana"/>
              </a:rPr>
              <a:t>String trimEnd() </a:t>
            </a:r>
            <a:r>
              <a:rPr sz="1600" dirty="0">
                <a:latin typeface="Verdana"/>
                <a:cs typeface="Verdana"/>
              </a:rPr>
              <a:t> </a:t>
            </a:r>
            <a:r>
              <a:rPr sz="1600" spc="-5" dirty="0">
                <a:latin typeface="Verdana"/>
                <a:cs typeface="Verdana"/>
              </a:rPr>
              <a:t>String </a:t>
            </a:r>
            <a:r>
              <a:rPr sz="1600" spc="-10" dirty="0">
                <a:latin typeface="Verdana"/>
                <a:cs typeface="Verdana"/>
              </a:rPr>
              <a:t>padStart() </a:t>
            </a:r>
            <a:r>
              <a:rPr sz="1600" spc="-550" dirty="0">
                <a:latin typeface="Verdana"/>
                <a:cs typeface="Verdana"/>
              </a:rPr>
              <a:t> </a:t>
            </a:r>
            <a:r>
              <a:rPr sz="1600" spc="-5" dirty="0">
                <a:latin typeface="Verdana"/>
                <a:cs typeface="Verdana"/>
              </a:rPr>
              <a:t>String </a:t>
            </a:r>
            <a:r>
              <a:rPr sz="1600" spc="-10" dirty="0">
                <a:latin typeface="Verdana"/>
                <a:cs typeface="Verdana"/>
              </a:rPr>
              <a:t>padEnd() </a:t>
            </a:r>
            <a:r>
              <a:rPr sz="1600" spc="-5" dirty="0">
                <a:latin typeface="Verdana"/>
                <a:cs typeface="Verdana"/>
              </a:rPr>
              <a:t> String</a:t>
            </a:r>
            <a:r>
              <a:rPr sz="1600" spc="5" dirty="0">
                <a:latin typeface="Verdana"/>
                <a:cs typeface="Verdana"/>
              </a:rPr>
              <a:t> </a:t>
            </a:r>
            <a:r>
              <a:rPr sz="1600" spc="-10" dirty="0">
                <a:latin typeface="Verdana"/>
                <a:cs typeface="Verdana"/>
              </a:rPr>
              <a:t>charAt()</a:t>
            </a:r>
            <a:endParaRPr sz="1600" dirty="0">
              <a:latin typeface="Verdana"/>
              <a:cs typeface="Verdana"/>
            </a:endParaRPr>
          </a:p>
          <a:p>
            <a:pPr marL="12700" marR="5080">
              <a:lnSpc>
                <a:spcPct val="100000"/>
              </a:lnSpc>
            </a:pPr>
            <a:r>
              <a:rPr sz="1600" spc="-5" dirty="0">
                <a:latin typeface="Verdana"/>
                <a:cs typeface="Verdana"/>
              </a:rPr>
              <a:t>String </a:t>
            </a:r>
            <a:r>
              <a:rPr sz="1600" spc="-10" dirty="0">
                <a:latin typeface="Verdana"/>
                <a:cs typeface="Verdana"/>
              </a:rPr>
              <a:t>charCodeAt() </a:t>
            </a:r>
            <a:r>
              <a:rPr sz="1600" spc="-550" dirty="0">
                <a:latin typeface="Verdana"/>
                <a:cs typeface="Verdana"/>
              </a:rPr>
              <a:t> </a:t>
            </a:r>
            <a:r>
              <a:rPr sz="1600" spc="-5" dirty="0">
                <a:latin typeface="Verdana"/>
                <a:cs typeface="Verdana"/>
              </a:rPr>
              <a:t>String</a:t>
            </a:r>
            <a:r>
              <a:rPr sz="1600" spc="10" dirty="0">
                <a:latin typeface="Verdana"/>
                <a:cs typeface="Verdana"/>
              </a:rPr>
              <a:t> </a:t>
            </a:r>
            <a:r>
              <a:rPr sz="1600" spc="-10" dirty="0">
                <a:latin typeface="Verdana"/>
                <a:cs typeface="Verdana"/>
              </a:rPr>
              <a:t>split()</a:t>
            </a:r>
            <a:endParaRPr sz="1600" dirty="0">
              <a:latin typeface="Verdana"/>
              <a:cs typeface="Verdana"/>
            </a:endParaRPr>
          </a:p>
        </p:txBody>
      </p:sp>
    </p:spTree>
    <p:extLst>
      <p:ext uri="{BB962C8B-B14F-4D97-AF65-F5344CB8AC3E}">
        <p14:creationId xmlns:p14="http://schemas.microsoft.com/office/powerpoint/2010/main" val="7412364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3813" y="844041"/>
            <a:ext cx="9775825" cy="5242560"/>
          </a:xfrm>
          <a:prstGeom prst="rect">
            <a:avLst/>
          </a:prstGeom>
        </p:spPr>
        <p:txBody>
          <a:bodyPr vert="horz" wrap="square" lIns="0" tIns="12700" rIns="0" bIns="0" rtlCol="0">
            <a:spAutoFit/>
          </a:bodyPr>
          <a:lstStyle/>
          <a:p>
            <a:pPr marL="241300" indent="-229235">
              <a:lnSpc>
                <a:spcPct val="100000"/>
              </a:lnSpc>
              <a:spcBef>
                <a:spcPts val="100"/>
              </a:spcBef>
              <a:buSzPct val="94444"/>
              <a:buFont typeface="Verdana"/>
              <a:buAutoNum type="arabicPeriod"/>
              <a:tabLst>
                <a:tab pos="241935" algn="l"/>
              </a:tabLst>
            </a:pPr>
            <a:r>
              <a:rPr sz="1800" dirty="0">
                <a:latin typeface="Verdana"/>
                <a:cs typeface="Verdana"/>
              </a:rPr>
              <a:t>The</a:t>
            </a:r>
            <a:r>
              <a:rPr sz="1800" spc="5" dirty="0">
                <a:latin typeface="Verdana"/>
                <a:cs typeface="Verdana"/>
              </a:rPr>
              <a:t> </a:t>
            </a:r>
            <a:r>
              <a:rPr sz="1800" spc="-5" dirty="0">
                <a:latin typeface="Consolas"/>
                <a:cs typeface="Consolas"/>
              </a:rPr>
              <a:t>lengt</a:t>
            </a:r>
            <a:r>
              <a:rPr sz="1800" dirty="0">
                <a:latin typeface="Consolas"/>
                <a:cs typeface="Consolas"/>
              </a:rPr>
              <a:t>h</a:t>
            </a:r>
            <a:r>
              <a:rPr sz="1800" spc="-350" dirty="0">
                <a:latin typeface="Consolas"/>
                <a:cs typeface="Consolas"/>
              </a:rPr>
              <a:t> </a:t>
            </a:r>
            <a:r>
              <a:rPr sz="1800" spc="-10" dirty="0">
                <a:latin typeface="Verdana"/>
                <a:cs typeface="Verdana"/>
              </a:rPr>
              <a:t>p</a:t>
            </a:r>
            <a:r>
              <a:rPr sz="1800" dirty="0">
                <a:latin typeface="Verdana"/>
                <a:cs typeface="Verdana"/>
              </a:rPr>
              <a:t>ro</a:t>
            </a:r>
            <a:r>
              <a:rPr sz="1800" spc="-10" dirty="0">
                <a:latin typeface="Verdana"/>
                <a:cs typeface="Verdana"/>
              </a:rPr>
              <a:t>p</a:t>
            </a:r>
            <a:r>
              <a:rPr sz="1800" dirty="0">
                <a:latin typeface="Verdana"/>
                <a:cs typeface="Verdana"/>
              </a:rPr>
              <a:t>e</a:t>
            </a:r>
            <a:r>
              <a:rPr sz="1800" spc="-5" dirty="0">
                <a:latin typeface="Verdana"/>
                <a:cs typeface="Verdana"/>
              </a:rPr>
              <a:t>r</a:t>
            </a:r>
            <a:r>
              <a:rPr sz="1800" spc="-15" dirty="0">
                <a:latin typeface="Verdana"/>
                <a:cs typeface="Verdana"/>
              </a:rPr>
              <a:t>t</a:t>
            </a:r>
            <a:r>
              <a:rPr sz="1800" dirty="0">
                <a:latin typeface="Verdana"/>
                <a:cs typeface="Verdana"/>
              </a:rPr>
              <a:t>y</a:t>
            </a:r>
            <a:r>
              <a:rPr sz="1800" spc="15" dirty="0">
                <a:latin typeface="Verdana"/>
                <a:cs typeface="Verdana"/>
              </a:rPr>
              <a:t> </a:t>
            </a:r>
            <a:r>
              <a:rPr sz="1800" dirty="0">
                <a:latin typeface="Verdana"/>
                <a:cs typeface="Verdana"/>
              </a:rPr>
              <a:t>r</a:t>
            </a:r>
            <a:r>
              <a:rPr sz="1800" spc="-5" dirty="0">
                <a:latin typeface="Verdana"/>
                <a:cs typeface="Verdana"/>
              </a:rPr>
              <a:t>eturn</a:t>
            </a:r>
            <a:r>
              <a:rPr sz="1800" dirty="0">
                <a:latin typeface="Verdana"/>
                <a:cs typeface="Verdana"/>
              </a:rPr>
              <a:t>s </a:t>
            </a:r>
            <a:r>
              <a:rPr sz="1800" spc="-5" dirty="0">
                <a:latin typeface="Verdana"/>
                <a:cs typeface="Verdana"/>
              </a:rPr>
              <a:t>th</a:t>
            </a:r>
            <a:r>
              <a:rPr sz="1800" dirty="0">
                <a:latin typeface="Verdana"/>
                <a:cs typeface="Verdana"/>
              </a:rPr>
              <a:t>e</a:t>
            </a:r>
            <a:r>
              <a:rPr sz="1800" spc="5" dirty="0">
                <a:latin typeface="Verdana"/>
                <a:cs typeface="Verdana"/>
              </a:rPr>
              <a:t> l</a:t>
            </a:r>
            <a:r>
              <a:rPr sz="1800" dirty="0">
                <a:latin typeface="Verdana"/>
                <a:cs typeface="Verdana"/>
              </a:rPr>
              <a:t>en</a:t>
            </a:r>
            <a:r>
              <a:rPr sz="1800" spc="-10" dirty="0">
                <a:latin typeface="Verdana"/>
                <a:cs typeface="Verdana"/>
              </a:rPr>
              <a:t>g</a:t>
            </a:r>
            <a:r>
              <a:rPr sz="1800" spc="-5" dirty="0">
                <a:latin typeface="Verdana"/>
                <a:cs typeface="Verdana"/>
              </a:rPr>
              <a:t>t</a:t>
            </a:r>
            <a:r>
              <a:rPr sz="1800" dirty="0">
                <a:latin typeface="Verdana"/>
                <a:cs typeface="Verdana"/>
              </a:rPr>
              <a:t>h</a:t>
            </a:r>
            <a:r>
              <a:rPr sz="1800" spc="10" dirty="0">
                <a:latin typeface="Verdana"/>
                <a:cs typeface="Verdana"/>
              </a:rPr>
              <a:t> </a:t>
            </a:r>
            <a:r>
              <a:rPr sz="1800" dirty="0">
                <a:latin typeface="Verdana"/>
                <a:cs typeface="Verdana"/>
              </a:rPr>
              <a:t>of a str</a:t>
            </a:r>
            <a:r>
              <a:rPr sz="1800" spc="10" dirty="0">
                <a:latin typeface="Verdana"/>
                <a:cs typeface="Verdana"/>
              </a:rPr>
              <a:t>i</a:t>
            </a:r>
            <a:r>
              <a:rPr sz="1800" dirty="0">
                <a:latin typeface="Verdana"/>
                <a:cs typeface="Verdana"/>
              </a:rPr>
              <a:t>ng:</a:t>
            </a:r>
          </a:p>
          <a:p>
            <a:pPr>
              <a:lnSpc>
                <a:spcPct val="100000"/>
              </a:lnSpc>
              <a:spcBef>
                <a:spcPts val="40"/>
              </a:spcBef>
              <a:buAutoNum type="arabicPeriod"/>
            </a:pPr>
            <a:endParaRPr sz="1800" dirty="0">
              <a:latin typeface="Verdana"/>
              <a:cs typeface="Verdana"/>
            </a:endParaRPr>
          </a:p>
          <a:p>
            <a:pPr marL="12700">
              <a:lnSpc>
                <a:spcPts val="2140"/>
              </a:lnSpc>
              <a:spcBef>
                <a:spcPts val="5"/>
              </a:spcBef>
            </a:pPr>
            <a:r>
              <a:rPr sz="1800" spc="-5" dirty="0">
                <a:latin typeface="Verdana"/>
                <a:cs typeface="Verdana"/>
              </a:rPr>
              <a:t>Ex:-</a:t>
            </a:r>
            <a:endParaRPr sz="1800" dirty="0">
              <a:latin typeface="Verdana"/>
              <a:cs typeface="Verdana"/>
            </a:endParaRPr>
          </a:p>
          <a:p>
            <a:pPr marL="12700">
              <a:lnSpc>
                <a:spcPts val="2140"/>
              </a:lnSpc>
            </a:pPr>
            <a:r>
              <a:rPr sz="1800" spc="-5" dirty="0">
                <a:latin typeface="Arial MT"/>
                <a:cs typeface="Arial MT"/>
              </a:rPr>
              <a:t>let</a:t>
            </a:r>
            <a:r>
              <a:rPr sz="1800" spc="10" dirty="0">
                <a:latin typeface="Arial MT"/>
                <a:cs typeface="Arial MT"/>
              </a:rPr>
              <a:t> </a:t>
            </a:r>
            <a:r>
              <a:rPr sz="1800" spc="-5" dirty="0">
                <a:latin typeface="Arial MT"/>
                <a:cs typeface="Arial MT"/>
              </a:rPr>
              <a:t>text</a:t>
            </a:r>
            <a:r>
              <a:rPr sz="1800" spc="10" dirty="0">
                <a:latin typeface="Arial MT"/>
                <a:cs typeface="Arial MT"/>
              </a:rPr>
              <a:t> </a:t>
            </a:r>
            <a:r>
              <a:rPr sz="1800" dirty="0">
                <a:latin typeface="Arial MT"/>
                <a:cs typeface="Arial MT"/>
              </a:rPr>
              <a:t>=</a:t>
            </a:r>
            <a:r>
              <a:rPr sz="1800" spc="5" dirty="0">
                <a:latin typeface="Arial MT"/>
                <a:cs typeface="Arial MT"/>
              </a:rPr>
              <a:t> </a:t>
            </a:r>
            <a:r>
              <a:rPr sz="1800" spc="-5" dirty="0">
                <a:latin typeface="Arial MT"/>
                <a:cs typeface="Arial MT"/>
              </a:rPr>
              <a:t>"ABCDEFGHIJKLMNOPQRSTUVWXYZ";</a:t>
            </a:r>
            <a:endParaRPr sz="1800" dirty="0">
              <a:latin typeface="Arial MT"/>
              <a:cs typeface="Arial MT"/>
            </a:endParaRPr>
          </a:p>
          <a:p>
            <a:pPr marL="12700">
              <a:lnSpc>
                <a:spcPct val="100000"/>
              </a:lnSpc>
            </a:pPr>
            <a:r>
              <a:rPr sz="1800" spc="-5" dirty="0">
                <a:latin typeface="Verdana"/>
                <a:cs typeface="Verdana"/>
              </a:rPr>
              <a:t>Console.log(text.length)//26</a:t>
            </a:r>
            <a:endParaRPr sz="1800" dirty="0">
              <a:latin typeface="Verdana"/>
              <a:cs typeface="Verdana"/>
            </a:endParaRPr>
          </a:p>
          <a:p>
            <a:pPr>
              <a:lnSpc>
                <a:spcPct val="100000"/>
              </a:lnSpc>
              <a:spcBef>
                <a:spcPts val="20"/>
              </a:spcBef>
            </a:pPr>
            <a:endParaRPr sz="1700" u="sng" dirty="0">
              <a:latin typeface="Verdana"/>
              <a:cs typeface="Verdana"/>
            </a:endParaRPr>
          </a:p>
          <a:p>
            <a:pPr marL="12700" marR="5080">
              <a:lnSpc>
                <a:spcPct val="101699"/>
              </a:lnSpc>
              <a:buClr>
                <a:srgbClr val="000000"/>
              </a:buClr>
              <a:buFont typeface="Arial MT"/>
              <a:buAutoNum type="arabicPeriod" startAt="2"/>
              <a:tabLst>
                <a:tab pos="328295" algn="l"/>
              </a:tabLst>
            </a:pPr>
            <a:r>
              <a:rPr sz="1800" u="sng" spc="-10" dirty="0">
                <a:latin typeface="Consolas"/>
                <a:cs typeface="Consolas"/>
              </a:rPr>
              <a:t>slice() </a:t>
            </a:r>
            <a:r>
              <a:rPr sz="1800" spc="-5" dirty="0">
                <a:latin typeface="Verdana"/>
                <a:cs typeface="Verdana"/>
              </a:rPr>
              <a:t>extracts </a:t>
            </a:r>
            <a:r>
              <a:rPr sz="1800" dirty="0">
                <a:latin typeface="Verdana"/>
                <a:cs typeface="Verdana"/>
              </a:rPr>
              <a:t>a </a:t>
            </a:r>
            <a:r>
              <a:rPr sz="1800" spc="-5" dirty="0">
                <a:latin typeface="Verdana"/>
                <a:cs typeface="Verdana"/>
              </a:rPr>
              <a:t>part </a:t>
            </a:r>
            <a:r>
              <a:rPr sz="1800" dirty="0">
                <a:latin typeface="Verdana"/>
                <a:cs typeface="Verdana"/>
              </a:rPr>
              <a:t>of a string and </a:t>
            </a:r>
            <a:r>
              <a:rPr sz="1800" spc="-5" dirty="0">
                <a:latin typeface="Verdana"/>
                <a:cs typeface="Verdana"/>
              </a:rPr>
              <a:t>returns the </a:t>
            </a:r>
            <a:r>
              <a:rPr sz="1800" spc="-10" dirty="0">
                <a:latin typeface="Verdana"/>
                <a:cs typeface="Verdana"/>
              </a:rPr>
              <a:t>extracted </a:t>
            </a:r>
            <a:r>
              <a:rPr sz="1800" spc="-5" dirty="0">
                <a:latin typeface="Verdana"/>
                <a:cs typeface="Verdana"/>
              </a:rPr>
              <a:t>part </a:t>
            </a:r>
            <a:r>
              <a:rPr sz="1800" dirty="0">
                <a:latin typeface="Verdana"/>
                <a:cs typeface="Verdana"/>
              </a:rPr>
              <a:t>in a new string. </a:t>
            </a:r>
            <a:r>
              <a:rPr sz="1800" spc="-620" dirty="0">
                <a:latin typeface="Verdana"/>
                <a:cs typeface="Verdana"/>
              </a:rPr>
              <a:t> </a:t>
            </a:r>
            <a:r>
              <a:rPr sz="1800" spc="-5" dirty="0">
                <a:latin typeface="Verdana"/>
                <a:cs typeface="Verdana"/>
              </a:rPr>
              <a:t>The</a:t>
            </a:r>
            <a:r>
              <a:rPr sz="1800" spc="5" dirty="0">
                <a:latin typeface="Verdana"/>
                <a:cs typeface="Verdana"/>
              </a:rPr>
              <a:t> </a:t>
            </a:r>
            <a:r>
              <a:rPr sz="1800" spc="-5" dirty="0">
                <a:latin typeface="Verdana"/>
                <a:cs typeface="Verdana"/>
              </a:rPr>
              <a:t>method</a:t>
            </a:r>
            <a:r>
              <a:rPr sz="1800" spc="10" dirty="0">
                <a:latin typeface="Verdana"/>
                <a:cs typeface="Verdana"/>
              </a:rPr>
              <a:t> </a:t>
            </a:r>
            <a:r>
              <a:rPr sz="1800" spc="-5" dirty="0">
                <a:latin typeface="Verdana"/>
                <a:cs typeface="Verdana"/>
              </a:rPr>
              <a:t>takes </a:t>
            </a:r>
            <a:r>
              <a:rPr sz="1800" dirty="0">
                <a:latin typeface="Verdana"/>
                <a:cs typeface="Verdana"/>
              </a:rPr>
              <a:t>2</a:t>
            </a:r>
            <a:r>
              <a:rPr sz="1800" spc="20" dirty="0">
                <a:latin typeface="Verdana"/>
                <a:cs typeface="Verdana"/>
              </a:rPr>
              <a:t> </a:t>
            </a:r>
            <a:r>
              <a:rPr sz="1800" spc="-10" dirty="0">
                <a:latin typeface="Verdana"/>
                <a:cs typeface="Verdana"/>
              </a:rPr>
              <a:t>parameters:</a:t>
            </a:r>
            <a:r>
              <a:rPr sz="1800" spc="15" dirty="0">
                <a:latin typeface="Verdana"/>
                <a:cs typeface="Verdana"/>
              </a:rPr>
              <a:t> </a:t>
            </a:r>
            <a:r>
              <a:rPr sz="1800" spc="-5" dirty="0">
                <a:latin typeface="Verdana"/>
                <a:cs typeface="Verdana"/>
              </a:rPr>
              <a:t>start</a:t>
            </a:r>
            <a:r>
              <a:rPr sz="1800" spc="10" dirty="0">
                <a:latin typeface="Verdana"/>
                <a:cs typeface="Verdana"/>
              </a:rPr>
              <a:t> </a:t>
            </a:r>
            <a:r>
              <a:rPr sz="1800" spc="-5" dirty="0">
                <a:latin typeface="Verdana"/>
                <a:cs typeface="Verdana"/>
              </a:rPr>
              <a:t>position,</a:t>
            </a:r>
            <a:r>
              <a:rPr sz="1800" spc="5" dirty="0">
                <a:latin typeface="Verdana"/>
                <a:cs typeface="Verdana"/>
              </a:rPr>
              <a:t> </a:t>
            </a:r>
            <a:r>
              <a:rPr sz="1800" spc="-5" dirty="0">
                <a:latin typeface="Verdana"/>
                <a:cs typeface="Verdana"/>
              </a:rPr>
              <a:t>and</a:t>
            </a:r>
            <a:r>
              <a:rPr sz="1800" spc="5" dirty="0">
                <a:latin typeface="Verdana"/>
                <a:cs typeface="Verdana"/>
              </a:rPr>
              <a:t> </a:t>
            </a:r>
            <a:r>
              <a:rPr sz="1800" spc="-5" dirty="0">
                <a:latin typeface="Verdana"/>
                <a:cs typeface="Verdana"/>
              </a:rPr>
              <a:t>end</a:t>
            </a:r>
            <a:r>
              <a:rPr sz="1800" spc="10" dirty="0">
                <a:latin typeface="Verdana"/>
                <a:cs typeface="Verdana"/>
              </a:rPr>
              <a:t> </a:t>
            </a:r>
            <a:r>
              <a:rPr sz="1800" dirty="0">
                <a:latin typeface="Verdana"/>
                <a:cs typeface="Verdana"/>
              </a:rPr>
              <a:t>position</a:t>
            </a:r>
            <a:r>
              <a:rPr sz="1800" spc="10" dirty="0">
                <a:latin typeface="Verdana"/>
                <a:cs typeface="Verdana"/>
              </a:rPr>
              <a:t> </a:t>
            </a:r>
            <a:r>
              <a:rPr sz="1800" spc="-5" dirty="0">
                <a:latin typeface="Verdana"/>
                <a:cs typeface="Verdana"/>
              </a:rPr>
              <a:t>(end</a:t>
            </a:r>
            <a:r>
              <a:rPr sz="1800" spc="5" dirty="0">
                <a:latin typeface="Verdana"/>
                <a:cs typeface="Verdana"/>
              </a:rPr>
              <a:t> </a:t>
            </a:r>
            <a:r>
              <a:rPr sz="1800" dirty="0">
                <a:latin typeface="Verdana"/>
                <a:cs typeface="Verdana"/>
              </a:rPr>
              <a:t>not</a:t>
            </a:r>
            <a:r>
              <a:rPr sz="1800" spc="5" dirty="0">
                <a:latin typeface="Verdana"/>
                <a:cs typeface="Verdana"/>
              </a:rPr>
              <a:t> </a:t>
            </a:r>
            <a:r>
              <a:rPr sz="1800" spc="-5" dirty="0">
                <a:latin typeface="Verdana"/>
                <a:cs typeface="Verdana"/>
              </a:rPr>
              <a:t>included). </a:t>
            </a:r>
            <a:r>
              <a:rPr sz="1800" spc="-615" dirty="0">
                <a:latin typeface="Verdana"/>
                <a:cs typeface="Verdana"/>
              </a:rPr>
              <a:t> </a:t>
            </a:r>
            <a:r>
              <a:rPr sz="1800" spc="-5" dirty="0">
                <a:latin typeface="Verdana"/>
                <a:cs typeface="Verdana"/>
              </a:rPr>
              <a:t>Ex:-</a:t>
            </a:r>
            <a:endParaRPr sz="1800" dirty="0">
              <a:latin typeface="Verdana"/>
              <a:cs typeface="Verdana"/>
            </a:endParaRPr>
          </a:p>
          <a:p>
            <a:pPr marL="12700" marR="5982335">
              <a:lnSpc>
                <a:spcPts val="2400"/>
              </a:lnSpc>
              <a:spcBef>
                <a:spcPts val="40"/>
              </a:spcBef>
            </a:pPr>
            <a:r>
              <a:rPr sz="2000" dirty="0">
                <a:latin typeface="Arial MT"/>
                <a:cs typeface="Arial MT"/>
              </a:rPr>
              <a:t>let </a:t>
            </a:r>
            <a:r>
              <a:rPr sz="2000" spc="-5" dirty="0">
                <a:latin typeface="Arial MT"/>
                <a:cs typeface="Arial MT"/>
              </a:rPr>
              <a:t>text </a:t>
            </a:r>
            <a:r>
              <a:rPr sz="2000" dirty="0">
                <a:latin typeface="Arial MT"/>
                <a:cs typeface="Arial MT"/>
              </a:rPr>
              <a:t>= "Apple, Banana, Kiwi"; </a:t>
            </a:r>
            <a:r>
              <a:rPr sz="2000" spc="5" dirty="0">
                <a:latin typeface="Arial MT"/>
                <a:cs typeface="Arial MT"/>
              </a:rPr>
              <a:t> </a:t>
            </a:r>
            <a:r>
              <a:rPr sz="2000" dirty="0">
                <a:latin typeface="Arial MT"/>
                <a:cs typeface="Arial MT"/>
              </a:rPr>
              <a:t>let</a:t>
            </a:r>
            <a:r>
              <a:rPr sz="2000" spc="-5" dirty="0">
                <a:latin typeface="Arial MT"/>
                <a:cs typeface="Arial MT"/>
              </a:rPr>
              <a:t> </a:t>
            </a:r>
            <a:r>
              <a:rPr sz="2000" dirty="0">
                <a:latin typeface="Arial MT"/>
                <a:cs typeface="Arial MT"/>
              </a:rPr>
              <a:t>part</a:t>
            </a:r>
            <a:r>
              <a:rPr sz="2000" spc="-25" dirty="0">
                <a:latin typeface="Arial MT"/>
                <a:cs typeface="Arial MT"/>
              </a:rPr>
              <a:t> </a:t>
            </a:r>
            <a:r>
              <a:rPr sz="2000" dirty="0">
                <a:latin typeface="Arial MT"/>
                <a:cs typeface="Arial MT"/>
              </a:rPr>
              <a:t>=</a:t>
            </a:r>
            <a:r>
              <a:rPr sz="2000" spc="-5" dirty="0">
                <a:latin typeface="Arial MT"/>
                <a:cs typeface="Arial MT"/>
              </a:rPr>
              <a:t> text.slice(7,13);//banana</a:t>
            </a:r>
            <a:endParaRPr sz="2000" dirty="0">
              <a:latin typeface="Arial MT"/>
              <a:cs typeface="Arial MT"/>
            </a:endParaRPr>
          </a:p>
          <a:p>
            <a:pPr>
              <a:lnSpc>
                <a:spcPct val="100000"/>
              </a:lnSpc>
              <a:spcBef>
                <a:spcPts val="20"/>
              </a:spcBef>
            </a:pPr>
            <a:endParaRPr sz="2000" u="sng" dirty="0">
              <a:latin typeface="Arial MT"/>
              <a:cs typeface="Arial MT"/>
            </a:endParaRPr>
          </a:p>
          <a:p>
            <a:pPr marL="12700" marR="5767705">
              <a:lnSpc>
                <a:spcPct val="100000"/>
              </a:lnSpc>
              <a:buClr>
                <a:srgbClr val="000000"/>
              </a:buClr>
              <a:buSzPct val="95000"/>
              <a:buAutoNum type="arabicPeriod" startAt="3"/>
              <a:tabLst>
                <a:tab pos="226060" algn="l"/>
              </a:tabLst>
            </a:pPr>
            <a:r>
              <a:rPr sz="2000" u="sng" dirty="0">
                <a:latin typeface="Arial MT"/>
                <a:cs typeface="Arial MT"/>
              </a:rPr>
              <a:t>substring(</a:t>
            </a:r>
            <a:r>
              <a:rPr sz="2000" u="sng" spc="-55" dirty="0">
                <a:latin typeface="Arial MT"/>
                <a:cs typeface="Arial MT"/>
              </a:rPr>
              <a:t> </a:t>
            </a:r>
            <a:r>
              <a:rPr sz="2000" u="sng" dirty="0">
                <a:latin typeface="Arial MT"/>
                <a:cs typeface="Arial MT"/>
              </a:rPr>
              <a:t>):-</a:t>
            </a:r>
            <a:r>
              <a:rPr sz="2000" u="sng" spc="-30" dirty="0">
                <a:latin typeface="Arial MT"/>
                <a:cs typeface="Arial MT"/>
              </a:rPr>
              <a:t> </a:t>
            </a:r>
            <a:r>
              <a:rPr sz="2000" dirty="0">
                <a:latin typeface="Arial MT"/>
                <a:cs typeface="Arial MT"/>
              </a:rPr>
              <a:t>it</a:t>
            </a:r>
            <a:r>
              <a:rPr sz="2000" spc="-20" dirty="0">
                <a:latin typeface="Arial MT"/>
                <a:cs typeface="Arial MT"/>
              </a:rPr>
              <a:t> </a:t>
            </a:r>
            <a:r>
              <a:rPr sz="2000" dirty="0">
                <a:latin typeface="Arial MT"/>
                <a:cs typeface="Arial MT"/>
              </a:rPr>
              <a:t>is</a:t>
            </a:r>
            <a:r>
              <a:rPr sz="2000" spc="-5" dirty="0">
                <a:latin typeface="Arial MT"/>
                <a:cs typeface="Arial MT"/>
              </a:rPr>
              <a:t> </a:t>
            </a:r>
            <a:r>
              <a:rPr sz="2000" dirty="0">
                <a:latin typeface="Arial MT"/>
                <a:cs typeface="Arial MT"/>
              </a:rPr>
              <a:t>similar</a:t>
            </a:r>
            <a:r>
              <a:rPr sz="2000" spc="-20" dirty="0">
                <a:latin typeface="Arial MT"/>
                <a:cs typeface="Arial MT"/>
              </a:rPr>
              <a:t> </a:t>
            </a:r>
            <a:r>
              <a:rPr sz="2000" dirty="0">
                <a:latin typeface="Arial MT"/>
                <a:cs typeface="Arial MT"/>
              </a:rPr>
              <a:t>to</a:t>
            </a:r>
            <a:r>
              <a:rPr sz="2000" spc="-30" dirty="0">
                <a:latin typeface="Arial MT"/>
                <a:cs typeface="Arial MT"/>
              </a:rPr>
              <a:t> </a:t>
            </a:r>
            <a:r>
              <a:rPr sz="2000" dirty="0">
                <a:latin typeface="Arial MT"/>
                <a:cs typeface="Arial MT"/>
              </a:rPr>
              <a:t>slice(</a:t>
            </a:r>
            <a:r>
              <a:rPr sz="2000" spc="-30" dirty="0">
                <a:latin typeface="Arial MT"/>
                <a:cs typeface="Arial MT"/>
              </a:rPr>
              <a:t> </a:t>
            </a:r>
            <a:r>
              <a:rPr sz="2000" dirty="0">
                <a:latin typeface="Arial MT"/>
                <a:cs typeface="Arial MT"/>
              </a:rPr>
              <a:t>) </a:t>
            </a:r>
            <a:r>
              <a:rPr sz="2000" spc="-540" dirty="0">
                <a:latin typeface="Arial MT"/>
                <a:cs typeface="Arial MT"/>
              </a:rPr>
              <a:t> </a:t>
            </a:r>
            <a:r>
              <a:rPr sz="2000" spc="-5" dirty="0">
                <a:latin typeface="Arial MT"/>
                <a:cs typeface="Arial MT"/>
              </a:rPr>
              <a:t>Syntax:-substring(start,end)</a:t>
            </a:r>
            <a:endParaRPr sz="2000" dirty="0">
              <a:latin typeface="Arial MT"/>
              <a:cs typeface="Arial MT"/>
            </a:endParaRPr>
          </a:p>
          <a:p>
            <a:pPr marL="12700" marR="2357120">
              <a:lnSpc>
                <a:spcPct val="100000"/>
              </a:lnSpc>
            </a:pPr>
            <a:r>
              <a:rPr sz="2000" dirty="0">
                <a:latin typeface="Arial MT"/>
                <a:cs typeface="Arial MT"/>
              </a:rPr>
              <a:t>The</a:t>
            </a:r>
            <a:r>
              <a:rPr sz="2000" spc="-15" dirty="0">
                <a:latin typeface="Arial MT"/>
                <a:cs typeface="Arial MT"/>
              </a:rPr>
              <a:t> </a:t>
            </a:r>
            <a:r>
              <a:rPr sz="2000" spc="-5" dirty="0">
                <a:latin typeface="Arial MT"/>
                <a:cs typeface="Arial MT"/>
              </a:rPr>
              <a:t>difference</a:t>
            </a:r>
            <a:r>
              <a:rPr sz="2000" spc="-35" dirty="0">
                <a:latin typeface="Arial MT"/>
                <a:cs typeface="Arial MT"/>
              </a:rPr>
              <a:t> </a:t>
            </a:r>
            <a:r>
              <a:rPr sz="2000" dirty="0">
                <a:latin typeface="Arial MT"/>
                <a:cs typeface="Arial MT"/>
              </a:rPr>
              <a:t>is that</a:t>
            </a:r>
            <a:r>
              <a:rPr sz="2000" spc="-20" dirty="0">
                <a:latin typeface="Arial MT"/>
                <a:cs typeface="Arial MT"/>
              </a:rPr>
              <a:t> </a:t>
            </a:r>
            <a:r>
              <a:rPr sz="2000" dirty="0">
                <a:latin typeface="Arial MT"/>
                <a:cs typeface="Arial MT"/>
              </a:rPr>
              <a:t>substring(</a:t>
            </a:r>
            <a:r>
              <a:rPr sz="2000" spc="-45" dirty="0">
                <a:latin typeface="Arial MT"/>
                <a:cs typeface="Arial MT"/>
              </a:rPr>
              <a:t> </a:t>
            </a:r>
            <a:r>
              <a:rPr sz="2000" dirty="0">
                <a:latin typeface="Arial MT"/>
                <a:cs typeface="Arial MT"/>
              </a:rPr>
              <a:t>)</a:t>
            </a:r>
            <a:r>
              <a:rPr sz="2000" spc="-10" dirty="0">
                <a:latin typeface="Arial MT"/>
                <a:cs typeface="Arial MT"/>
              </a:rPr>
              <a:t> </a:t>
            </a:r>
            <a:r>
              <a:rPr sz="2000" dirty="0">
                <a:latin typeface="Arial MT"/>
                <a:cs typeface="Arial MT"/>
              </a:rPr>
              <a:t>cannot</a:t>
            </a:r>
            <a:r>
              <a:rPr sz="2000" spc="-30" dirty="0">
                <a:latin typeface="Arial MT"/>
                <a:cs typeface="Arial MT"/>
              </a:rPr>
              <a:t> </a:t>
            </a:r>
            <a:r>
              <a:rPr sz="2000" dirty="0">
                <a:latin typeface="Arial MT"/>
                <a:cs typeface="Arial MT"/>
              </a:rPr>
              <a:t>accept</a:t>
            </a:r>
            <a:r>
              <a:rPr sz="2000" spc="-40" dirty="0">
                <a:latin typeface="Arial MT"/>
                <a:cs typeface="Arial MT"/>
              </a:rPr>
              <a:t> </a:t>
            </a:r>
            <a:r>
              <a:rPr sz="2000" dirty="0">
                <a:latin typeface="Arial MT"/>
                <a:cs typeface="Arial MT"/>
              </a:rPr>
              <a:t>negative</a:t>
            </a:r>
            <a:r>
              <a:rPr sz="2000" spc="-15" dirty="0">
                <a:latin typeface="Arial MT"/>
                <a:cs typeface="Arial MT"/>
              </a:rPr>
              <a:t> </a:t>
            </a:r>
            <a:r>
              <a:rPr sz="2000" dirty="0">
                <a:latin typeface="Arial MT"/>
                <a:cs typeface="Arial MT"/>
              </a:rPr>
              <a:t>indexes. </a:t>
            </a:r>
            <a:r>
              <a:rPr sz="2000" spc="-540" dirty="0">
                <a:latin typeface="Arial MT"/>
                <a:cs typeface="Arial MT"/>
              </a:rPr>
              <a:t> </a:t>
            </a:r>
            <a:r>
              <a:rPr sz="2000" spc="-5" dirty="0">
                <a:latin typeface="Arial MT"/>
                <a:cs typeface="Arial MT"/>
              </a:rPr>
              <a:t>Ex:-</a:t>
            </a:r>
            <a:endParaRPr sz="2000" dirty="0">
              <a:latin typeface="Arial MT"/>
              <a:cs typeface="Arial MT"/>
            </a:endParaRPr>
          </a:p>
          <a:p>
            <a:pPr marL="12700">
              <a:lnSpc>
                <a:spcPct val="100000"/>
              </a:lnSpc>
            </a:pPr>
            <a:r>
              <a:rPr sz="2000" dirty="0">
                <a:latin typeface="Arial MT"/>
                <a:cs typeface="Arial MT"/>
              </a:rPr>
              <a:t>let</a:t>
            </a:r>
            <a:r>
              <a:rPr sz="2000" spc="-15" dirty="0">
                <a:latin typeface="Arial MT"/>
                <a:cs typeface="Arial MT"/>
              </a:rPr>
              <a:t> </a:t>
            </a:r>
            <a:r>
              <a:rPr sz="2000" spc="-5" dirty="0">
                <a:latin typeface="Arial MT"/>
                <a:cs typeface="Arial MT"/>
              </a:rPr>
              <a:t>text</a:t>
            </a:r>
            <a:r>
              <a:rPr sz="2000" spc="-35" dirty="0">
                <a:latin typeface="Arial MT"/>
                <a:cs typeface="Arial MT"/>
              </a:rPr>
              <a:t> </a:t>
            </a:r>
            <a:r>
              <a:rPr sz="2000" dirty="0">
                <a:latin typeface="Arial MT"/>
                <a:cs typeface="Arial MT"/>
              </a:rPr>
              <a:t>=</a:t>
            </a:r>
            <a:r>
              <a:rPr sz="2000" spc="-25" dirty="0">
                <a:latin typeface="Arial MT"/>
                <a:cs typeface="Arial MT"/>
              </a:rPr>
              <a:t> </a:t>
            </a:r>
            <a:r>
              <a:rPr sz="2000" dirty="0">
                <a:latin typeface="Arial MT"/>
                <a:cs typeface="Arial MT"/>
              </a:rPr>
              <a:t>"Apple,</a:t>
            </a:r>
            <a:r>
              <a:rPr sz="2000" spc="-20" dirty="0">
                <a:latin typeface="Arial MT"/>
                <a:cs typeface="Arial MT"/>
              </a:rPr>
              <a:t> </a:t>
            </a:r>
            <a:r>
              <a:rPr sz="2000" dirty="0">
                <a:latin typeface="Arial MT"/>
                <a:cs typeface="Arial MT"/>
              </a:rPr>
              <a:t>Banana,</a:t>
            </a:r>
            <a:r>
              <a:rPr sz="2000" spc="-30" dirty="0">
                <a:latin typeface="Arial MT"/>
                <a:cs typeface="Arial MT"/>
              </a:rPr>
              <a:t> </a:t>
            </a:r>
            <a:r>
              <a:rPr sz="2000" dirty="0">
                <a:latin typeface="Arial MT"/>
                <a:cs typeface="Arial MT"/>
              </a:rPr>
              <a:t>Kiwi";</a:t>
            </a:r>
          </a:p>
          <a:p>
            <a:pPr marL="12700">
              <a:lnSpc>
                <a:spcPct val="100000"/>
              </a:lnSpc>
              <a:spcBef>
                <a:spcPts val="5"/>
              </a:spcBef>
            </a:pPr>
            <a:r>
              <a:rPr sz="2000" dirty="0">
                <a:latin typeface="Arial MT"/>
                <a:cs typeface="Arial MT"/>
              </a:rPr>
              <a:t>let</a:t>
            </a:r>
            <a:r>
              <a:rPr sz="2000" spc="-5" dirty="0">
                <a:latin typeface="Arial MT"/>
                <a:cs typeface="Arial MT"/>
              </a:rPr>
              <a:t> </a:t>
            </a:r>
            <a:r>
              <a:rPr sz="2000" dirty="0">
                <a:latin typeface="Arial MT"/>
                <a:cs typeface="Arial MT"/>
              </a:rPr>
              <a:t>part</a:t>
            </a:r>
            <a:r>
              <a:rPr sz="2000" spc="-25" dirty="0">
                <a:latin typeface="Arial MT"/>
                <a:cs typeface="Arial MT"/>
              </a:rPr>
              <a:t> </a:t>
            </a:r>
            <a:r>
              <a:rPr sz="2000" dirty="0">
                <a:latin typeface="Arial MT"/>
                <a:cs typeface="Arial MT"/>
              </a:rPr>
              <a:t>= </a:t>
            </a:r>
            <a:r>
              <a:rPr sz="2000" spc="-5" dirty="0">
                <a:latin typeface="Arial MT"/>
                <a:cs typeface="Arial MT"/>
              </a:rPr>
              <a:t>text.substring(7,13);//banana</a:t>
            </a:r>
            <a:endParaRPr sz="2000" dirty="0">
              <a:latin typeface="Arial MT"/>
              <a:cs typeface="Arial MT"/>
            </a:endParaRPr>
          </a:p>
        </p:txBody>
      </p:sp>
    </p:spTree>
    <p:extLst>
      <p:ext uri="{BB962C8B-B14F-4D97-AF65-F5344CB8AC3E}">
        <p14:creationId xmlns:p14="http://schemas.microsoft.com/office/powerpoint/2010/main" val="2796619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5300" y="291391"/>
            <a:ext cx="3945811" cy="679450"/>
          </a:xfrm>
          <a:prstGeom prst="rect">
            <a:avLst/>
          </a:prstGeom>
        </p:spPr>
        <p:txBody>
          <a:bodyPr vert="horz" wrap="square" lIns="0" tIns="13335" rIns="0" bIns="0" rtlCol="0">
            <a:spAutoFit/>
          </a:bodyPr>
          <a:lstStyle/>
          <a:p>
            <a:pPr marL="12700">
              <a:lnSpc>
                <a:spcPts val="2330"/>
              </a:lnSpc>
              <a:spcBef>
                <a:spcPts val="105"/>
              </a:spcBef>
            </a:pPr>
            <a:r>
              <a:rPr sz="2000" b="0" u="none" dirty="0">
                <a:solidFill>
                  <a:schemeClr val="tx1"/>
                </a:solidFill>
                <a:latin typeface="Arial MT"/>
                <a:cs typeface="Arial MT"/>
              </a:rPr>
              <a:t>4</a:t>
            </a:r>
            <a:r>
              <a:rPr sz="2000" b="0" u="sng" dirty="0">
                <a:solidFill>
                  <a:schemeClr val="tx1"/>
                </a:solidFill>
                <a:latin typeface="Arial MT"/>
                <a:cs typeface="Arial MT"/>
              </a:rPr>
              <a:t>.substr(</a:t>
            </a:r>
            <a:r>
              <a:rPr sz="2000" b="0" u="sng" spc="-114" dirty="0">
                <a:solidFill>
                  <a:schemeClr val="tx1"/>
                </a:solidFill>
                <a:latin typeface="Arial MT"/>
                <a:cs typeface="Arial MT"/>
              </a:rPr>
              <a:t> </a:t>
            </a:r>
            <a:r>
              <a:rPr sz="2000" b="0" u="sng" spc="-5" dirty="0">
                <a:solidFill>
                  <a:schemeClr val="tx1"/>
                </a:solidFill>
                <a:latin typeface="Arial MT"/>
                <a:cs typeface="Arial MT"/>
              </a:rPr>
              <a:t>):-</a:t>
            </a:r>
            <a:endParaRPr sz="2000" u="sng" dirty="0">
              <a:solidFill>
                <a:schemeClr val="tx1"/>
              </a:solidFill>
              <a:latin typeface="Arial MT"/>
              <a:cs typeface="Arial MT"/>
            </a:endParaRPr>
          </a:p>
          <a:p>
            <a:pPr marL="12700">
              <a:lnSpc>
                <a:spcPts val="2810"/>
              </a:lnSpc>
            </a:pPr>
            <a:r>
              <a:rPr sz="2400" b="0" u="none" spc="-50" dirty="0">
                <a:solidFill>
                  <a:schemeClr val="tx1"/>
                </a:solidFill>
                <a:latin typeface="Times New Roman"/>
                <a:cs typeface="Times New Roman"/>
              </a:rPr>
              <a:t>Substr(</a:t>
            </a:r>
            <a:r>
              <a:rPr sz="2400" b="0" u="none" spc="-5" dirty="0">
                <a:solidFill>
                  <a:schemeClr val="tx1"/>
                </a:solidFill>
                <a:latin typeface="Times New Roman"/>
                <a:cs typeface="Times New Roman"/>
              </a:rPr>
              <a:t> </a:t>
            </a:r>
            <a:r>
              <a:rPr sz="2400" b="0" u="none" spc="-100" dirty="0">
                <a:solidFill>
                  <a:schemeClr val="tx1"/>
                </a:solidFill>
                <a:latin typeface="Times New Roman"/>
                <a:cs typeface="Times New Roman"/>
              </a:rPr>
              <a:t>)</a:t>
            </a:r>
            <a:r>
              <a:rPr sz="2400" b="0" u="none" spc="-5" dirty="0">
                <a:solidFill>
                  <a:schemeClr val="tx1"/>
                </a:solidFill>
                <a:latin typeface="Times New Roman"/>
                <a:cs typeface="Times New Roman"/>
              </a:rPr>
              <a:t> </a:t>
            </a:r>
            <a:r>
              <a:rPr sz="2400" b="0" u="none" spc="-90" dirty="0">
                <a:solidFill>
                  <a:schemeClr val="tx1"/>
                </a:solidFill>
                <a:latin typeface="Times New Roman"/>
                <a:cs typeface="Times New Roman"/>
              </a:rPr>
              <a:t>is</a:t>
            </a:r>
            <a:r>
              <a:rPr sz="2400" b="0" u="none" spc="-5" dirty="0">
                <a:solidFill>
                  <a:schemeClr val="tx1"/>
                </a:solidFill>
                <a:latin typeface="Times New Roman"/>
                <a:cs typeface="Times New Roman"/>
              </a:rPr>
              <a:t> </a:t>
            </a:r>
            <a:r>
              <a:rPr sz="2400" b="0" u="none" spc="-75" dirty="0">
                <a:solidFill>
                  <a:schemeClr val="tx1"/>
                </a:solidFill>
                <a:latin typeface="Times New Roman"/>
                <a:cs typeface="Times New Roman"/>
              </a:rPr>
              <a:t>similar</a:t>
            </a:r>
            <a:r>
              <a:rPr sz="2400" b="0" u="none" spc="5" dirty="0">
                <a:solidFill>
                  <a:schemeClr val="tx1"/>
                </a:solidFill>
                <a:latin typeface="Times New Roman"/>
                <a:cs typeface="Times New Roman"/>
              </a:rPr>
              <a:t> </a:t>
            </a:r>
            <a:r>
              <a:rPr sz="2400" b="0" u="none" spc="25" dirty="0">
                <a:solidFill>
                  <a:schemeClr val="tx1"/>
                </a:solidFill>
                <a:latin typeface="Times New Roman"/>
                <a:cs typeface="Times New Roman"/>
              </a:rPr>
              <a:t>to</a:t>
            </a:r>
            <a:r>
              <a:rPr sz="2400" b="0" u="none" spc="-5" dirty="0">
                <a:solidFill>
                  <a:schemeClr val="tx1"/>
                </a:solidFill>
                <a:latin typeface="Times New Roman"/>
                <a:cs typeface="Times New Roman"/>
              </a:rPr>
              <a:t> </a:t>
            </a:r>
            <a:r>
              <a:rPr sz="2400" b="0" u="none" spc="-90" dirty="0">
                <a:solidFill>
                  <a:schemeClr val="tx1"/>
                </a:solidFill>
                <a:latin typeface="Times New Roman"/>
                <a:cs typeface="Times New Roman"/>
              </a:rPr>
              <a:t>slice(</a:t>
            </a:r>
            <a:r>
              <a:rPr sz="2400" b="0" u="none" dirty="0">
                <a:solidFill>
                  <a:schemeClr val="tx1"/>
                </a:solidFill>
                <a:latin typeface="Times New Roman"/>
                <a:cs typeface="Times New Roman"/>
              </a:rPr>
              <a:t> </a:t>
            </a:r>
            <a:r>
              <a:rPr sz="2400" b="0" u="none" spc="-100" dirty="0">
                <a:solidFill>
                  <a:schemeClr val="tx1"/>
                </a:solidFill>
                <a:latin typeface="Times New Roman"/>
                <a:cs typeface="Times New Roman"/>
              </a:rPr>
              <a:t>)</a:t>
            </a:r>
            <a:endParaRPr sz="2400" dirty="0">
              <a:solidFill>
                <a:schemeClr val="tx1"/>
              </a:solidFill>
              <a:latin typeface="Times New Roman"/>
              <a:cs typeface="Times New Roman"/>
            </a:endParaRPr>
          </a:p>
        </p:txBody>
      </p:sp>
      <p:sp>
        <p:nvSpPr>
          <p:cNvPr id="3" name="object 3"/>
          <p:cNvSpPr txBox="1">
            <a:spLocks noGrp="1"/>
          </p:cNvSpPr>
          <p:nvPr>
            <p:ph idx="1"/>
          </p:nvPr>
        </p:nvSpPr>
        <p:spPr>
          <a:xfrm>
            <a:off x="423088" y="1114085"/>
            <a:ext cx="11088688" cy="5488682"/>
          </a:xfrm>
          <a:prstGeom prst="rect">
            <a:avLst/>
          </a:prstGeom>
        </p:spPr>
        <p:txBody>
          <a:bodyPr vert="horz" wrap="square" lIns="0" tIns="12700" rIns="0" bIns="0" rtlCol="0">
            <a:spAutoFit/>
          </a:bodyPr>
          <a:lstStyle/>
          <a:p>
            <a:pPr marL="12700">
              <a:lnSpc>
                <a:spcPts val="2110"/>
              </a:lnSpc>
              <a:spcBef>
                <a:spcPts val="100"/>
              </a:spcBef>
            </a:pPr>
            <a:r>
              <a:rPr dirty="0"/>
              <a:t>The</a:t>
            </a:r>
            <a:r>
              <a:rPr spc="-10" dirty="0"/>
              <a:t> </a:t>
            </a:r>
            <a:r>
              <a:rPr spc="-5" dirty="0"/>
              <a:t>difference</a:t>
            </a:r>
            <a:r>
              <a:rPr spc="20" dirty="0"/>
              <a:t> </a:t>
            </a:r>
            <a:r>
              <a:rPr spc="-5" dirty="0"/>
              <a:t>is</a:t>
            </a:r>
            <a:r>
              <a:rPr spc="5" dirty="0"/>
              <a:t> </a:t>
            </a:r>
            <a:r>
              <a:rPr dirty="0"/>
              <a:t>that</a:t>
            </a:r>
            <a:r>
              <a:rPr spc="10" dirty="0"/>
              <a:t> </a:t>
            </a:r>
            <a:r>
              <a:rPr spc="-5" dirty="0"/>
              <a:t>the</a:t>
            </a:r>
            <a:r>
              <a:rPr spc="5" dirty="0"/>
              <a:t> </a:t>
            </a:r>
            <a:r>
              <a:rPr spc="-5" dirty="0"/>
              <a:t>second</a:t>
            </a:r>
            <a:r>
              <a:rPr spc="15" dirty="0"/>
              <a:t> </a:t>
            </a:r>
            <a:r>
              <a:rPr spc="-5" dirty="0"/>
              <a:t>parameter</a:t>
            </a:r>
            <a:r>
              <a:rPr spc="15" dirty="0"/>
              <a:t> </a:t>
            </a:r>
            <a:r>
              <a:rPr spc="-5" dirty="0"/>
              <a:t>specifies</a:t>
            </a:r>
            <a:r>
              <a:rPr spc="25" dirty="0"/>
              <a:t> </a:t>
            </a:r>
            <a:r>
              <a:rPr dirty="0"/>
              <a:t>the</a:t>
            </a:r>
            <a:r>
              <a:rPr spc="5" dirty="0"/>
              <a:t> </a:t>
            </a:r>
            <a:r>
              <a:rPr spc="-5" dirty="0"/>
              <a:t>length</a:t>
            </a:r>
            <a:r>
              <a:rPr spc="20" dirty="0"/>
              <a:t> </a:t>
            </a:r>
            <a:r>
              <a:rPr dirty="0"/>
              <a:t>of</a:t>
            </a:r>
            <a:r>
              <a:rPr spc="5" dirty="0"/>
              <a:t> </a:t>
            </a:r>
            <a:r>
              <a:rPr dirty="0"/>
              <a:t>the</a:t>
            </a:r>
            <a:r>
              <a:rPr spc="10" dirty="0"/>
              <a:t> </a:t>
            </a:r>
            <a:r>
              <a:rPr spc="-5" dirty="0"/>
              <a:t>extracted</a:t>
            </a:r>
            <a:r>
              <a:rPr spc="15" dirty="0"/>
              <a:t> </a:t>
            </a:r>
            <a:r>
              <a:rPr dirty="0"/>
              <a:t>part.</a:t>
            </a:r>
          </a:p>
          <a:p>
            <a:pPr marL="12700">
              <a:lnSpc>
                <a:spcPts val="2110"/>
              </a:lnSpc>
            </a:pPr>
            <a:r>
              <a:rPr spc="-40" dirty="0">
                <a:latin typeface="Times New Roman"/>
                <a:cs typeface="Times New Roman"/>
              </a:rPr>
              <a:t>Ex:-</a:t>
            </a:r>
          </a:p>
          <a:p>
            <a:pPr marL="12700">
              <a:lnSpc>
                <a:spcPct val="100000"/>
              </a:lnSpc>
              <a:spcBef>
                <a:spcPts val="95"/>
              </a:spcBef>
            </a:pPr>
            <a:r>
              <a:rPr spc="-5" dirty="0"/>
              <a:t>let text </a:t>
            </a:r>
            <a:r>
              <a:rPr dirty="0"/>
              <a:t>=</a:t>
            </a:r>
            <a:r>
              <a:rPr spc="-10" dirty="0"/>
              <a:t> </a:t>
            </a:r>
            <a:r>
              <a:rPr spc="-5" dirty="0"/>
              <a:t>"Apple,</a:t>
            </a:r>
            <a:r>
              <a:rPr spc="10" dirty="0"/>
              <a:t> </a:t>
            </a:r>
            <a:r>
              <a:rPr spc="-5" dirty="0"/>
              <a:t>Banana,</a:t>
            </a:r>
            <a:r>
              <a:rPr spc="5" dirty="0"/>
              <a:t> </a:t>
            </a:r>
            <a:r>
              <a:rPr spc="-10" dirty="0"/>
              <a:t>Kiwi";</a:t>
            </a:r>
          </a:p>
          <a:p>
            <a:pPr marL="12700">
              <a:lnSpc>
                <a:spcPct val="100000"/>
              </a:lnSpc>
            </a:pPr>
            <a:r>
              <a:rPr spc="-5" dirty="0"/>
              <a:t>let</a:t>
            </a:r>
            <a:r>
              <a:rPr spc="-20" dirty="0"/>
              <a:t> </a:t>
            </a:r>
            <a:r>
              <a:rPr dirty="0"/>
              <a:t>part</a:t>
            </a:r>
            <a:r>
              <a:rPr spc="-25" dirty="0"/>
              <a:t> </a:t>
            </a:r>
            <a:r>
              <a:rPr dirty="0"/>
              <a:t>=</a:t>
            </a:r>
            <a:r>
              <a:rPr spc="-25" dirty="0"/>
              <a:t> </a:t>
            </a:r>
            <a:r>
              <a:rPr dirty="0"/>
              <a:t>text.substr(7,6);//banana</a:t>
            </a:r>
          </a:p>
          <a:p>
            <a:pPr>
              <a:lnSpc>
                <a:spcPct val="100000"/>
              </a:lnSpc>
              <a:spcBef>
                <a:spcPts val="25"/>
              </a:spcBef>
            </a:pPr>
            <a:endParaRPr sz="1850" dirty="0"/>
          </a:p>
          <a:p>
            <a:pPr marL="12700" marR="5080">
              <a:lnSpc>
                <a:spcPct val="100000"/>
              </a:lnSpc>
              <a:buSzPct val="95000"/>
              <a:buAutoNum type="arabicPeriod" startAt="5"/>
              <a:tabLst>
                <a:tab pos="226060" algn="l"/>
              </a:tabLst>
            </a:pPr>
            <a:r>
              <a:rPr sz="2000" u="sng" dirty="0"/>
              <a:t>replace(</a:t>
            </a:r>
            <a:r>
              <a:rPr sz="2000" u="sng" spc="-35" dirty="0"/>
              <a:t> </a:t>
            </a:r>
            <a:r>
              <a:rPr sz="2000" u="sng" spc="-5" dirty="0"/>
              <a:t>):-</a:t>
            </a:r>
            <a:r>
              <a:rPr spc="-5" dirty="0"/>
              <a:t>The</a:t>
            </a:r>
            <a:r>
              <a:rPr spc="-25" dirty="0"/>
              <a:t> </a:t>
            </a:r>
            <a:r>
              <a:rPr spc="-5" dirty="0"/>
              <a:t>replace</a:t>
            </a:r>
            <a:r>
              <a:rPr spc="15" dirty="0"/>
              <a:t> </a:t>
            </a:r>
            <a:r>
              <a:rPr spc="-5" dirty="0"/>
              <a:t>method</a:t>
            </a:r>
            <a:r>
              <a:rPr spc="15" dirty="0"/>
              <a:t> </a:t>
            </a:r>
            <a:r>
              <a:rPr spc="-5" dirty="0"/>
              <a:t>replaces</a:t>
            </a:r>
            <a:r>
              <a:rPr spc="15" dirty="0"/>
              <a:t> </a:t>
            </a:r>
            <a:r>
              <a:rPr spc="-5" dirty="0"/>
              <a:t>a</a:t>
            </a:r>
            <a:r>
              <a:rPr spc="10" dirty="0"/>
              <a:t> </a:t>
            </a:r>
            <a:r>
              <a:rPr spc="-5" dirty="0"/>
              <a:t>specified</a:t>
            </a:r>
            <a:r>
              <a:rPr spc="15" dirty="0"/>
              <a:t> </a:t>
            </a:r>
            <a:r>
              <a:rPr spc="-5" dirty="0"/>
              <a:t>value</a:t>
            </a:r>
            <a:r>
              <a:rPr spc="15" dirty="0"/>
              <a:t> </a:t>
            </a:r>
            <a:r>
              <a:rPr spc="-15" dirty="0"/>
              <a:t>with</a:t>
            </a:r>
            <a:r>
              <a:rPr spc="55" dirty="0"/>
              <a:t> </a:t>
            </a:r>
            <a:r>
              <a:rPr spc="-5" dirty="0"/>
              <a:t>another</a:t>
            </a:r>
            <a:r>
              <a:rPr spc="15" dirty="0"/>
              <a:t> </a:t>
            </a:r>
            <a:r>
              <a:rPr spc="-5" dirty="0"/>
              <a:t>value</a:t>
            </a:r>
            <a:r>
              <a:rPr spc="15" dirty="0"/>
              <a:t> </a:t>
            </a:r>
            <a:r>
              <a:rPr spc="-5" dirty="0"/>
              <a:t>in</a:t>
            </a:r>
            <a:r>
              <a:rPr dirty="0"/>
              <a:t> </a:t>
            </a:r>
            <a:r>
              <a:rPr spc="-5" dirty="0"/>
              <a:t>a</a:t>
            </a:r>
            <a:r>
              <a:rPr spc="10" dirty="0"/>
              <a:t> </a:t>
            </a:r>
            <a:r>
              <a:rPr spc="-5" dirty="0"/>
              <a:t>string </a:t>
            </a:r>
            <a:r>
              <a:rPr spc="-484" dirty="0"/>
              <a:t> </a:t>
            </a:r>
            <a:r>
              <a:rPr dirty="0"/>
              <a:t>By</a:t>
            </a:r>
            <a:r>
              <a:rPr spc="5" dirty="0"/>
              <a:t> </a:t>
            </a:r>
            <a:r>
              <a:rPr spc="-5" dirty="0"/>
              <a:t>default,the</a:t>
            </a:r>
            <a:r>
              <a:rPr dirty="0"/>
              <a:t> </a:t>
            </a:r>
            <a:r>
              <a:rPr spc="-5" dirty="0"/>
              <a:t>replace(</a:t>
            </a:r>
            <a:r>
              <a:rPr spc="25" dirty="0"/>
              <a:t> </a:t>
            </a:r>
            <a:r>
              <a:rPr dirty="0"/>
              <a:t>) </a:t>
            </a:r>
            <a:r>
              <a:rPr spc="-5" dirty="0"/>
              <a:t>method</a:t>
            </a:r>
            <a:r>
              <a:rPr spc="10" dirty="0"/>
              <a:t> </a:t>
            </a:r>
            <a:r>
              <a:rPr spc="-5" dirty="0"/>
              <a:t>replaces</a:t>
            </a:r>
            <a:r>
              <a:rPr spc="15" dirty="0"/>
              <a:t> </a:t>
            </a:r>
            <a:r>
              <a:rPr spc="-5" dirty="0"/>
              <a:t>only</a:t>
            </a:r>
            <a:r>
              <a:rPr spc="15" dirty="0"/>
              <a:t> </a:t>
            </a:r>
            <a:r>
              <a:rPr dirty="0"/>
              <a:t>the</a:t>
            </a:r>
            <a:r>
              <a:rPr spc="5" dirty="0"/>
              <a:t> </a:t>
            </a:r>
            <a:r>
              <a:rPr dirty="0"/>
              <a:t>first match.</a:t>
            </a:r>
            <a:endParaRPr sz="2000" dirty="0"/>
          </a:p>
          <a:p>
            <a:pPr marL="12700">
              <a:lnSpc>
                <a:spcPts val="2120"/>
              </a:lnSpc>
              <a:spcBef>
                <a:spcPts val="10"/>
              </a:spcBef>
            </a:pPr>
            <a:r>
              <a:rPr spc="-5" dirty="0"/>
              <a:t>Ex:-</a:t>
            </a:r>
          </a:p>
          <a:p>
            <a:pPr marL="12700">
              <a:lnSpc>
                <a:spcPts val="2120"/>
              </a:lnSpc>
            </a:pPr>
            <a:r>
              <a:rPr spc="-5" dirty="0">
                <a:latin typeface="Consolas"/>
                <a:cs typeface="Consolas"/>
              </a:rPr>
              <a:t>let</a:t>
            </a:r>
            <a:r>
              <a:rPr spc="-30" dirty="0">
                <a:latin typeface="Consolas"/>
                <a:cs typeface="Consolas"/>
              </a:rPr>
              <a:t> </a:t>
            </a:r>
            <a:r>
              <a:rPr spc="-5" dirty="0">
                <a:latin typeface="Consolas"/>
                <a:cs typeface="Consolas"/>
              </a:rPr>
              <a:t>text</a:t>
            </a:r>
            <a:r>
              <a:rPr spc="-10" dirty="0">
                <a:latin typeface="Consolas"/>
                <a:cs typeface="Consolas"/>
              </a:rPr>
              <a:t> </a:t>
            </a:r>
            <a:r>
              <a:rPr dirty="0">
                <a:latin typeface="Consolas"/>
                <a:cs typeface="Consolas"/>
              </a:rPr>
              <a:t>=</a:t>
            </a:r>
            <a:r>
              <a:rPr spc="-25" dirty="0">
                <a:latin typeface="Consolas"/>
                <a:cs typeface="Consolas"/>
              </a:rPr>
              <a:t> </a:t>
            </a:r>
            <a:r>
              <a:rPr spc="-5" dirty="0">
                <a:latin typeface="Consolas"/>
                <a:cs typeface="Consolas"/>
              </a:rPr>
              <a:t>"Please</a:t>
            </a:r>
            <a:r>
              <a:rPr spc="-20" dirty="0">
                <a:latin typeface="Consolas"/>
                <a:cs typeface="Consolas"/>
              </a:rPr>
              <a:t> </a:t>
            </a:r>
            <a:r>
              <a:rPr spc="-5" dirty="0">
                <a:latin typeface="Consolas"/>
                <a:cs typeface="Consolas"/>
              </a:rPr>
              <a:t>visit</a:t>
            </a:r>
            <a:r>
              <a:rPr spc="-10" dirty="0">
                <a:latin typeface="Consolas"/>
                <a:cs typeface="Consolas"/>
              </a:rPr>
              <a:t> </a:t>
            </a:r>
            <a:r>
              <a:rPr spc="-5" dirty="0">
                <a:latin typeface="Consolas"/>
                <a:cs typeface="Consolas"/>
              </a:rPr>
              <a:t>Microsoft!";</a:t>
            </a:r>
          </a:p>
          <a:p>
            <a:pPr marL="12700">
              <a:lnSpc>
                <a:spcPct val="100000"/>
              </a:lnSpc>
              <a:spcBef>
                <a:spcPts val="35"/>
              </a:spcBef>
            </a:pPr>
            <a:r>
              <a:rPr spc="-5" dirty="0">
                <a:latin typeface="Consolas"/>
                <a:cs typeface="Consolas"/>
              </a:rPr>
              <a:t>let</a:t>
            </a:r>
            <a:r>
              <a:rPr spc="5" dirty="0">
                <a:latin typeface="Consolas"/>
                <a:cs typeface="Consolas"/>
              </a:rPr>
              <a:t> </a:t>
            </a:r>
            <a:r>
              <a:rPr spc="-10" dirty="0">
                <a:latin typeface="Consolas"/>
                <a:cs typeface="Consolas"/>
              </a:rPr>
              <a:t>newText</a:t>
            </a:r>
            <a:r>
              <a:rPr spc="25" dirty="0">
                <a:latin typeface="Consolas"/>
                <a:cs typeface="Consolas"/>
              </a:rPr>
              <a:t> </a:t>
            </a:r>
            <a:r>
              <a:rPr dirty="0">
                <a:latin typeface="Consolas"/>
                <a:cs typeface="Consolas"/>
              </a:rPr>
              <a:t>=</a:t>
            </a:r>
            <a:r>
              <a:rPr spc="5" dirty="0">
                <a:latin typeface="Consolas"/>
                <a:cs typeface="Consolas"/>
              </a:rPr>
              <a:t> </a:t>
            </a:r>
            <a:r>
              <a:rPr spc="-10" dirty="0">
                <a:latin typeface="Consolas"/>
                <a:cs typeface="Consolas"/>
              </a:rPr>
              <a:t>text.replace("Microsoft",</a:t>
            </a:r>
            <a:r>
              <a:rPr spc="75" dirty="0">
                <a:latin typeface="Consolas"/>
                <a:cs typeface="Consolas"/>
              </a:rPr>
              <a:t> </a:t>
            </a:r>
            <a:r>
              <a:rPr spc="-10" dirty="0">
                <a:latin typeface="Consolas"/>
                <a:cs typeface="Consolas"/>
              </a:rPr>
              <a:t>“js");</a:t>
            </a:r>
            <a:r>
              <a:rPr spc="-10" dirty="0"/>
              <a:t>//”please</a:t>
            </a:r>
            <a:r>
              <a:rPr spc="30" dirty="0"/>
              <a:t> </a:t>
            </a:r>
            <a:r>
              <a:rPr spc="-5" dirty="0"/>
              <a:t>visit</a:t>
            </a:r>
            <a:r>
              <a:rPr spc="10" dirty="0"/>
              <a:t> </a:t>
            </a:r>
            <a:r>
              <a:rPr spc="-5" dirty="0"/>
              <a:t>js</a:t>
            </a:r>
          </a:p>
          <a:p>
            <a:pPr>
              <a:lnSpc>
                <a:spcPct val="100000"/>
              </a:lnSpc>
              <a:spcBef>
                <a:spcPts val="15"/>
              </a:spcBef>
            </a:pPr>
            <a:endParaRPr sz="1900" dirty="0"/>
          </a:p>
          <a:p>
            <a:pPr marL="225425" indent="-213360">
              <a:lnSpc>
                <a:spcPct val="100000"/>
              </a:lnSpc>
              <a:buSzPct val="95000"/>
              <a:buAutoNum type="arabicPeriod" startAt="6"/>
              <a:tabLst>
                <a:tab pos="226060" algn="l"/>
              </a:tabLst>
            </a:pPr>
            <a:r>
              <a:rPr sz="2000" u="sng" dirty="0"/>
              <a:t>trim(</a:t>
            </a:r>
            <a:r>
              <a:rPr sz="2000" u="sng" spc="-65" dirty="0"/>
              <a:t> </a:t>
            </a:r>
            <a:r>
              <a:rPr sz="2000" u="sng" spc="-5" dirty="0"/>
              <a:t>):-</a:t>
            </a:r>
            <a:endParaRPr sz="2000" u="sng" dirty="0"/>
          </a:p>
          <a:p>
            <a:pPr marL="12700" marR="2343150">
              <a:lnSpc>
                <a:spcPct val="100000"/>
              </a:lnSpc>
              <a:spcBef>
                <a:spcPts val="10"/>
              </a:spcBef>
            </a:pPr>
            <a:r>
              <a:rPr dirty="0"/>
              <a:t>The</a:t>
            </a:r>
            <a:r>
              <a:rPr spc="-10" dirty="0"/>
              <a:t> </a:t>
            </a:r>
            <a:r>
              <a:rPr dirty="0"/>
              <a:t>trim(</a:t>
            </a:r>
            <a:r>
              <a:rPr spc="10" dirty="0"/>
              <a:t> </a:t>
            </a:r>
            <a:r>
              <a:rPr dirty="0"/>
              <a:t>)</a:t>
            </a:r>
            <a:r>
              <a:rPr spc="5" dirty="0"/>
              <a:t> </a:t>
            </a:r>
            <a:r>
              <a:rPr spc="-5" dirty="0"/>
              <a:t>method</a:t>
            </a:r>
            <a:r>
              <a:rPr spc="20" dirty="0"/>
              <a:t> </a:t>
            </a:r>
            <a:r>
              <a:rPr spc="-5" dirty="0"/>
              <a:t>removes</a:t>
            </a:r>
            <a:r>
              <a:rPr spc="25" dirty="0"/>
              <a:t> </a:t>
            </a:r>
            <a:r>
              <a:rPr spc="-10" dirty="0"/>
              <a:t>whitespace</a:t>
            </a:r>
            <a:r>
              <a:rPr spc="55" dirty="0"/>
              <a:t> </a:t>
            </a:r>
            <a:r>
              <a:rPr dirty="0"/>
              <a:t>from</a:t>
            </a:r>
            <a:r>
              <a:rPr spc="5" dirty="0"/>
              <a:t> </a:t>
            </a:r>
            <a:r>
              <a:rPr spc="-5" dirty="0"/>
              <a:t>both</a:t>
            </a:r>
            <a:r>
              <a:rPr spc="10" dirty="0"/>
              <a:t> </a:t>
            </a:r>
            <a:r>
              <a:rPr spc="-5" dirty="0"/>
              <a:t>sides</a:t>
            </a:r>
            <a:r>
              <a:rPr spc="20" dirty="0"/>
              <a:t> </a:t>
            </a:r>
            <a:r>
              <a:rPr dirty="0"/>
              <a:t>of</a:t>
            </a:r>
            <a:r>
              <a:rPr spc="5" dirty="0"/>
              <a:t> </a:t>
            </a:r>
            <a:r>
              <a:rPr spc="-5" dirty="0"/>
              <a:t>a</a:t>
            </a:r>
            <a:r>
              <a:rPr spc="10" dirty="0"/>
              <a:t> </a:t>
            </a:r>
            <a:r>
              <a:rPr spc="-5" dirty="0"/>
              <a:t>string. </a:t>
            </a:r>
            <a:r>
              <a:rPr spc="-484" dirty="0"/>
              <a:t> </a:t>
            </a:r>
            <a:r>
              <a:rPr spc="-5" dirty="0"/>
              <a:t>Ex:-</a:t>
            </a:r>
          </a:p>
          <a:p>
            <a:pPr marL="12700">
              <a:lnSpc>
                <a:spcPts val="2080"/>
              </a:lnSpc>
              <a:tabLst>
                <a:tab pos="2393315" algn="l"/>
                <a:tab pos="4650740" algn="l"/>
              </a:tabLst>
            </a:pPr>
            <a:r>
              <a:rPr spc="-5" dirty="0">
                <a:latin typeface="Consolas"/>
                <a:cs typeface="Consolas"/>
              </a:rPr>
              <a:t>let</a:t>
            </a:r>
            <a:r>
              <a:rPr spc="-15" dirty="0">
                <a:latin typeface="Consolas"/>
                <a:cs typeface="Consolas"/>
              </a:rPr>
              <a:t> </a:t>
            </a:r>
            <a:r>
              <a:rPr spc="-5" dirty="0">
                <a:latin typeface="Consolas"/>
                <a:cs typeface="Consolas"/>
              </a:rPr>
              <a:t>text1</a:t>
            </a:r>
            <a:r>
              <a:rPr spc="-10" dirty="0">
                <a:latin typeface="Consolas"/>
                <a:cs typeface="Consolas"/>
              </a:rPr>
              <a:t> </a:t>
            </a:r>
            <a:r>
              <a:rPr dirty="0">
                <a:latin typeface="Consolas"/>
                <a:cs typeface="Consolas"/>
              </a:rPr>
              <a:t>=</a:t>
            </a:r>
            <a:r>
              <a:rPr spc="5" dirty="0">
                <a:latin typeface="Consolas"/>
                <a:cs typeface="Consolas"/>
              </a:rPr>
              <a:t> </a:t>
            </a:r>
            <a:r>
              <a:rPr dirty="0">
                <a:latin typeface="Consolas"/>
                <a:cs typeface="Consolas"/>
              </a:rPr>
              <a:t>"	</a:t>
            </a:r>
            <a:r>
              <a:rPr spc="-5" dirty="0">
                <a:latin typeface="Consolas"/>
                <a:cs typeface="Consolas"/>
              </a:rPr>
              <a:t>Hello</a:t>
            </a:r>
            <a:r>
              <a:rPr spc="25" dirty="0">
                <a:latin typeface="Consolas"/>
                <a:cs typeface="Consolas"/>
              </a:rPr>
              <a:t> </a:t>
            </a:r>
            <a:r>
              <a:rPr spc="-5" dirty="0">
                <a:latin typeface="Consolas"/>
                <a:cs typeface="Consolas"/>
              </a:rPr>
              <a:t>World!	";</a:t>
            </a:r>
          </a:p>
          <a:p>
            <a:pPr marL="12700">
              <a:lnSpc>
                <a:spcPct val="100000"/>
              </a:lnSpc>
              <a:spcBef>
                <a:spcPts val="35"/>
              </a:spcBef>
            </a:pPr>
            <a:r>
              <a:rPr spc="-5" dirty="0">
                <a:latin typeface="Consolas"/>
                <a:cs typeface="Consolas"/>
              </a:rPr>
              <a:t>let</a:t>
            </a:r>
            <a:r>
              <a:rPr spc="-25" dirty="0">
                <a:latin typeface="Consolas"/>
                <a:cs typeface="Consolas"/>
              </a:rPr>
              <a:t> </a:t>
            </a:r>
            <a:r>
              <a:rPr spc="-5" dirty="0">
                <a:latin typeface="Consolas"/>
                <a:cs typeface="Consolas"/>
              </a:rPr>
              <a:t>text2 </a:t>
            </a:r>
            <a:r>
              <a:rPr dirty="0">
                <a:latin typeface="Consolas"/>
                <a:cs typeface="Consolas"/>
              </a:rPr>
              <a:t>=</a:t>
            </a:r>
            <a:r>
              <a:rPr spc="-30" dirty="0">
                <a:latin typeface="Consolas"/>
                <a:cs typeface="Consolas"/>
              </a:rPr>
              <a:t> </a:t>
            </a:r>
            <a:r>
              <a:rPr spc="-5" dirty="0">
                <a:latin typeface="Consolas"/>
                <a:cs typeface="Consolas"/>
              </a:rPr>
              <a:t>text1.trim();</a:t>
            </a:r>
            <a:r>
              <a:rPr spc="-5" dirty="0"/>
              <a:t>//hello</a:t>
            </a:r>
            <a:r>
              <a:rPr spc="45" dirty="0"/>
              <a:t> </a:t>
            </a:r>
            <a:r>
              <a:rPr spc="-10" dirty="0"/>
              <a:t>world!</a:t>
            </a:r>
          </a:p>
        </p:txBody>
      </p:sp>
    </p:spTree>
    <p:extLst>
      <p:ext uri="{BB962C8B-B14F-4D97-AF65-F5344CB8AC3E}">
        <p14:creationId xmlns:p14="http://schemas.microsoft.com/office/powerpoint/2010/main" val="32453808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5839" y="313724"/>
            <a:ext cx="11027614" cy="6230552"/>
          </a:xfrm>
          <a:prstGeom prst="rect">
            <a:avLst/>
          </a:prstGeom>
        </p:spPr>
        <p:txBody>
          <a:bodyPr vert="horz" wrap="square" lIns="0" tIns="13335" rIns="0" bIns="0" rtlCol="0">
            <a:spAutoFit/>
          </a:bodyPr>
          <a:lstStyle/>
          <a:p>
            <a:pPr marL="12065">
              <a:lnSpc>
                <a:spcPct val="100000"/>
              </a:lnSpc>
              <a:spcBef>
                <a:spcPts val="105"/>
              </a:spcBef>
              <a:buClr>
                <a:srgbClr val="FF0000"/>
              </a:buClr>
              <a:buSzPct val="95000"/>
              <a:tabLst>
                <a:tab pos="188595" algn="l"/>
              </a:tabLst>
            </a:pPr>
            <a:r>
              <a:rPr lang="en-US" sz="2400" spc="-35" dirty="0">
                <a:latin typeface="Times New Roman"/>
                <a:cs typeface="Times New Roman"/>
              </a:rPr>
              <a:t>7.</a:t>
            </a:r>
            <a:r>
              <a:rPr sz="2400" u="sng" spc="-35" dirty="0">
                <a:latin typeface="Times New Roman"/>
                <a:cs typeface="Times New Roman"/>
              </a:rPr>
              <a:t>inde</a:t>
            </a:r>
            <a:r>
              <a:rPr sz="2400" u="sng" spc="-85" dirty="0">
                <a:latin typeface="Times New Roman"/>
                <a:cs typeface="Times New Roman"/>
              </a:rPr>
              <a:t>x</a:t>
            </a:r>
            <a:r>
              <a:rPr sz="2400" u="sng" dirty="0">
                <a:latin typeface="Times New Roman"/>
                <a:cs typeface="Times New Roman"/>
              </a:rPr>
              <a:t>Of(</a:t>
            </a:r>
            <a:r>
              <a:rPr sz="2400" u="sng" spc="-10" dirty="0">
                <a:latin typeface="Times New Roman"/>
                <a:cs typeface="Times New Roman"/>
              </a:rPr>
              <a:t> </a:t>
            </a:r>
            <a:r>
              <a:rPr sz="2400" u="sng" spc="-110" dirty="0">
                <a:latin typeface="Times New Roman"/>
                <a:cs typeface="Times New Roman"/>
              </a:rPr>
              <a:t>)</a:t>
            </a:r>
            <a:r>
              <a:rPr sz="2400" u="sng" spc="-80" dirty="0">
                <a:latin typeface="Times New Roman"/>
                <a:cs typeface="Times New Roman"/>
              </a:rPr>
              <a:t>:</a:t>
            </a:r>
            <a:r>
              <a:rPr sz="2400" u="sng" spc="-40" dirty="0">
                <a:latin typeface="Times New Roman"/>
                <a:cs typeface="Times New Roman"/>
              </a:rPr>
              <a:t>-</a:t>
            </a:r>
            <a:endParaRPr sz="2400" u="sng" dirty="0">
              <a:latin typeface="Times New Roman"/>
              <a:cs typeface="Times New Roman"/>
            </a:endParaRPr>
          </a:p>
          <a:p>
            <a:pPr marL="12700" marR="5080">
              <a:lnSpc>
                <a:spcPct val="100000"/>
              </a:lnSpc>
            </a:pPr>
            <a:r>
              <a:rPr sz="2400" dirty="0">
                <a:latin typeface="Times New Roman"/>
                <a:cs typeface="Times New Roman"/>
              </a:rPr>
              <a:t>The</a:t>
            </a:r>
            <a:r>
              <a:rPr sz="2400" spc="-15" dirty="0">
                <a:latin typeface="Times New Roman"/>
                <a:cs typeface="Times New Roman"/>
              </a:rPr>
              <a:t> </a:t>
            </a:r>
            <a:r>
              <a:rPr sz="2400" spc="-25" dirty="0" err="1">
                <a:latin typeface="Times New Roman"/>
                <a:cs typeface="Times New Roman"/>
              </a:rPr>
              <a:t>indexOf</a:t>
            </a:r>
            <a:r>
              <a:rPr sz="2400" spc="-25" dirty="0">
                <a:latin typeface="Times New Roman"/>
                <a:cs typeface="Times New Roman"/>
              </a:rPr>
              <a:t>(</a:t>
            </a:r>
            <a:r>
              <a:rPr sz="2400" spc="5" dirty="0">
                <a:latin typeface="Times New Roman"/>
                <a:cs typeface="Times New Roman"/>
              </a:rPr>
              <a:t> </a:t>
            </a:r>
            <a:r>
              <a:rPr sz="2400" spc="-85" dirty="0">
                <a:latin typeface="Times New Roman"/>
                <a:cs typeface="Times New Roman"/>
              </a:rPr>
              <a:t>)</a:t>
            </a:r>
            <a:r>
              <a:rPr sz="2400" spc="5" dirty="0">
                <a:latin typeface="Times New Roman"/>
                <a:cs typeface="Times New Roman"/>
              </a:rPr>
              <a:t> </a:t>
            </a:r>
            <a:r>
              <a:rPr sz="2400" dirty="0">
                <a:latin typeface="Times New Roman"/>
                <a:cs typeface="Times New Roman"/>
              </a:rPr>
              <a:t>method </a:t>
            </a:r>
            <a:r>
              <a:rPr sz="2400" spc="-5" dirty="0">
                <a:latin typeface="Times New Roman"/>
                <a:cs typeface="Times New Roman"/>
              </a:rPr>
              <a:t>returns</a:t>
            </a:r>
            <a:r>
              <a:rPr sz="2400" spc="-30" dirty="0">
                <a:latin typeface="Times New Roman"/>
                <a:cs typeface="Times New Roman"/>
              </a:rPr>
              <a:t> </a:t>
            </a:r>
            <a:r>
              <a:rPr sz="2400" spc="-5" dirty="0">
                <a:latin typeface="Times New Roman"/>
                <a:cs typeface="Times New Roman"/>
              </a:rPr>
              <a:t>the</a:t>
            </a:r>
            <a:r>
              <a:rPr sz="2400" spc="15" dirty="0">
                <a:latin typeface="Times New Roman"/>
                <a:cs typeface="Times New Roman"/>
              </a:rPr>
              <a:t> </a:t>
            </a:r>
            <a:r>
              <a:rPr sz="2400" spc="-45" dirty="0">
                <a:latin typeface="Times New Roman"/>
                <a:cs typeface="Times New Roman"/>
              </a:rPr>
              <a:t>index</a:t>
            </a:r>
            <a:r>
              <a:rPr sz="2400" spc="5" dirty="0">
                <a:latin typeface="Times New Roman"/>
                <a:cs typeface="Times New Roman"/>
              </a:rPr>
              <a:t> </a:t>
            </a:r>
            <a:r>
              <a:rPr sz="2400" spc="-5" dirty="0">
                <a:latin typeface="Times New Roman"/>
                <a:cs typeface="Times New Roman"/>
              </a:rPr>
              <a:t>of</a:t>
            </a:r>
            <a:r>
              <a:rPr sz="2400" spc="270" dirty="0">
                <a:latin typeface="Times New Roman"/>
                <a:cs typeface="Times New Roman"/>
              </a:rPr>
              <a:t> </a:t>
            </a:r>
            <a:r>
              <a:rPr sz="2400" spc="-5" dirty="0">
                <a:latin typeface="Times New Roman"/>
                <a:cs typeface="Times New Roman"/>
              </a:rPr>
              <a:t>the</a:t>
            </a:r>
            <a:r>
              <a:rPr sz="2400" spc="10" dirty="0">
                <a:latin typeface="Times New Roman"/>
                <a:cs typeface="Times New Roman"/>
              </a:rPr>
              <a:t> </a:t>
            </a:r>
            <a:r>
              <a:rPr sz="2400" spc="-20" dirty="0">
                <a:latin typeface="Times New Roman"/>
                <a:cs typeface="Times New Roman"/>
              </a:rPr>
              <a:t>position</a:t>
            </a:r>
            <a:r>
              <a:rPr sz="2400" spc="20" dirty="0">
                <a:latin typeface="Times New Roman"/>
                <a:cs typeface="Times New Roman"/>
              </a:rPr>
              <a:t> </a:t>
            </a:r>
            <a:r>
              <a:rPr sz="2400" spc="-5" dirty="0">
                <a:latin typeface="Times New Roman"/>
                <a:cs typeface="Times New Roman"/>
              </a:rPr>
              <a:t>of</a:t>
            </a:r>
            <a:r>
              <a:rPr sz="2400" spc="270" dirty="0">
                <a:latin typeface="Times New Roman"/>
                <a:cs typeface="Times New Roman"/>
              </a:rPr>
              <a:t> </a:t>
            </a:r>
            <a:r>
              <a:rPr sz="2400" spc="-5" dirty="0">
                <a:latin typeface="Times New Roman"/>
                <a:cs typeface="Times New Roman"/>
              </a:rPr>
              <a:t>the</a:t>
            </a:r>
            <a:r>
              <a:rPr sz="2400" spc="5" dirty="0">
                <a:latin typeface="Times New Roman"/>
                <a:cs typeface="Times New Roman"/>
              </a:rPr>
              <a:t> </a:t>
            </a:r>
            <a:r>
              <a:rPr sz="2400" spc="-30" dirty="0">
                <a:latin typeface="Times New Roman"/>
                <a:cs typeface="Times New Roman"/>
              </a:rPr>
              <a:t>first</a:t>
            </a:r>
            <a:r>
              <a:rPr sz="2400" spc="5" dirty="0">
                <a:latin typeface="Times New Roman"/>
                <a:cs typeface="Times New Roman"/>
              </a:rPr>
              <a:t> </a:t>
            </a:r>
            <a:r>
              <a:rPr sz="2400" spc="-25" dirty="0">
                <a:latin typeface="Times New Roman"/>
                <a:cs typeface="Times New Roman"/>
              </a:rPr>
              <a:t>occurrence</a:t>
            </a:r>
            <a:r>
              <a:rPr sz="2400" spc="-10" dirty="0">
                <a:latin typeface="Times New Roman"/>
                <a:cs typeface="Times New Roman"/>
              </a:rPr>
              <a:t> </a:t>
            </a:r>
            <a:r>
              <a:rPr sz="2400" spc="-5" dirty="0">
                <a:latin typeface="Times New Roman"/>
                <a:cs typeface="Times New Roman"/>
              </a:rPr>
              <a:t>of</a:t>
            </a:r>
            <a:r>
              <a:rPr sz="2400" spc="270" dirty="0">
                <a:latin typeface="Times New Roman"/>
                <a:cs typeface="Times New Roman"/>
              </a:rPr>
              <a:t> </a:t>
            </a:r>
            <a:r>
              <a:rPr sz="2400" spc="-75" dirty="0">
                <a:latin typeface="Times New Roman"/>
                <a:cs typeface="Times New Roman"/>
              </a:rPr>
              <a:t>a</a:t>
            </a:r>
            <a:r>
              <a:rPr sz="2400" spc="5" dirty="0">
                <a:latin typeface="Times New Roman"/>
                <a:cs typeface="Times New Roman"/>
              </a:rPr>
              <a:t> </a:t>
            </a:r>
            <a:r>
              <a:rPr sz="2400" spc="-45" dirty="0">
                <a:latin typeface="Times New Roman"/>
                <a:cs typeface="Times New Roman"/>
              </a:rPr>
              <a:t>specified</a:t>
            </a:r>
            <a:r>
              <a:rPr sz="2400" spc="10" dirty="0">
                <a:latin typeface="Times New Roman"/>
                <a:cs typeface="Times New Roman"/>
              </a:rPr>
              <a:t> </a:t>
            </a:r>
            <a:r>
              <a:rPr sz="2400" spc="-20" dirty="0">
                <a:latin typeface="Times New Roman"/>
                <a:cs typeface="Times New Roman"/>
              </a:rPr>
              <a:t>text</a:t>
            </a:r>
            <a:r>
              <a:rPr sz="2400" spc="-10" dirty="0">
                <a:latin typeface="Times New Roman"/>
                <a:cs typeface="Times New Roman"/>
              </a:rPr>
              <a:t> </a:t>
            </a:r>
            <a:r>
              <a:rPr sz="2400" spc="-40" dirty="0">
                <a:latin typeface="Times New Roman"/>
                <a:cs typeface="Times New Roman"/>
              </a:rPr>
              <a:t>in </a:t>
            </a:r>
            <a:r>
              <a:rPr sz="2400" spc="-484" dirty="0">
                <a:latin typeface="Times New Roman"/>
                <a:cs typeface="Times New Roman"/>
              </a:rPr>
              <a:t> </a:t>
            </a:r>
            <a:r>
              <a:rPr sz="2400" spc="-75" dirty="0">
                <a:latin typeface="Times New Roman"/>
                <a:cs typeface="Times New Roman"/>
              </a:rPr>
              <a:t>a</a:t>
            </a:r>
            <a:r>
              <a:rPr sz="2400" spc="-15" dirty="0">
                <a:latin typeface="Times New Roman"/>
                <a:cs typeface="Times New Roman"/>
              </a:rPr>
              <a:t> </a:t>
            </a:r>
            <a:r>
              <a:rPr sz="2400" spc="-50" dirty="0">
                <a:latin typeface="Times New Roman"/>
                <a:cs typeface="Times New Roman"/>
              </a:rPr>
              <a:t>string.</a:t>
            </a:r>
            <a:endParaRPr sz="2400" dirty="0">
              <a:latin typeface="Times New Roman"/>
              <a:cs typeface="Times New Roman"/>
            </a:endParaRPr>
          </a:p>
          <a:p>
            <a:pPr marL="12700" marR="5658485">
              <a:lnSpc>
                <a:spcPct val="100000"/>
              </a:lnSpc>
            </a:pPr>
            <a:r>
              <a:rPr sz="2400" spc="-25" dirty="0" err="1">
                <a:latin typeface="Times New Roman"/>
                <a:cs typeface="Times New Roman"/>
              </a:rPr>
              <a:t>indexOf</a:t>
            </a:r>
            <a:r>
              <a:rPr sz="2400" spc="-25" dirty="0">
                <a:latin typeface="Times New Roman"/>
                <a:cs typeface="Times New Roman"/>
              </a:rPr>
              <a:t>(</a:t>
            </a:r>
            <a:r>
              <a:rPr sz="2400" spc="-15" dirty="0">
                <a:latin typeface="Times New Roman"/>
                <a:cs typeface="Times New Roman"/>
              </a:rPr>
              <a:t> </a:t>
            </a:r>
            <a:r>
              <a:rPr sz="2400" spc="-85" dirty="0">
                <a:latin typeface="Times New Roman"/>
                <a:cs typeface="Times New Roman"/>
              </a:rPr>
              <a:t>)</a:t>
            </a:r>
            <a:r>
              <a:rPr sz="2400" spc="-5" dirty="0">
                <a:latin typeface="Times New Roman"/>
                <a:cs typeface="Times New Roman"/>
              </a:rPr>
              <a:t> </a:t>
            </a:r>
            <a:r>
              <a:rPr sz="2400" spc="5" dirty="0">
                <a:latin typeface="Times New Roman"/>
                <a:cs typeface="Times New Roman"/>
              </a:rPr>
              <a:t>return</a:t>
            </a:r>
            <a:r>
              <a:rPr sz="2400" spc="-15" dirty="0">
                <a:latin typeface="Times New Roman"/>
                <a:cs typeface="Times New Roman"/>
              </a:rPr>
              <a:t> </a:t>
            </a:r>
            <a:r>
              <a:rPr sz="2400" spc="-55" dirty="0">
                <a:latin typeface="Times New Roman"/>
                <a:cs typeface="Times New Roman"/>
              </a:rPr>
              <a:t>-1</a:t>
            </a:r>
            <a:r>
              <a:rPr sz="2400" spc="-15" dirty="0">
                <a:latin typeface="Times New Roman"/>
                <a:cs typeface="Times New Roman"/>
              </a:rPr>
              <a:t> </a:t>
            </a:r>
            <a:r>
              <a:rPr sz="2400" spc="-60" dirty="0">
                <a:latin typeface="Times New Roman"/>
                <a:cs typeface="Times New Roman"/>
              </a:rPr>
              <a:t>if</a:t>
            </a:r>
            <a:r>
              <a:rPr sz="2400" spc="265" dirty="0">
                <a:latin typeface="Times New Roman"/>
                <a:cs typeface="Times New Roman"/>
              </a:rPr>
              <a:t> </a:t>
            </a:r>
            <a:r>
              <a:rPr sz="2400" spc="-5" dirty="0">
                <a:latin typeface="Times New Roman"/>
                <a:cs typeface="Times New Roman"/>
              </a:rPr>
              <a:t>the</a:t>
            </a:r>
            <a:r>
              <a:rPr sz="2400" dirty="0">
                <a:latin typeface="Times New Roman"/>
                <a:cs typeface="Times New Roman"/>
              </a:rPr>
              <a:t> </a:t>
            </a:r>
            <a:r>
              <a:rPr sz="2400" spc="-20" dirty="0">
                <a:latin typeface="Times New Roman"/>
                <a:cs typeface="Times New Roman"/>
              </a:rPr>
              <a:t>text</a:t>
            </a:r>
            <a:r>
              <a:rPr sz="2400" spc="-10" dirty="0">
                <a:latin typeface="Times New Roman"/>
                <a:cs typeface="Times New Roman"/>
              </a:rPr>
              <a:t> </a:t>
            </a:r>
            <a:r>
              <a:rPr sz="2400" spc="-75" dirty="0">
                <a:latin typeface="Times New Roman"/>
                <a:cs typeface="Times New Roman"/>
              </a:rPr>
              <a:t>is</a:t>
            </a:r>
            <a:r>
              <a:rPr sz="2400" dirty="0">
                <a:latin typeface="Times New Roman"/>
                <a:cs typeface="Times New Roman"/>
              </a:rPr>
              <a:t> </a:t>
            </a:r>
            <a:r>
              <a:rPr sz="2400" spc="20" dirty="0">
                <a:latin typeface="Times New Roman"/>
                <a:cs typeface="Times New Roman"/>
              </a:rPr>
              <a:t>not</a:t>
            </a:r>
            <a:r>
              <a:rPr sz="2400" spc="-5" dirty="0">
                <a:latin typeface="Times New Roman"/>
                <a:cs typeface="Times New Roman"/>
              </a:rPr>
              <a:t> </a:t>
            </a:r>
            <a:r>
              <a:rPr sz="2400" spc="-10" dirty="0">
                <a:latin typeface="Times New Roman"/>
                <a:cs typeface="Times New Roman"/>
              </a:rPr>
              <a:t>found. </a:t>
            </a:r>
            <a:r>
              <a:rPr sz="2400" spc="-484" dirty="0">
                <a:latin typeface="Times New Roman"/>
                <a:cs typeface="Times New Roman"/>
              </a:rPr>
              <a:t> </a:t>
            </a:r>
            <a:r>
              <a:rPr sz="2400" spc="-35" dirty="0">
                <a:latin typeface="Times New Roman"/>
                <a:cs typeface="Times New Roman"/>
              </a:rPr>
              <a:t>Ex:-</a:t>
            </a:r>
            <a:endParaRPr sz="2400" dirty="0">
              <a:latin typeface="Times New Roman"/>
              <a:cs typeface="Times New Roman"/>
            </a:endParaRPr>
          </a:p>
          <a:p>
            <a:pPr marL="12700" marR="5483860">
              <a:lnSpc>
                <a:spcPct val="100000"/>
              </a:lnSpc>
            </a:pPr>
            <a:r>
              <a:rPr sz="2400" spc="-35" dirty="0">
                <a:latin typeface="Times New Roman"/>
                <a:cs typeface="Times New Roman"/>
              </a:rPr>
              <a:t>Let</a:t>
            </a:r>
            <a:r>
              <a:rPr sz="2400" spc="-15" dirty="0">
                <a:latin typeface="Times New Roman"/>
                <a:cs typeface="Times New Roman"/>
              </a:rPr>
              <a:t> </a:t>
            </a:r>
            <a:r>
              <a:rPr sz="2400" spc="-10" dirty="0">
                <a:latin typeface="Times New Roman"/>
                <a:cs typeface="Times New Roman"/>
              </a:rPr>
              <a:t>str=“please</a:t>
            </a:r>
            <a:r>
              <a:rPr sz="2400" spc="-5" dirty="0">
                <a:latin typeface="Times New Roman"/>
                <a:cs typeface="Times New Roman"/>
              </a:rPr>
              <a:t> </a:t>
            </a:r>
            <a:r>
              <a:rPr sz="2400" spc="-45" dirty="0">
                <a:latin typeface="Times New Roman"/>
                <a:cs typeface="Times New Roman"/>
              </a:rPr>
              <a:t>locate</a:t>
            </a:r>
            <a:r>
              <a:rPr sz="2400" spc="-5" dirty="0">
                <a:latin typeface="Times New Roman"/>
                <a:cs typeface="Times New Roman"/>
              </a:rPr>
              <a:t> </a:t>
            </a:r>
            <a:r>
              <a:rPr sz="2400" spc="-40" dirty="0">
                <a:latin typeface="Times New Roman"/>
                <a:cs typeface="Times New Roman"/>
              </a:rPr>
              <a:t>where</a:t>
            </a:r>
            <a:r>
              <a:rPr sz="2400" spc="-5" dirty="0">
                <a:latin typeface="Times New Roman"/>
                <a:cs typeface="Times New Roman"/>
              </a:rPr>
              <a:t> </a:t>
            </a:r>
            <a:r>
              <a:rPr sz="2400" spc="-85" dirty="0">
                <a:latin typeface="Times New Roman"/>
                <a:cs typeface="Times New Roman"/>
              </a:rPr>
              <a:t>‘locate’</a:t>
            </a:r>
            <a:r>
              <a:rPr sz="2400" spc="-10" dirty="0">
                <a:latin typeface="Times New Roman"/>
                <a:cs typeface="Times New Roman"/>
              </a:rPr>
              <a:t> </a:t>
            </a:r>
            <a:r>
              <a:rPr sz="2400" spc="-55" dirty="0">
                <a:latin typeface="Times New Roman"/>
                <a:cs typeface="Times New Roman"/>
              </a:rPr>
              <a:t>occurs!”; </a:t>
            </a:r>
            <a:r>
              <a:rPr sz="2400" spc="-484" dirty="0">
                <a:latin typeface="Times New Roman"/>
                <a:cs typeface="Times New Roman"/>
              </a:rPr>
              <a:t> </a:t>
            </a:r>
            <a:r>
              <a:rPr sz="2400" dirty="0">
                <a:latin typeface="Times New Roman"/>
                <a:cs typeface="Times New Roman"/>
              </a:rPr>
              <a:t>str.indexOf(“locate”);//7 </a:t>
            </a:r>
            <a:r>
              <a:rPr sz="2400" spc="5" dirty="0">
                <a:latin typeface="Times New Roman"/>
                <a:cs typeface="Times New Roman"/>
              </a:rPr>
              <a:t> </a:t>
            </a:r>
            <a:r>
              <a:rPr sz="2400" spc="-5" dirty="0">
                <a:latin typeface="Times New Roman"/>
                <a:cs typeface="Times New Roman"/>
              </a:rPr>
              <a:t>Str.indexOf(“locate”);//-1</a:t>
            </a:r>
            <a:endParaRPr sz="2400" dirty="0">
              <a:latin typeface="Times New Roman"/>
              <a:cs typeface="Times New Roman"/>
            </a:endParaRPr>
          </a:p>
          <a:p>
            <a:pPr marL="187960" indent="-175895">
              <a:lnSpc>
                <a:spcPct val="100000"/>
              </a:lnSpc>
              <a:buSzPct val="95000"/>
              <a:buAutoNum type="arabicPeriod" startAt="8"/>
              <a:tabLst>
                <a:tab pos="188595" algn="l"/>
              </a:tabLst>
            </a:pPr>
            <a:r>
              <a:rPr sz="2400" u="sng" spc="-20" dirty="0">
                <a:latin typeface="Times New Roman"/>
                <a:cs typeface="Times New Roman"/>
              </a:rPr>
              <a:t>lastIndexOf(</a:t>
            </a:r>
            <a:r>
              <a:rPr sz="2400" u="sng" spc="-65" dirty="0">
                <a:latin typeface="Times New Roman"/>
                <a:cs typeface="Times New Roman"/>
              </a:rPr>
              <a:t> </a:t>
            </a:r>
            <a:r>
              <a:rPr sz="2400" u="sng" spc="-80" dirty="0">
                <a:latin typeface="Times New Roman"/>
                <a:cs typeface="Times New Roman"/>
              </a:rPr>
              <a:t>):-</a:t>
            </a:r>
            <a:endParaRPr sz="2400" u="sng" dirty="0">
              <a:latin typeface="Times New Roman"/>
              <a:cs typeface="Times New Roman"/>
            </a:endParaRPr>
          </a:p>
          <a:p>
            <a:pPr marL="12700" marR="280035" algn="just">
              <a:lnSpc>
                <a:spcPct val="100000"/>
              </a:lnSpc>
              <a:spcBef>
                <a:spcPts val="35"/>
              </a:spcBef>
            </a:pPr>
            <a:r>
              <a:rPr sz="2400" spc="-5" dirty="0">
                <a:latin typeface="Calibri"/>
                <a:cs typeface="Calibri"/>
              </a:rPr>
              <a:t>The </a:t>
            </a:r>
            <a:r>
              <a:rPr sz="2400" b="1" spc="-5" dirty="0">
                <a:latin typeface="Calibri"/>
                <a:cs typeface="Calibri"/>
              </a:rPr>
              <a:t>lastIndexOf() </a:t>
            </a:r>
            <a:r>
              <a:rPr sz="2400" spc="-5" dirty="0">
                <a:latin typeface="Calibri"/>
                <a:cs typeface="Calibri"/>
              </a:rPr>
              <a:t>method of </a:t>
            </a:r>
            <a:r>
              <a:rPr sz="2400" u="heavy" dirty="0">
                <a:solidFill>
                  <a:srgbClr val="58C1BA"/>
                </a:solidFill>
                <a:uFill>
                  <a:solidFill>
                    <a:srgbClr val="363636"/>
                  </a:solidFill>
                </a:uFill>
                <a:latin typeface="Calibri"/>
                <a:cs typeface="Calibri"/>
                <a:hlinkClick r:id="rId2">
                  <a:extLst>
                    <a:ext uri="{A12FA001-AC4F-418D-AE19-62706E023703}">
                      <ahyp:hlinkClr xmlns="" xmlns:ahyp="http://schemas.microsoft.com/office/drawing/2018/hyperlinkcolor" val="tx"/>
                    </a:ext>
                  </a:extLst>
                </a:hlinkClick>
              </a:rPr>
              <a:t>String</a:t>
            </a:r>
            <a:r>
              <a:rPr sz="2400" dirty="0">
                <a:latin typeface="Calibri"/>
                <a:cs typeface="Calibri"/>
                <a:hlinkClick r:id="rId2">
                  <a:extLst>
                    <a:ext uri="{A12FA001-AC4F-418D-AE19-62706E023703}">
                      <ahyp:hlinkClr xmlns="" xmlns:ahyp="http://schemas.microsoft.com/office/drawing/2018/hyperlinkcolor" val="tx"/>
                    </a:ext>
                  </a:extLst>
                </a:hlinkClick>
              </a:rPr>
              <a:t> </a:t>
            </a:r>
            <a:r>
              <a:rPr sz="2400" spc="-5" dirty="0">
                <a:latin typeface="Calibri"/>
                <a:cs typeface="Calibri"/>
              </a:rPr>
              <a:t>values searches </a:t>
            </a:r>
            <a:r>
              <a:rPr sz="2400" dirty="0">
                <a:latin typeface="Calibri"/>
                <a:cs typeface="Calibri"/>
              </a:rPr>
              <a:t>this </a:t>
            </a:r>
            <a:r>
              <a:rPr sz="2400" spc="-10" dirty="0">
                <a:latin typeface="Calibri"/>
                <a:cs typeface="Calibri"/>
              </a:rPr>
              <a:t>string </a:t>
            </a:r>
            <a:r>
              <a:rPr sz="2400" dirty="0">
                <a:latin typeface="Calibri"/>
                <a:cs typeface="Calibri"/>
              </a:rPr>
              <a:t>and </a:t>
            </a:r>
            <a:r>
              <a:rPr sz="2400" spc="-5" dirty="0">
                <a:latin typeface="Calibri"/>
                <a:cs typeface="Calibri"/>
              </a:rPr>
              <a:t>returns </a:t>
            </a:r>
            <a:r>
              <a:rPr sz="2400" dirty="0">
                <a:latin typeface="Calibri"/>
                <a:cs typeface="Calibri"/>
              </a:rPr>
              <a:t>the </a:t>
            </a:r>
            <a:r>
              <a:rPr sz="2400" spc="-10" dirty="0">
                <a:latin typeface="Calibri"/>
                <a:cs typeface="Calibri"/>
              </a:rPr>
              <a:t>index </a:t>
            </a:r>
            <a:r>
              <a:rPr sz="2400" spc="-5" dirty="0">
                <a:latin typeface="Calibri"/>
                <a:cs typeface="Calibri"/>
              </a:rPr>
              <a:t>of </a:t>
            </a:r>
            <a:r>
              <a:rPr sz="2400" dirty="0">
                <a:latin typeface="Calibri"/>
                <a:cs typeface="Calibri"/>
              </a:rPr>
              <a:t>the </a:t>
            </a:r>
            <a:r>
              <a:rPr sz="2400" spc="-5" dirty="0">
                <a:latin typeface="Calibri"/>
                <a:cs typeface="Calibri"/>
              </a:rPr>
              <a:t>last </a:t>
            </a:r>
            <a:r>
              <a:rPr sz="2400" spc="-440" dirty="0">
                <a:latin typeface="Calibri"/>
                <a:cs typeface="Calibri"/>
              </a:rPr>
              <a:t> </a:t>
            </a:r>
            <a:r>
              <a:rPr sz="2400" spc="-5" dirty="0">
                <a:latin typeface="Calibri"/>
                <a:cs typeface="Calibri"/>
              </a:rPr>
              <a:t>occurrence </a:t>
            </a:r>
            <a:r>
              <a:rPr sz="2400" dirty="0">
                <a:latin typeface="Calibri"/>
                <a:cs typeface="Calibri"/>
              </a:rPr>
              <a:t>of the </a:t>
            </a:r>
            <a:r>
              <a:rPr sz="2400" spc="-5" dirty="0">
                <a:latin typeface="Calibri"/>
                <a:cs typeface="Calibri"/>
              </a:rPr>
              <a:t>specified substring. It </a:t>
            </a:r>
            <a:r>
              <a:rPr sz="2400" spc="-20" dirty="0">
                <a:latin typeface="Calibri"/>
                <a:cs typeface="Calibri"/>
              </a:rPr>
              <a:t>takes </a:t>
            </a:r>
            <a:r>
              <a:rPr sz="2400" dirty="0">
                <a:latin typeface="Calibri"/>
                <a:cs typeface="Calibri"/>
              </a:rPr>
              <a:t>an </a:t>
            </a:r>
            <a:r>
              <a:rPr sz="2400" spc="-5" dirty="0">
                <a:latin typeface="Calibri"/>
                <a:cs typeface="Calibri"/>
              </a:rPr>
              <a:t>optional </a:t>
            </a:r>
            <a:r>
              <a:rPr sz="2400" spc="-10" dirty="0">
                <a:latin typeface="Calibri"/>
                <a:cs typeface="Calibri"/>
              </a:rPr>
              <a:t>starting </a:t>
            </a:r>
            <a:r>
              <a:rPr sz="2400" spc="-5" dirty="0">
                <a:latin typeface="Calibri"/>
                <a:cs typeface="Calibri"/>
              </a:rPr>
              <a:t>position </a:t>
            </a:r>
            <a:r>
              <a:rPr sz="2400" dirty="0">
                <a:latin typeface="Calibri"/>
                <a:cs typeface="Calibri"/>
              </a:rPr>
              <a:t>and </a:t>
            </a:r>
            <a:r>
              <a:rPr sz="2400" spc="-5" dirty="0">
                <a:latin typeface="Calibri"/>
                <a:cs typeface="Calibri"/>
              </a:rPr>
              <a:t>returns </a:t>
            </a:r>
            <a:r>
              <a:rPr sz="2400" dirty="0">
                <a:latin typeface="Calibri"/>
                <a:cs typeface="Calibri"/>
              </a:rPr>
              <a:t>the </a:t>
            </a:r>
            <a:r>
              <a:rPr sz="2400" spc="-10" dirty="0">
                <a:latin typeface="Calibri"/>
                <a:cs typeface="Calibri"/>
              </a:rPr>
              <a:t>last </a:t>
            </a:r>
            <a:r>
              <a:rPr sz="2400" spc="-440" dirty="0">
                <a:latin typeface="Calibri"/>
                <a:cs typeface="Calibri"/>
              </a:rPr>
              <a:t> </a:t>
            </a:r>
            <a:r>
              <a:rPr sz="2400" spc="-5" dirty="0">
                <a:latin typeface="Calibri"/>
                <a:cs typeface="Calibri"/>
              </a:rPr>
              <a:t>occurrence of </a:t>
            </a:r>
            <a:r>
              <a:rPr sz="2400" dirty="0">
                <a:latin typeface="Calibri"/>
                <a:cs typeface="Calibri"/>
              </a:rPr>
              <a:t>the</a:t>
            </a:r>
            <a:r>
              <a:rPr sz="2400" spc="-5" dirty="0">
                <a:latin typeface="Calibri"/>
                <a:cs typeface="Calibri"/>
              </a:rPr>
              <a:t> specified</a:t>
            </a:r>
            <a:r>
              <a:rPr sz="2400" spc="20" dirty="0">
                <a:latin typeface="Calibri"/>
                <a:cs typeface="Calibri"/>
              </a:rPr>
              <a:t> </a:t>
            </a:r>
            <a:r>
              <a:rPr sz="2400" spc="-10" dirty="0">
                <a:latin typeface="Calibri"/>
                <a:cs typeface="Calibri"/>
              </a:rPr>
              <a:t>substring</a:t>
            </a:r>
            <a:r>
              <a:rPr sz="2400" spc="10" dirty="0">
                <a:latin typeface="Calibri"/>
                <a:cs typeface="Calibri"/>
              </a:rPr>
              <a:t> </a:t>
            </a:r>
            <a:r>
              <a:rPr sz="2400" spc="-10" dirty="0">
                <a:latin typeface="Calibri"/>
                <a:cs typeface="Calibri"/>
              </a:rPr>
              <a:t>at</a:t>
            </a:r>
            <a:r>
              <a:rPr sz="2400" spc="5" dirty="0">
                <a:latin typeface="Calibri"/>
                <a:cs typeface="Calibri"/>
              </a:rPr>
              <a:t> </a:t>
            </a:r>
            <a:r>
              <a:rPr sz="2400" dirty="0">
                <a:latin typeface="Calibri"/>
                <a:cs typeface="Calibri"/>
              </a:rPr>
              <a:t>an</a:t>
            </a:r>
            <a:r>
              <a:rPr sz="2400" spc="5" dirty="0">
                <a:latin typeface="Calibri"/>
                <a:cs typeface="Calibri"/>
              </a:rPr>
              <a:t> </a:t>
            </a:r>
            <a:r>
              <a:rPr sz="2400" spc="-10" dirty="0">
                <a:latin typeface="Calibri"/>
                <a:cs typeface="Calibri"/>
              </a:rPr>
              <a:t>index</a:t>
            </a:r>
            <a:r>
              <a:rPr sz="2400" spc="5" dirty="0">
                <a:latin typeface="Calibri"/>
                <a:cs typeface="Calibri"/>
              </a:rPr>
              <a:t> </a:t>
            </a:r>
            <a:r>
              <a:rPr sz="2400" spc="-5" dirty="0">
                <a:latin typeface="Calibri"/>
                <a:cs typeface="Calibri"/>
              </a:rPr>
              <a:t>less</a:t>
            </a:r>
            <a:r>
              <a:rPr sz="2400" spc="20" dirty="0">
                <a:latin typeface="Calibri"/>
                <a:cs typeface="Calibri"/>
              </a:rPr>
              <a:t> </a:t>
            </a:r>
            <a:r>
              <a:rPr sz="2400" dirty="0">
                <a:latin typeface="Calibri"/>
                <a:cs typeface="Calibri"/>
              </a:rPr>
              <a:t>than </a:t>
            </a:r>
            <a:r>
              <a:rPr sz="2400" spc="-5" dirty="0">
                <a:latin typeface="Calibri"/>
                <a:cs typeface="Calibri"/>
              </a:rPr>
              <a:t>or</a:t>
            </a:r>
            <a:r>
              <a:rPr sz="2400" spc="-10" dirty="0">
                <a:latin typeface="Calibri"/>
                <a:cs typeface="Calibri"/>
              </a:rPr>
              <a:t> </a:t>
            </a:r>
            <a:r>
              <a:rPr sz="2400" dirty="0">
                <a:latin typeface="Calibri"/>
                <a:cs typeface="Calibri"/>
              </a:rPr>
              <a:t>equal</a:t>
            </a:r>
            <a:r>
              <a:rPr sz="2400" spc="5" dirty="0">
                <a:latin typeface="Calibri"/>
                <a:cs typeface="Calibri"/>
              </a:rPr>
              <a:t> </a:t>
            </a:r>
            <a:r>
              <a:rPr sz="2400" spc="-10" dirty="0">
                <a:latin typeface="Calibri"/>
                <a:cs typeface="Calibri"/>
              </a:rPr>
              <a:t>to</a:t>
            </a:r>
            <a:r>
              <a:rPr sz="2400" dirty="0">
                <a:latin typeface="Calibri"/>
                <a:cs typeface="Calibri"/>
              </a:rPr>
              <a:t> the</a:t>
            </a:r>
            <a:r>
              <a:rPr sz="2400" spc="5" dirty="0">
                <a:latin typeface="Calibri"/>
                <a:cs typeface="Calibri"/>
              </a:rPr>
              <a:t> </a:t>
            </a:r>
            <a:r>
              <a:rPr sz="2400" spc="-5" dirty="0">
                <a:latin typeface="Calibri"/>
                <a:cs typeface="Calibri"/>
              </a:rPr>
              <a:t>specified</a:t>
            </a:r>
            <a:r>
              <a:rPr sz="2400" spc="20" dirty="0">
                <a:latin typeface="Calibri"/>
                <a:cs typeface="Calibri"/>
              </a:rPr>
              <a:t> </a:t>
            </a:r>
            <a:r>
              <a:rPr sz="2400" spc="-30" dirty="0">
                <a:latin typeface="Calibri"/>
                <a:cs typeface="Calibri"/>
              </a:rPr>
              <a:t>number.</a:t>
            </a:r>
            <a:endParaRPr sz="2400" dirty="0">
              <a:latin typeface="Calibri"/>
              <a:cs typeface="Calibri"/>
            </a:endParaRPr>
          </a:p>
          <a:p>
            <a:pPr marL="12700">
              <a:lnSpc>
                <a:spcPts val="2365"/>
              </a:lnSpc>
            </a:pPr>
            <a:r>
              <a:rPr sz="2400" spc="-35" dirty="0">
                <a:latin typeface="Times New Roman"/>
                <a:cs typeface="Times New Roman"/>
              </a:rPr>
              <a:t>Ex:-</a:t>
            </a:r>
            <a:endParaRPr sz="2400" dirty="0">
              <a:latin typeface="Times New Roman"/>
              <a:cs typeface="Times New Roman"/>
            </a:endParaRPr>
          </a:p>
          <a:p>
            <a:pPr marL="12700" marR="5483860">
              <a:lnSpc>
                <a:spcPct val="100000"/>
              </a:lnSpc>
            </a:pPr>
            <a:r>
              <a:rPr sz="2400" spc="-35" dirty="0">
                <a:latin typeface="Times New Roman"/>
                <a:cs typeface="Times New Roman"/>
              </a:rPr>
              <a:t>Let</a:t>
            </a:r>
            <a:r>
              <a:rPr sz="2400" spc="-15" dirty="0">
                <a:latin typeface="Times New Roman"/>
                <a:cs typeface="Times New Roman"/>
              </a:rPr>
              <a:t> </a:t>
            </a:r>
            <a:r>
              <a:rPr sz="2400" spc="-10" dirty="0">
                <a:latin typeface="Times New Roman"/>
                <a:cs typeface="Times New Roman"/>
              </a:rPr>
              <a:t>str=“please</a:t>
            </a:r>
            <a:r>
              <a:rPr sz="2400" spc="-5" dirty="0">
                <a:latin typeface="Times New Roman"/>
                <a:cs typeface="Times New Roman"/>
              </a:rPr>
              <a:t> </a:t>
            </a:r>
            <a:r>
              <a:rPr sz="2400" spc="-45" dirty="0">
                <a:latin typeface="Times New Roman"/>
                <a:cs typeface="Times New Roman"/>
              </a:rPr>
              <a:t>locate</a:t>
            </a:r>
            <a:r>
              <a:rPr sz="2400" spc="-5" dirty="0">
                <a:latin typeface="Times New Roman"/>
                <a:cs typeface="Times New Roman"/>
              </a:rPr>
              <a:t> </a:t>
            </a:r>
            <a:r>
              <a:rPr sz="2400" spc="-40" dirty="0">
                <a:latin typeface="Times New Roman"/>
                <a:cs typeface="Times New Roman"/>
              </a:rPr>
              <a:t>where</a:t>
            </a:r>
            <a:r>
              <a:rPr sz="2400" spc="-5" dirty="0">
                <a:latin typeface="Times New Roman"/>
                <a:cs typeface="Times New Roman"/>
              </a:rPr>
              <a:t> </a:t>
            </a:r>
            <a:r>
              <a:rPr sz="2400" spc="-85" dirty="0">
                <a:latin typeface="Times New Roman"/>
                <a:cs typeface="Times New Roman"/>
              </a:rPr>
              <a:t>‘locate’</a:t>
            </a:r>
            <a:r>
              <a:rPr sz="2400" spc="-10" dirty="0">
                <a:latin typeface="Times New Roman"/>
                <a:cs typeface="Times New Roman"/>
              </a:rPr>
              <a:t> </a:t>
            </a:r>
            <a:r>
              <a:rPr sz="2400" spc="-55" dirty="0">
                <a:latin typeface="Times New Roman"/>
                <a:cs typeface="Times New Roman"/>
              </a:rPr>
              <a:t>occurs!”; </a:t>
            </a:r>
            <a:r>
              <a:rPr sz="2400" spc="-484" dirty="0">
                <a:latin typeface="Times New Roman"/>
                <a:cs typeface="Times New Roman"/>
              </a:rPr>
              <a:t> </a:t>
            </a:r>
            <a:r>
              <a:rPr sz="2400" spc="-5" dirty="0">
                <a:latin typeface="Times New Roman"/>
                <a:cs typeface="Times New Roman"/>
              </a:rPr>
              <a:t>str.indexOf(“locate”);//21 </a:t>
            </a:r>
            <a:r>
              <a:rPr sz="2400" dirty="0">
                <a:latin typeface="Times New Roman"/>
                <a:cs typeface="Times New Roman"/>
              </a:rPr>
              <a:t> </a:t>
            </a:r>
            <a:r>
              <a:rPr sz="2400" spc="-5" dirty="0">
                <a:latin typeface="Times New Roman"/>
                <a:cs typeface="Times New Roman"/>
              </a:rPr>
              <a:t>Str.indexOf(“locate”);//-1</a:t>
            </a:r>
            <a:endParaRPr sz="2400" dirty="0">
              <a:latin typeface="Times New Roman"/>
              <a:cs typeface="Times New Roman"/>
            </a:endParaRPr>
          </a:p>
        </p:txBody>
      </p:sp>
    </p:spTree>
    <p:extLst>
      <p:ext uri="{BB962C8B-B14F-4D97-AF65-F5344CB8AC3E}">
        <p14:creationId xmlns:p14="http://schemas.microsoft.com/office/powerpoint/2010/main" val="27151063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50188" y="795020"/>
            <a:ext cx="8575040" cy="4678204"/>
          </a:xfrm>
          <a:prstGeom prst="rect">
            <a:avLst/>
          </a:prstGeom>
        </p:spPr>
        <p:txBody>
          <a:bodyPr vert="horz" wrap="square" lIns="0" tIns="12700" rIns="0" bIns="0" rtlCol="0">
            <a:spAutoFit/>
          </a:bodyPr>
          <a:lstStyle/>
          <a:p>
            <a:pPr marL="12065">
              <a:lnSpc>
                <a:spcPct val="100000"/>
              </a:lnSpc>
              <a:spcBef>
                <a:spcPts val="100"/>
              </a:spcBef>
              <a:buClr>
                <a:srgbClr val="FF0000"/>
              </a:buClr>
              <a:buSzPct val="94444"/>
              <a:tabLst>
                <a:tab pos="241935" algn="l"/>
              </a:tabLst>
            </a:pPr>
            <a:r>
              <a:rPr lang="en-US" spc="-5" dirty="0">
                <a:latin typeface="Verdana"/>
                <a:cs typeface="Verdana"/>
              </a:rPr>
              <a:t>9.</a:t>
            </a:r>
            <a:r>
              <a:rPr u="sng" spc="-5" dirty="0">
                <a:latin typeface="Verdana"/>
                <a:cs typeface="Verdana"/>
              </a:rPr>
              <a:t>Includes(</a:t>
            </a:r>
            <a:r>
              <a:rPr u="sng" spc="-50" dirty="0">
                <a:latin typeface="Verdana"/>
                <a:cs typeface="Verdana"/>
              </a:rPr>
              <a:t> </a:t>
            </a:r>
            <a:r>
              <a:rPr u="sng" spc="-5" dirty="0">
                <a:latin typeface="Verdana"/>
                <a:cs typeface="Verdana"/>
              </a:rPr>
              <a:t>):-</a:t>
            </a:r>
            <a:endParaRPr u="sng" dirty="0">
              <a:latin typeface="Verdana"/>
              <a:cs typeface="Verdana"/>
            </a:endParaRPr>
          </a:p>
          <a:p>
            <a:pPr>
              <a:lnSpc>
                <a:spcPct val="100000"/>
              </a:lnSpc>
              <a:spcBef>
                <a:spcPts val="45"/>
              </a:spcBef>
              <a:buAutoNum type="arabicPeriod" startAt="9"/>
            </a:pPr>
            <a:endParaRPr sz="1600" dirty="0">
              <a:latin typeface="Verdana"/>
              <a:cs typeface="Verdana"/>
            </a:endParaRPr>
          </a:p>
          <a:p>
            <a:pPr marL="12700">
              <a:lnSpc>
                <a:spcPct val="100000"/>
              </a:lnSpc>
            </a:pPr>
            <a:r>
              <a:rPr spc="-5" dirty="0">
                <a:latin typeface="Verdana"/>
                <a:cs typeface="Verdana"/>
              </a:rPr>
              <a:t>The</a:t>
            </a:r>
            <a:r>
              <a:rPr spc="5" dirty="0">
                <a:latin typeface="Verdana"/>
                <a:cs typeface="Verdana"/>
              </a:rPr>
              <a:t> </a:t>
            </a:r>
            <a:r>
              <a:rPr spc="-10" dirty="0">
                <a:latin typeface="Consolas"/>
                <a:cs typeface="Consolas"/>
              </a:rPr>
              <a:t>includes()</a:t>
            </a:r>
            <a:r>
              <a:rPr spc="-320" dirty="0">
                <a:latin typeface="Consolas"/>
                <a:cs typeface="Consolas"/>
              </a:rPr>
              <a:t> </a:t>
            </a:r>
            <a:r>
              <a:rPr spc="-5" dirty="0">
                <a:latin typeface="Verdana"/>
                <a:cs typeface="Verdana"/>
              </a:rPr>
              <a:t>method</a:t>
            </a:r>
            <a:r>
              <a:rPr spc="5" dirty="0">
                <a:latin typeface="Verdana"/>
                <a:cs typeface="Verdana"/>
              </a:rPr>
              <a:t> </a:t>
            </a:r>
            <a:r>
              <a:rPr spc="-5" dirty="0">
                <a:latin typeface="Verdana"/>
                <a:cs typeface="Verdana"/>
              </a:rPr>
              <a:t>returns</a:t>
            </a:r>
            <a:r>
              <a:rPr spc="5" dirty="0">
                <a:latin typeface="Verdana"/>
                <a:cs typeface="Verdana"/>
              </a:rPr>
              <a:t> </a:t>
            </a:r>
            <a:r>
              <a:rPr spc="-10" dirty="0">
                <a:latin typeface="Consolas"/>
                <a:cs typeface="Consolas"/>
              </a:rPr>
              <a:t>true</a:t>
            </a:r>
            <a:r>
              <a:rPr spc="-330" dirty="0">
                <a:latin typeface="Consolas"/>
                <a:cs typeface="Consolas"/>
              </a:rPr>
              <a:t> </a:t>
            </a:r>
            <a:r>
              <a:rPr dirty="0">
                <a:latin typeface="Verdana"/>
                <a:cs typeface="Verdana"/>
              </a:rPr>
              <a:t>if</a:t>
            </a:r>
            <a:r>
              <a:rPr spc="-5" dirty="0">
                <a:latin typeface="Verdana"/>
                <a:cs typeface="Verdana"/>
              </a:rPr>
              <a:t> </a:t>
            </a:r>
            <a:r>
              <a:rPr dirty="0">
                <a:latin typeface="Verdana"/>
                <a:cs typeface="Verdana"/>
              </a:rPr>
              <a:t>a</a:t>
            </a:r>
            <a:r>
              <a:rPr spc="5" dirty="0">
                <a:latin typeface="Verdana"/>
                <a:cs typeface="Verdana"/>
              </a:rPr>
              <a:t> </a:t>
            </a:r>
            <a:r>
              <a:rPr dirty="0">
                <a:latin typeface="Verdana"/>
                <a:cs typeface="Verdana"/>
              </a:rPr>
              <a:t>string</a:t>
            </a:r>
            <a:r>
              <a:rPr spc="10" dirty="0">
                <a:latin typeface="Verdana"/>
                <a:cs typeface="Verdana"/>
              </a:rPr>
              <a:t> </a:t>
            </a:r>
            <a:r>
              <a:rPr spc="-5" dirty="0">
                <a:latin typeface="Verdana"/>
                <a:cs typeface="Verdana"/>
              </a:rPr>
              <a:t>contains</a:t>
            </a:r>
            <a:r>
              <a:rPr spc="-15" dirty="0">
                <a:latin typeface="Verdana"/>
                <a:cs typeface="Verdana"/>
              </a:rPr>
              <a:t> </a:t>
            </a:r>
            <a:r>
              <a:rPr dirty="0">
                <a:latin typeface="Verdana"/>
                <a:cs typeface="Verdana"/>
              </a:rPr>
              <a:t>a</a:t>
            </a:r>
            <a:r>
              <a:rPr spc="-10" dirty="0">
                <a:latin typeface="Verdana"/>
                <a:cs typeface="Verdana"/>
              </a:rPr>
              <a:t> </a:t>
            </a:r>
            <a:r>
              <a:rPr dirty="0">
                <a:latin typeface="Verdana"/>
                <a:cs typeface="Verdana"/>
              </a:rPr>
              <a:t>specified</a:t>
            </a:r>
            <a:r>
              <a:rPr spc="35" dirty="0">
                <a:latin typeface="Verdana"/>
                <a:cs typeface="Verdana"/>
              </a:rPr>
              <a:t> </a:t>
            </a:r>
            <a:r>
              <a:rPr spc="-5" dirty="0">
                <a:latin typeface="Verdana"/>
                <a:cs typeface="Verdana"/>
              </a:rPr>
              <a:t>string.</a:t>
            </a:r>
            <a:endParaRPr dirty="0">
              <a:latin typeface="Verdana"/>
              <a:cs typeface="Verdana"/>
            </a:endParaRPr>
          </a:p>
          <a:p>
            <a:pPr marL="12700">
              <a:lnSpc>
                <a:spcPct val="100000"/>
              </a:lnSpc>
            </a:pPr>
            <a:r>
              <a:rPr spc="-5" dirty="0">
                <a:latin typeface="Verdana"/>
                <a:cs typeface="Verdana"/>
              </a:rPr>
              <a:t>Otherwise</a:t>
            </a:r>
            <a:r>
              <a:rPr spc="-25" dirty="0">
                <a:latin typeface="Verdana"/>
                <a:cs typeface="Verdana"/>
              </a:rPr>
              <a:t> </a:t>
            </a:r>
            <a:r>
              <a:rPr spc="5" dirty="0">
                <a:latin typeface="Verdana"/>
                <a:cs typeface="Verdana"/>
              </a:rPr>
              <a:t>it</a:t>
            </a:r>
            <a:r>
              <a:rPr dirty="0">
                <a:latin typeface="Verdana"/>
                <a:cs typeface="Verdana"/>
              </a:rPr>
              <a:t> </a:t>
            </a:r>
            <a:r>
              <a:rPr spc="-5" dirty="0">
                <a:latin typeface="Verdana"/>
                <a:cs typeface="Verdana"/>
              </a:rPr>
              <a:t>returns</a:t>
            </a:r>
            <a:r>
              <a:rPr spc="-15" dirty="0">
                <a:latin typeface="Verdana"/>
                <a:cs typeface="Verdana"/>
              </a:rPr>
              <a:t> </a:t>
            </a:r>
            <a:r>
              <a:rPr spc="-10" dirty="0">
                <a:latin typeface="Consolas"/>
                <a:cs typeface="Consolas"/>
              </a:rPr>
              <a:t>false</a:t>
            </a:r>
            <a:r>
              <a:rPr spc="-10" dirty="0">
                <a:latin typeface="Verdana"/>
                <a:cs typeface="Verdana"/>
              </a:rPr>
              <a:t>.</a:t>
            </a:r>
            <a:endParaRPr dirty="0">
              <a:latin typeface="Verdana"/>
              <a:cs typeface="Verdana"/>
            </a:endParaRPr>
          </a:p>
          <a:p>
            <a:pPr marL="12700">
              <a:lnSpc>
                <a:spcPct val="100000"/>
              </a:lnSpc>
              <a:spcBef>
                <a:spcPts val="40"/>
              </a:spcBef>
            </a:pPr>
            <a:r>
              <a:rPr spc="-5" dirty="0">
                <a:latin typeface="Verdana"/>
                <a:cs typeface="Verdana"/>
              </a:rPr>
              <a:t>Th</a:t>
            </a:r>
            <a:r>
              <a:rPr dirty="0">
                <a:latin typeface="Verdana"/>
                <a:cs typeface="Verdana"/>
              </a:rPr>
              <a:t>e</a:t>
            </a:r>
            <a:r>
              <a:rPr spc="5" dirty="0">
                <a:latin typeface="Verdana"/>
                <a:cs typeface="Verdana"/>
              </a:rPr>
              <a:t> </a:t>
            </a:r>
            <a:r>
              <a:rPr spc="-10" dirty="0">
                <a:latin typeface="Consolas"/>
                <a:cs typeface="Consolas"/>
              </a:rPr>
              <a:t>includes(</a:t>
            </a:r>
            <a:r>
              <a:rPr dirty="0">
                <a:latin typeface="Consolas"/>
                <a:cs typeface="Consolas"/>
              </a:rPr>
              <a:t>)</a:t>
            </a:r>
            <a:r>
              <a:rPr spc="-325" dirty="0">
                <a:latin typeface="Consolas"/>
                <a:cs typeface="Consolas"/>
              </a:rPr>
              <a:t> </a:t>
            </a:r>
            <a:r>
              <a:rPr dirty="0">
                <a:latin typeface="Verdana"/>
                <a:cs typeface="Verdana"/>
              </a:rPr>
              <a:t>me</a:t>
            </a:r>
            <a:r>
              <a:rPr spc="-5" dirty="0">
                <a:latin typeface="Verdana"/>
                <a:cs typeface="Verdana"/>
              </a:rPr>
              <a:t>t</a:t>
            </a:r>
            <a:r>
              <a:rPr dirty="0">
                <a:latin typeface="Verdana"/>
                <a:cs typeface="Verdana"/>
              </a:rPr>
              <a:t>hod</a:t>
            </a:r>
            <a:r>
              <a:rPr spc="5" dirty="0">
                <a:latin typeface="Verdana"/>
                <a:cs typeface="Verdana"/>
              </a:rPr>
              <a:t> i</a:t>
            </a:r>
            <a:r>
              <a:rPr dirty="0">
                <a:latin typeface="Verdana"/>
                <a:cs typeface="Verdana"/>
              </a:rPr>
              <a:t>s case s</a:t>
            </a:r>
            <a:r>
              <a:rPr spc="-10" dirty="0">
                <a:latin typeface="Verdana"/>
                <a:cs typeface="Verdana"/>
              </a:rPr>
              <a:t>e</a:t>
            </a:r>
            <a:r>
              <a:rPr dirty="0">
                <a:latin typeface="Verdana"/>
                <a:cs typeface="Verdana"/>
              </a:rPr>
              <a:t>ns</a:t>
            </a:r>
            <a:r>
              <a:rPr spc="10" dirty="0">
                <a:latin typeface="Verdana"/>
                <a:cs typeface="Verdana"/>
              </a:rPr>
              <a:t>i</a:t>
            </a:r>
            <a:r>
              <a:rPr spc="-5" dirty="0">
                <a:latin typeface="Verdana"/>
                <a:cs typeface="Verdana"/>
              </a:rPr>
              <a:t>t</a:t>
            </a:r>
            <a:r>
              <a:rPr spc="10" dirty="0">
                <a:latin typeface="Verdana"/>
                <a:cs typeface="Verdana"/>
              </a:rPr>
              <a:t>i</a:t>
            </a:r>
            <a:r>
              <a:rPr spc="-10" dirty="0">
                <a:latin typeface="Verdana"/>
                <a:cs typeface="Verdana"/>
              </a:rPr>
              <a:t>v</a:t>
            </a:r>
            <a:r>
              <a:rPr dirty="0">
                <a:latin typeface="Verdana"/>
                <a:cs typeface="Verdana"/>
              </a:rPr>
              <a:t>e.</a:t>
            </a:r>
          </a:p>
          <a:p>
            <a:pPr>
              <a:lnSpc>
                <a:spcPct val="100000"/>
              </a:lnSpc>
              <a:spcBef>
                <a:spcPts val="30"/>
              </a:spcBef>
            </a:pPr>
            <a:endParaRPr sz="1600" dirty="0">
              <a:latin typeface="Verdana"/>
              <a:cs typeface="Verdana"/>
            </a:endParaRPr>
          </a:p>
          <a:p>
            <a:pPr marL="12700">
              <a:lnSpc>
                <a:spcPct val="100000"/>
              </a:lnSpc>
            </a:pPr>
            <a:r>
              <a:rPr spc="-10" dirty="0">
                <a:latin typeface="Verdana"/>
                <a:cs typeface="Verdana"/>
              </a:rPr>
              <a:t>Syntax:-</a:t>
            </a:r>
            <a:r>
              <a:rPr i="1" spc="-10" dirty="0">
                <a:latin typeface="Consolas"/>
                <a:cs typeface="Consolas"/>
              </a:rPr>
              <a:t>string</a:t>
            </a:r>
            <a:r>
              <a:rPr spc="-10" dirty="0">
                <a:latin typeface="Consolas"/>
                <a:cs typeface="Consolas"/>
              </a:rPr>
              <a:t>.includes(</a:t>
            </a:r>
            <a:r>
              <a:rPr i="1" spc="-10" dirty="0">
                <a:latin typeface="Consolas"/>
                <a:cs typeface="Consolas"/>
              </a:rPr>
              <a:t>searchvalue</a:t>
            </a:r>
            <a:r>
              <a:rPr spc="-10" dirty="0">
                <a:latin typeface="Consolas"/>
                <a:cs typeface="Consolas"/>
              </a:rPr>
              <a:t>,</a:t>
            </a:r>
            <a:r>
              <a:rPr spc="50" dirty="0">
                <a:latin typeface="Consolas"/>
                <a:cs typeface="Consolas"/>
              </a:rPr>
              <a:t> </a:t>
            </a:r>
            <a:r>
              <a:rPr i="1" spc="-10" dirty="0">
                <a:latin typeface="Consolas"/>
                <a:cs typeface="Consolas"/>
              </a:rPr>
              <a:t>start</a:t>
            </a:r>
            <a:r>
              <a:rPr spc="-10" dirty="0">
                <a:latin typeface="Consolas"/>
                <a:cs typeface="Consolas"/>
              </a:rPr>
              <a:t>)</a:t>
            </a:r>
            <a:endParaRPr dirty="0">
              <a:latin typeface="Consolas"/>
              <a:cs typeface="Consolas"/>
            </a:endParaRPr>
          </a:p>
          <a:p>
            <a:pPr>
              <a:lnSpc>
                <a:spcPct val="100000"/>
              </a:lnSpc>
              <a:spcBef>
                <a:spcPts val="10"/>
              </a:spcBef>
            </a:pPr>
            <a:endParaRPr dirty="0">
              <a:latin typeface="Consolas"/>
              <a:cs typeface="Consolas"/>
            </a:endParaRPr>
          </a:p>
          <a:p>
            <a:pPr marL="12700">
              <a:lnSpc>
                <a:spcPts val="2100"/>
              </a:lnSpc>
            </a:pPr>
            <a:r>
              <a:rPr dirty="0">
                <a:latin typeface="Verdana"/>
                <a:cs typeface="Verdana"/>
              </a:rPr>
              <a:t>Ex:-</a:t>
            </a:r>
          </a:p>
          <a:p>
            <a:pPr marL="12700">
              <a:lnSpc>
                <a:spcPts val="2100"/>
              </a:lnSpc>
            </a:pPr>
            <a:r>
              <a:rPr spc="-10" dirty="0">
                <a:latin typeface="Consolas"/>
                <a:cs typeface="Consolas"/>
              </a:rPr>
              <a:t>let</a:t>
            </a:r>
            <a:r>
              <a:rPr spc="-20" dirty="0">
                <a:latin typeface="Consolas"/>
                <a:cs typeface="Consolas"/>
              </a:rPr>
              <a:t> </a:t>
            </a:r>
            <a:r>
              <a:rPr spc="-5" dirty="0">
                <a:latin typeface="Consolas"/>
                <a:cs typeface="Consolas"/>
              </a:rPr>
              <a:t>text </a:t>
            </a:r>
            <a:r>
              <a:rPr dirty="0">
                <a:latin typeface="Consolas"/>
                <a:cs typeface="Consolas"/>
              </a:rPr>
              <a:t>=</a:t>
            </a:r>
            <a:r>
              <a:rPr spc="-10" dirty="0">
                <a:latin typeface="Consolas"/>
                <a:cs typeface="Consolas"/>
              </a:rPr>
              <a:t> </a:t>
            </a:r>
            <a:r>
              <a:rPr spc="-5" dirty="0">
                <a:latin typeface="Consolas"/>
                <a:cs typeface="Consolas"/>
              </a:rPr>
              <a:t>"Hello world,</a:t>
            </a:r>
            <a:r>
              <a:rPr spc="-10" dirty="0">
                <a:latin typeface="Consolas"/>
                <a:cs typeface="Consolas"/>
              </a:rPr>
              <a:t> </a:t>
            </a:r>
            <a:r>
              <a:rPr spc="-5" dirty="0">
                <a:latin typeface="Consolas"/>
                <a:cs typeface="Consolas"/>
              </a:rPr>
              <a:t>welcome to the</a:t>
            </a:r>
            <a:r>
              <a:rPr spc="-15" dirty="0">
                <a:latin typeface="Consolas"/>
                <a:cs typeface="Consolas"/>
              </a:rPr>
              <a:t> </a:t>
            </a:r>
            <a:r>
              <a:rPr spc="-5" dirty="0">
                <a:latin typeface="Consolas"/>
                <a:cs typeface="Consolas"/>
              </a:rPr>
              <a:t>universe.";</a:t>
            </a:r>
            <a:endParaRPr dirty="0">
              <a:latin typeface="Consolas"/>
              <a:cs typeface="Consolas"/>
            </a:endParaRPr>
          </a:p>
          <a:p>
            <a:pPr marL="12700">
              <a:lnSpc>
                <a:spcPct val="100000"/>
              </a:lnSpc>
              <a:spcBef>
                <a:spcPts val="25"/>
              </a:spcBef>
            </a:pPr>
            <a:r>
              <a:rPr spc="-10" dirty="0">
                <a:latin typeface="Consolas"/>
                <a:cs typeface="Consolas"/>
              </a:rPr>
              <a:t>let</a:t>
            </a:r>
            <a:r>
              <a:rPr spc="-25" dirty="0">
                <a:latin typeface="Consolas"/>
                <a:cs typeface="Consolas"/>
              </a:rPr>
              <a:t> </a:t>
            </a:r>
            <a:r>
              <a:rPr spc="-5" dirty="0">
                <a:latin typeface="Consolas"/>
                <a:cs typeface="Consolas"/>
              </a:rPr>
              <a:t>result</a:t>
            </a:r>
            <a:r>
              <a:rPr spc="-25" dirty="0">
                <a:latin typeface="Consolas"/>
                <a:cs typeface="Consolas"/>
              </a:rPr>
              <a:t> </a:t>
            </a:r>
            <a:r>
              <a:rPr dirty="0">
                <a:latin typeface="Consolas"/>
                <a:cs typeface="Consolas"/>
              </a:rPr>
              <a:t>=</a:t>
            </a:r>
            <a:r>
              <a:rPr spc="-10" dirty="0">
                <a:latin typeface="Consolas"/>
                <a:cs typeface="Consolas"/>
              </a:rPr>
              <a:t> </a:t>
            </a:r>
            <a:r>
              <a:rPr spc="-5" dirty="0">
                <a:latin typeface="Consolas"/>
                <a:cs typeface="Consolas"/>
              </a:rPr>
              <a:t>text.includes("world");//true</a:t>
            </a:r>
            <a:endParaRPr dirty="0">
              <a:latin typeface="Consolas"/>
              <a:cs typeface="Consolas"/>
            </a:endParaRPr>
          </a:p>
          <a:p>
            <a:pPr>
              <a:lnSpc>
                <a:spcPct val="100000"/>
              </a:lnSpc>
            </a:pPr>
            <a:endParaRPr dirty="0">
              <a:latin typeface="Consolas"/>
              <a:cs typeface="Consolas"/>
            </a:endParaRPr>
          </a:p>
          <a:p>
            <a:pPr>
              <a:lnSpc>
                <a:spcPct val="100000"/>
              </a:lnSpc>
              <a:spcBef>
                <a:spcPts val="55"/>
              </a:spcBef>
            </a:pPr>
            <a:endParaRPr dirty="0">
              <a:latin typeface="Consolas"/>
              <a:cs typeface="Consolas"/>
            </a:endParaRPr>
          </a:p>
          <a:p>
            <a:pPr marL="388620" indent="-376555">
              <a:lnSpc>
                <a:spcPts val="2155"/>
              </a:lnSpc>
              <a:buSzPct val="94444"/>
              <a:buAutoNum type="arabicPeriod" startAt="10"/>
              <a:tabLst>
                <a:tab pos="389255" algn="l"/>
              </a:tabLst>
            </a:pPr>
            <a:r>
              <a:rPr u="sng" spc="-5" dirty="0">
                <a:latin typeface="Consolas"/>
                <a:cs typeface="Consolas"/>
              </a:rPr>
              <a:t>repeat(</a:t>
            </a:r>
            <a:r>
              <a:rPr u="sng" spc="-65" dirty="0">
                <a:latin typeface="Consolas"/>
                <a:cs typeface="Consolas"/>
              </a:rPr>
              <a:t> </a:t>
            </a:r>
            <a:r>
              <a:rPr u="sng" spc="-5" dirty="0">
                <a:latin typeface="Consolas"/>
                <a:cs typeface="Consolas"/>
              </a:rPr>
              <a:t>):-</a:t>
            </a:r>
            <a:endParaRPr u="sng" dirty="0">
              <a:latin typeface="Consolas"/>
              <a:cs typeface="Consolas"/>
            </a:endParaRPr>
          </a:p>
          <a:p>
            <a:pPr marL="12700" marR="34290">
              <a:lnSpc>
                <a:spcPts val="2160"/>
              </a:lnSpc>
              <a:spcBef>
                <a:spcPts val="70"/>
              </a:spcBef>
            </a:pPr>
            <a:r>
              <a:rPr spc="-5" dirty="0">
                <a:latin typeface="Verdana"/>
                <a:cs typeface="Verdana"/>
              </a:rPr>
              <a:t>Th</a:t>
            </a:r>
            <a:r>
              <a:rPr dirty="0">
                <a:latin typeface="Verdana"/>
                <a:cs typeface="Verdana"/>
              </a:rPr>
              <a:t>e</a:t>
            </a:r>
            <a:r>
              <a:rPr spc="5" dirty="0">
                <a:latin typeface="Verdana"/>
                <a:cs typeface="Verdana"/>
              </a:rPr>
              <a:t> </a:t>
            </a:r>
            <a:r>
              <a:rPr spc="-10" dirty="0">
                <a:latin typeface="Consolas"/>
                <a:cs typeface="Consolas"/>
              </a:rPr>
              <a:t>repeat(</a:t>
            </a:r>
            <a:r>
              <a:rPr dirty="0">
                <a:latin typeface="Consolas"/>
                <a:cs typeface="Consolas"/>
              </a:rPr>
              <a:t>)</a:t>
            </a:r>
            <a:r>
              <a:rPr spc="-325" dirty="0">
                <a:latin typeface="Consolas"/>
                <a:cs typeface="Consolas"/>
              </a:rPr>
              <a:t> </a:t>
            </a:r>
            <a:r>
              <a:rPr dirty="0">
                <a:latin typeface="Verdana"/>
                <a:cs typeface="Verdana"/>
              </a:rPr>
              <a:t>me</a:t>
            </a:r>
            <a:r>
              <a:rPr spc="-5" dirty="0">
                <a:latin typeface="Verdana"/>
                <a:cs typeface="Verdana"/>
              </a:rPr>
              <a:t>t</a:t>
            </a:r>
            <a:r>
              <a:rPr dirty="0">
                <a:latin typeface="Verdana"/>
                <a:cs typeface="Verdana"/>
              </a:rPr>
              <a:t>hod</a:t>
            </a:r>
            <a:r>
              <a:rPr spc="5" dirty="0">
                <a:latin typeface="Verdana"/>
                <a:cs typeface="Verdana"/>
              </a:rPr>
              <a:t> </a:t>
            </a:r>
            <a:r>
              <a:rPr dirty="0">
                <a:latin typeface="Verdana"/>
                <a:cs typeface="Verdana"/>
              </a:rPr>
              <a:t>r</a:t>
            </a:r>
            <a:r>
              <a:rPr spc="-5" dirty="0">
                <a:latin typeface="Verdana"/>
                <a:cs typeface="Verdana"/>
              </a:rPr>
              <a:t>eturn</a:t>
            </a:r>
            <a:r>
              <a:rPr dirty="0">
                <a:latin typeface="Verdana"/>
                <a:cs typeface="Verdana"/>
              </a:rPr>
              <a:t>s a</a:t>
            </a:r>
            <a:r>
              <a:rPr spc="-10" dirty="0">
                <a:latin typeface="Verdana"/>
                <a:cs typeface="Verdana"/>
              </a:rPr>
              <a:t> </a:t>
            </a:r>
            <a:r>
              <a:rPr dirty="0">
                <a:latin typeface="Verdana"/>
                <a:cs typeface="Verdana"/>
              </a:rPr>
              <a:t>str</a:t>
            </a:r>
            <a:r>
              <a:rPr spc="5" dirty="0">
                <a:latin typeface="Verdana"/>
                <a:cs typeface="Verdana"/>
              </a:rPr>
              <a:t>i</a:t>
            </a:r>
            <a:r>
              <a:rPr dirty="0">
                <a:latin typeface="Verdana"/>
                <a:cs typeface="Verdana"/>
              </a:rPr>
              <a:t>ng</a:t>
            </a:r>
            <a:r>
              <a:rPr spc="5" dirty="0">
                <a:latin typeface="Verdana"/>
                <a:cs typeface="Verdana"/>
              </a:rPr>
              <a:t> </a:t>
            </a:r>
            <a:r>
              <a:rPr spc="-5" dirty="0">
                <a:latin typeface="Verdana"/>
                <a:cs typeface="Verdana"/>
              </a:rPr>
              <a:t>w</a:t>
            </a:r>
            <a:r>
              <a:rPr spc="15" dirty="0">
                <a:latin typeface="Verdana"/>
                <a:cs typeface="Verdana"/>
              </a:rPr>
              <a:t>i</a:t>
            </a:r>
            <a:r>
              <a:rPr spc="-5" dirty="0">
                <a:latin typeface="Verdana"/>
                <a:cs typeface="Verdana"/>
              </a:rPr>
              <a:t>t</a:t>
            </a:r>
            <a:r>
              <a:rPr dirty="0">
                <a:latin typeface="Verdana"/>
                <a:cs typeface="Verdana"/>
              </a:rPr>
              <a:t>h a</a:t>
            </a:r>
            <a:r>
              <a:rPr spc="-10" dirty="0">
                <a:latin typeface="Verdana"/>
                <a:cs typeface="Verdana"/>
              </a:rPr>
              <a:t> </a:t>
            </a:r>
            <a:r>
              <a:rPr dirty="0">
                <a:latin typeface="Verdana"/>
                <a:cs typeface="Verdana"/>
              </a:rPr>
              <a:t>numb</a:t>
            </a:r>
            <a:r>
              <a:rPr spc="-10" dirty="0">
                <a:latin typeface="Verdana"/>
                <a:cs typeface="Verdana"/>
              </a:rPr>
              <a:t>e</a:t>
            </a:r>
            <a:r>
              <a:rPr dirty="0">
                <a:latin typeface="Verdana"/>
                <a:cs typeface="Verdana"/>
              </a:rPr>
              <a:t>r</a:t>
            </a:r>
            <a:r>
              <a:rPr spc="10" dirty="0">
                <a:latin typeface="Verdana"/>
                <a:cs typeface="Verdana"/>
              </a:rPr>
              <a:t> </a:t>
            </a:r>
            <a:r>
              <a:rPr dirty="0">
                <a:latin typeface="Verdana"/>
                <a:cs typeface="Verdana"/>
              </a:rPr>
              <a:t>of cop</a:t>
            </a:r>
            <a:r>
              <a:rPr spc="5" dirty="0">
                <a:latin typeface="Verdana"/>
                <a:cs typeface="Verdana"/>
              </a:rPr>
              <a:t>i</a:t>
            </a:r>
            <a:r>
              <a:rPr dirty="0">
                <a:latin typeface="Verdana"/>
                <a:cs typeface="Verdana"/>
              </a:rPr>
              <a:t>es</a:t>
            </a:r>
            <a:r>
              <a:rPr spc="5" dirty="0">
                <a:latin typeface="Verdana"/>
                <a:cs typeface="Verdana"/>
              </a:rPr>
              <a:t> </a:t>
            </a:r>
            <a:r>
              <a:rPr dirty="0">
                <a:latin typeface="Verdana"/>
                <a:cs typeface="Verdana"/>
              </a:rPr>
              <a:t>of</a:t>
            </a:r>
            <a:r>
              <a:rPr spc="-10" dirty="0">
                <a:latin typeface="Verdana"/>
                <a:cs typeface="Verdana"/>
              </a:rPr>
              <a:t> </a:t>
            </a:r>
            <a:r>
              <a:rPr dirty="0">
                <a:latin typeface="Verdana"/>
                <a:cs typeface="Verdana"/>
              </a:rPr>
              <a:t>a str</a:t>
            </a:r>
            <a:r>
              <a:rPr spc="5" dirty="0">
                <a:latin typeface="Verdana"/>
                <a:cs typeface="Verdana"/>
              </a:rPr>
              <a:t>i</a:t>
            </a:r>
            <a:r>
              <a:rPr dirty="0">
                <a:latin typeface="Verdana"/>
                <a:cs typeface="Verdana"/>
              </a:rPr>
              <a:t>ng.  </a:t>
            </a:r>
            <a:r>
              <a:rPr spc="-5" dirty="0">
                <a:latin typeface="Verdana"/>
                <a:cs typeface="Verdana"/>
              </a:rPr>
              <a:t>Th</a:t>
            </a:r>
            <a:r>
              <a:rPr dirty="0">
                <a:latin typeface="Verdana"/>
                <a:cs typeface="Verdana"/>
              </a:rPr>
              <a:t>e</a:t>
            </a:r>
            <a:r>
              <a:rPr spc="5" dirty="0">
                <a:latin typeface="Verdana"/>
                <a:cs typeface="Verdana"/>
              </a:rPr>
              <a:t> </a:t>
            </a:r>
            <a:r>
              <a:rPr spc="-10" dirty="0">
                <a:latin typeface="Consolas"/>
                <a:cs typeface="Consolas"/>
              </a:rPr>
              <a:t>repeat(</a:t>
            </a:r>
            <a:r>
              <a:rPr dirty="0">
                <a:latin typeface="Consolas"/>
                <a:cs typeface="Consolas"/>
              </a:rPr>
              <a:t>)</a:t>
            </a:r>
            <a:r>
              <a:rPr spc="-325" dirty="0">
                <a:latin typeface="Consolas"/>
                <a:cs typeface="Consolas"/>
              </a:rPr>
              <a:t> </a:t>
            </a:r>
            <a:r>
              <a:rPr dirty="0">
                <a:latin typeface="Verdana"/>
                <a:cs typeface="Verdana"/>
              </a:rPr>
              <a:t>me</a:t>
            </a:r>
            <a:r>
              <a:rPr spc="-5" dirty="0">
                <a:latin typeface="Verdana"/>
                <a:cs typeface="Verdana"/>
              </a:rPr>
              <a:t>t</a:t>
            </a:r>
            <a:r>
              <a:rPr dirty="0">
                <a:latin typeface="Verdana"/>
                <a:cs typeface="Verdana"/>
              </a:rPr>
              <a:t>hod</a:t>
            </a:r>
            <a:r>
              <a:rPr spc="5" dirty="0">
                <a:latin typeface="Verdana"/>
                <a:cs typeface="Verdana"/>
              </a:rPr>
              <a:t> </a:t>
            </a:r>
            <a:r>
              <a:rPr dirty="0">
                <a:latin typeface="Verdana"/>
                <a:cs typeface="Verdana"/>
              </a:rPr>
              <a:t>r</a:t>
            </a:r>
            <a:r>
              <a:rPr spc="-5" dirty="0">
                <a:latin typeface="Verdana"/>
                <a:cs typeface="Verdana"/>
              </a:rPr>
              <a:t>eturn</a:t>
            </a:r>
            <a:r>
              <a:rPr dirty="0">
                <a:latin typeface="Verdana"/>
                <a:cs typeface="Verdana"/>
              </a:rPr>
              <a:t>s a</a:t>
            </a:r>
            <a:r>
              <a:rPr spc="-10" dirty="0">
                <a:latin typeface="Verdana"/>
                <a:cs typeface="Verdana"/>
              </a:rPr>
              <a:t> </a:t>
            </a:r>
            <a:r>
              <a:rPr dirty="0">
                <a:latin typeface="Verdana"/>
                <a:cs typeface="Verdana"/>
              </a:rPr>
              <a:t>new</a:t>
            </a:r>
            <a:r>
              <a:rPr spc="10" dirty="0">
                <a:latin typeface="Verdana"/>
                <a:cs typeface="Verdana"/>
              </a:rPr>
              <a:t> </a:t>
            </a:r>
            <a:r>
              <a:rPr dirty="0">
                <a:latin typeface="Verdana"/>
                <a:cs typeface="Verdana"/>
              </a:rPr>
              <a:t>str</a:t>
            </a:r>
            <a:r>
              <a:rPr spc="5" dirty="0">
                <a:latin typeface="Verdana"/>
                <a:cs typeface="Verdana"/>
              </a:rPr>
              <a:t>i</a:t>
            </a:r>
            <a:r>
              <a:rPr dirty="0">
                <a:latin typeface="Verdana"/>
                <a:cs typeface="Verdana"/>
              </a:rPr>
              <a:t>ng.</a:t>
            </a:r>
          </a:p>
          <a:p>
            <a:pPr marL="12700">
              <a:lnSpc>
                <a:spcPts val="2125"/>
              </a:lnSpc>
            </a:pPr>
            <a:r>
              <a:rPr spc="-5" dirty="0">
                <a:latin typeface="Verdana"/>
                <a:cs typeface="Verdana"/>
              </a:rPr>
              <a:t>Th</a:t>
            </a:r>
            <a:r>
              <a:rPr dirty="0">
                <a:latin typeface="Verdana"/>
                <a:cs typeface="Verdana"/>
              </a:rPr>
              <a:t>e</a:t>
            </a:r>
            <a:r>
              <a:rPr spc="5" dirty="0">
                <a:latin typeface="Verdana"/>
                <a:cs typeface="Verdana"/>
              </a:rPr>
              <a:t> </a:t>
            </a:r>
            <a:r>
              <a:rPr spc="-10" dirty="0">
                <a:latin typeface="Consolas"/>
                <a:cs typeface="Consolas"/>
              </a:rPr>
              <a:t>repeat(</a:t>
            </a:r>
            <a:r>
              <a:rPr dirty="0">
                <a:latin typeface="Consolas"/>
                <a:cs typeface="Consolas"/>
              </a:rPr>
              <a:t>)</a:t>
            </a:r>
            <a:r>
              <a:rPr spc="-325" dirty="0">
                <a:latin typeface="Consolas"/>
                <a:cs typeface="Consolas"/>
              </a:rPr>
              <a:t> </a:t>
            </a:r>
            <a:r>
              <a:rPr dirty="0">
                <a:latin typeface="Verdana"/>
                <a:cs typeface="Verdana"/>
              </a:rPr>
              <a:t>me</a:t>
            </a:r>
            <a:r>
              <a:rPr spc="-5" dirty="0">
                <a:latin typeface="Verdana"/>
                <a:cs typeface="Verdana"/>
              </a:rPr>
              <a:t>t</a:t>
            </a:r>
            <a:r>
              <a:rPr dirty="0">
                <a:latin typeface="Verdana"/>
                <a:cs typeface="Verdana"/>
              </a:rPr>
              <a:t>hod</a:t>
            </a:r>
            <a:r>
              <a:rPr spc="5" dirty="0">
                <a:latin typeface="Verdana"/>
                <a:cs typeface="Verdana"/>
              </a:rPr>
              <a:t> </a:t>
            </a:r>
            <a:r>
              <a:rPr spc="-10" dirty="0">
                <a:latin typeface="Verdana"/>
                <a:cs typeface="Verdana"/>
              </a:rPr>
              <a:t>d</a:t>
            </a:r>
            <a:r>
              <a:rPr dirty="0">
                <a:latin typeface="Verdana"/>
                <a:cs typeface="Verdana"/>
              </a:rPr>
              <a:t>o</a:t>
            </a:r>
            <a:r>
              <a:rPr spc="-10" dirty="0">
                <a:latin typeface="Verdana"/>
                <a:cs typeface="Verdana"/>
              </a:rPr>
              <a:t>e</a:t>
            </a:r>
            <a:r>
              <a:rPr dirty="0">
                <a:latin typeface="Verdana"/>
                <a:cs typeface="Verdana"/>
              </a:rPr>
              <a:t>s</a:t>
            </a:r>
            <a:r>
              <a:rPr spc="10" dirty="0">
                <a:latin typeface="Verdana"/>
                <a:cs typeface="Verdana"/>
              </a:rPr>
              <a:t> </a:t>
            </a:r>
            <a:r>
              <a:rPr dirty="0">
                <a:latin typeface="Verdana"/>
                <a:cs typeface="Verdana"/>
              </a:rPr>
              <a:t>not chan</a:t>
            </a:r>
            <a:r>
              <a:rPr spc="-10" dirty="0">
                <a:latin typeface="Verdana"/>
                <a:cs typeface="Verdana"/>
              </a:rPr>
              <a:t>g</a:t>
            </a:r>
            <a:r>
              <a:rPr dirty="0">
                <a:latin typeface="Verdana"/>
                <a:cs typeface="Verdana"/>
              </a:rPr>
              <a:t>e</a:t>
            </a:r>
            <a:r>
              <a:rPr spc="5" dirty="0">
                <a:latin typeface="Verdana"/>
                <a:cs typeface="Verdana"/>
              </a:rPr>
              <a:t> </a:t>
            </a:r>
            <a:r>
              <a:rPr spc="-5" dirty="0">
                <a:latin typeface="Verdana"/>
                <a:cs typeface="Verdana"/>
              </a:rPr>
              <a:t>th</a:t>
            </a:r>
            <a:r>
              <a:rPr dirty="0">
                <a:latin typeface="Verdana"/>
                <a:cs typeface="Verdana"/>
              </a:rPr>
              <a:t>e</a:t>
            </a:r>
            <a:r>
              <a:rPr spc="5" dirty="0">
                <a:latin typeface="Verdana"/>
                <a:cs typeface="Verdana"/>
              </a:rPr>
              <a:t> </a:t>
            </a:r>
            <a:r>
              <a:rPr dirty="0">
                <a:latin typeface="Verdana"/>
                <a:cs typeface="Verdana"/>
              </a:rPr>
              <a:t>or</a:t>
            </a:r>
            <a:r>
              <a:rPr spc="10" dirty="0">
                <a:latin typeface="Verdana"/>
                <a:cs typeface="Verdana"/>
              </a:rPr>
              <a:t>i</a:t>
            </a:r>
            <a:r>
              <a:rPr spc="-10" dirty="0">
                <a:latin typeface="Verdana"/>
                <a:cs typeface="Verdana"/>
              </a:rPr>
              <a:t>g</a:t>
            </a:r>
            <a:r>
              <a:rPr spc="5" dirty="0">
                <a:latin typeface="Verdana"/>
                <a:cs typeface="Verdana"/>
              </a:rPr>
              <a:t>i</a:t>
            </a:r>
            <a:r>
              <a:rPr dirty="0">
                <a:latin typeface="Verdana"/>
                <a:cs typeface="Verdana"/>
              </a:rPr>
              <a:t>nal</a:t>
            </a:r>
            <a:r>
              <a:rPr spc="-5" dirty="0">
                <a:latin typeface="Verdana"/>
                <a:cs typeface="Verdana"/>
              </a:rPr>
              <a:t> </a:t>
            </a:r>
            <a:r>
              <a:rPr dirty="0">
                <a:latin typeface="Verdana"/>
                <a:cs typeface="Verdana"/>
              </a:rPr>
              <a:t>str</a:t>
            </a:r>
            <a:r>
              <a:rPr spc="5" dirty="0">
                <a:latin typeface="Verdana"/>
                <a:cs typeface="Verdana"/>
              </a:rPr>
              <a:t>i</a:t>
            </a:r>
            <a:r>
              <a:rPr dirty="0">
                <a:latin typeface="Verdana"/>
                <a:cs typeface="Verdana"/>
              </a:rPr>
              <a:t>n</a:t>
            </a:r>
            <a:r>
              <a:rPr lang="en-US" dirty="0">
                <a:latin typeface="Verdana"/>
                <a:cs typeface="Verdana"/>
              </a:rPr>
              <a:t>g</a:t>
            </a:r>
            <a:endParaRPr dirty="0">
              <a:latin typeface="Verdana"/>
              <a:cs typeface="Verdana"/>
            </a:endParaRPr>
          </a:p>
        </p:txBody>
      </p:sp>
    </p:spTree>
    <p:extLst>
      <p:ext uri="{BB962C8B-B14F-4D97-AF65-F5344CB8AC3E}">
        <p14:creationId xmlns:p14="http://schemas.microsoft.com/office/powerpoint/2010/main" val="12439891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5918" y="477801"/>
            <a:ext cx="10517603" cy="5924699"/>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onsolas"/>
                <a:cs typeface="Consolas"/>
              </a:rPr>
              <a:t>let</a:t>
            </a:r>
            <a:r>
              <a:rPr sz="2000" spc="-40" dirty="0">
                <a:latin typeface="Consolas"/>
                <a:cs typeface="Consolas"/>
              </a:rPr>
              <a:t> </a:t>
            </a:r>
            <a:r>
              <a:rPr sz="2000" spc="-5" dirty="0">
                <a:latin typeface="Consolas"/>
                <a:cs typeface="Consolas"/>
              </a:rPr>
              <a:t>text</a:t>
            </a:r>
            <a:r>
              <a:rPr sz="2000" spc="-30" dirty="0">
                <a:latin typeface="Consolas"/>
                <a:cs typeface="Consolas"/>
              </a:rPr>
              <a:t> </a:t>
            </a:r>
            <a:r>
              <a:rPr sz="2000" dirty="0">
                <a:latin typeface="Consolas"/>
                <a:cs typeface="Consolas"/>
              </a:rPr>
              <a:t>=</a:t>
            </a:r>
            <a:r>
              <a:rPr sz="2000" spc="-30" dirty="0">
                <a:latin typeface="Consolas"/>
                <a:cs typeface="Consolas"/>
              </a:rPr>
              <a:t> </a:t>
            </a:r>
            <a:r>
              <a:rPr sz="2000" spc="-5" dirty="0">
                <a:latin typeface="Consolas"/>
                <a:cs typeface="Consolas"/>
              </a:rPr>
              <a:t>"Hi";</a:t>
            </a:r>
            <a:endParaRPr sz="2000" dirty="0">
              <a:latin typeface="Consolas"/>
              <a:cs typeface="Consolas"/>
            </a:endParaRPr>
          </a:p>
          <a:p>
            <a:pPr marL="12700">
              <a:lnSpc>
                <a:spcPct val="100000"/>
              </a:lnSpc>
              <a:spcBef>
                <a:spcPts val="20"/>
              </a:spcBef>
            </a:pPr>
            <a:r>
              <a:rPr sz="2000" spc="-10" dirty="0">
                <a:latin typeface="Consolas"/>
                <a:cs typeface="Consolas"/>
              </a:rPr>
              <a:t>let</a:t>
            </a:r>
            <a:r>
              <a:rPr sz="2000" spc="-25" dirty="0">
                <a:latin typeface="Consolas"/>
                <a:cs typeface="Consolas"/>
              </a:rPr>
              <a:t> </a:t>
            </a:r>
            <a:r>
              <a:rPr sz="2000" spc="-5" dirty="0">
                <a:latin typeface="Consolas"/>
                <a:cs typeface="Consolas"/>
              </a:rPr>
              <a:t>result</a:t>
            </a:r>
            <a:r>
              <a:rPr sz="2000" spc="-25" dirty="0">
                <a:latin typeface="Consolas"/>
                <a:cs typeface="Consolas"/>
              </a:rPr>
              <a:t> </a:t>
            </a:r>
            <a:r>
              <a:rPr sz="2000" dirty="0">
                <a:latin typeface="Consolas"/>
                <a:cs typeface="Consolas"/>
              </a:rPr>
              <a:t>=</a:t>
            </a:r>
            <a:r>
              <a:rPr sz="2000" spc="-15" dirty="0">
                <a:latin typeface="Consolas"/>
                <a:cs typeface="Consolas"/>
              </a:rPr>
              <a:t> </a:t>
            </a:r>
            <a:r>
              <a:rPr sz="2000" spc="-5" dirty="0">
                <a:latin typeface="Consolas"/>
                <a:cs typeface="Consolas"/>
              </a:rPr>
              <a:t>text.repeat(2);//hi</a:t>
            </a:r>
            <a:r>
              <a:rPr sz="2000" spc="-15" dirty="0">
                <a:latin typeface="Consolas"/>
                <a:cs typeface="Consolas"/>
              </a:rPr>
              <a:t> </a:t>
            </a:r>
            <a:r>
              <a:rPr sz="2000" spc="-5" dirty="0">
                <a:latin typeface="Consolas"/>
                <a:cs typeface="Consolas"/>
              </a:rPr>
              <a:t>hi</a:t>
            </a:r>
            <a:endParaRPr sz="2000" dirty="0">
              <a:latin typeface="Consolas"/>
              <a:cs typeface="Consolas"/>
            </a:endParaRPr>
          </a:p>
          <a:p>
            <a:pPr>
              <a:lnSpc>
                <a:spcPct val="100000"/>
              </a:lnSpc>
              <a:spcBef>
                <a:spcPts val="55"/>
              </a:spcBef>
            </a:pPr>
            <a:endParaRPr sz="2000" u="sng" dirty="0">
              <a:latin typeface="Consolas"/>
              <a:cs typeface="Consolas"/>
            </a:endParaRPr>
          </a:p>
          <a:p>
            <a:pPr marL="388620" indent="-376555">
              <a:lnSpc>
                <a:spcPct val="100000"/>
              </a:lnSpc>
              <a:buSzPct val="94444"/>
              <a:buAutoNum type="arabicPeriod" startAt="11"/>
              <a:tabLst>
                <a:tab pos="389255" algn="l"/>
              </a:tabLst>
            </a:pPr>
            <a:r>
              <a:rPr sz="2000" u="sng" spc="-5" dirty="0">
                <a:latin typeface="Consolas"/>
                <a:cs typeface="Consolas"/>
              </a:rPr>
              <a:t>charAt(</a:t>
            </a:r>
            <a:r>
              <a:rPr sz="2000" u="sng" spc="-65" dirty="0">
                <a:latin typeface="Consolas"/>
                <a:cs typeface="Consolas"/>
              </a:rPr>
              <a:t> </a:t>
            </a:r>
            <a:r>
              <a:rPr sz="2000" u="sng" spc="-5" dirty="0">
                <a:latin typeface="Consolas"/>
                <a:cs typeface="Consolas"/>
              </a:rPr>
              <a:t>):-</a:t>
            </a:r>
            <a:endParaRPr sz="2000" u="sng" dirty="0">
              <a:latin typeface="Consolas"/>
              <a:cs typeface="Consolas"/>
            </a:endParaRPr>
          </a:p>
          <a:p>
            <a:pPr>
              <a:lnSpc>
                <a:spcPct val="100000"/>
              </a:lnSpc>
              <a:spcBef>
                <a:spcPts val="50"/>
              </a:spcBef>
              <a:buClr>
                <a:srgbClr val="FF0000"/>
              </a:buClr>
              <a:buFont typeface="Consolas"/>
              <a:buAutoNum type="arabicPeriod" startAt="11"/>
            </a:pPr>
            <a:endParaRPr sz="2000" dirty="0">
              <a:latin typeface="Consolas"/>
              <a:cs typeface="Consolas"/>
            </a:endParaRPr>
          </a:p>
          <a:p>
            <a:pPr marL="12700">
              <a:lnSpc>
                <a:spcPct val="100000"/>
              </a:lnSpc>
            </a:pPr>
            <a:r>
              <a:rPr sz="2000" spc="-5" dirty="0">
                <a:latin typeface="Consolas"/>
                <a:cs typeface="Consolas"/>
              </a:rPr>
              <a:t>it</a:t>
            </a:r>
            <a:r>
              <a:rPr sz="2000" spc="-20" dirty="0">
                <a:latin typeface="Consolas"/>
                <a:cs typeface="Consolas"/>
              </a:rPr>
              <a:t> </a:t>
            </a:r>
            <a:r>
              <a:rPr sz="2000" spc="-5" dirty="0">
                <a:latin typeface="Consolas"/>
                <a:cs typeface="Consolas"/>
              </a:rPr>
              <a:t>will</a:t>
            </a:r>
            <a:r>
              <a:rPr sz="2000" spc="-15" dirty="0">
                <a:latin typeface="Consolas"/>
                <a:cs typeface="Consolas"/>
              </a:rPr>
              <a:t> </a:t>
            </a:r>
            <a:r>
              <a:rPr sz="2000" spc="-5" dirty="0">
                <a:latin typeface="Consolas"/>
                <a:cs typeface="Consolas"/>
              </a:rPr>
              <a:t>return</a:t>
            </a:r>
            <a:r>
              <a:rPr sz="2000" spc="-25" dirty="0">
                <a:latin typeface="Consolas"/>
                <a:cs typeface="Consolas"/>
              </a:rPr>
              <a:t> </a:t>
            </a:r>
            <a:r>
              <a:rPr sz="2000" spc="-5" dirty="0">
                <a:latin typeface="Consolas"/>
                <a:cs typeface="Consolas"/>
              </a:rPr>
              <a:t>the</a:t>
            </a:r>
            <a:r>
              <a:rPr sz="2000" spc="-15" dirty="0">
                <a:latin typeface="Consolas"/>
                <a:cs typeface="Consolas"/>
              </a:rPr>
              <a:t> </a:t>
            </a:r>
            <a:r>
              <a:rPr sz="2000" spc="-5" dirty="0">
                <a:latin typeface="Consolas"/>
                <a:cs typeface="Consolas"/>
              </a:rPr>
              <a:t>character</a:t>
            </a:r>
            <a:r>
              <a:rPr sz="2000" spc="-10" dirty="0">
                <a:latin typeface="Consolas"/>
                <a:cs typeface="Consolas"/>
              </a:rPr>
              <a:t> </a:t>
            </a:r>
            <a:r>
              <a:rPr sz="2000" dirty="0">
                <a:latin typeface="Consolas"/>
                <a:cs typeface="Consolas"/>
              </a:rPr>
              <a:t>of</a:t>
            </a:r>
            <a:r>
              <a:rPr sz="2000" spc="-15" dirty="0">
                <a:latin typeface="Consolas"/>
                <a:cs typeface="Consolas"/>
              </a:rPr>
              <a:t> </a:t>
            </a:r>
            <a:r>
              <a:rPr sz="2000" spc="-5" dirty="0">
                <a:latin typeface="Consolas"/>
                <a:cs typeface="Consolas"/>
              </a:rPr>
              <a:t>the</a:t>
            </a:r>
            <a:r>
              <a:rPr sz="2000" spc="-15" dirty="0">
                <a:latin typeface="Consolas"/>
                <a:cs typeface="Consolas"/>
              </a:rPr>
              <a:t> </a:t>
            </a:r>
            <a:r>
              <a:rPr sz="2000" spc="-5" dirty="0">
                <a:latin typeface="Consolas"/>
                <a:cs typeface="Consolas"/>
              </a:rPr>
              <a:t>specified</a:t>
            </a:r>
            <a:r>
              <a:rPr sz="2000" spc="-15" dirty="0">
                <a:latin typeface="Consolas"/>
                <a:cs typeface="Consolas"/>
              </a:rPr>
              <a:t> </a:t>
            </a:r>
            <a:r>
              <a:rPr sz="2000" spc="-5" dirty="0">
                <a:latin typeface="Consolas"/>
                <a:cs typeface="Consolas"/>
              </a:rPr>
              <a:t>position</a:t>
            </a:r>
            <a:endParaRPr sz="2000" dirty="0">
              <a:latin typeface="Consolas"/>
              <a:cs typeface="Consolas"/>
            </a:endParaRPr>
          </a:p>
          <a:p>
            <a:pPr>
              <a:lnSpc>
                <a:spcPct val="100000"/>
              </a:lnSpc>
              <a:spcBef>
                <a:spcPts val="55"/>
              </a:spcBef>
            </a:pPr>
            <a:endParaRPr sz="2000" dirty="0">
              <a:latin typeface="Consolas"/>
              <a:cs typeface="Consolas"/>
            </a:endParaRPr>
          </a:p>
          <a:p>
            <a:pPr marL="12700">
              <a:lnSpc>
                <a:spcPct val="100000"/>
              </a:lnSpc>
            </a:pPr>
            <a:r>
              <a:rPr sz="2000" spc="-10" dirty="0">
                <a:latin typeface="Consolas"/>
                <a:cs typeface="Consolas"/>
              </a:rPr>
              <a:t>Ex:-</a:t>
            </a:r>
            <a:endParaRPr sz="2000" dirty="0">
              <a:latin typeface="Consolas"/>
              <a:cs typeface="Consolas"/>
            </a:endParaRPr>
          </a:p>
          <a:p>
            <a:pPr marL="12700">
              <a:lnSpc>
                <a:spcPct val="100000"/>
              </a:lnSpc>
            </a:pPr>
            <a:r>
              <a:rPr sz="2000" spc="-5" dirty="0">
                <a:latin typeface="Consolas"/>
                <a:cs typeface="Consolas"/>
              </a:rPr>
              <a:t>var</a:t>
            </a:r>
            <a:r>
              <a:rPr sz="2000" spc="-45" dirty="0">
                <a:latin typeface="Consolas"/>
                <a:cs typeface="Consolas"/>
              </a:rPr>
              <a:t> </a:t>
            </a:r>
            <a:r>
              <a:rPr sz="2000" spc="-5" dirty="0">
                <a:latin typeface="Consolas"/>
                <a:cs typeface="Consolas"/>
              </a:rPr>
              <a:t>str=“hi</a:t>
            </a:r>
            <a:r>
              <a:rPr sz="2000" spc="-35" dirty="0">
                <a:latin typeface="Consolas"/>
                <a:cs typeface="Consolas"/>
              </a:rPr>
              <a:t> </a:t>
            </a:r>
            <a:r>
              <a:rPr sz="2000" spc="-5" dirty="0">
                <a:latin typeface="Consolas"/>
                <a:cs typeface="Consolas"/>
              </a:rPr>
              <a:t>guys”</a:t>
            </a:r>
            <a:endParaRPr sz="2000" dirty="0">
              <a:latin typeface="Consolas"/>
              <a:cs typeface="Consolas"/>
            </a:endParaRPr>
          </a:p>
          <a:p>
            <a:pPr marL="12700">
              <a:lnSpc>
                <a:spcPct val="100000"/>
              </a:lnSpc>
            </a:pPr>
            <a:r>
              <a:rPr sz="2000" spc="-5" dirty="0">
                <a:latin typeface="Consolas"/>
                <a:cs typeface="Consolas"/>
              </a:rPr>
              <a:t>Console.log(str.charAt(3));//g</a:t>
            </a:r>
            <a:endParaRPr sz="2000" dirty="0">
              <a:latin typeface="Consolas"/>
              <a:cs typeface="Consolas"/>
            </a:endParaRPr>
          </a:p>
          <a:p>
            <a:pPr>
              <a:lnSpc>
                <a:spcPct val="100000"/>
              </a:lnSpc>
              <a:spcBef>
                <a:spcPts val="55"/>
              </a:spcBef>
            </a:pPr>
            <a:endParaRPr sz="2000" dirty="0">
              <a:latin typeface="Consolas"/>
              <a:cs typeface="Consolas"/>
            </a:endParaRPr>
          </a:p>
          <a:p>
            <a:pPr marL="388620" indent="-376555">
              <a:lnSpc>
                <a:spcPct val="100000"/>
              </a:lnSpc>
              <a:buSzPct val="94444"/>
              <a:buAutoNum type="arabicPeriod" startAt="12"/>
              <a:tabLst>
                <a:tab pos="389255" algn="l"/>
              </a:tabLst>
            </a:pPr>
            <a:r>
              <a:rPr sz="2000" u="sng" spc="-5" dirty="0">
                <a:latin typeface="Consolas"/>
                <a:cs typeface="Consolas"/>
              </a:rPr>
              <a:t>charCodeAt(</a:t>
            </a:r>
            <a:r>
              <a:rPr sz="2000" u="sng" spc="-65" dirty="0">
                <a:latin typeface="Consolas"/>
                <a:cs typeface="Consolas"/>
              </a:rPr>
              <a:t> </a:t>
            </a:r>
            <a:r>
              <a:rPr sz="2000" u="sng" dirty="0">
                <a:latin typeface="Consolas"/>
                <a:cs typeface="Consolas"/>
              </a:rPr>
              <a:t>):-</a:t>
            </a:r>
          </a:p>
          <a:p>
            <a:pPr>
              <a:lnSpc>
                <a:spcPct val="100000"/>
              </a:lnSpc>
              <a:spcBef>
                <a:spcPts val="50"/>
              </a:spcBef>
            </a:pPr>
            <a:endParaRPr sz="2000" dirty="0">
              <a:latin typeface="Consolas"/>
              <a:cs typeface="Consolas"/>
            </a:endParaRPr>
          </a:p>
          <a:p>
            <a:pPr marL="12700" marR="5080">
              <a:lnSpc>
                <a:spcPct val="100000"/>
              </a:lnSpc>
              <a:spcBef>
                <a:spcPts val="5"/>
              </a:spcBef>
            </a:pPr>
            <a:r>
              <a:rPr sz="2000" spc="-5" dirty="0">
                <a:latin typeface="Consolas"/>
                <a:cs typeface="Consolas"/>
              </a:rPr>
              <a:t>It will return the ASCII value </a:t>
            </a:r>
            <a:r>
              <a:rPr sz="2000" dirty="0">
                <a:latin typeface="Consolas"/>
                <a:cs typeface="Consolas"/>
              </a:rPr>
              <a:t>of </a:t>
            </a:r>
            <a:r>
              <a:rPr sz="2000" spc="-5" dirty="0">
                <a:latin typeface="Consolas"/>
                <a:cs typeface="Consolas"/>
              </a:rPr>
              <a:t>specified index value of that character. </a:t>
            </a:r>
            <a:r>
              <a:rPr sz="2000" spc="-975" dirty="0">
                <a:latin typeface="Consolas"/>
                <a:cs typeface="Consolas"/>
              </a:rPr>
              <a:t> </a:t>
            </a:r>
            <a:r>
              <a:rPr sz="2000" spc="-10" dirty="0">
                <a:latin typeface="Consolas"/>
                <a:cs typeface="Consolas"/>
              </a:rPr>
              <a:t>Ex:-</a:t>
            </a:r>
            <a:endParaRPr sz="2000" dirty="0">
              <a:latin typeface="Consolas"/>
              <a:cs typeface="Consolas"/>
            </a:endParaRPr>
          </a:p>
          <a:p>
            <a:pPr marL="12700" marR="4893310">
              <a:lnSpc>
                <a:spcPct val="100000"/>
              </a:lnSpc>
            </a:pPr>
            <a:r>
              <a:rPr sz="2000" spc="-10" dirty="0">
                <a:latin typeface="Consolas"/>
                <a:cs typeface="Consolas"/>
              </a:rPr>
              <a:t>Ex:-var </a:t>
            </a:r>
            <a:r>
              <a:rPr sz="2000" spc="-5" dirty="0">
                <a:latin typeface="Consolas"/>
                <a:cs typeface="Consolas"/>
              </a:rPr>
              <a:t>str=“javascript” </a:t>
            </a:r>
            <a:r>
              <a:rPr sz="2000" dirty="0">
                <a:latin typeface="Consolas"/>
                <a:cs typeface="Consolas"/>
              </a:rPr>
              <a:t> </a:t>
            </a:r>
            <a:r>
              <a:rPr sz="2000" spc="-10" dirty="0">
                <a:latin typeface="Consolas"/>
                <a:cs typeface="Consolas"/>
              </a:rPr>
              <a:t>Cons</a:t>
            </a:r>
            <a:r>
              <a:rPr sz="2000" dirty="0">
                <a:latin typeface="Consolas"/>
                <a:cs typeface="Consolas"/>
              </a:rPr>
              <a:t>ol</a:t>
            </a:r>
            <a:r>
              <a:rPr sz="2000" spc="-15" dirty="0">
                <a:latin typeface="Consolas"/>
                <a:cs typeface="Consolas"/>
              </a:rPr>
              <a:t>e</a:t>
            </a:r>
            <a:r>
              <a:rPr sz="2000" dirty="0">
                <a:latin typeface="Consolas"/>
                <a:cs typeface="Consolas"/>
              </a:rPr>
              <a:t>.l</a:t>
            </a:r>
            <a:r>
              <a:rPr sz="2000" spc="-15" dirty="0">
                <a:latin typeface="Consolas"/>
                <a:cs typeface="Consolas"/>
              </a:rPr>
              <a:t>o</a:t>
            </a:r>
            <a:r>
              <a:rPr sz="2000" spc="-10" dirty="0">
                <a:latin typeface="Consolas"/>
                <a:cs typeface="Consolas"/>
              </a:rPr>
              <a:t>g</a:t>
            </a:r>
            <a:r>
              <a:rPr sz="2000" dirty="0">
                <a:latin typeface="Consolas"/>
                <a:cs typeface="Consolas"/>
              </a:rPr>
              <a:t>(s</a:t>
            </a:r>
            <a:r>
              <a:rPr sz="2000" spc="-15" dirty="0">
                <a:latin typeface="Consolas"/>
                <a:cs typeface="Consolas"/>
              </a:rPr>
              <a:t>t</a:t>
            </a:r>
            <a:r>
              <a:rPr sz="2000" spc="-10" dirty="0">
                <a:latin typeface="Consolas"/>
                <a:cs typeface="Consolas"/>
              </a:rPr>
              <a:t>r.</a:t>
            </a:r>
            <a:r>
              <a:rPr sz="2000" dirty="0">
                <a:latin typeface="Consolas"/>
                <a:cs typeface="Consolas"/>
              </a:rPr>
              <a:t>ch</a:t>
            </a:r>
            <a:r>
              <a:rPr sz="2000" spc="-15" dirty="0">
                <a:latin typeface="Consolas"/>
                <a:cs typeface="Consolas"/>
              </a:rPr>
              <a:t>a</a:t>
            </a:r>
            <a:r>
              <a:rPr sz="2000" dirty="0">
                <a:latin typeface="Consolas"/>
                <a:cs typeface="Consolas"/>
              </a:rPr>
              <a:t>rC</a:t>
            </a:r>
            <a:r>
              <a:rPr sz="2000" spc="-15" dirty="0">
                <a:latin typeface="Consolas"/>
                <a:cs typeface="Consolas"/>
              </a:rPr>
              <a:t>o</a:t>
            </a:r>
            <a:r>
              <a:rPr sz="2000" spc="-10" dirty="0">
                <a:latin typeface="Consolas"/>
                <a:cs typeface="Consolas"/>
              </a:rPr>
              <a:t>d</a:t>
            </a:r>
            <a:r>
              <a:rPr sz="2000" dirty="0">
                <a:latin typeface="Consolas"/>
                <a:cs typeface="Consolas"/>
              </a:rPr>
              <a:t>eA</a:t>
            </a:r>
            <a:r>
              <a:rPr sz="2000" spc="-15" dirty="0">
                <a:latin typeface="Consolas"/>
                <a:cs typeface="Consolas"/>
              </a:rPr>
              <a:t>t</a:t>
            </a:r>
            <a:r>
              <a:rPr sz="2000" spc="-10" dirty="0">
                <a:latin typeface="Consolas"/>
                <a:cs typeface="Consolas"/>
              </a:rPr>
              <a:t>(1</a:t>
            </a:r>
            <a:r>
              <a:rPr sz="2000" dirty="0">
                <a:latin typeface="Consolas"/>
                <a:cs typeface="Consolas"/>
              </a:rPr>
              <a:t>))</a:t>
            </a:r>
            <a:r>
              <a:rPr sz="2000" spc="-15" dirty="0">
                <a:latin typeface="Consolas"/>
                <a:cs typeface="Consolas"/>
              </a:rPr>
              <a:t>;</a:t>
            </a:r>
            <a:r>
              <a:rPr sz="2000" dirty="0">
                <a:latin typeface="Consolas"/>
                <a:cs typeface="Consolas"/>
              </a:rPr>
              <a:t>//</a:t>
            </a:r>
            <a:r>
              <a:rPr sz="2000" spc="-15" dirty="0">
                <a:latin typeface="Consolas"/>
                <a:cs typeface="Consolas"/>
              </a:rPr>
              <a:t>9</a:t>
            </a:r>
            <a:r>
              <a:rPr sz="2000" dirty="0">
                <a:latin typeface="Consolas"/>
                <a:cs typeface="Consolas"/>
              </a:rPr>
              <a:t>7  </a:t>
            </a:r>
            <a:r>
              <a:rPr sz="2000" spc="-5" dirty="0">
                <a:latin typeface="Consolas"/>
                <a:cs typeface="Consolas"/>
              </a:rPr>
              <a:t>Split(</a:t>
            </a:r>
            <a:r>
              <a:rPr sz="2000" spc="-25" dirty="0">
                <a:latin typeface="Consolas"/>
                <a:cs typeface="Consolas"/>
              </a:rPr>
              <a:t> </a:t>
            </a:r>
            <a:r>
              <a:rPr sz="2000" spc="-5" dirty="0">
                <a:latin typeface="Consolas"/>
                <a:cs typeface="Consolas"/>
              </a:rPr>
              <a:t>):-covert</a:t>
            </a:r>
            <a:r>
              <a:rPr sz="2000" spc="-15" dirty="0">
                <a:latin typeface="Consolas"/>
                <a:cs typeface="Consolas"/>
              </a:rPr>
              <a:t> </a:t>
            </a:r>
            <a:r>
              <a:rPr sz="2000" spc="-5" dirty="0">
                <a:latin typeface="Consolas"/>
                <a:cs typeface="Consolas"/>
              </a:rPr>
              <a:t>string</a:t>
            </a:r>
            <a:r>
              <a:rPr sz="2000" spc="-10" dirty="0">
                <a:latin typeface="Consolas"/>
                <a:cs typeface="Consolas"/>
              </a:rPr>
              <a:t> </a:t>
            </a:r>
            <a:r>
              <a:rPr sz="2000" spc="-5" dirty="0">
                <a:latin typeface="Consolas"/>
                <a:cs typeface="Consolas"/>
              </a:rPr>
              <a:t>to</a:t>
            </a:r>
            <a:r>
              <a:rPr sz="2000" spc="-25" dirty="0">
                <a:latin typeface="Consolas"/>
                <a:cs typeface="Consolas"/>
              </a:rPr>
              <a:t> </a:t>
            </a:r>
            <a:r>
              <a:rPr sz="2000" spc="-5" dirty="0">
                <a:latin typeface="Consolas"/>
                <a:cs typeface="Consolas"/>
              </a:rPr>
              <a:t>array.</a:t>
            </a:r>
            <a:endParaRPr sz="2000" dirty="0">
              <a:latin typeface="Consolas"/>
              <a:cs typeface="Consolas"/>
            </a:endParaRPr>
          </a:p>
          <a:p>
            <a:pPr marL="12700">
              <a:lnSpc>
                <a:spcPct val="100000"/>
              </a:lnSpc>
            </a:pPr>
            <a:r>
              <a:rPr sz="2000" spc="-5" dirty="0">
                <a:latin typeface="Consolas"/>
                <a:cs typeface="Consolas"/>
              </a:rPr>
              <a:t>Join(</a:t>
            </a:r>
            <a:r>
              <a:rPr sz="2000" spc="-20" dirty="0">
                <a:latin typeface="Consolas"/>
                <a:cs typeface="Consolas"/>
              </a:rPr>
              <a:t> </a:t>
            </a:r>
            <a:r>
              <a:rPr sz="2000" spc="-5" dirty="0">
                <a:latin typeface="Consolas"/>
                <a:cs typeface="Consolas"/>
              </a:rPr>
              <a:t>):-convert</a:t>
            </a:r>
            <a:r>
              <a:rPr sz="2000" spc="-20" dirty="0">
                <a:latin typeface="Consolas"/>
                <a:cs typeface="Consolas"/>
              </a:rPr>
              <a:t> </a:t>
            </a:r>
            <a:r>
              <a:rPr sz="2000" spc="-5" dirty="0">
                <a:latin typeface="Consolas"/>
                <a:cs typeface="Consolas"/>
              </a:rPr>
              <a:t>array</a:t>
            </a:r>
            <a:r>
              <a:rPr sz="2000" spc="-25" dirty="0">
                <a:latin typeface="Consolas"/>
                <a:cs typeface="Consolas"/>
              </a:rPr>
              <a:t> </a:t>
            </a:r>
            <a:r>
              <a:rPr sz="2000" dirty="0">
                <a:latin typeface="Consolas"/>
                <a:cs typeface="Consolas"/>
              </a:rPr>
              <a:t>to</a:t>
            </a:r>
            <a:r>
              <a:rPr sz="2000" spc="-30" dirty="0">
                <a:latin typeface="Consolas"/>
                <a:cs typeface="Consolas"/>
              </a:rPr>
              <a:t> </a:t>
            </a:r>
            <a:r>
              <a:rPr sz="2000" spc="-5" dirty="0">
                <a:latin typeface="Consolas"/>
                <a:cs typeface="Consolas"/>
              </a:rPr>
              <a:t>string</a:t>
            </a:r>
            <a:endParaRPr sz="2000" dirty="0">
              <a:latin typeface="Consolas"/>
              <a:cs typeface="Consolas"/>
            </a:endParaRPr>
          </a:p>
        </p:txBody>
      </p:sp>
    </p:spTree>
    <p:extLst>
      <p:ext uri="{BB962C8B-B14F-4D97-AF65-F5344CB8AC3E}">
        <p14:creationId xmlns:p14="http://schemas.microsoft.com/office/powerpoint/2010/main" val="42445828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F1E88-E4A8-E7DC-DD6A-1C1EEEE4A32D}"/>
              </a:ext>
            </a:extLst>
          </p:cNvPr>
          <p:cNvSpPr>
            <a:spLocks noGrp="1"/>
          </p:cNvSpPr>
          <p:nvPr>
            <p:ph type="ctrTitle"/>
          </p:nvPr>
        </p:nvSpPr>
        <p:spPr/>
        <p:txBody>
          <a:bodyPr/>
          <a:lstStyle/>
          <a:p>
            <a:r>
              <a:rPr lang="en-US" dirty="0"/>
              <a:t>BOM and DOM</a:t>
            </a:r>
            <a:endParaRPr lang="en-IN" dirty="0"/>
          </a:p>
        </p:txBody>
      </p:sp>
      <p:sp>
        <p:nvSpPr>
          <p:cNvPr id="3" name="Subtitle 2">
            <a:extLst>
              <a:ext uri="{FF2B5EF4-FFF2-40B4-BE49-F238E27FC236}">
                <a16:creationId xmlns:a16="http://schemas.microsoft.com/office/drawing/2014/main" id="{5D6A1BEE-6C85-8B9D-D11B-489620BE28C7}"/>
              </a:ext>
            </a:extLst>
          </p:cNvPr>
          <p:cNvSpPr>
            <a:spLocks noGrp="1"/>
          </p:cNvSpPr>
          <p:nvPr>
            <p:ph type="subTitle" idx="1"/>
          </p:nvPr>
        </p:nvSpPr>
        <p:spPr/>
        <p:txBody>
          <a:bodyPr/>
          <a:lstStyle/>
          <a:p>
            <a:r>
              <a:rPr lang="en-US" dirty="0"/>
              <a:t>BROWSER OBJECT MODEL AND DOCUMENT OBJECT MODEL</a:t>
            </a:r>
            <a:endParaRPr lang="en-IN" dirty="0"/>
          </a:p>
        </p:txBody>
      </p:sp>
    </p:spTree>
    <p:extLst>
      <p:ext uri="{BB962C8B-B14F-4D97-AF65-F5344CB8AC3E}">
        <p14:creationId xmlns:p14="http://schemas.microsoft.com/office/powerpoint/2010/main" val="30383952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DB5A-08F9-3168-A499-E407C7CCE0BB}"/>
              </a:ext>
            </a:extLst>
          </p:cNvPr>
          <p:cNvSpPr>
            <a:spLocks noGrp="1"/>
          </p:cNvSpPr>
          <p:nvPr>
            <p:ph type="title"/>
          </p:nvPr>
        </p:nvSpPr>
        <p:spPr>
          <a:xfrm>
            <a:off x="646111" y="452718"/>
            <a:ext cx="9404723" cy="953172"/>
          </a:xfrm>
        </p:spPr>
        <p:txBody>
          <a:bodyPr/>
          <a:lstStyle/>
          <a:p>
            <a:r>
              <a:rPr lang="en-US" dirty="0"/>
              <a:t>BOM(Browser Object Model)</a:t>
            </a:r>
            <a:endParaRPr lang="en-IN" dirty="0"/>
          </a:p>
        </p:txBody>
      </p:sp>
      <p:sp>
        <p:nvSpPr>
          <p:cNvPr id="3" name="Content Placeholder 2">
            <a:extLst>
              <a:ext uri="{FF2B5EF4-FFF2-40B4-BE49-F238E27FC236}">
                <a16:creationId xmlns:a16="http://schemas.microsoft.com/office/drawing/2014/main" id="{1034F708-151B-A733-86C3-78D82262B7D3}"/>
              </a:ext>
            </a:extLst>
          </p:cNvPr>
          <p:cNvSpPr>
            <a:spLocks noGrp="1"/>
          </p:cNvSpPr>
          <p:nvPr>
            <p:ph idx="1"/>
          </p:nvPr>
        </p:nvSpPr>
        <p:spPr>
          <a:xfrm>
            <a:off x="1160462" y="1881467"/>
            <a:ext cx="10251338" cy="4195481"/>
          </a:xfrm>
        </p:spPr>
        <p:txBody>
          <a:bodyPr/>
          <a:lstStyle/>
          <a:p>
            <a:r>
              <a:rPr lang="en-US" b="0" i="0" dirty="0">
                <a:solidFill>
                  <a:srgbClr val="DDDDDD"/>
                </a:solidFill>
                <a:effectLst/>
                <a:latin typeface="Verdana" panose="020B0604030504040204" pitchFamily="34" charset="0"/>
              </a:rPr>
              <a:t>The Browser Object Model (BOM) allows JavaScript to "talk to" the browser.</a:t>
            </a:r>
          </a:p>
          <a:p>
            <a:r>
              <a:rPr lang="en-US" b="0" i="0" dirty="0">
                <a:effectLst/>
              </a:rPr>
              <a:t>"BOM" stands for Browser Object Model. It represents the objects that a browser provides to JavaScript to interact with the browser itself.</a:t>
            </a:r>
          </a:p>
          <a:p>
            <a:endParaRPr lang="en-IN" u="sng" dirty="0"/>
          </a:p>
        </p:txBody>
      </p:sp>
    </p:spTree>
    <p:extLst>
      <p:ext uri="{BB962C8B-B14F-4D97-AF65-F5344CB8AC3E}">
        <p14:creationId xmlns:p14="http://schemas.microsoft.com/office/powerpoint/2010/main" val="42606876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7A513-9648-719D-4938-1EADCD18E5C9}"/>
              </a:ext>
            </a:extLst>
          </p:cNvPr>
          <p:cNvSpPr>
            <a:spLocks noGrp="1"/>
          </p:cNvSpPr>
          <p:nvPr>
            <p:ph type="title"/>
          </p:nvPr>
        </p:nvSpPr>
        <p:spPr>
          <a:xfrm>
            <a:off x="646111" y="452718"/>
            <a:ext cx="9404723" cy="884592"/>
          </a:xfrm>
        </p:spPr>
        <p:txBody>
          <a:bodyPr>
            <a:normAutofit fontScale="90000"/>
          </a:bodyPr>
          <a:lstStyle/>
          <a:p>
            <a:r>
              <a:rPr lang="en-IN" b="0" i="0" dirty="0">
                <a:solidFill>
                  <a:srgbClr val="DDDDDD"/>
                </a:solidFill>
                <a:effectLst/>
                <a:latin typeface="Segoe UI" panose="020B0502040204020203" pitchFamily="34" charset="0"/>
              </a:rPr>
              <a:t>JavaScript Popup Boxes</a:t>
            </a:r>
            <a:br>
              <a:rPr lang="en-IN" b="0" i="0" dirty="0">
                <a:solidFill>
                  <a:srgbClr val="DDDDDD"/>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4DDB7BE8-499D-492F-4EB5-CC68D78AF04B}"/>
              </a:ext>
            </a:extLst>
          </p:cNvPr>
          <p:cNvSpPr>
            <a:spLocks noGrp="1"/>
          </p:cNvSpPr>
          <p:nvPr>
            <p:ph idx="1"/>
          </p:nvPr>
        </p:nvSpPr>
        <p:spPr>
          <a:xfrm>
            <a:off x="434340" y="1703070"/>
            <a:ext cx="11349990" cy="4702212"/>
          </a:xfrm>
        </p:spPr>
        <p:txBody>
          <a:bodyPr>
            <a:normAutofit/>
          </a:bodyPr>
          <a:lstStyle/>
          <a:p>
            <a:r>
              <a:rPr lang="en-US" b="0" i="0" dirty="0">
                <a:solidFill>
                  <a:srgbClr val="DDDDDD"/>
                </a:solidFill>
                <a:effectLst/>
                <a:latin typeface="Verdana" panose="020B0604030504040204" pitchFamily="34" charset="0"/>
              </a:rPr>
              <a:t>JavaScript has three kind of popup boxes: Alert box, Confirm box, and Prompt box.</a:t>
            </a:r>
          </a:p>
          <a:p>
            <a:pPr marL="0" indent="0" algn="l">
              <a:buNone/>
            </a:pPr>
            <a:r>
              <a:rPr lang="en-US" b="1" i="0" u="sng" dirty="0">
                <a:solidFill>
                  <a:srgbClr val="DDDDDD"/>
                </a:solidFill>
                <a:effectLst/>
                <a:latin typeface="Segoe UI" panose="020B0502040204020203" pitchFamily="34" charset="0"/>
              </a:rPr>
              <a:t>Alert Box</a:t>
            </a:r>
          </a:p>
          <a:p>
            <a:pPr algn="l"/>
            <a:r>
              <a:rPr lang="en-US" b="0" i="0" dirty="0">
                <a:solidFill>
                  <a:srgbClr val="DDDDDD"/>
                </a:solidFill>
                <a:effectLst/>
                <a:latin typeface="Verdana" panose="020B0604030504040204" pitchFamily="34" charset="0"/>
              </a:rPr>
              <a:t>An alert box is often used if you want to make sure information comes through to the user.</a:t>
            </a:r>
          </a:p>
          <a:p>
            <a:pPr algn="l"/>
            <a:r>
              <a:rPr lang="en-US" b="0" i="0" dirty="0">
                <a:solidFill>
                  <a:srgbClr val="DDDDDD"/>
                </a:solidFill>
                <a:effectLst/>
                <a:latin typeface="Verdana" panose="020B0604030504040204" pitchFamily="34" charset="0"/>
              </a:rPr>
              <a:t>When an alert box pops up, the user will have to click "OK" to proceed.</a:t>
            </a:r>
          </a:p>
          <a:p>
            <a:pPr algn="l"/>
            <a:endParaRPr lang="en-US" b="0" i="0" dirty="0">
              <a:solidFill>
                <a:srgbClr val="DDDDDD"/>
              </a:solidFill>
              <a:effectLst/>
              <a:latin typeface="Verdana" panose="020B0604030504040204" pitchFamily="34" charset="0"/>
            </a:endParaRPr>
          </a:p>
          <a:p>
            <a:endParaRPr lang="en-IN" dirty="0"/>
          </a:p>
        </p:txBody>
      </p:sp>
      <p:pic>
        <p:nvPicPr>
          <p:cNvPr id="8194" name="Picture 2" descr="Understanding How JavaScript Alerts Work | by Nishān Wickramarathna | Medium">
            <a:extLst>
              <a:ext uri="{FF2B5EF4-FFF2-40B4-BE49-F238E27FC236}">
                <a16:creationId xmlns:a16="http://schemas.microsoft.com/office/drawing/2014/main" id="{485DC9C9-C1CC-E93A-5565-20DE81027E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2833" y="3834765"/>
            <a:ext cx="5601017" cy="2640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663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0A5CD-7476-30E4-6267-1EB2C3ABB4AC}"/>
              </a:ext>
            </a:extLst>
          </p:cNvPr>
          <p:cNvSpPr>
            <a:spLocks noGrp="1"/>
          </p:cNvSpPr>
          <p:nvPr>
            <p:ph type="title"/>
          </p:nvPr>
        </p:nvSpPr>
        <p:spPr>
          <a:xfrm>
            <a:off x="611821" y="258408"/>
            <a:ext cx="9404723" cy="1056042"/>
          </a:xfrm>
        </p:spPr>
        <p:txBody>
          <a:bodyPr/>
          <a:lstStyle/>
          <a:p>
            <a:r>
              <a:rPr lang="en-IN" b="0" i="0" dirty="0">
                <a:solidFill>
                  <a:srgbClr val="DDDDDD"/>
                </a:solidFill>
                <a:effectLst/>
                <a:latin typeface="Segoe UI" panose="020B0502040204020203" pitchFamily="34" charset="0"/>
              </a:rPr>
              <a:t>JavaScript Popup Boxes</a:t>
            </a:r>
            <a:endParaRPr lang="en-IN" dirty="0"/>
          </a:p>
        </p:txBody>
      </p:sp>
      <p:sp>
        <p:nvSpPr>
          <p:cNvPr id="3" name="Content Placeholder 2">
            <a:extLst>
              <a:ext uri="{FF2B5EF4-FFF2-40B4-BE49-F238E27FC236}">
                <a16:creationId xmlns:a16="http://schemas.microsoft.com/office/drawing/2014/main" id="{63114397-D045-17CC-6FA3-388C6856C340}"/>
              </a:ext>
            </a:extLst>
          </p:cNvPr>
          <p:cNvSpPr>
            <a:spLocks noGrp="1"/>
          </p:cNvSpPr>
          <p:nvPr>
            <p:ph idx="1"/>
          </p:nvPr>
        </p:nvSpPr>
        <p:spPr>
          <a:xfrm>
            <a:off x="943292" y="1314450"/>
            <a:ext cx="10338118" cy="5543550"/>
          </a:xfrm>
        </p:spPr>
        <p:txBody>
          <a:bodyPr/>
          <a:lstStyle/>
          <a:p>
            <a:pPr marL="0" indent="0" algn="l">
              <a:buNone/>
            </a:pPr>
            <a:r>
              <a:rPr lang="en-US" b="1" i="0" u="sng" dirty="0">
                <a:solidFill>
                  <a:srgbClr val="DDDDDD"/>
                </a:solidFill>
                <a:effectLst/>
                <a:latin typeface="Segoe UI" panose="020B0502040204020203" pitchFamily="34" charset="0"/>
              </a:rPr>
              <a:t>Confirm Box</a:t>
            </a:r>
          </a:p>
          <a:p>
            <a:pPr algn="l"/>
            <a:r>
              <a:rPr lang="en-US" b="0" i="0" dirty="0">
                <a:solidFill>
                  <a:srgbClr val="DDDDDD"/>
                </a:solidFill>
                <a:effectLst/>
                <a:latin typeface="Verdana" panose="020B0604030504040204" pitchFamily="34" charset="0"/>
              </a:rPr>
              <a:t>A confirm box is often used if you want the user to verify or accept something.</a:t>
            </a:r>
          </a:p>
          <a:p>
            <a:pPr algn="l"/>
            <a:r>
              <a:rPr lang="en-US" b="0" i="0" dirty="0">
                <a:solidFill>
                  <a:srgbClr val="DDDDDD"/>
                </a:solidFill>
                <a:effectLst/>
                <a:latin typeface="Verdana" panose="020B0604030504040204" pitchFamily="34" charset="0"/>
              </a:rPr>
              <a:t>When a confirm box pops up, the user will have to click either "OK" or "Cancel" to proceed.</a:t>
            </a:r>
          </a:p>
          <a:p>
            <a:pPr algn="l"/>
            <a:r>
              <a:rPr lang="en-US" b="0" i="0" dirty="0">
                <a:solidFill>
                  <a:srgbClr val="DDDDDD"/>
                </a:solidFill>
                <a:effectLst/>
                <a:latin typeface="Verdana" panose="020B0604030504040204" pitchFamily="34" charset="0"/>
              </a:rPr>
              <a:t>If the user clicks "OK", the box returns </a:t>
            </a:r>
            <a:r>
              <a:rPr lang="en-US" b="1" i="0" dirty="0">
                <a:solidFill>
                  <a:srgbClr val="DDDDDD"/>
                </a:solidFill>
                <a:effectLst/>
                <a:latin typeface="Verdana" panose="020B0604030504040204" pitchFamily="34" charset="0"/>
              </a:rPr>
              <a:t>true</a:t>
            </a:r>
            <a:r>
              <a:rPr lang="en-US" b="0" i="0" dirty="0">
                <a:solidFill>
                  <a:srgbClr val="DDDDDD"/>
                </a:solidFill>
                <a:effectLst/>
                <a:latin typeface="Verdana" panose="020B0604030504040204" pitchFamily="34" charset="0"/>
              </a:rPr>
              <a:t>. If the user clicks "Cancel", the box returns </a:t>
            </a:r>
            <a:r>
              <a:rPr lang="en-US" b="1" i="0" dirty="0">
                <a:solidFill>
                  <a:srgbClr val="DDDDDD"/>
                </a:solidFill>
                <a:effectLst/>
                <a:latin typeface="Verdana" panose="020B0604030504040204" pitchFamily="34" charset="0"/>
              </a:rPr>
              <a:t>false</a:t>
            </a:r>
            <a:r>
              <a:rPr lang="en-US" b="0" i="0" dirty="0">
                <a:solidFill>
                  <a:srgbClr val="DDDDDD"/>
                </a:solidFill>
                <a:effectLst/>
                <a:latin typeface="Verdana" panose="020B0604030504040204" pitchFamily="34" charset="0"/>
              </a:rPr>
              <a:t>.</a:t>
            </a:r>
          </a:p>
          <a:p>
            <a:pPr algn="l"/>
            <a:endParaRPr lang="en-US" b="0" i="0" dirty="0">
              <a:solidFill>
                <a:srgbClr val="DDDDDD"/>
              </a:solidFill>
              <a:effectLst/>
              <a:latin typeface="Verdana" panose="020B0604030504040204" pitchFamily="34" charset="0"/>
            </a:endParaRPr>
          </a:p>
          <a:p>
            <a:endParaRPr lang="en-IN" dirty="0"/>
          </a:p>
        </p:txBody>
      </p:sp>
      <p:pic>
        <p:nvPicPr>
          <p:cNvPr id="9220" name="Picture 4" descr="Alert, Confirm, Prompt Dialog Box in Javascript | o7planning.org">
            <a:extLst>
              <a:ext uri="{FF2B5EF4-FFF2-40B4-BE49-F238E27FC236}">
                <a16:creationId xmlns:a16="http://schemas.microsoft.com/office/drawing/2014/main" id="{BF8B2CFF-9652-5F78-8F8A-3C87AD3A3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1495" y="3787140"/>
            <a:ext cx="4857750"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6673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73FDF-75DB-BC31-F74E-4D7CA8D794F5}"/>
              </a:ext>
            </a:extLst>
          </p:cNvPr>
          <p:cNvSpPr>
            <a:spLocks noGrp="1"/>
          </p:cNvSpPr>
          <p:nvPr>
            <p:ph type="title"/>
          </p:nvPr>
        </p:nvSpPr>
        <p:spPr>
          <a:xfrm>
            <a:off x="748981" y="491490"/>
            <a:ext cx="9404723" cy="651509"/>
          </a:xfrm>
        </p:spPr>
        <p:txBody>
          <a:bodyPr/>
          <a:lstStyle/>
          <a:p>
            <a:r>
              <a:rPr lang="en-IN" b="0" i="0" dirty="0">
                <a:solidFill>
                  <a:srgbClr val="DDDDDD"/>
                </a:solidFill>
                <a:effectLst/>
                <a:latin typeface="Segoe UI" panose="020B0502040204020203" pitchFamily="34" charset="0"/>
              </a:rPr>
              <a:t>JavaScript Popup Boxes</a:t>
            </a:r>
            <a:endParaRPr lang="en-IN" dirty="0"/>
          </a:p>
        </p:txBody>
      </p:sp>
      <p:sp>
        <p:nvSpPr>
          <p:cNvPr id="3" name="Content Placeholder 2">
            <a:extLst>
              <a:ext uri="{FF2B5EF4-FFF2-40B4-BE49-F238E27FC236}">
                <a16:creationId xmlns:a16="http://schemas.microsoft.com/office/drawing/2014/main" id="{1C82A3E1-2CB0-7D79-22DA-04E0B98A9DE1}"/>
              </a:ext>
            </a:extLst>
          </p:cNvPr>
          <p:cNvSpPr>
            <a:spLocks noGrp="1"/>
          </p:cNvSpPr>
          <p:nvPr>
            <p:ph idx="1"/>
          </p:nvPr>
        </p:nvSpPr>
        <p:spPr>
          <a:xfrm>
            <a:off x="748982" y="1556456"/>
            <a:ext cx="9300872" cy="4691943"/>
          </a:xfrm>
        </p:spPr>
        <p:txBody>
          <a:bodyPr/>
          <a:lstStyle/>
          <a:p>
            <a:pPr marL="0" indent="0" algn="l">
              <a:buNone/>
            </a:pPr>
            <a:r>
              <a:rPr lang="en-US" sz="2400" b="1" i="0" u="sng" dirty="0">
                <a:solidFill>
                  <a:srgbClr val="DDDDDD"/>
                </a:solidFill>
                <a:effectLst/>
                <a:latin typeface="Segoe UI" panose="020B0502040204020203" pitchFamily="34" charset="0"/>
              </a:rPr>
              <a:t>Prompt Box :</a:t>
            </a:r>
          </a:p>
          <a:p>
            <a:pPr algn="l"/>
            <a:r>
              <a:rPr lang="en-US" b="0" i="0" dirty="0">
                <a:solidFill>
                  <a:srgbClr val="DDDDDD"/>
                </a:solidFill>
                <a:effectLst/>
                <a:latin typeface="Verdana" panose="020B0604030504040204" pitchFamily="34" charset="0"/>
              </a:rPr>
              <a:t>A prompt box is often used if you want the user to input a value before entering a page.</a:t>
            </a:r>
          </a:p>
          <a:p>
            <a:pPr algn="l"/>
            <a:r>
              <a:rPr lang="en-US" b="0" i="0" dirty="0">
                <a:solidFill>
                  <a:srgbClr val="DDDDDD"/>
                </a:solidFill>
                <a:effectLst/>
                <a:latin typeface="Verdana" panose="020B0604030504040204" pitchFamily="34" charset="0"/>
              </a:rPr>
              <a:t>When a prompt box pops up, the user will have to click either "OK" or "Cancel" to proceed after entering an input value.</a:t>
            </a:r>
          </a:p>
          <a:p>
            <a:pPr algn="l"/>
            <a:r>
              <a:rPr lang="en-US" b="0" i="0" dirty="0">
                <a:solidFill>
                  <a:srgbClr val="DDDDDD"/>
                </a:solidFill>
                <a:effectLst/>
                <a:latin typeface="Verdana" panose="020B0604030504040204" pitchFamily="34" charset="0"/>
              </a:rPr>
              <a:t>If the user clicks "OK" the box returns the input value. If the user clicks "Cancel" the box returns null.</a:t>
            </a:r>
          </a:p>
          <a:p>
            <a:pPr algn="l"/>
            <a:endParaRPr lang="en-US" b="0" i="0" dirty="0">
              <a:solidFill>
                <a:srgbClr val="DDDDDD"/>
              </a:solidFill>
              <a:effectLst/>
              <a:latin typeface="Verdana" panose="020B0604030504040204" pitchFamily="34" charset="0"/>
            </a:endParaRPr>
          </a:p>
          <a:p>
            <a:endParaRPr lang="en-IN" dirty="0"/>
          </a:p>
        </p:txBody>
      </p:sp>
      <p:pic>
        <p:nvPicPr>
          <p:cNvPr id="10242" name="Picture 2" descr="Difference between alert box and prompt box in JavaScript - GeeksforGeeks">
            <a:extLst>
              <a:ext uri="{FF2B5EF4-FFF2-40B4-BE49-F238E27FC236}">
                <a16:creationId xmlns:a16="http://schemas.microsoft.com/office/drawing/2014/main" id="{4F51E857-8A0C-72D9-D124-F4E5718484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9937" y="4307276"/>
            <a:ext cx="5572125" cy="2354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63883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2ACB-77C6-C549-19E0-9BE561ABE931}"/>
              </a:ext>
            </a:extLst>
          </p:cNvPr>
          <p:cNvSpPr>
            <a:spLocks noGrp="1"/>
          </p:cNvSpPr>
          <p:nvPr>
            <p:ph type="title"/>
          </p:nvPr>
        </p:nvSpPr>
        <p:spPr>
          <a:xfrm>
            <a:off x="646111" y="452718"/>
            <a:ext cx="9404723" cy="896022"/>
          </a:xfrm>
        </p:spPr>
        <p:txBody>
          <a:bodyPr/>
          <a:lstStyle/>
          <a:p>
            <a:r>
              <a:rPr lang="en-US" dirty="0"/>
              <a:t>DOM(Document Object Model)</a:t>
            </a:r>
            <a:endParaRPr lang="en-IN" dirty="0"/>
          </a:p>
        </p:txBody>
      </p:sp>
      <p:sp>
        <p:nvSpPr>
          <p:cNvPr id="3" name="Content Placeholder 2">
            <a:extLst>
              <a:ext uri="{FF2B5EF4-FFF2-40B4-BE49-F238E27FC236}">
                <a16:creationId xmlns:a16="http://schemas.microsoft.com/office/drawing/2014/main" id="{FAC3A236-BE47-D51C-E71E-6A0A133D3B1B}"/>
              </a:ext>
            </a:extLst>
          </p:cNvPr>
          <p:cNvSpPr>
            <a:spLocks noGrp="1"/>
          </p:cNvSpPr>
          <p:nvPr>
            <p:ph idx="1"/>
          </p:nvPr>
        </p:nvSpPr>
        <p:spPr>
          <a:xfrm>
            <a:off x="645130" y="1348740"/>
            <a:ext cx="10076210" cy="5326380"/>
          </a:xfrm>
        </p:spPr>
        <p:txBody>
          <a:bodyPr/>
          <a:lstStyle/>
          <a:p>
            <a:r>
              <a:rPr lang="en-US" b="0" i="0" dirty="0">
                <a:effectLst/>
              </a:rPr>
              <a:t>In JavaScript, the DOM (Document Object Model) is a programming interface for web documents. It represents the structure of a document as a tree-like model where each node is an object representing a part of the document, such as elements, attributes, and text.</a:t>
            </a:r>
          </a:p>
          <a:p>
            <a:r>
              <a:rPr lang="en-US" b="0" i="0" dirty="0">
                <a:solidFill>
                  <a:srgbClr val="DDDDDD"/>
                </a:solidFill>
                <a:effectLst/>
                <a:latin typeface="Verdana" panose="020B0604030504040204" pitchFamily="34" charset="0"/>
              </a:rPr>
              <a:t>When a web page is loaded, the browser creates a </a:t>
            </a:r>
            <a:r>
              <a:rPr lang="en-US" b="1" i="0" dirty="0">
                <a:solidFill>
                  <a:srgbClr val="DDDDDD"/>
                </a:solidFill>
                <a:effectLst/>
                <a:latin typeface="Verdana" panose="020B0604030504040204" pitchFamily="34" charset="0"/>
              </a:rPr>
              <a:t>D</a:t>
            </a:r>
            <a:r>
              <a:rPr lang="en-US" b="0" i="0" dirty="0">
                <a:solidFill>
                  <a:srgbClr val="DDDDDD"/>
                </a:solidFill>
                <a:effectLst/>
                <a:latin typeface="Verdana" panose="020B0604030504040204" pitchFamily="34" charset="0"/>
              </a:rPr>
              <a:t>ocument </a:t>
            </a:r>
            <a:r>
              <a:rPr lang="en-US" b="1" i="0" dirty="0">
                <a:solidFill>
                  <a:srgbClr val="DDDDDD"/>
                </a:solidFill>
                <a:effectLst/>
                <a:latin typeface="Verdana" panose="020B0604030504040204" pitchFamily="34" charset="0"/>
              </a:rPr>
              <a:t>O</a:t>
            </a:r>
            <a:r>
              <a:rPr lang="en-US" b="0" i="0" dirty="0">
                <a:solidFill>
                  <a:srgbClr val="DDDDDD"/>
                </a:solidFill>
                <a:effectLst/>
                <a:latin typeface="Verdana" panose="020B0604030504040204" pitchFamily="34" charset="0"/>
              </a:rPr>
              <a:t>bject </a:t>
            </a:r>
            <a:r>
              <a:rPr lang="en-US" b="1" i="0" dirty="0">
                <a:solidFill>
                  <a:srgbClr val="DDDDDD"/>
                </a:solidFill>
                <a:effectLst/>
                <a:latin typeface="Verdana" panose="020B0604030504040204" pitchFamily="34" charset="0"/>
              </a:rPr>
              <a:t>M</a:t>
            </a:r>
            <a:r>
              <a:rPr lang="en-US" b="0" i="0" dirty="0">
                <a:solidFill>
                  <a:srgbClr val="DDDDDD"/>
                </a:solidFill>
                <a:effectLst/>
                <a:latin typeface="Verdana" panose="020B0604030504040204" pitchFamily="34" charset="0"/>
              </a:rPr>
              <a:t>odel of the page.</a:t>
            </a:r>
          </a:p>
          <a:p>
            <a:r>
              <a:rPr lang="en-US" b="0" i="0" dirty="0">
                <a:solidFill>
                  <a:srgbClr val="DDDDDD"/>
                </a:solidFill>
                <a:effectLst/>
                <a:latin typeface="Verdana" panose="020B0604030504040204" pitchFamily="34" charset="0"/>
              </a:rPr>
              <a:t>The </a:t>
            </a:r>
            <a:r>
              <a:rPr lang="en-US" b="1" i="0" dirty="0">
                <a:solidFill>
                  <a:srgbClr val="DDDDDD"/>
                </a:solidFill>
                <a:effectLst/>
                <a:latin typeface="Verdana" panose="020B0604030504040204" pitchFamily="34" charset="0"/>
              </a:rPr>
              <a:t>HTML DOM</a:t>
            </a:r>
            <a:r>
              <a:rPr lang="en-US" b="0" i="0" dirty="0">
                <a:solidFill>
                  <a:srgbClr val="DDDDDD"/>
                </a:solidFill>
                <a:effectLst/>
                <a:latin typeface="Verdana" panose="020B0604030504040204" pitchFamily="34" charset="0"/>
              </a:rPr>
              <a:t> model is constructed as a tree of </a:t>
            </a:r>
            <a:r>
              <a:rPr lang="en-US" b="1" i="0" dirty="0">
                <a:solidFill>
                  <a:srgbClr val="DDDDDD"/>
                </a:solidFill>
                <a:effectLst/>
                <a:latin typeface="Verdana" panose="020B0604030504040204" pitchFamily="34" charset="0"/>
              </a:rPr>
              <a:t>Objects</a:t>
            </a:r>
            <a:r>
              <a:rPr lang="en-US" b="0" i="0" dirty="0">
                <a:solidFill>
                  <a:srgbClr val="DDDDDD"/>
                </a:solidFill>
                <a:effectLst/>
                <a:latin typeface="Verdana" panose="020B0604030504040204" pitchFamily="34" charset="0"/>
              </a:rPr>
              <a:t>:</a:t>
            </a:r>
            <a:endParaRPr lang="en-IN" dirty="0"/>
          </a:p>
        </p:txBody>
      </p:sp>
      <p:pic>
        <p:nvPicPr>
          <p:cNvPr id="11266" name="Picture 2" descr="DOM HTML tree">
            <a:extLst>
              <a:ext uri="{FF2B5EF4-FFF2-40B4-BE49-F238E27FC236}">
                <a16:creationId xmlns:a16="http://schemas.microsoft.com/office/drawing/2014/main" id="{AB45AC98-B50B-AAE2-94F4-EBA88BCAD6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2784" y="4011930"/>
            <a:ext cx="5534025"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97567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FD843-13B3-52B5-BB19-04F3C9CBF7B4}"/>
              </a:ext>
            </a:extLst>
          </p:cNvPr>
          <p:cNvSpPr>
            <a:spLocks noGrp="1"/>
          </p:cNvSpPr>
          <p:nvPr>
            <p:ph type="title"/>
          </p:nvPr>
        </p:nvSpPr>
        <p:spPr>
          <a:xfrm>
            <a:off x="646111" y="452718"/>
            <a:ext cx="9404723" cy="690282"/>
          </a:xfrm>
        </p:spPr>
        <p:txBody>
          <a:bodyPr/>
          <a:lstStyle/>
          <a:p>
            <a:r>
              <a:rPr lang="en-US" dirty="0"/>
              <a:t>DOM Methods</a:t>
            </a:r>
            <a:endParaRPr lang="en-IN" dirty="0"/>
          </a:p>
        </p:txBody>
      </p:sp>
      <p:sp>
        <p:nvSpPr>
          <p:cNvPr id="3" name="Content Placeholder 2">
            <a:extLst>
              <a:ext uri="{FF2B5EF4-FFF2-40B4-BE49-F238E27FC236}">
                <a16:creationId xmlns:a16="http://schemas.microsoft.com/office/drawing/2014/main" id="{1D32B59A-573A-00EB-8E8A-15D40743B521}"/>
              </a:ext>
            </a:extLst>
          </p:cNvPr>
          <p:cNvSpPr>
            <a:spLocks noGrp="1"/>
          </p:cNvSpPr>
          <p:nvPr>
            <p:ph idx="1"/>
          </p:nvPr>
        </p:nvSpPr>
        <p:spPr>
          <a:xfrm>
            <a:off x="646110" y="1352550"/>
            <a:ext cx="10783889" cy="4895849"/>
          </a:xfrm>
        </p:spPr>
        <p:txBody>
          <a:bodyPr>
            <a:normAutofit lnSpcReduction="10000"/>
          </a:bodyPr>
          <a:lstStyle/>
          <a:p>
            <a:r>
              <a:rPr lang="en-US" sz="2400" b="1" i="0" dirty="0">
                <a:effectLst/>
                <a:latin typeface="Söhne"/>
              </a:rPr>
              <a:t>Methods used to target HTML elements in JavaScript file</a:t>
            </a:r>
          </a:p>
          <a:p>
            <a:endParaRPr lang="en-US" sz="2400" b="1" dirty="0">
              <a:latin typeface="Söhne"/>
            </a:endParaRPr>
          </a:p>
          <a:p>
            <a:r>
              <a:rPr lang="en-US" sz="2400" b="1" i="0" dirty="0" err="1">
                <a:effectLst/>
                <a:latin typeface="Söhne"/>
              </a:rPr>
              <a:t>getElementById</a:t>
            </a:r>
            <a:r>
              <a:rPr lang="en-US" sz="2400" b="1" i="0" dirty="0">
                <a:effectLst/>
                <a:latin typeface="Söhne"/>
              </a:rPr>
              <a:t>(id):</a:t>
            </a:r>
            <a:r>
              <a:rPr lang="en-US" sz="2400" b="0" i="0" dirty="0">
                <a:effectLst/>
                <a:latin typeface="Söhne"/>
              </a:rPr>
              <a:t> This method allows you to retrieve an element from the document by its unique id.</a:t>
            </a:r>
          </a:p>
          <a:p>
            <a:r>
              <a:rPr lang="en-US" sz="2400" b="1" i="0" dirty="0" err="1">
                <a:effectLst/>
                <a:latin typeface="Söhne"/>
              </a:rPr>
              <a:t>getElementsByClassName</a:t>
            </a:r>
            <a:r>
              <a:rPr lang="en-US" sz="2400" b="1" i="0" dirty="0">
                <a:effectLst/>
                <a:latin typeface="Söhne"/>
              </a:rPr>
              <a:t>(</a:t>
            </a:r>
            <a:r>
              <a:rPr lang="en-US" sz="2400" b="1" i="0" dirty="0" err="1">
                <a:effectLst/>
                <a:latin typeface="Söhne"/>
              </a:rPr>
              <a:t>className</a:t>
            </a:r>
            <a:r>
              <a:rPr lang="en-US" sz="2400" b="1" i="0" dirty="0">
                <a:effectLst/>
                <a:latin typeface="Söhne"/>
              </a:rPr>
              <a:t>):</a:t>
            </a:r>
            <a:r>
              <a:rPr lang="en-US" sz="2400" b="0" i="0" dirty="0">
                <a:effectLst/>
                <a:latin typeface="Söhne"/>
              </a:rPr>
              <a:t> This method returns a collection of all elements in the document with a specified class name.</a:t>
            </a:r>
          </a:p>
          <a:p>
            <a:r>
              <a:rPr lang="en-US" sz="2400" b="1" i="0" dirty="0" err="1">
                <a:effectLst/>
                <a:latin typeface="Söhne"/>
              </a:rPr>
              <a:t>getElementsByTagName</a:t>
            </a:r>
            <a:r>
              <a:rPr lang="en-US" sz="2400" b="1" i="0" dirty="0">
                <a:effectLst/>
                <a:latin typeface="Söhne"/>
              </a:rPr>
              <a:t>(</a:t>
            </a:r>
            <a:r>
              <a:rPr lang="en-US" sz="2400" b="1" i="0" dirty="0" err="1">
                <a:effectLst/>
                <a:latin typeface="Söhne"/>
              </a:rPr>
              <a:t>tagName</a:t>
            </a:r>
            <a:r>
              <a:rPr lang="en-US" sz="2400" b="1" i="0" dirty="0">
                <a:effectLst/>
                <a:latin typeface="Söhne"/>
              </a:rPr>
              <a:t>):</a:t>
            </a:r>
            <a:r>
              <a:rPr lang="en-US" sz="2400" b="0" i="0" dirty="0">
                <a:effectLst/>
                <a:latin typeface="Söhne"/>
              </a:rPr>
              <a:t> Returns a collection of elements with the specified tag name.</a:t>
            </a:r>
          </a:p>
          <a:p>
            <a:r>
              <a:rPr lang="en-US" sz="2400" b="1" i="0" dirty="0" err="1">
                <a:effectLst/>
                <a:latin typeface="Söhne"/>
              </a:rPr>
              <a:t>querySelector</a:t>
            </a:r>
            <a:r>
              <a:rPr lang="en-US" sz="2400" b="1" i="0" dirty="0">
                <a:effectLst/>
                <a:latin typeface="Söhne"/>
              </a:rPr>
              <a:t>(selector):</a:t>
            </a:r>
            <a:r>
              <a:rPr lang="en-US" sz="2400" b="0" i="0" dirty="0">
                <a:effectLst/>
                <a:latin typeface="Söhne"/>
              </a:rPr>
              <a:t> Returns the first element that matches a specified CSS selector.</a:t>
            </a:r>
          </a:p>
          <a:p>
            <a:r>
              <a:rPr lang="en-US" sz="2400" b="1" i="0" dirty="0" err="1">
                <a:effectLst/>
                <a:latin typeface="Söhne"/>
              </a:rPr>
              <a:t>querySelectorAll</a:t>
            </a:r>
            <a:r>
              <a:rPr lang="en-US" sz="2400" b="1" i="0" dirty="0">
                <a:effectLst/>
                <a:latin typeface="Söhne"/>
              </a:rPr>
              <a:t>(selector):</a:t>
            </a:r>
            <a:r>
              <a:rPr lang="en-US" sz="2400" b="0" i="0" dirty="0">
                <a:effectLst/>
                <a:latin typeface="Söhne"/>
              </a:rPr>
              <a:t> Returns a </a:t>
            </a:r>
            <a:r>
              <a:rPr lang="en-US" sz="2400" b="0" i="0" dirty="0" err="1">
                <a:effectLst/>
                <a:latin typeface="Söhne"/>
              </a:rPr>
              <a:t>NodeList</a:t>
            </a:r>
            <a:r>
              <a:rPr lang="en-US" sz="2400" b="0" i="0" dirty="0">
                <a:effectLst/>
                <a:latin typeface="Söhne"/>
              </a:rPr>
              <a:t> of all elements that match a specified CSS selector.</a:t>
            </a:r>
          </a:p>
          <a:p>
            <a:endParaRPr lang="en-IN" sz="2400" dirty="0"/>
          </a:p>
        </p:txBody>
      </p:sp>
    </p:spTree>
    <p:extLst>
      <p:ext uri="{BB962C8B-B14F-4D97-AF65-F5344CB8AC3E}">
        <p14:creationId xmlns:p14="http://schemas.microsoft.com/office/powerpoint/2010/main" val="26442659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B8E5B-2018-CC8A-5DFE-B4D3DC913479}"/>
              </a:ext>
            </a:extLst>
          </p:cNvPr>
          <p:cNvSpPr>
            <a:spLocks noGrp="1"/>
          </p:cNvSpPr>
          <p:nvPr>
            <p:ph type="title"/>
          </p:nvPr>
        </p:nvSpPr>
        <p:spPr/>
        <p:txBody>
          <a:bodyPr/>
          <a:lstStyle/>
          <a:p>
            <a:r>
              <a:rPr lang="en-US" dirty="0"/>
              <a:t>DOM Events</a:t>
            </a:r>
            <a:endParaRPr lang="en-IN" dirty="0"/>
          </a:p>
        </p:txBody>
      </p:sp>
      <p:sp>
        <p:nvSpPr>
          <p:cNvPr id="3" name="Content Placeholder 2">
            <a:extLst>
              <a:ext uri="{FF2B5EF4-FFF2-40B4-BE49-F238E27FC236}">
                <a16:creationId xmlns:a16="http://schemas.microsoft.com/office/drawing/2014/main" id="{D1B8286D-4C4A-C083-1E54-EA35AFF96A41}"/>
              </a:ext>
            </a:extLst>
          </p:cNvPr>
          <p:cNvSpPr>
            <a:spLocks noGrp="1"/>
          </p:cNvSpPr>
          <p:nvPr>
            <p:ph idx="1"/>
          </p:nvPr>
        </p:nvSpPr>
        <p:spPr>
          <a:xfrm>
            <a:off x="1194752" y="1368463"/>
            <a:ext cx="8946541" cy="5036819"/>
          </a:xfrm>
        </p:spPr>
        <p:txBody>
          <a:bodyPr>
            <a:normAutofit lnSpcReduction="10000"/>
          </a:bodyPr>
          <a:lstStyle/>
          <a:p>
            <a:r>
              <a:rPr lang="en-US" b="1" i="0" u="sng" dirty="0">
                <a:solidFill>
                  <a:srgbClr val="DDDDDD"/>
                </a:solidFill>
                <a:effectLst/>
                <a:latin typeface="Verdana" panose="020B0604030504040204" pitchFamily="34" charset="0"/>
              </a:rPr>
              <a:t>Event</a:t>
            </a:r>
            <a:r>
              <a:rPr lang="en-US" b="0" i="0" dirty="0">
                <a:solidFill>
                  <a:srgbClr val="DDDDDD"/>
                </a:solidFill>
                <a:effectLst/>
                <a:latin typeface="Verdana" panose="020B0604030504040204" pitchFamily="34" charset="0"/>
              </a:rPr>
              <a:t>: An action performed by the user on the webpage is known as an event</a:t>
            </a:r>
          </a:p>
          <a:p>
            <a:r>
              <a:rPr lang="en-US" b="0" i="0" dirty="0">
                <a:solidFill>
                  <a:srgbClr val="DDDDDD"/>
                </a:solidFill>
                <a:effectLst/>
                <a:latin typeface="Verdana" panose="020B0604030504040204" pitchFamily="34" charset="0"/>
              </a:rPr>
              <a:t> A JavaScript can be executed when an event occurs, like when a user clicks on an HTML element.</a:t>
            </a:r>
          </a:p>
          <a:p>
            <a:pPr lvl="1"/>
            <a:r>
              <a:rPr lang="en-IN" dirty="0"/>
              <a:t>Click</a:t>
            </a:r>
          </a:p>
          <a:p>
            <a:pPr lvl="1"/>
            <a:r>
              <a:rPr lang="en-IN" dirty="0"/>
              <a:t>Mouseover</a:t>
            </a:r>
          </a:p>
          <a:p>
            <a:pPr lvl="1"/>
            <a:r>
              <a:rPr lang="en-IN" dirty="0" err="1"/>
              <a:t>Mouseout</a:t>
            </a:r>
            <a:endParaRPr lang="en-IN" dirty="0"/>
          </a:p>
          <a:p>
            <a:pPr lvl="1"/>
            <a:r>
              <a:rPr lang="en-IN" dirty="0" err="1"/>
              <a:t>Mousedown</a:t>
            </a:r>
            <a:endParaRPr lang="en-IN" dirty="0"/>
          </a:p>
          <a:p>
            <a:pPr lvl="1"/>
            <a:r>
              <a:rPr lang="en-IN" dirty="0" err="1"/>
              <a:t>Mouseup</a:t>
            </a:r>
            <a:endParaRPr lang="en-IN" dirty="0"/>
          </a:p>
          <a:p>
            <a:pPr lvl="1"/>
            <a:r>
              <a:rPr lang="en-IN" dirty="0" err="1" smtClean="0"/>
              <a:t>Doubleclick</a:t>
            </a:r>
            <a:endParaRPr lang="en-IN" dirty="0"/>
          </a:p>
          <a:p>
            <a:pPr lvl="1"/>
            <a:r>
              <a:rPr lang="en-IN" dirty="0"/>
              <a:t>Keypress</a:t>
            </a:r>
          </a:p>
          <a:p>
            <a:pPr lvl="1"/>
            <a:r>
              <a:rPr lang="en-IN" dirty="0" err="1"/>
              <a:t>Keyup</a:t>
            </a:r>
            <a:endParaRPr lang="en-IN" dirty="0"/>
          </a:p>
          <a:p>
            <a:pPr lvl="1"/>
            <a:r>
              <a:rPr lang="en-IN" dirty="0" err="1" smtClean="0"/>
              <a:t>Keydown</a:t>
            </a:r>
            <a:endParaRPr lang="en-IN" dirty="0"/>
          </a:p>
        </p:txBody>
      </p:sp>
    </p:spTree>
    <p:extLst>
      <p:ext uri="{BB962C8B-B14F-4D97-AF65-F5344CB8AC3E}">
        <p14:creationId xmlns:p14="http://schemas.microsoft.com/office/powerpoint/2010/main" val="36593371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ABAD7-A877-F103-7A8A-887A7459B440}"/>
              </a:ext>
            </a:extLst>
          </p:cNvPr>
          <p:cNvSpPr>
            <a:spLocks noGrp="1"/>
          </p:cNvSpPr>
          <p:nvPr>
            <p:ph type="title"/>
          </p:nvPr>
        </p:nvSpPr>
        <p:spPr/>
        <p:txBody>
          <a:bodyPr/>
          <a:lstStyle/>
          <a:p>
            <a:r>
              <a:rPr lang="en-US" dirty="0"/>
              <a:t>DOM Event Listener</a:t>
            </a:r>
            <a:endParaRPr lang="en-IN" dirty="0"/>
          </a:p>
        </p:txBody>
      </p:sp>
      <p:sp>
        <p:nvSpPr>
          <p:cNvPr id="3" name="Content Placeholder 2">
            <a:extLst>
              <a:ext uri="{FF2B5EF4-FFF2-40B4-BE49-F238E27FC236}">
                <a16:creationId xmlns:a16="http://schemas.microsoft.com/office/drawing/2014/main" id="{32D202A9-90EB-BD44-6D94-9AAA4ADEAB52}"/>
              </a:ext>
            </a:extLst>
          </p:cNvPr>
          <p:cNvSpPr>
            <a:spLocks noGrp="1"/>
          </p:cNvSpPr>
          <p:nvPr>
            <p:ph idx="1"/>
          </p:nvPr>
        </p:nvSpPr>
        <p:spPr>
          <a:xfrm>
            <a:off x="1103312" y="1303020"/>
            <a:ext cx="9846628" cy="4945379"/>
          </a:xfrm>
        </p:spPr>
        <p:txBody>
          <a:bodyPr>
            <a:normAutofit lnSpcReduction="10000"/>
          </a:bodyPr>
          <a:lstStyle/>
          <a:p>
            <a:r>
              <a:rPr kumimoji="0" lang="en-US" altLang="en-US" sz="2400" b="0" i="0" u="none" strike="noStrike" cap="none" normalizeH="0" baseline="0" dirty="0">
                <a:ln>
                  <a:noFill/>
                </a:ln>
                <a:effectLst/>
                <a:latin typeface="+mj-lt"/>
              </a:rPr>
              <a:t>The </a:t>
            </a:r>
            <a:r>
              <a:rPr kumimoji="0" lang="en-US" altLang="en-US" sz="2400" b="0" i="0" u="none" strike="noStrike" cap="none" normalizeH="0" baseline="0" dirty="0" err="1">
                <a:ln>
                  <a:noFill/>
                </a:ln>
                <a:effectLst/>
                <a:latin typeface="+mj-lt"/>
              </a:rPr>
              <a:t>addEventListener</a:t>
            </a:r>
            <a:r>
              <a:rPr kumimoji="0" lang="en-US" altLang="en-US" sz="2400" b="0" i="0" u="none" strike="noStrike" cap="none" normalizeH="0" baseline="0" dirty="0">
                <a:ln>
                  <a:noFill/>
                </a:ln>
                <a:effectLst/>
                <a:latin typeface="+mj-lt"/>
              </a:rPr>
              <a:t>() method attaches an event handler to the specified element</a:t>
            </a:r>
          </a:p>
          <a:p>
            <a:r>
              <a:rPr kumimoji="0" lang="en-US" altLang="en-US" sz="2000" b="0" i="0" u="none" strike="noStrike" cap="none" normalizeH="0" baseline="0" dirty="0">
                <a:ln>
                  <a:noFill/>
                </a:ln>
                <a:effectLst/>
                <a:latin typeface="Verdana" panose="020B0604030504040204" pitchFamily="34" charset="0"/>
              </a:rPr>
              <a:t>The first parameter is the type of the event (like "</a:t>
            </a:r>
            <a:r>
              <a:rPr kumimoji="0" lang="en-US" altLang="en-US" sz="2000" b="0" i="0" u="none" strike="noStrike" cap="none" normalizeH="0" baseline="0" dirty="0">
                <a:ln>
                  <a:noFill/>
                </a:ln>
                <a:effectLst/>
                <a:latin typeface="Consolas" panose="020B0609020204030204" pitchFamily="49" charset="0"/>
              </a:rPr>
              <a:t>click</a:t>
            </a:r>
            <a:r>
              <a:rPr kumimoji="0" lang="en-US" altLang="en-US" sz="2000" b="0" i="0" u="none" strike="noStrike" cap="none" normalizeH="0" baseline="0" dirty="0">
                <a:ln>
                  <a:noFill/>
                </a:ln>
                <a:effectLst/>
                <a:latin typeface="Verdana" panose="020B0604030504040204" pitchFamily="34" charset="0"/>
              </a:rPr>
              <a:t>" or "</a:t>
            </a:r>
            <a:r>
              <a:rPr kumimoji="0" lang="en-US" altLang="en-US" sz="2000" b="0" i="0" u="none" strike="noStrike" cap="none" normalizeH="0" baseline="0" dirty="0" err="1">
                <a:ln>
                  <a:noFill/>
                </a:ln>
                <a:effectLst/>
                <a:latin typeface="Consolas" panose="020B0609020204030204" pitchFamily="49" charset="0"/>
              </a:rPr>
              <a:t>mousedown</a:t>
            </a:r>
            <a:r>
              <a:rPr kumimoji="0" lang="en-US" altLang="en-US" sz="2000" b="0" i="0" u="none" strike="noStrike" cap="none" normalizeH="0" baseline="0" dirty="0">
                <a:ln>
                  <a:noFill/>
                </a:ln>
                <a:effectLst/>
                <a:latin typeface="Verdana" panose="020B0604030504040204" pitchFamily="34" charset="0"/>
              </a:rPr>
              <a:t>" or any other </a:t>
            </a:r>
            <a:r>
              <a:rPr kumimoji="0" lang="en-US" altLang="en-US" sz="2000" b="0" i="0" u="none" strike="noStrike" cap="none" normalizeH="0" baseline="0" dirty="0">
                <a:ln>
                  <a:noFill/>
                </a:ln>
                <a:effectLst/>
                <a:latin typeface="Verdana" panose="020B0604030504040204" pitchFamily="34" charset="0"/>
                <a:hlinkClick r:id="rId2">
                  <a:extLst>
                    <a:ext uri="{A12FA001-AC4F-418D-AE19-62706E023703}">
                      <ahyp:hlinkClr xmlns="" xmlns:ahyp="http://schemas.microsoft.com/office/drawing/2018/hyperlinkcolor" val="tx"/>
                    </a:ext>
                  </a:extLst>
                </a:hlinkClick>
              </a:rPr>
              <a:t>HTML DOM Event</a:t>
            </a:r>
            <a:r>
              <a:rPr kumimoji="0" lang="en-US" altLang="en-US" sz="2000" b="0" i="0" u="none" strike="noStrike" cap="none" normalizeH="0" baseline="0" dirty="0">
                <a:ln>
                  <a:noFill/>
                </a:ln>
                <a:effectLst/>
                <a:latin typeface="Verdana" panose="020B0604030504040204" pitchFamily="34" charset="0"/>
              </a:rPr>
              <a:t>.)</a:t>
            </a:r>
            <a:r>
              <a:rPr kumimoji="0" lang="en-US" altLang="en-US" sz="1200" b="0" i="0" u="none" strike="noStrike" cap="none" normalizeH="0" baseline="0" dirty="0">
                <a:ln>
                  <a:noFill/>
                </a:ln>
                <a:effectLst/>
              </a:rPr>
              <a:t> </a:t>
            </a:r>
          </a:p>
          <a:p>
            <a:r>
              <a:rPr lang="en-US" sz="2400" b="0" i="0" dirty="0">
                <a:solidFill>
                  <a:srgbClr val="DDDDDD"/>
                </a:solidFill>
                <a:effectLst/>
                <a:latin typeface="Verdana" panose="020B0604030504040204" pitchFamily="34" charset="0"/>
              </a:rPr>
              <a:t>The second parameter is the function we want to call when the event occurs.</a:t>
            </a:r>
          </a:p>
          <a:p>
            <a:r>
              <a:rPr kumimoji="0" lang="en-US" altLang="en-US" sz="2400" u="none" strike="noStrike" cap="none" normalizeH="0" baseline="0" dirty="0">
                <a:ln>
                  <a:noFill/>
                </a:ln>
                <a:solidFill>
                  <a:srgbClr val="DDDDDD"/>
                </a:solidFill>
                <a:latin typeface="Verdana" panose="020B0604030504040204" pitchFamily="34" charset="0"/>
              </a:rPr>
              <a:t>Ex:</a:t>
            </a:r>
          </a:p>
          <a:p>
            <a:pPr marL="400050" lvl="1" indent="0">
              <a:buNone/>
            </a:pPr>
            <a:r>
              <a:rPr lang="en-US" sz="2200" b="0" i="1" dirty="0" err="1">
                <a:effectLst/>
                <a:latin typeface="Consolas" panose="020B0609020204030204" pitchFamily="49" charset="0"/>
              </a:rPr>
              <a:t>element</a:t>
            </a:r>
            <a:r>
              <a:rPr lang="en-US" sz="2200" b="0" i="0" dirty="0" err="1">
                <a:effectLst/>
                <a:latin typeface="Consolas" panose="020B0609020204030204" pitchFamily="49" charset="0"/>
              </a:rPr>
              <a:t>.addEventListener</a:t>
            </a:r>
            <a:r>
              <a:rPr lang="en-US" sz="2200" b="0" i="0" dirty="0">
                <a:effectLst/>
                <a:latin typeface="Consolas" panose="020B0609020204030204" pitchFamily="49" charset="0"/>
              </a:rPr>
              <a:t>("click", function(){</a:t>
            </a:r>
          </a:p>
          <a:p>
            <a:pPr marL="400050" lvl="1" indent="0">
              <a:buNone/>
            </a:pPr>
            <a:r>
              <a:rPr lang="en-US" sz="2200" b="0" i="0" dirty="0">
                <a:effectLst/>
                <a:latin typeface="Consolas" panose="020B0609020204030204" pitchFamily="49" charset="0"/>
              </a:rPr>
              <a:t> alert("Hello World!");</a:t>
            </a:r>
          </a:p>
          <a:p>
            <a:pPr marL="400050" lvl="1" indent="0">
              <a:buNone/>
            </a:pPr>
            <a:r>
              <a:rPr lang="en-US" sz="2200" b="0" i="0" dirty="0">
                <a:effectLst/>
                <a:latin typeface="Consolas" panose="020B0609020204030204" pitchFamily="49" charset="0"/>
              </a:rPr>
              <a:t> });</a:t>
            </a:r>
          </a:p>
          <a:p>
            <a:pPr marL="400050" lvl="1" indent="0">
              <a:buNone/>
            </a:pPr>
            <a:r>
              <a:rPr lang="en-US" sz="2200" dirty="0"/>
              <a:t/>
            </a:r>
            <a:br>
              <a:rPr lang="en-US" sz="2200" dirty="0"/>
            </a:br>
            <a:endParaRPr lang="en-IN" dirty="0"/>
          </a:p>
        </p:txBody>
      </p:sp>
    </p:spTree>
    <p:extLst>
      <p:ext uri="{BB962C8B-B14F-4D97-AF65-F5344CB8AC3E}">
        <p14:creationId xmlns:p14="http://schemas.microsoft.com/office/powerpoint/2010/main" val="20894636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1B90-0590-3F42-5BCE-26D130598B63}"/>
              </a:ext>
            </a:extLst>
          </p:cNvPr>
          <p:cNvSpPr>
            <a:spLocks noGrp="1"/>
          </p:cNvSpPr>
          <p:nvPr>
            <p:ph type="title"/>
          </p:nvPr>
        </p:nvSpPr>
        <p:spPr/>
        <p:txBody>
          <a:bodyPr/>
          <a:lstStyle/>
          <a:p>
            <a:r>
              <a:rPr lang="en-US" dirty="0"/>
              <a:t>Event Propagation</a:t>
            </a:r>
            <a:endParaRPr lang="en-IN" dirty="0"/>
          </a:p>
        </p:txBody>
      </p:sp>
      <p:sp>
        <p:nvSpPr>
          <p:cNvPr id="3" name="Content Placeholder 2">
            <a:extLst>
              <a:ext uri="{FF2B5EF4-FFF2-40B4-BE49-F238E27FC236}">
                <a16:creationId xmlns:a16="http://schemas.microsoft.com/office/drawing/2014/main" id="{73F46F2B-1782-42C2-86CB-9AE8C325DE9B}"/>
              </a:ext>
            </a:extLst>
          </p:cNvPr>
          <p:cNvSpPr>
            <a:spLocks noGrp="1"/>
          </p:cNvSpPr>
          <p:nvPr>
            <p:ph idx="1"/>
          </p:nvPr>
        </p:nvSpPr>
        <p:spPr>
          <a:xfrm>
            <a:off x="422910" y="1152983"/>
            <a:ext cx="10629900" cy="4739639"/>
          </a:xfrm>
        </p:spPr>
        <p:txBody>
          <a:bodyPr>
            <a:normAutofit/>
          </a:bodyPr>
          <a:lstStyle/>
          <a:p>
            <a:r>
              <a:rPr lang="en-US" b="0" i="0" dirty="0">
                <a:effectLst/>
                <a:latin typeface="Söhne"/>
              </a:rPr>
              <a:t>Event propagation refers to the way events travel through the DOM tree. When an event occurs on an element, it can trigger event handlers not only on that element but also on its parent elements, all the way up to the root of the document. There are two phases of event propagation:</a:t>
            </a:r>
          </a:p>
          <a:p>
            <a:pPr algn="l">
              <a:buFont typeface="+mj-lt"/>
              <a:buAutoNum type="arabicPeriod"/>
            </a:pPr>
            <a:r>
              <a:rPr lang="en-US" b="1" i="0" dirty="0">
                <a:effectLst/>
                <a:latin typeface="Söhne"/>
              </a:rPr>
              <a:t>Capturing Phase</a:t>
            </a:r>
            <a:r>
              <a:rPr lang="en-US" b="0" i="0" dirty="0">
                <a:effectLst/>
                <a:latin typeface="Söhne"/>
              </a:rPr>
              <a:t>: The event travels from the root of the DOM tree down to the target element.</a:t>
            </a:r>
          </a:p>
          <a:p>
            <a:pPr algn="l">
              <a:buFont typeface="+mj-lt"/>
              <a:buAutoNum type="arabicPeriod"/>
            </a:pPr>
            <a:r>
              <a:rPr lang="en-US" b="1" i="0" dirty="0">
                <a:effectLst/>
                <a:latin typeface="Söhne"/>
              </a:rPr>
              <a:t>Bubbling Phase</a:t>
            </a:r>
            <a:r>
              <a:rPr lang="en-US" b="0" i="0" dirty="0">
                <a:effectLst/>
                <a:latin typeface="Söhne"/>
              </a:rPr>
              <a:t>: The event then bubbles up from the target element back to the root.</a:t>
            </a:r>
          </a:p>
          <a:p>
            <a:r>
              <a:rPr kumimoji="0" lang="en-US" altLang="en-US" b="1" i="0" u="none" strike="noStrike" cap="none" normalizeH="0" baseline="0" dirty="0" err="1">
                <a:ln>
                  <a:noFill/>
                </a:ln>
                <a:effectLst/>
                <a:latin typeface="Söhne Mono"/>
              </a:rPr>
              <a:t>event.stopPropagation</a:t>
            </a:r>
            <a:r>
              <a:rPr kumimoji="0" lang="en-US" altLang="en-US" b="1" i="0" u="none" strike="noStrike" cap="none" normalizeH="0" baseline="0" dirty="0">
                <a:ln>
                  <a:noFill/>
                </a:ln>
                <a:effectLst/>
                <a:latin typeface="Söhne Mono"/>
              </a:rPr>
              <a:t>()</a:t>
            </a:r>
            <a:r>
              <a:rPr kumimoji="0" lang="en-US" altLang="en-US" b="0" i="0" u="none" strike="noStrike" cap="none" normalizeH="0" baseline="0" dirty="0">
                <a:ln>
                  <a:noFill/>
                </a:ln>
                <a:effectLst/>
                <a:latin typeface="Söhne"/>
              </a:rPr>
              <a:t>: This method prevents further propagation of the current event. It stops the event from bubbling up the DOM tree or from capturing down the </a:t>
            </a:r>
            <a:r>
              <a:rPr kumimoji="0" lang="en-US" altLang="en-US" b="0" i="0" u="none" strike="noStrike" cap="none" normalizeH="0" baseline="0" dirty="0" smtClean="0">
                <a:ln>
                  <a:noFill/>
                </a:ln>
                <a:effectLst/>
                <a:latin typeface="Söhne"/>
              </a:rPr>
              <a:t>tree</a:t>
            </a:r>
          </a:p>
          <a:p>
            <a:r>
              <a:rPr lang="en-US" b="1" dirty="0" err="1"/>
              <a:t>stopPropagation</a:t>
            </a:r>
            <a:r>
              <a:rPr lang="en-US" b="1" dirty="0"/>
              <a:t>() </a:t>
            </a:r>
            <a:r>
              <a:rPr lang="en-US" dirty="0"/>
              <a:t>in bubbling phase, it will block the </a:t>
            </a:r>
            <a:r>
              <a:rPr lang="en-US" dirty="0" err="1"/>
              <a:t>progation</a:t>
            </a:r>
            <a:r>
              <a:rPr lang="en-US" dirty="0"/>
              <a:t> to reach to the outer moat element from the </a:t>
            </a:r>
            <a:r>
              <a:rPr lang="en-US" dirty="0" err="1"/>
              <a:t>targetted</a:t>
            </a:r>
            <a:r>
              <a:rPr lang="en-US" dirty="0"/>
              <a:t> </a:t>
            </a:r>
            <a:r>
              <a:rPr lang="en-US" dirty="0" smtClean="0"/>
              <a:t>element</a:t>
            </a:r>
            <a:endParaRPr kumimoji="0" lang="en-US" altLang="en-US" b="0" i="0" u="none" strike="noStrike" cap="none" normalizeH="0" baseline="0" dirty="0" smtClean="0">
              <a:ln>
                <a:noFill/>
              </a:ln>
              <a:effectLst/>
              <a:latin typeface="Söhne"/>
            </a:endParaRPr>
          </a:p>
          <a:p>
            <a:r>
              <a:rPr lang="en-US" b="1" dirty="0" err="1"/>
              <a:t>stopPropagation</a:t>
            </a:r>
            <a:r>
              <a:rPr lang="en-US" b="1" dirty="0"/>
              <a:t>() </a:t>
            </a:r>
            <a:r>
              <a:rPr lang="en-US" dirty="0"/>
              <a:t>in capturing phase, it will block the </a:t>
            </a:r>
            <a:r>
              <a:rPr lang="en-US" dirty="0" err="1"/>
              <a:t>progation</a:t>
            </a:r>
            <a:r>
              <a:rPr lang="en-US" dirty="0"/>
              <a:t> to reach to the </a:t>
            </a:r>
            <a:r>
              <a:rPr lang="en-US" dirty="0" err="1"/>
              <a:t>targetted</a:t>
            </a:r>
            <a:r>
              <a:rPr lang="en-US" dirty="0"/>
              <a:t> element</a:t>
            </a:r>
          </a:p>
          <a:p>
            <a:endParaRPr lang="en-IN" dirty="0"/>
          </a:p>
        </p:txBody>
      </p:sp>
    </p:spTree>
    <p:extLst>
      <p:ext uri="{BB962C8B-B14F-4D97-AF65-F5344CB8AC3E}">
        <p14:creationId xmlns:p14="http://schemas.microsoft.com/office/powerpoint/2010/main" val="29620143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4FACC-F7E9-CA0B-F45A-135F6D2A61BA}"/>
              </a:ext>
            </a:extLst>
          </p:cNvPr>
          <p:cNvSpPr>
            <a:spLocks noGrp="1"/>
          </p:cNvSpPr>
          <p:nvPr>
            <p:ph type="title"/>
          </p:nvPr>
        </p:nvSpPr>
        <p:spPr>
          <a:xfrm>
            <a:off x="646111" y="452718"/>
            <a:ext cx="9404723" cy="976032"/>
          </a:xfrm>
        </p:spPr>
        <p:txBody>
          <a:bodyPr/>
          <a:lstStyle/>
          <a:p>
            <a:r>
              <a:rPr lang="en-US" dirty="0"/>
              <a:t>JSON(Java Script Object Notation)</a:t>
            </a:r>
            <a:endParaRPr lang="en-IN" dirty="0"/>
          </a:p>
        </p:txBody>
      </p:sp>
      <p:sp>
        <p:nvSpPr>
          <p:cNvPr id="3" name="Content Placeholder 2">
            <a:extLst>
              <a:ext uri="{FF2B5EF4-FFF2-40B4-BE49-F238E27FC236}">
                <a16:creationId xmlns:a16="http://schemas.microsoft.com/office/drawing/2014/main" id="{06388DFB-0AA1-CFEB-C3B2-4FE8AD0D867D}"/>
              </a:ext>
            </a:extLst>
          </p:cNvPr>
          <p:cNvSpPr>
            <a:spLocks noGrp="1"/>
          </p:cNvSpPr>
          <p:nvPr>
            <p:ph idx="1"/>
          </p:nvPr>
        </p:nvSpPr>
        <p:spPr>
          <a:xfrm>
            <a:off x="834390" y="1585633"/>
            <a:ext cx="10698480" cy="4819649"/>
          </a:xfrm>
        </p:spPr>
        <p:txBody>
          <a:bodyPr>
            <a:normAutofit/>
          </a:bodyPr>
          <a:lstStyle/>
          <a:p>
            <a:r>
              <a:rPr lang="en-US" sz="2400" dirty="0"/>
              <a:t>It is format of storing and transporting data.</a:t>
            </a:r>
          </a:p>
          <a:p>
            <a:r>
              <a:rPr lang="en-US" sz="2400" dirty="0"/>
              <a:t>It is used when the data is sent form the server to web page</a:t>
            </a:r>
          </a:p>
          <a:p>
            <a:r>
              <a:rPr lang="en-US" sz="2400" dirty="0"/>
              <a:t>It is a popular data format for developers because of its human readable text, light weight which requires less coding and faster process </a:t>
            </a:r>
          </a:p>
          <a:p>
            <a:pPr marL="0" indent="0">
              <a:buNone/>
            </a:pPr>
            <a:r>
              <a:rPr lang="en-US" sz="2400" dirty="0"/>
              <a:t>Example: [</a:t>
            </a:r>
          </a:p>
          <a:p>
            <a:pPr marL="0" indent="0">
              <a:buNone/>
            </a:pPr>
            <a:r>
              <a:rPr lang="en-US" sz="2400" dirty="0"/>
              <a:t>{“fname”:”Ram”,”lname”:”Patil”},</a:t>
            </a:r>
          </a:p>
          <a:p>
            <a:pPr marL="0" indent="0">
              <a:buNone/>
            </a:pPr>
            <a:r>
              <a:rPr lang="en-US" sz="2400" dirty="0"/>
              <a:t>{“fname”:”Raj”,”lname”:”smith”},</a:t>
            </a:r>
          </a:p>
          <a:p>
            <a:pPr marL="0" indent="0">
              <a:buNone/>
            </a:pPr>
            <a:r>
              <a:rPr lang="en-US" sz="2400" dirty="0"/>
              <a:t>{“fname”:”Ashish”,”lname”:”gouda”}</a:t>
            </a:r>
          </a:p>
          <a:p>
            <a:pPr marL="0" indent="0">
              <a:buNone/>
            </a:pPr>
            <a:r>
              <a:rPr lang="en-US" sz="2400" dirty="0"/>
              <a:t>]</a:t>
            </a:r>
            <a:endParaRPr lang="en-IN" sz="2400" dirty="0"/>
          </a:p>
        </p:txBody>
      </p:sp>
    </p:spTree>
    <p:extLst>
      <p:ext uri="{BB962C8B-B14F-4D97-AF65-F5344CB8AC3E}">
        <p14:creationId xmlns:p14="http://schemas.microsoft.com/office/powerpoint/2010/main" val="31322439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F917E-38C3-8DA2-3514-B1A701675A97}"/>
              </a:ext>
            </a:extLst>
          </p:cNvPr>
          <p:cNvSpPr>
            <a:spLocks noGrp="1"/>
          </p:cNvSpPr>
          <p:nvPr>
            <p:ph type="title"/>
          </p:nvPr>
        </p:nvSpPr>
        <p:spPr>
          <a:xfrm>
            <a:off x="646111" y="452718"/>
            <a:ext cx="9404723" cy="998892"/>
          </a:xfrm>
        </p:spPr>
        <p:txBody>
          <a:bodyPr/>
          <a:lstStyle/>
          <a:p>
            <a:r>
              <a:rPr lang="en-US" dirty="0"/>
              <a:t>Syntax of JSON</a:t>
            </a:r>
            <a:endParaRPr lang="en-IN" dirty="0"/>
          </a:p>
        </p:txBody>
      </p:sp>
      <p:sp>
        <p:nvSpPr>
          <p:cNvPr id="3" name="Content Placeholder 2">
            <a:extLst>
              <a:ext uri="{FF2B5EF4-FFF2-40B4-BE49-F238E27FC236}">
                <a16:creationId xmlns:a16="http://schemas.microsoft.com/office/drawing/2014/main" id="{F6850C5E-810E-65D4-06E9-76F6A1D39F36}"/>
              </a:ext>
            </a:extLst>
          </p:cNvPr>
          <p:cNvSpPr>
            <a:spLocks noGrp="1"/>
          </p:cNvSpPr>
          <p:nvPr>
            <p:ph idx="1"/>
          </p:nvPr>
        </p:nvSpPr>
        <p:spPr/>
        <p:txBody>
          <a:bodyPr/>
          <a:lstStyle/>
          <a:p>
            <a:r>
              <a:rPr lang="en-US" dirty="0"/>
              <a:t>Data is in Key value pairs</a:t>
            </a:r>
          </a:p>
          <a:p>
            <a:r>
              <a:rPr lang="en-US" dirty="0"/>
              <a:t>Data is separated by ‘,’</a:t>
            </a:r>
          </a:p>
          <a:p>
            <a:r>
              <a:rPr lang="en-US" dirty="0"/>
              <a:t>Curly braces holds objects</a:t>
            </a:r>
          </a:p>
          <a:p>
            <a:r>
              <a:rPr lang="en-US" dirty="0"/>
              <a:t>[ ]---holds array</a:t>
            </a:r>
          </a:p>
          <a:p>
            <a:pPr marL="0" indent="0">
              <a:buNone/>
            </a:pPr>
            <a:r>
              <a:rPr lang="en-US" b="0" i="0" dirty="0">
                <a:effectLst/>
              </a:rPr>
              <a:t>In JavaScript, there are two main methods used to work with JSON (JavaScript Object Notation):</a:t>
            </a:r>
          </a:p>
          <a:p>
            <a:pPr marL="0" indent="0">
              <a:buNone/>
            </a:pPr>
            <a:r>
              <a:rPr lang="en-US" b="1" u="sng" dirty="0"/>
              <a:t>1.JSON.Stringify() </a:t>
            </a:r>
            <a:r>
              <a:rPr lang="en-US" dirty="0"/>
              <a:t>: used to convert normal object to JSON format</a:t>
            </a:r>
          </a:p>
          <a:p>
            <a:pPr marL="0" indent="0">
              <a:buNone/>
            </a:pPr>
            <a:r>
              <a:rPr lang="en-US" b="1" u="sng" dirty="0"/>
              <a:t>2.JSON.parse(): </a:t>
            </a:r>
            <a:r>
              <a:rPr lang="en-US" dirty="0"/>
              <a:t>Used to convert JSON format of data to normal object</a:t>
            </a:r>
          </a:p>
        </p:txBody>
      </p:sp>
    </p:spTree>
    <p:extLst>
      <p:ext uri="{BB962C8B-B14F-4D97-AF65-F5344CB8AC3E}">
        <p14:creationId xmlns:p14="http://schemas.microsoft.com/office/powerpoint/2010/main" val="17290846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CFACB-9E5D-3093-225C-B89040134476}"/>
              </a:ext>
            </a:extLst>
          </p:cNvPr>
          <p:cNvSpPr>
            <a:spLocks noGrp="1"/>
          </p:cNvSpPr>
          <p:nvPr>
            <p:ph type="title"/>
          </p:nvPr>
        </p:nvSpPr>
        <p:spPr>
          <a:xfrm>
            <a:off x="646111" y="452718"/>
            <a:ext cx="9404723" cy="930312"/>
          </a:xfrm>
        </p:spPr>
        <p:txBody>
          <a:bodyPr/>
          <a:lstStyle/>
          <a:p>
            <a:r>
              <a:rPr lang="en-US" dirty="0"/>
              <a:t>Time delays</a:t>
            </a:r>
            <a:endParaRPr lang="en-IN" dirty="0"/>
          </a:p>
        </p:txBody>
      </p:sp>
      <p:sp>
        <p:nvSpPr>
          <p:cNvPr id="3" name="Content Placeholder 2">
            <a:extLst>
              <a:ext uri="{FF2B5EF4-FFF2-40B4-BE49-F238E27FC236}">
                <a16:creationId xmlns:a16="http://schemas.microsoft.com/office/drawing/2014/main" id="{22F5CAD1-CBE4-BF5B-F1C1-C21208109648}"/>
              </a:ext>
            </a:extLst>
          </p:cNvPr>
          <p:cNvSpPr>
            <a:spLocks noGrp="1"/>
          </p:cNvSpPr>
          <p:nvPr>
            <p:ph idx="1"/>
          </p:nvPr>
        </p:nvSpPr>
        <p:spPr>
          <a:xfrm>
            <a:off x="1103312" y="1485900"/>
            <a:ext cx="8946541" cy="4762499"/>
          </a:xfrm>
        </p:spPr>
        <p:txBody>
          <a:bodyPr/>
          <a:lstStyle/>
          <a:p>
            <a:r>
              <a:rPr lang="en-US" sz="2400" dirty="0"/>
              <a:t>setTimeOut() and setInterval() are two functions in js allows to schedule tasks to be executed at later time. Used for animations, polling data from server and other asynchronous tasks.</a:t>
            </a:r>
          </a:p>
          <a:p>
            <a:r>
              <a:rPr lang="en-US" sz="2400" b="1" u="sng" dirty="0"/>
              <a:t>setTimeOut() :</a:t>
            </a:r>
          </a:p>
          <a:p>
            <a:r>
              <a:rPr lang="en-IN" sz="2400" dirty="0"/>
              <a:t>Runs the code with time delay</a:t>
            </a:r>
          </a:p>
          <a:p>
            <a:pPr marL="0" indent="0">
              <a:buNone/>
            </a:pPr>
            <a:r>
              <a:rPr lang="en-IN" sz="2400" dirty="0"/>
              <a:t>Syntax : window.setTimeOut( function , delay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Söhne Mono"/>
              </a:rPr>
              <a:t>function</a:t>
            </a:r>
            <a:r>
              <a:rPr kumimoji="0" lang="en-US" altLang="en-US" sz="2400" b="0" i="0" u="none" strike="noStrike" cap="none" normalizeH="0" baseline="0" dirty="0">
                <a:ln>
                  <a:noFill/>
                </a:ln>
                <a:effectLst/>
                <a:latin typeface="Söhne"/>
              </a:rPr>
              <a:t>: The function you want to execute.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Söhne Mono"/>
              </a:rPr>
              <a:t>delay</a:t>
            </a:r>
            <a:r>
              <a:rPr kumimoji="0" lang="en-US" altLang="en-US" sz="2400" b="0" i="0" u="none" strike="noStrike" cap="none" normalizeH="0" baseline="0" dirty="0">
                <a:ln>
                  <a:noFill/>
                </a:ln>
                <a:effectLst/>
                <a:latin typeface="Söhne"/>
              </a:rPr>
              <a:t>: The amount of time (in milliseconds) before the function is executed</a:t>
            </a:r>
            <a:endParaRPr lang="en-IN" sz="2400" dirty="0"/>
          </a:p>
          <a:p>
            <a:pPr marL="0" indent="0">
              <a:buNone/>
            </a:pPr>
            <a:endParaRPr lang="en-IN" sz="2400" dirty="0"/>
          </a:p>
          <a:p>
            <a:pPr marL="0" indent="0">
              <a:buNone/>
            </a:pPr>
            <a:endParaRPr lang="en-IN" dirty="0"/>
          </a:p>
        </p:txBody>
      </p:sp>
    </p:spTree>
    <p:extLst>
      <p:ext uri="{BB962C8B-B14F-4D97-AF65-F5344CB8AC3E}">
        <p14:creationId xmlns:p14="http://schemas.microsoft.com/office/powerpoint/2010/main" val="42241122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7AD6-B064-20A1-5C33-909C251000A5}"/>
              </a:ext>
            </a:extLst>
          </p:cNvPr>
          <p:cNvSpPr>
            <a:spLocks noGrp="1"/>
          </p:cNvSpPr>
          <p:nvPr>
            <p:ph type="title"/>
          </p:nvPr>
        </p:nvSpPr>
        <p:spPr>
          <a:xfrm>
            <a:off x="646111" y="452718"/>
            <a:ext cx="9404723" cy="1136052"/>
          </a:xfrm>
        </p:spPr>
        <p:txBody>
          <a:bodyPr/>
          <a:lstStyle/>
          <a:p>
            <a:r>
              <a:rPr lang="en-US" dirty="0"/>
              <a:t>Time delays</a:t>
            </a:r>
            <a:endParaRPr lang="en-IN" dirty="0"/>
          </a:p>
        </p:txBody>
      </p:sp>
      <p:sp>
        <p:nvSpPr>
          <p:cNvPr id="3" name="Content Placeholder 2">
            <a:extLst>
              <a:ext uri="{FF2B5EF4-FFF2-40B4-BE49-F238E27FC236}">
                <a16:creationId xmlns:a16="http://schemas.microsoft.com/office/drawing/2014/main" id="{5F4CE701-4DF1-EFDB-DACD-6CD768DD75C9}"/>
              </a:ext>
            </a:extLst>
          </p:cNvPr>
          <p:cNvSpPr>
            <a:spLocks noGrp="1"/>
          </p:cNvSpPr>
          <p:nvPr>
            <p:ph idx="1"/>
          </p:nvPr>
        </p:nvSpPr>
        <p:spPr>
          <a:xfrm>
            <a:off x="875201" y="1492848"/>
            <a:ext cx="8946541" cy="4195481"/>
          </a:xfrm>
        </p:spPr>
        <p:txBody>
          <a:bodyPr>
            <a:normAutofit lnSpcReduction="10000"/>
          </a:bodyPr>
          <a:lstStyle/>
          <a:p>
            <a:r>
              <a:rPr lang="en-US" sz="2400" b="1" u="sng" dirty="0"/>
              <a:t>setInterval() :</a:t>
            </a:r>
          </a:p>
          <a:p>
            <a:r>
              <a:rPr lang="en-IN" sz="2400" dirty="0"/>
              <a:t>The function similar to setTimeOut, but it schedules a function to be executed repeatedly at specified interval.</a:t>
            </a:r>
          </a:p>
          <a:p>
            <a:pPr marL="0" indent="0">
              <a:buNone/>
            </a:pPr>
            <a:r>
              <a:rPr lang="en-IN" sz="2400" dirty="0"/>
              <a:t>Syntax : </a:t>
            </a:r>
            <a:r>
              <a:rPr lang="en-IN" sz="2400" dirty="0" err="1"/>
              <a:t>window.setInterval</a:t>
            </a:r>
            <a:r>
              <a:rPr lang="en-IN" sz="2400" dirty="0"/>
              <a:t>( function , delay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Söhne Mono"/>
              </a:rPr>
              <a:t>function</a:t>
            </a:r>
            <a:r>
              <a:rPr kumimoji="0" lang="en-US" altLang="en-US" sz="2400" b="0" i="0" u="none" strike="noStrike" cap="none" normalizeH="0" baseline="0" dirty="0">
                <a:ln>
                  <a:noFill/>
                </a:ln>
                <a:effectLst/>
                <a:latin typeface="Söhne"/>
              </a:rPr>
              <a:t>: The function you want to execute.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Söhne Mono"/>
              </a:rPr>
              <a:t>delay</a:t>
            </a:r>
            <a:r>
              <a:rPr kumimoji="0" lang="en-US" altLang="en-US" sz="2400" b="0" i="0" u="none" strike="noStrike" cap="none" normalizeH="0" baseline="0" dirty="0">
                <a:ln>
                  <a:noFill/>
                </a:ln>
                <a:effectLst/>
                <a:latin typeface="Söhne"/>
              </a:rPr>
              <a:t>: The amount of time (in milliseconds) before the function is executed</a:t>
            </a:r>
            <a:endParaRPr lang="en-IN" sz="2400" dirty="0"/>
          </a:p>
          <a:p>
            <a:r>
              <a:rPr lang="en-IN" b="1" u="sng" dirty="0" err="1"/>
              <a:t>createTimeOut</a:t>
            </a:r>
            <a:r>
              <a:rPr lang="en-IN" b="1" u="sng" dirty="0"/>
              <a:t>()  and </a:t>
            </a:r>
            <a:r>
              <a:rPr lang="en-IN" b="1" u="sng" dirty="0" err="1"/>
              <a:t>createInterval</a:t>
            </a:r>
            <a:r>
              <a:rPr lang="en-IN" b="1" u="sng" dirty="0"/>
              <a:t>() </a:t>
            </a:r>
          </a:p>
          <a:p>
            <a:r>
              <a:rPr kumimoji="0" lang="en-US" altLang="en-US" sz="1600" b="0" i="0" u="none" strike="noStrike" cap="none" normalizeH="0" baseline="0" dirty="0">
                <a:ln>
                  <a:noFill/>
                </a:ln>
                <a:effectLst/>
              </a:rPr>
              <a:t>cancel a </a:t>
            </a:r>
            <a:r>
              <a:rPr kumimoji="0" lang="en-US" altLang="en-US" sz="2400" b="1" i="0" u="none" strike="noStrike" cap="none" normalizeH="0" baseline="0" dirty="0" err="1">
                <a:ln>
                  <a:noFill/>
                </a:ln>
                <a:effectLst/>
              </a:rPr>
              <a:t>setTimeout</a:t>
            </a:r>
            <a:r>
              <a:rPr kumimoji="0" lang="en-US" altLang="en-US" sz="1600" b="0" i="0" u="none" strike="noStrike" cap="none" normalizeH="0" baseline="0" dirty="0">
                <a:ln>
                  <a:noFill/>
                </a:ln>
                <a:effectLst/>
              </a:rPr>
              <a:t>, you use </a:t>
            </a:r>
            <a:r>
              <a:rPr kumimoji="0" lang="en-US" altLang="en-US" sz="2400" b="1" i="0" u="none" strike="noStrike" cap="none" normalizeH="0" baseline="0" dirty="0" err="1">
                <a:ln>
                  <a:noFill/>
                </a:ln>
                <a:effectLst/>
              </a:rPr>
              <a:t>clearTimeout</a:t>
            </a:r>
            <a:endParaRPr kumimoji="0" lang="en-US" altLang="en-US" sz="2400" b="1" i="0" u="none" strike="noStrike" cap="none" normalizeH="0" baseline="0" dirty="0">
              <a:ln>
                <a:noFill/>
              </a:ln>
              <a:effectLst/>
            </a:endParaRPr>
          </a:p>
          <a:p>
            <a:r>
              <a:rPr kumimoji="0" lang="en-US" altLang="en-US" sz="1800" b="0" i="0" u="none" strike="noStrike" cap="none" normalizeH="0" baseline="0" dirty="0">
                <a:ln>
                  <a:noFill/>
                </a:ln>
                <a:effectLst/>
              </a:rPr>
              <a:t>cancel a </a:t>
            </a:r>
            <a:r>
              <a:rPr kumimoji="0" lang="en-US" altLang="en-US" sz="2400" b="1" i="0" u="none" strike="noStrike" cap="none" normalizeH="0" baseline="0" dirty="0" err="1">
                <a:ln>
                  <a:noFill/>
                </a:ln>
                <a:effectLst/>
              </a:rPr>
              <a:t>setTimeout</a:t>
            </a:r>
            <a:r>
              <a:rPr kumimoji="0" lang="en-US" altLang="en-US" sz="1800" b="0" i="0" u="none" strike="noStrike" cap="none" normalizeH="0" baseline="0" dirty="0">
                <a:ln>
                  <a:noFill/>
                </a:ln>
                <a:effectLst/>
              </a:rPr>
              <a:t>, you use </a:t>
            </a:r>
            <a:r>
              <a:rPr kumimoji="0" lang="en-US" altLang="en-US" sz="2400" b="1" i="0" u="none" strike="noStrike" cap="none" normalizeH="0" baseline="0" dirty="0" err="1">
                <a:ln>
                  <a:noFill/>
                </a:ln>
                <a:effectLst/>
              </a:rPr>
              <a:t>clearTimeout</a:t>
            </a:r>
            <a:endParaRPr kumimoji="0" lang="en-US" altLang="en-US" sz="2800" b="1" i="0" u="none" strike="noStrike" cap="none" normalizeH="0" baseline="0" dirty="0">
              <a:ln>
                <a:noFill/>
              </a:ln>
              <a:effectLst/>
            </a:endParaRPr>
          </a:p>
          <a:p>
            <a:endParaRPr lang="en-IN" sz="2400" b="1" u="sng" dirty="0"/>
          </a:p>
          <a:p>
            <a:endParaRPr lang="en-IN" b="1" u="sng" dirty="0"/>
          </a:p>
        </p:txBody>
      </p:sp>
    </p:spTree>
    <p:extLst>
      <p:ext uri="{BB962C8B-B14F-4D97-AF65-F5344CB8AC3E}">
        <p14:creationId xmlns:p14="http://schemas.microsoft.com/office/powerpoint/2010/main" val="30503933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D8B14-15B2-30AF-5C65-48B47C192745}"/>
              </a:ext>
            </a:extLst>
          </p:cNvPr>
          <p:cNvSpPr>
            <a:spLocks noGrp="1"/>
          </p:cNvSpPr>
          <p:nvPr>
            <p:ph type="title"/>
          </p:nvPr>
        </p:nvSpPr>
        <p:spPr>
          <a:xfrm>
            <a:off x="646111" y="452718"/>
            <a:ext cx="9404723" cy="1078902"/>
          </a:xfrm>
        </p:spPr>
        <p:txBody>
          <a:bodyPr/>
          <a:lstStyle/>
          <a:p>
            <a:r>
              <a:rPr lang="en-US" dirty="0"/>
              <a:t>Promises</a:t>
            </a:r>
            <a:endParaRPr lang="en-IN" dirty="0"/>
          </a:p>
        </p:txBody>
      </p:sp>
      <p:sp>
        <p:nvSpPr>
          <p:cNvPr id="3" name="Content Placeholder 2">
            <a:extLst>
              <a:ext uri="{FF2B5EF4-FFF2-40B4-BE49-F238E27FC236}">
                <a16:creationId xmlns:a16="http://schemas.microsoft.com/office/drawing/2014/main" id="{8FD2C2D1-D625-0C1B-9677-46F1913EFC37}"/>
              </a:ext>
            </a:extLst>
          </p:cNvPr>
          <p:cNvSpPr>
            <a:spLocks noGrp="1"/>
          </p:cNvSpPr>
          <p:nvPr>
            <p:ph idx="1"/>
          </p:nvPr>
        </p:nvSpPr>
        <p:spPr>
          <a:xfrm>
            <a:off x="645130" y="1531620"/>
            <a:ext cx="10464830" cy="4716779"/>
          </a:xfrm>
        </p:spPr>
        <p:txBody>
          <a:bodyPr>
            <a:normAutofit/>
          </a:bodyPr>
          <a:lstStyle/>
          <a:p>
            <a:r>
              <a:rPr lang="en-US" dirty="0"/>
              <a:t>In JavaScript, promises are a mechanism for handling asynchronous operations. They provide a way to work with asynchronous code in a more structured and readable manner. Promises represent a value that may not be available yet but will be resolved at some point in the future, either successfully with a result or with an error.</a:t>
            </a:r>
          </a:p>
          <a:p>
            <a:pPr marL="0" indent="0">
              <a:buNone/>
            </a:pPr>
            <a:r>
              <a:rPr lang="en-US" sz="2400" b="1" i="0" dirty="0" smtClean="0">
                <a:effectLst/>
                <a:latin typeface="Söhne"/>
              </a:rPr>
              <a:t>A </a:t>
            </a:r>
            <a:r>
              <a:rPr lang="en-US" sz="2400" b="1" i="0" dirty="0">
                <a:effectLst/>
                <a:latin typeface="Söhne"/>
              </a:rPr>
              <a:t>promise represents the eventual result of an asynchronous operation. It can be in one of three states:</a:t>
            </a:r>
          </a:p>
          <a:p>
            <a:pPr algn="l">
              <a:buFont typeface="Arial" panose="020B0604020202020204" pitchFamily="34" charset="0"/>
              <a:buChar char="•"/>
            </a:pPr>
            <a:r>
              <a:rPr lang="en-US" sz="2000" b="1" i="0" dirty="0">
                <a:effectLst/>
              </a:rPr>
              <a:t>Pending</a:t>
            </a:r>
            <a:r>
              <a:rPr lang="en-US" sz="2000" b="0" i="0" dirty="0">
                <a:effectLst/>
              </a:rPr>
              <a:t>: Initial state, neither fulfilled nor rejected.</a:t>
            </a:r>
          </a:p>
          <a:p>
            <a:pPr algn="l">
              <a:buFont typeface="Arial" panose="020B0604020202020204" pitchFamily="34" charset="0"/>
              <a:buChar char="•"/>
            </a:pPr>
            <a:r>
              <a:rPr lang="en-US" sz="2000" b="1" i="0" dirty="0">
                <a:effectLst/>
              </a:rPr>
              <a:t>Fulfilled</a:t>
            </a:r>
            <a:r>
              <a:rPr lang="en-US" sz="2000" b="0" i="0" dirty="0">
                <a:effectLst/>
              </a:rPr>
              <a:t>: Meaning the operation completed successfully.</a:t>
            </a:r>
          </a:p>
          <a:p>
            <a:pPr algn="l">
              <a:buFont typeface="Arial" panose="020B0604020202020204" pitchFamily="34" charset="0"/>
              <a:buChar char="•"/>
            </a:pPr>
            <a:r>
              <a:rPr lang="en-US" sz="2000" b="1" i="0" dirty="0">
                <a:effectLst/>
              </a:rPr>
              <a:t>Rejected</a:t>
            </a:r>
            <a:r>
              <a:rPr lang="en-US" sz="2000" b="0" i="0" dirty="0">
                <a:effectLst/>
              </a:rPr>
              <a:t>: Meaning the operation failed.</a:t>
            </a:r>
          </a:p>
          <a:p>
            <a:pPr marL="0" indent="0" algn="l">
              <a:buNone/>
            </a:pPr>
            <a:endParaRPr lang="en-US" sz="2000" b="0" i="0" dirty="0">
              <a:effectLst/>
            </a:endParaRPr>
          </a:p>
          <a:p>
            <a:pPr marL="0" indent="0">
              <a:buNone/>
            </a:pPr>
            <a:endParaRPr lang="en-IN" sz="2400" b="1" dirty="0"/>
          </a:p>
        </p:txBody>
      </p:sp>
    </p:spTree>
    <p:extLst>
      <p:ext uri="{BB962C8B-B14F-4D97-AF65-F5344CB8AC3E}">
        <p14:creationId xmlns:p14="http://schemas.microsoft.com/office/powerpoint/2010/main" val="18507946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D3B27-40F5-39E5-F628-770FAF54050E}"/>
              </a:ext>
            </a:extLst>
          </p:cNvPr>
          <p:cNvSpPr>
            <a:spLocks noGrp="1"/>
          </p:cNvSpPr>
          <p:nvPr>
            <p:ph type="title"/>
          </p:nvPr>
        </p:nvSpPr>
        <p:spPr>
          <a:xfrm>
            <a:off x="646111" y="452718"/>
            <a:ext cx="9404723" cy="998892"/>
          </a:xfrm>
        </p:spPr>
        <p:txBody>
          <a:bodyPr/>
          <a:lstStyle/>
          <a:p>
            <a:r>
              <a:rPr lang="en-US" dirty="0"/>
              <a:t>Syntax to create promise</a:t>
            </a:r>
            <a:endParaRPr lang="en-IN" dirty="0"/>
          </a:p>
        </p:txBody>
      </p:sp>
      <p:sp>
        <p:nvSpPr>
          <p:cNvPr id="3" name="Content Placeholder 2">
            <a:extLst>
              <a:ext uri="{FF2B5EF4-FFF2-40B4-BE49-F238E27FC236}">
                <a16:creationId xmlns:a16="http://schemas.microsoft.com/office/drawing/2014/main" id="{3CDC0A1C-3500-DCAB-1BEF-598DC09489FE}"/>
              </a:ext>
            </a:extLst>
          </p:cNvPr>
          <p:cNvSpPr>
            <a:spLocks noGrp="1"/>
          </p:cNvSpPr>
          <p:nvPr>
            <p:ph idx="1"/>
          </p:nvPr>
        </p:nvSpPr>
        <p:spPr>
          <a:xfrm>
            <a:off x="765810" y="1451610"/>
            <a:ext cx="10264140" cy="4796789"/>
          </a:xfrm>
        </p:spPr>
        <p:txBody>
          <a:bodyPr/>
          <a:lstStyle/>
          <a:p>
            <a:pPr marL="0" indent="0">
              <a:buNone/>
            </a:pPr>
            <a:r>
              <a:rPr lang="en-IN" dirty="0"/>
              <a:t>const myPromise = new Promise((resolve, reject) =&gt; {</a:t>
            </a:r>
          </a:p>
          <a:p>
            <a:pPr marL="0" indent="0">
              <a:buNone/>
            </a:pPr>
            <a:r>
              <a:rPr lang="en-IN" dirty="0"/>
              <a:t>  // Asynchronous operation, e.g., fetching data from a server.</a:t>
            </a:r>
          </a:p>
          <a:p>
            <a:pPr marL="0" indent="0">
              <a:buNone/>
            </a:pPr>
            <a:r>
              <a:rPr lang="en-IN" dirty="0"/>
              <a:t>  </a:t>
            </a:r>
          </a:p>
          <a:p>
            <a:pPr marL="0" indent="0">
              <a:buNone/>
            </a:pPr>
            <a:r>
              <a:rPr lang="en-IN" dirty="0"/>
              <a:t>  if (/* operation successful */) {</a:t>
            </a:r>
          </a:p>
          <a:p>
            <a:pPr marL="0" indent="0">
              <a:buNone/>
            </a:pPr>
            <a:r>
              <a:rPr lang="en-IN" dirty="0"/>
              <a:t>    resolve('Success data'); // Resolve if successful.</a:t>
            </a:r>
          </a:p>
          <a:p>
            <a:pPr marL="0" indent="0">
              <a:buNone/>
            </a:pPr>
            <a:r>
              <a:rPr lang="en-IN" dirty="0"/>
              <a:t>  } else {</a:t>
            </a:r>
          </a:p>
          <a:p>
            <a:pPr marL="0" indent="0">
              <a:buNone/>
            </a:pPr>
            <a:r>
              <a:rPr lang="en-IN" dirty="0"/>
              <a:t>    reject('Error message'); // Reject if there's an error.</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37295325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2804-C588-67F5-6F46-65E2BE152505}"/>
              </a:ext>
            </a:extLst>
          </p:cNvPr>
          <p:cNvSpPr>
            <a:spLocks noGrp="1"/>
          </p:cNvSpPr>
          <p:nvPr>
            <p:ph type="title"/>
          </p:nvPr>
        </p:nvSpPr>
        <p:spPr>
          <a:xfrm>
            <a:off x="646111" y="452718"/>
            <a:ext cx="9404723" cy="1090332"/>
          </a:xfrm>
        </p:spPr>
        <p:txBody>
          <a:bodyPr/>
          <a:lstStyle/>
          <a:p>
            <a:r>
              <a:rPr lang="en-IN" b="1" i="0" dirty="0">
                <a:effectLst/>
                <a:latin typeface="Söhne"/>
              </a:rPr>
              <a:t>Consuming a Promise:</a:t>
            </a:r>
            <a:br>
              <a:rPr lang="en-IN" b="1" i="0" dirty="0">
                <a:effectLst/>
                <a:latin typeface="Söhne"/>
              </a:rPr>
            </a:br>
            <a:endParaRPr lang="en-IN" dirty="0"/>
          </a:p>
        </p:txBody>
      </p:sp>
      <p:sp>
        <p:nvSpPr>
          <p:cNvPr id="3" name="Content Placeholder 2">
            <a:extLst>
              <a:ext uri="{FF2B5EF4-FFF2-40B4-BE49-F238E27FC236}">
                <a16:creationId xmlns:a16="http://schemas.microsoft.com/office/drawing/2014/main" id="{9726920D-0F42-D4FF-BDAE-3B3C690E8885}"/>
              </a:ext>
            </a:extLst>
          </p:cNvPr>
          <p:cNvSpPr>
            <a:spLocks noGrp="1"/>
          </p:cNvSpPr>
          <p:nvPr>
            <p:ph idx="1"/>
          </p:nvPr>
        </p:nvSpPr>
        <p:spPr>
          <a:xfrm>
            <a:off x="1103312" y="2052919"/>
            <a:ext cx="8946541" cy="3216312"/>
          </a:xfrm>
        </p:spPr>
        <p:txBody>
          <a:bodyPr>
            <a:normAutofit/>
          </a:bodyPr>
          <a:lstStyle/>
          <a:p>
            <a:r>
              <a:rPr lang="en-US" sz="2400" dirty="0"/>
              <a:t>Then() : It will executed when the promise </a:t>
            </a:r>
            <a:r>
              <a:rPr lang="en-US" sz="2400"/>
              <a:t>will be in </a:t>
            </a:r>
            <a:r>
              <a:rPr lang="en-US" sz="2400" dirty="0"/>
              <a:t>resolved state</a:t>
            </a:r>
          </a:p>
          <a:p>
            <a:r>
              <a:rPr lang="en-US" sz="2400" dirty="0"/>
              <a:t>Catch() : It will get executed when the promise is in rejected state</a:t>
            </a:r>
          </a:p>
          <a:p>
            <a:r>
              <a:rPr lang="en-US" sz="2400" dirty="0"/>
              <a:t>Finally() : It will execute always means promise is in resolve , reject or in pending state</a:t>
            </a:r>
            <a:endParaRPr lang="en-IN" sz="2400" dirty="0"/>
          </a:p>
        </p:txBody>
      </p:sp>
    </p:spTree>
    <p:extLst>
      <p:ext uri="{BB962C8B-B14F-4D97-AF65-F5344CB8AC3E}">
        <p14:creationId xmlns:p14="http://schemas.microsoft.com/office/powerpoint/2010/main" val="10419268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07867"/>
          </a:xfrm>
        </p:spPr>
        <p:txBody>
          <a:bodyPr/>
          <a:lstStyle/>
          <a:p>
            <a:r>
              <a:rPr lang="en-IN" dirty="0" smtClean="0"/>
              <a:t>Promise methods</a:t>
            </a:r>
            <a:endParaRPr lang="en-IN" dirty="0"/>
          </a:p>
        </p:txBody>
      </p:sp>
      <p:sp>
        <p:nvSpPr>
          <p:cNvPr id="3" name="Content Placeholder 2"/>
          <p:cNvSpPr>
            <a:spLocks noGrp="1"/>
          </p:cNvSpPr>
          <p:nvPr>
            <p:ph idx="1"/>
          </p:nvPr>
        </p:nvSpPr>
        <p:spPr>
          <a:xfrm>
            <a:off x="646111" y="1393495"/>
            <a:ext cx="9913451" cy="4195481"/>
          </a:xfrm>
        </p:spPr>
        <p:txBody>
          <a:bodyPr/>
          <a:lstStyle/>
          <a:p>
            <a:r>
              <a:rPr lang="en-US" dirty="0" smtClean="0"/>
              <a:t> </a:t>
            </a:r>
            <a:r>
              <a:rPr lang="en-US" dirty="0"/>
              <a:t>1) </a:t>
            </a:r>
            <a:r>
              <a:rPr lang="en-US" b="1" dirty="0" err="1"/>
              <a:t>Promise.all</a:t>
            </a:r>
            <a:r>
              <a:rPr lang="en-US" b="1" dirty="0"/>
              <a:t>() </a:t>
            </a:r>
            <a:r>
              <a:rPr lang="en-US" dirty="0"/>
              <a:t>==&gt; all promise should be in resolve state</a:t>
            </a:r>
          </a:p>
          <a:p>
            <a:r>
              <a:rPr lang="en-US" dirty="0" smtClean="0"/>
              <a:t> </a:t>
            </a:r>
            <a:r>
              <a:rPr lang="en-US" dirty="0"/>
              <a:t>2) </a:t>
            </a:r>
            <a:r>
              <a:rPr lang="en-US" b="1" dirty="0" err="1"/>
              <a:t>Promise.allSettled</a:t>
            </a:r>
            <a:r>
              <a:rPr lang="en-US" b="1" dirty="0"/>
              <a:t>() </a:t>
            </a:r>
            <a:r>
              <a:rPr lang="en-US" dirty="0"/>
              <a:t>==&gt; either resolve/ reject, then() block will execute or else catch() block..[catch block output we cant see]</a:t>
            </a:r>
          </a:p>
          <a:p>
            <a:r>
              <a:rPr lang="en-US" dirty="0" smtClean="0"/>
              <a:t> </a:t>
            </a:r>
            <a:r>
              <a:rPr lang="en-US" dirty="0"/>
              <a:t>3) </a:t>
            </a:r>
            <a:r>
              <a:rPr lang="en-US" b="1" dirty="0" err="1"/>
              <a:t>Promise.any</a:t>
            </a:r>
            <a:r>
              <a:rPr lang="en-US" b="1" dirty="0"/>
              <a:t>() </a:t>
            </a:r>
            <a:r>
              <a:rPr lang="en-US" dirty="0"/>
              <a:t>==&gt; </a:t>
            </a:r>
            <a:r>
              <a:rPr lang="en-US" dirty="0" err="1"/>
              <a:t>atleast</a:t>
            </a:r>
            <a:r>
              <a:rPr lang="en-US" dirty="0"/>
              <a:t> 1 or more promises should be resolved, then() will execute or else catch() block.</a:t>
            </a:r>
          </a:p>
          <a:p>
            <a:r>
              <a:rPr lang="en-US" dirty="0" smtClean="0"/>
              <a:t> </a:t>
            </a:r>
            <a:r>
              <a:rPr lang="en-US" dirty="0"/>
              <a:t>4) </a:t>
            </a:r>
            <a:r>
              <a:rPr lang="en-US" b="1" dirty="0" err="1"/>
              <a:t>Promise.race</a:t>
            </a:r>
            <a:r>
              <a:rPr lang="en-US" b="1" dirty="0"/>
              <a:t>() </a:t>
            </a:r>
            <a:r>
              <a:rPr lang="en-US" dirty="0"/>
              <a:t>==&gt; it depends upon time, which ever comes first that promise will get executed.</a:t>
            </a:r>
          </a:p>
          <a:p>
            <a:endParaRPr lang="en-IN" dirty="0"/>
          </a:p>
        </p:txBody>
      </p:sp>
    </p:spTree>
    <p:extLst>
      <p:ext uri="{BB962C8B-B14F-4D97-AF65-F5344CB8AC3E}">
        <p14:creationId xmlns:p14="http://schemas.microsoft.com/office/powerpoint/2010/main" val="21429216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109818"/>
            <a:ext cx="9404723" cy="672697"/>
          </a:xfrm>
        </p:spPr>
        <p:txBody>
          <a:bodyPr/>
          <a:lstStyle/>
          <a:p>
            <a:r>
              <a:rPr lang="en-US" dirty="0" smtClean="0"/>
              <a:t>Fetch API</a:t>
            </a:r>
            <a:endParaRPr lang="en-IN" dirty="0"/>
          </a:p>
        </p:txBody>
      </p:sp>
      <p:sp>
        <p:nvSpPr>
          <p:cNvPr id="3" name="Content Placeholder 2"/>
          <p:cNvSpPr>
            <a:spLocks noGrp="1"/>
          </p:cNvSpPr>
          <p:nvPr>
            <p:ph idx="1"/>
          </p:nvPr>
        </p:nvSpPr>
        <p:spPr>
          <a:xfrm>
            <a:off x="729762" y="879230"/>
            <a:ext cx="9320091" cy="5873262"/>
          </a:xfrm>
        </p:spPr>
        <p:txBody>
          <a:bodyPr>
            <a:normAutofit fontScale="92500" lnSpcReduction="10000"/>
          </a:bodyPr>
          <a:lstStyle/>
          <a:p>
            <a:r>
              <a:rPr lang="en-US" sz="1800" dirty="0"/>
              <a:t> </a:t>
            </a:r>
            <a:r>
              <a:rPr lang="en-US" sz="1800" dirty="0" smtClean="0"/>
              <a:t>* </a:t>
            </a:r>
            <a:r>
              <a:rPr lang="en-US" sz="1800" dirty="0"/>
              <a:t>fetch() is used to send a request to backend, it accepts a </a:t>
            </a:r>
            <a:r>
              <a:rPr lang="en-US" sz="1800" dirty="0" smtClean="0"/>
              <a:t>URL/API </a:t>
            </a:r>
            <a:r>
              <a:rPr lang="en-US" sz="1800" dirty="0"/>
              <a:t>as an argument. This url should be in String</a:t>
            </a:r>
          </a:p>
          <a:p>
            <a:r>
              <a:rPr lang="en-US" sz="1800" dirty="0"/>
              <a:t> * The fetch method returns a promise object, This object need to be handled using </a:t>
            </a:r>
            <a:r>
              <a:rPr lang="en-US" sz="1800" dirty="0" smtClean="0"/>
              <a:t>then() </a:t>
            </a:r>
            <a:r>
              <a:rPr lang="en-US" sz="1800" dirty="0"/>
              <a:t>and </a:t>
            </a:r>
            <a:r>
              <a:rPr lang="en-US" sz="1800" dirty="0" smtClean="0"/>
              <a:t>catch()</a:t>
            </a:r>
            <a:endParaRPr lang="en-US" sz="1800" dirty="0"/>
          </a:p>
          <a:p>
            <a:r>
              <a:rPr lang="en-US" sz="1800" dirty="0"/>
              <a:t> * We need to first handle the response object and parse it to get normal object using json()</a:t>
            </a:r>
          </a:p>
          <a:p>
            <a:r>
              <a:rPr lang="en-US" sz="1800" dirty="0"/>
              <a:t> * In the next then method we will be able to consume the data (using data from backed is called consuming data</a:t>
            </a:r>
            <a:r>
              <a:rPr lang="en-US" sz="1800" dirty="0" smtClean="0"/>
              <a:t>)</a:t>
            </a:r>
          </a:p>
          <a:p>
            <a:r>
              <a:rPr lang="en-US" sz="1800" b="1" dirty="0" smtClean="0"/>
              <a:t>EXAMPLE:- </a:t>
            </a:r>
            <a:endParaRPr lang="en-US" sz="1800" b="1" dirty="0"/>
          </a:p>
          <a:p>
            <a:pPr marL="0" indent="0">
              <a:buNone/>
            </a:pPr>
            <a:r>
              <a:rPr lang="en-IN" dirty="0" smtClean="0"/>
              <a:t>	fetch</a:t>
            </a:r>
            <a:r>
              <a:rPr lang="en-IN" dirty="0"/>
              <a:t>("https://api.github.com/users")</a:t>
            </a:r>
          </a:p>
          <a:p>
            <a:pPr marL="0" indent="0">
              <a:buNone/>
            </a:pPr>
            <a:r>
              <a:rPr lang="en-IN" dirty="0"/>
              <a:t>	</a:t>
            </a:r>
            <a:r>
              <a:rPr lang="en-IN" dirty="0" smtClean="0"/>
              <a:t>.</a:t>
            </a:r>
            <a:r>
              <a:rPr lang="en-IN" dirty="0"/>
              <a:t>then((response) =&gt; </a:t>
            </a:r>
            <a:r>
              <a:rPr lang="en-IN" dirty="0" err="1"/>
              <a:t>response.json</a:t>
            </a:r>
            <a:r>
              <a:rPr lang="en-IN" dirty="0"/>
              <a:t>())</a:t>
            </a:r>
          </a:p>
          <a:p>
            <a:pPr marL="0" indent="0">
              <a:buNone/>
            </a:pPr>
            <a:r>
              <a:rPr lang="en-IN" dirty="0"/>
              <a:t>  </a:t>
            </a:r>
            <a:r>
              <a:rPr lang="en-IN" dirty="0" smtClean="0"/>
              <a:t>	.</a:t>
            </a:r>
            <a:r>
              <a:rPr lang="en-IN" dirty="0"/>
              <a:t>then((data) =&gt; {</a:t>
            </a:r>
          </a:p>
          <a:p>
            <a:pPr marL="0" indent="0">
              <a:buNone/>
            </a:pPr>
            <a:r>
              <a:rPr lang="en-IN" dirty="0"/>
              <a:t>    </a:t>
            </a:r>
            <a:r>
              <a:rPr lang="en-IN" dirty="0" smtClean="0"/>
              <a:t>	console.log(data[0</a:t>
            </a:r>
            <a:r>
              <a:rPr lang="en-IN" dirty="0"/>
              <a:t>].login);</a:t>
            </a:r>
          </a:p>
          <a:p>
            <a:pPr marL="0" indent="0">
              <a:buNone/>
            </a:pPr>
            <a:r>
              <a:rPr lang="en-IN" dirty="0"/>
              <a:t>  </a:t>
            </a:r>
            <a:r>
              <a:rPr lang="en-IN" dirty="0" smtClean="0"/>
              <a:t>	})</a:t>
            </a:r>
            <a:endParaRPr lang="en-IN" dirty="0"/>
          </a:p>
          <a:p>
            <a:pPr marL="0" indent="0">
              <a:buNone/>
            </a:pPr>
            <a:r>
              <a:rPr lang="en-IN" dirty="0"/>
              <a:t>  </a:t>
            </a:r>
            <a:r>
              <a:rPr lang="en-IN" dirty="0" smtClean="0"/>
              <a:t>	.</a:t>
            </a:r>
            <a:r>
              <a:rPr lang="en-IN" dirty="0"/>
              <a:t>catch((error) =&gt; {</a:t>
            </a:r>
          </a:p>
          <a:p>
            <a:pPr marL="0" indent="0">
              <a:buNone/>
            </a:pPr>
            <a:r>
              <a:rPr lang="en-IN" dirty="0"/>
              <a:t>    </a:t>
            </a:r>
            <a:r>
              <a:rPr lang="en-IN" dirty="0" smtClean="0"/>
              <a:t>	console.log(error</a:t>
            </a:r>
            <a:r>
              <a:rPr lang="en-IN" dirty="0"/>
              <a:t>);</a:t>
            </a:r>
          </a:p>
          <a:p>
            <a:pPr marL="0" indent="0">
              <a:buNone/>
            </a:pPr>
            <a:r>
              <a:rPr lang="en-IN" dirty="0"/>
              <a:t>  </a:t>
            </a:r>
            <a:r>
              <a:rPr lang="en-IN" dirty="0" smtClean="0"/>
              <a:t>	});</a:t>
            </a:r>
            <a:endParaRPr lang="en-IN" dirty="0"/>
          </a:p>
          <a:p>
            <a:pPr marL="0" indent="0">
              <a:buNone/>
            </a:pPr>
            <a:endParaRPr lang="en-IN" sz="1800" dirty="0"/>
          </a:p>
        </p:txBody>
      </p:sp>
    </p:spTree>
    <p:extLst>
      <p:ext uri="{BB962C8B-B14F-4D97-AF65-F5344CB8AC3E}">
        <p14:creationId xmlns:p14="http://schemas.microsoft.com/office/powerpoint/2010/main" val="13038492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D3350-46CC-42DB-E724-9F1830B9ACD5}"/>
              </a:ext>
            </a:extLst>
          </p:cNvPr>
          <p:cNvSpPr>
            <a:spLocks noGrp="1"/>
          </p:cNvSpPr>
          <p:nvPr>
            <p:ph type="title"/>
          </p:nvPr>
        </p:nvSpPr>
        <p:spPr>
          <a:xfrm>
            <a:off x="646111" y="452718"/>
            <a:ext cx="9404723" cy="1010322"/>
          </a:xfrm>
        </p:spPr>
        <p:txBody>
          <a:bodyPr/>
          <a:lstStyle/>
          <a:p>
            <a:r>
              <a:rPr lang="en-US" dirty="0"/>
              <a:t>Async and await</a:t>
            </a:r>
            <a:endParaRPr lang="en-IN" dirty="0"/>
          </a:p>
        </p:txBody>
      </p:sp>
      <p:sp>
        <p:nvSpPr>
          <p:cNvPr id="3" name="Content Placeholder 2">
            <a:extLst>
              <a:ext uri="{FF2B5EF4-FFF2-40B4-BE49-F238E27FC236}">
                <a16:creationId xmlns:a16="http://schemas.microsoft.com/office/drawing/2014/main" id="{11A36C6D-091B-1334-D4CE-122702F22173}"/>
              </a:ext>
            </a:extLst>
          </p:cNvPr>
          <p:cNvSpPr>
            <a:spLocks noGrp="1"/>
          </p:cNvSpPr>
          <p:nvPr>
            <p:ph idx="1"/>
          </p:nvPr>
        </p:nvSpPr>
        <p:spPr>
          <a:xfrm>
            <a:off x="645130" y="1853248"/>
            <a:ext cx="10544840" cy="4395151"/>
          </a:xfrm>
        </p:spPr>
        <p:txBody>
          <a:bodyPr/>
          <a:lstStyle/>
          <a:p>
            <a:r>
              <a:rPr lang="en-US" b="0" i="1" dirty="0">
                <a:solidFill>
                  <a:srgbClr val="DDDDDD"/>
                </a:solidFill>
                <a:effectLst/>
                <a:latin typeface="Verdana" panose="020B0604030504040204" pitchFamily="34" charset="0"/>
              </a:rPr>
              <a:t>"async and await make promises easier to write"</a:t>
            </a:r>
            <a:endParaRPr lang="en-US" b="0" i="0" dirty="0">
              <a:solidFill>
                <a:srgbClr val="DDDDDD"/>
              </a:solidFill>
              <a:effectLst/>
              <a:latin typeface="Verdana" panose="020B0604030504040204" pitchFamily="34" charset="0"/>
            </a:endParaRPr>
          </a:p>
          <a:p>
            <a:r>
              <a:rPr lang="en-US" b="1" i="0" dirty="0">
                <a:solidFill>
                  <a:srgbClr val="DDDDDD"/>
                </a:solidFill>
                <a:effectLst/>
                <a:latin typeface="Verdana" panose="020B0604030504040204" pitchFamily="34" charset="0"/>
              </a:rPr>
              <a:t>async</a:t>
            </a:r>
            <a:r>
              <a:rPr lang="en-US" b="0" i="0" dirty="0">
                <a:solidFill>
                  <a:srgbClr val="DDDDDD"/>
                </a:solidFill>
                <a:effectLst/>
                <a:latin typeface="Verdana" panose="020B0604030504040204" pitchFamily="34" charset="0"/>
              </a:rPr>
              <a:t> makes a function return a Promise</a:t>
            </a:r>
          </a:p>
          <a:p>
            <a:r>
              <a:rPr lang="en-US" b="1" i="0" dirty="0">
                <a:solidFill>
                  <a:srgbClr val="DDDDDD"/>
                </a:solidFill>
                <a:effectLst/>
                <a:latin typeface="Verdana" panose="020B0604030504040204" pitchFamily="34" charset="0"/>
              </a:rPr>
              <a:t>await</a:t>
            </a:r>
            <a:r>
              <a:rPr lang="en-US" b="0" i="0" dirty="0">
                <a:solidFill>
                  <a:srgbClr val="DDDDDD"/>
                </a:solidFill>
                <a:effectLst/>
                <a:latin typeface="Verdana" panose="020B0604030504040204" pitchFamily="34" charset="0"/>
              </a:rPr>
              <a:t> makes a function wait for a Promise</a:t>
            </a:r>
          </a:p>
          <a:p>
            <a:endParaRPr lang="en-US" dirty="0">
              <a:solidFill>
                <a:srgbClr val="DDDDDD"/>
              </a:solidFill>
              <a:latin typeface="Verdana" panose="020B0604030504040204" pitchFamily="34" charset="0"/>
            </a:endParaRPr>
          </a:p>
          <a:p>
            <a:r>
              <a:rPr lang="en-US" b="0" i="0" dirty="0">
                <a:solidFill>
                  <a:srgbClr val="DDDDDD"/>
                </a:solidFill>
                <a:effectLst/>
                <a:latin typeface="Verdana" panose="020B0604030504040204" pitchFamily="34" charset="0"/>
              </a:rPr>
              <a:t>Async : </a:t>
            </a:r>
            <a:r>
              <a:rPr kumimoji="0" lang="en-US" altLang="en-US" sz="2000" b="0" i="0" u="none" strike="noStrike" cap="none" normalizeH="0" baseline="0" dirty="0">
                <a:ln>
                  <a:noFill/>
                </a:ln>
                <a:effectLst/>
              </a:rPr>
              <a:t>The </a:t>
            </a:r>
            <a:r>
              <a:rPr kumimoji="0" lang="en-US" altLang="en-US" b="1" i="0" u="none" strike="noStrike" cap="none" normalizeH="0" baseline="0" dirty="0">
                <a:ln>
                  <a:noFill/>
                </a:ln>
                <a:effectLst/>
              </a:rPr>
              <a:t>async</a:t>
            </a:r>
            <a:r>
              <a:rPr kumimoji="0" lang="en-US" altLang="en-US" sz="2000" b="0" i="0" u="none" strike="noStrike" cap="none" normalizeH="0" baseline="0" dirty="0">
                <a:ln>
                  <a:noFill/>
                </a:ln>
                <a:effectLst/>
              </a:rPr>
              <a:t> keyword is used to define a function that returns a promise. It allows you to write </a:t>
            </a:r>
          </a:p>
          <a:p>
            <a:r>
              <a:rPr lang="en-US" dirty="0"/>
              <a:t>Await : </a:t>
            </a:r>
            <a:r>
              <a:rPr kumimoji="0" lang="en-US" altLang="en-US" sz="2000" b="0" i="0" u="none" strike="noStrike" cap="none" normalizeH="0" baseline="0" dirty="0">
                <a:ln>
                  <a:noFill/>
                </a:ln>
                <a:effectLst/>
              </a:rPr>
              <a:t>The </a:t>
            </a:r>
            <a:r>
              <a:rPr kumimoji="0" lang="en-US" altLang="en-US" b="1" i="0" u="none" strike="noStrike" cap="none" normalizeH="0" baseline="0" dirty="0">
                <a:ln>
                  <a:noFill/>
                </a:ln>
                <a:effectLst/>
              </a:rPr>
              <a:t>await</a:t>
            </a:r>
            <a:r>
              <a:rPr kumimoji="0" lang="en-US" altLang="en-US" sz="2000" b="0" i="0" u="none" strike="noStrike" cap="none" normalizeH="0" baseline="0" dirty="0">
                <a:ln>
                  <a:noFill/>
                </a:ln>
                <a:effectLst/>
              </a:rPr>
              <a:t> keyword is used inside an </a:t>
            </a:r>
            <a:r>
              <a:rPr kumimoji="0" lang="en-US" altLang="en-US" b="1" i="0" u="none" strike="noStrike" cap="none" normalizeH="0" baseline="0" dirty="0">
                <a:ln>
                  <a:noFill/>
                </a:ln>
                <a:effectLst/>
              </a:rPr>
              <a:t>async</a:t>
            </a:r>
            <a:r>
              <a:rPr kumimoji="0" lang="en-US" altLang="en-US" sz="2000" b="0" i="0" u="none" strike="noStrike" cap="none" normalizeH="0" baseline="0" dirty="0">
                <a:ln>
                  <a:noFill/>
                </a:ln>
                <a:effectLst/>
              </a:rPr>
              <a:t> function to wait for a Promise to settle (either resolve or reject). It can only be used inside an </a:t>
            </a:r>
            <a:r>
              <a:rPr kumimoji="0" lang="en-US" altLang="en-US" b="1" i="0" u="none" strike="noStrike" cap="none" normalizeH="0" baseline="0" dirty="0">
                <a:ln>
                  <a:noFill/>
                </a:ln>
                <a:effectLst/>
              </a:rPr>
              <a:t>async</a:t>
            </a:r>
            <a:r>
              <a:rPr kumimoji="0" lang="en-US" altLang="en-US" sz="2000" b="0" i="0" u="none" strike="noStrike" cap="none" normalizeH="0" baseline="0" dirty="0">
                <a:ln>
                  <a:noFill/>
                </a:ln>
                <a:effectLst/>
              </a:rPr>
              <a:t> function</a:t>
            </a:r>
            <a:endParaRPr lang="en-US" b="0" i="0" dirty="0">
              <a:effectLst/>
            </a:endParaRPr>
          </a:p>
          <a:p>
            <a:endParaRPr lang="en-IN" dirty="0"/>
          </a:p>
        </p:txBody>
      </p:sp>
    </p:spTree>
    <p:extLst>
      <p:ext uri="{BB962C8B-B14F-4D97-AF65-F5344CB8AC3E}">
        <p14:creationId xmlns:p14="http://schemas.microsoft.com/office/powerpoint/2010/main" val="11792674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6522" y="219808"/>
            <a:ext cx="9733331" cy="6638192"/>
          </a:xfrm>
        </p:spPr>
        <p:txBody>
          <a:bodyPr>
            <a:normAutofit fontScale="62500" lnSpcReduction="20000"/>
          </a:bodyPr>
          <a:lstStyle/>
          <a:p>
            <a:r>
              <a:rPr lang="en-US" b="1" dirty="0" smtClean="0"/>
              <a:t>EXAMPLE:-</a:t>
            </a:r>
            <a:endParaRPr lang="en-IN" b="1" dirty="0"/>
          </a:p>
          <a:p>
            <a:r>
              <a:rPr lang="en-IN" dirty="0"/>
              <a:t>let </a:t>
            </a:r>
            <a:r>
              <a:rPr lang="en-IN" dirty="0" err="1"/>
              <a:t>tbody</a:t>
            </a:r>
            <a:r>
              <a:rPr lang="en-IN" dirty="0"/>
              <a:t> = document.getElementById("</a:t>
            </a:r>
            <a:r>
              <a:rPr lang="en-IN" dirty="0" err="1"/>
              <a:t>tbody</a:t>
            </a:r>
            <a:r>
              <a:rPr lang="en-IN" dirty="0"/>
              <a:t>");</a:t>
            </a:r>
          </a:p>
          <a:p>
            <a:r>
              <a:rPr lang="en-IN" dirty="0"/>
              <a:t/>
            </a:r>
            <a:br>
              <a:rPr lang="en-IN" dirty="0"/>
            </a:br>
            <a:r>
              <a:rPr lang="en-IN" dirty="0"/>
              <a:t>let </a:t>
            </a:r>
            <a:r>
              <a:rPr lang="en-IN" dirty="0" err="1"/>
              <a:t>fetchData</a:t>
            </a:r>
            <a:r>
              <a:rPr lang="en-IN" dirty="0"/>
              <a:t> = </a:t>
            </a:r>
            <a:r>
              <a:rPr lang="en-IN" dirty="0" err="1"/>
              <a:t>async</a:t>
            </a:r>
            <a:r>
              <a:rPr lang="en-IN" dirty="0"/>
              <a:t> function () {</a:t>
            </a:r>
          </a:p>
          <a:p>
            <a:r>
              <a:rPr lang="en-IN" dirty="0"/>
              <a:t>  let response = await fetch("https://api.github.com/users");</a:t>
            </a:r>
          </a:p>
          <a:p>
            <a:r>
              <a:rPr lang="en-IN" dirty="0"/>
              <a:t>  let data = await </a:t>
            </a:r>
            <a:r>
              <a:rPr lang="en-IN" dirty="0" err="1"/>
              <a:t>response.json</a:t>
            </a:r>
            <a:r>
              <a:rPr lang="en-IN" dirty="0"/>
              <a:t>();</a:t>
            </a:r>
          </a:p>
          <a:p>
            <a:r>
              <a:rPr lang="en-IN" dirty="0"/>
              <a:t>  </a:t>
            </a:r>
            <a:r>
              <a:rPr lang="en-IN" dirty="0" err="1"/>
              <a:t>displayData</a:t>
            </a:r>
            <a:r>
              <a:rPr lang="en-IN" dirty="0"/>
              <a:t>(data);</a:t>
            </a:r>
          </a:p>
          <a:p>
            <a:r>
              <a:rPr lang="en-IN" dirty="0"/>
              <a:t>};</a:t>
            </a:r>
          </a:p>
          <a:p>
            <a:r>
              <a:rPr lang="en-IN" dirty="0" err="1"/>
              <a:t>fetchData</a:t>
            </a:r>
            <a:r>
              <a:rPr lang="en-IN" dirty="0"/>
              <a:t>();</a:t>
            </a:r>
          </a:p>
          <a:p>
            <a:r>
              <a:rPr lang="en-IN" dirty="0"/>
              <a:t>let str = "";</a:t>
            </a:r>
          </a:p>
          <a:p>
            <a:r>
              <a:rPr lang="en-IN" dirty="0"/>
              <a:t>function </a:t>
            </a:r>
            <a:r>
              <a:rPr lang="en-IN" dirty="0" err="1"/>
              <a:t>displayData</a:t>
            </a:r>
            <a:r>
              <a:rPr lang="en-IN" dirty="0"/>
              <a:t>(</a:t>
            </a:r>
            <a:r>
              <a:rPr lang="en-IN" dirty="0" err="1"/>
              <a:t>apiData</a:t>
            </a:r>
            <a:r>
              <a:rPr lang="en-IN" dirty="0"/>
              <a:t>) {</a:t>
            </a:r>
          </a:p>
          <a:p>
            <a:r>
              <a:rPr lang="en-IN" dirty="0"/>
              <a:t>  </a:t>
            </a:r>
            <a:r>
              <a:rPr lang="en-IN" dirty="0" err="1"/>
              <a:t>apiData.forEach</a:t>
            </a:r>
            <a:r>
              <a:rPr lang="en-IN" dirty="0"/>
              <a:t>((ele) =&gt; {</a:t>
            </a:r>
          </a:p>
          <a:p>
            <a:r>
              <a:rPr lang="en-IN" dirty="0"/>
              <a:t>    str += `</a:t>
            </a:r>
          </a:p>
          <a:p>
            <a:r>
              <a:rPr lang="en-IN" dirty="0"/>
              <a:t>&lt;tr&gt;</a:t>
            </a:r>
          </a:p>
          <a:p>
            <a:r>
              <a:rPr lang="en-IN" dirty="0"/>
              <a:t>&lt;td&gt;${</a:t>
            </a:r>
            <a:r>
              <a:rPr lang="en-IN" dirty="0" err="1"/>
              <a:t>ele.login</a:t>
            </a:r>
            <a:r>
              <a:rPr lang="en-IN" dirty="0"/>
              <a:t>}&lt;/td&gt;</a:t>
            </a:r>
          </a:p>
          <a:p>
            <a:r>
              <a:rPr lang="en-IN" dirty="0"/>
              <a:t>&lt;td&gt;${ele.id}&lt;/td&gt;</a:t>
            </a:r>
          </a:p>
          <a:p>
            <a:r>
              <a:rPr lang="en-IN" dirty="0"/>
              <a:t>&lt;td&gt;&lt;a href='${ele.url}' class = 'link'&gt;link&lt;/a&gt;&lt;/td&gt;</a:t>
            </a:r>
          </a:p>
          <a:p>
            <a:r>
              <a:rPr lang="en-IN" dirty="0"/>
              <a:t>&lt;td&gt;&lt;img src='${</a:t>
            </a:r>
            <a:r>
              <a:rPr lang="en-IN" dirty="0" err="1"/>
              <a:t>ele.avatar_url</a:t>
            </a:r>
            <a:r>
              <a:rPr lang="en-IN" dirty="0"/>
              <a:t>}'&gt;&lt;/td&gt;</a:t>
            </a:r>
          </a:p>
          <a:p>
            <a:r>
              <a:rPr lang="en-IN" dirty="0"/>
              <a:t>&lt;/tr&gt;</a:t>
            </a:r>
          </a:p>
          <a:p>
            <a:r>
              <a:rPr lang="en-IN" dirty="0"/>
              <a:t>`;</a:t>
            </a:r>
          </a:p>
          <a:p>
            <a:r>
              <a:rPr lang="en-IN" dirty="0"/>
              <a:t>    </a:t>
            </a:r>
            <a:r>
              <a:rPr lang="en-IN" dirty="0" err="1"/>
              <a:t>tbody.innerHTML</a:t>
            </a:r>
            <a:r>
              <a:rPr lang="en-IN" dirty="0"/>
              <a:t> = str;</a:t>
            </a:r>
          </a:p>
          <a:p>
            <a:r>
              <a:rPr lang="en-IN" dirty="0"/>
              <a:t>  });</a:t>
            </a:r>
          </a:p>
          <a:p>
            <a:r>
              <a:rPr lang="en-IN" dirty="0"/>
              <a:t>}</a:t>
            </a:r>
          </a:p>
          <a:p>
            <a:pPr marL="0" indent="0">
              <a:buNone/>
            </a:pPr>
            <a:endParaRPr lang="en-US" b="1" dirty="0" smtClean="0"/>
          </a:p>
        </p:txBody>
      </p:sp>
    </p:spTree>
    <p:extLst>
      <p:ext uri="{BB962C8B-B14F-4D97-AF65-F5344CB8AC3E}">
        <p14:creationId xmlns:p14="http://schemas.microsoft.com/office/powerpoint/2010/main" val="5520544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
  <TotalTime>3195</TotalTime>
  <Words>4549</Words>
  <Application>Microsoft Office PowerPoint</Application>
  <PresentationFormat>Widescreen</PresentationFormat>
  <Paragraphs>734</Paragraphs>
  <Slides>75</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75</vt:i4>
      </vt:variant>
    </vt:vector>
  </HeadingPairs>
  <TitlesOfParts>
    <vt:vector size="91" baseType="lpstr">
      <vt:lpstr>Arial</vt:lpstr>
      <vt:lpstr>Arial MT</vt:lpstr>
      <vt:lpstr>Calibri</vt:lpstr>
      <vt:lpstr>Century Gothic</vt:lpstr>
      <vt:lpstr>Consolas</vt:lpstr>
      <vt:lpstr>Lato</vt:lpstr>
      <vt:lpstr>Menlo</vt:lpstr>
      <vt:lpstr>Nunito</vt:lpstr>
      <vt:lpstr>Segoe UI</vt:lpstr>
      <vt:lpstr>Söhne</vt:lpstr>
      <vt:lpstr>Söhne Mono</vt:lpstr>
      <vt:lpstr>Times New Roman</vt:lpstr>
      <vt:lpstr>Verdana</vt:lpstr>
      <vt:lpstr>Wingdings</vt:lpstr>
      <vt:lpstr>Wingdings 3</vt:lpstr>
      <vt:lpstr>Ion</vt:lpstr>
      <vt:lpstr>Java Script</vt:lpstr>
      <vt:lpstr>JavaScript</vt:lpstr>
      <vt:lpstr>Characteristics of JavaScript</vt:lpstr>
      <vt:lpstr>Advantages of JS</vt:lpstr>
      <vt:lpstr>Environmental Setup</vt:lpstr>
      <vt:lpstr>How to include JS in HTML</vt:lpstr>
      <vt:lpstr>Output Methods</vt:lpstr>
      <vt:lpstr>Tokens</vt:lpstr>
      <vt:lpstr>Variables</vt:lpstr>
      <vt:lpstr>Var , let and const </vt:lpstr>
      <vt:lpstr>Hoisting</vt:lpstr>
      <vt:lpstr>The let and const Keywords </vt:lpstr>
      <vt:lpstr>Datatypes in JS</vt:lpstr>
      <vt:lpstr>Datatypes</vt:lpstr>
      <vt:lpstr>Operators in JS</vt:lpstr>
      <vt:lpstr>Conditional Statements</vt:lpstr>
      <vt:lpstr>Loops in JS</vt:lpstr>
      <vt:lpstr>Functions In JS</vt:lpstr>
      <vt:lpstr>JavaScript Function Syntax </vt:lpstr>
      <vt:lpstr>Types of Functions in JS</vt:lpstr>
      <vt:lpstr>1.Anonymous function</vt:lpstr>
      <vt:lpstr>2. Named Function</vt:lpstr>
      <vt:lpstr>3 . Function with expression</vt:lpstr>
      <vt:lpstr>Nested function</vt:lpstr>
      <vt:lpstr>Nested function</vt:lpstr>
      <vt:lpstr>JavaScript currying</vt:lpstr>
      <vt:lpstr>Immediate invoking function expression (IIFE) </vt:lpstr>
      <vt:lpstr>Arrow function </vt:lpstr>
      <vt:lpstr>Higher order function(HOF) </vt:lpstr>
      <vt:lpstr>Callback function</vt:lpstr>
      <vt:lpstr>PowerPoint Presentation</vt:lpstr>
      <vt:lpstr>PowerPoint Presentation</vt:lpstr>
      <vt:lpstr>Java script Array methods</vt:lpstr>
      <vt:lpstr>Java script Array methods</vt:lpstr>
      <vt:lpstr>Filter() , map() , reduce()</vt:lpstr>
      <vt:lpstr>Filter() , map() , reduce()</vt:lpstr>
      <vt:lpstr>Filter() , map() , reduce()</vt:lpstr>
      <vt:lpstr>Objects in JS</vt:lpstr>
      <vt:lpstr>OBJECTS IN JAVASCRIPT</vt:lpstr>
      <vt:lpstr>PowerPoint Presentation</vt:lpstr>
      <vt:lpstr>PowerPoint Presentation</vt:lpstr>
      <vt:lpstr>In JavaScript, to access and manipulate object properties: dot notation</vt:lpstr>
      <vt:lpstr>PowerPoint Presentation</vt:lpstr>
      <vt:lpstr>PowerPoint Presentation</vt:lpstr>
      <vt:lpstr>PowerPoint Presentation</vt:lpstr>
      <vt:lpstr>LOOPS IN JAVASCRIPT</vt:lpstr>
      <vt:lpstr>PowerPoint Presentation</vt:lpstr>
      <vt:lpstr>The JavaScript for in loop iterates over the keys of an object Ex:-</vt:lpstr>
      <vt:lpstr>STRING:-Collection of characters (or) bunch of characters we called it as string</vt:lpstr>
      <vt:lpstr>PowerPoint Presentation</vt:lpstr>
      <vt:lpstr>4.substr( ):- Substr( ) is similar to slice( )</vt:lpstr>
      <vt:lpstr>PowerPoint Presentation</vt:lpstr>
      <vt:lpstr>PowerPoint Presentation</vt:lpstr>
      <vt:lpstr>PowerPoint Presentation</vt:lpstr>
      <vt:lpstr>BOM and DOM</vt:lpstr>
      <vt:lpstr>BOM(Browser Object Model)</vt:lpstr>
      <vt:lpstr>JavaScript Popup Boxes </vt:lpstr>
      <vt:lpstr>JavaScript Popup Boxes</vt:lpstr>
      <vt:lpstr>JavaScript Popup Boxes</vt:lpstr>
      <vt:lpstr>DOM(Document Object Model)</vt:lpstr>
      <vt:lpstr>DOM Methods</vt:lpstr>
      <vt:lpstr>DOM Events</vt:lpstr>
      <vt:lpstr>DOM Event Listener</vt:lpstr>
      <vt:lpstr>Event Propagation</vt:lpstr>
      <vt:lpstr>JSON(Java Script Object Notation)</vt:lpstr>
      <vt:lpstr>Syntax of JSON</vt:lpstr>
      <vt:lpstr>Time delays</vt:lpstr>
      <vt:lpstr>Time delays</vt:lpstr>
      <vt:lpstr>Promises</vt:lpstr>
      <vt:lpstr>Syntax to create promise</vt:lpstr>
      <vt:lpstr>Consuming a Promise: </vt:lpstr>
      <vt:lpstr>Promise methods</vt:lpstr>
      <vt:lpstr>Fetch API</vt:lpstr>
      <vt:lpstr>Async and await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Script</dc:title>
  <dc:creator>DELL</dc:creator>
  <cp:lastModifiedBy>SARVESH KUMAR</cp:lastModifiedBy>
  <cp:revision>69</cp:revision>
  <dcterms:created xsi:type="dcterms:W3CDTF">2023-09-21T07:21:00Z</dcterms:created>
  <dcterms:modified xsi:type="dcterms:W3CDTF">2023-12-14T10:31:00Z</dcterms:modified>
</cp:coreProperties>
</file>